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customXml/itemProps29.xml" ContentType="application/vnd.openxmlformats-officedocument.customXmlProperties+xml"/>
  <Override PartName="/customXml/itemProps30.xml" ContentType="application/vnd.openxmlformats-officedocument.customXmlPropertie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customXml/itemProps33.xml" ContentType="application/vnd.openxmlformats-officedocument.customXmlProperties+xml"/>
  <Override PartName="/customXml/itemProps34.xml" ContentType="application/vnd.openxmlformats-officedocument.customXmlProperties+xml"/>
  <Override PartName="/customXml/itemProps35.xml" ContentType="application/vnd.openxmlformats-officedocument.customXmlProperties+xml"/>
  <Override PartName="/customXml/itemProps36.xml" ContentType="application/vnd.openxmlformats-officedocument.customXmlProperties+xml"/>
  <Override PartName="/customXml/itemProps37.xml" ContentType="application/vnd.openxmlformats-officedocument.customXmlProperties+xml"/>
  <Override PartName="/customXml/itemProps38.xml" ContentType="application/vnd.openxmlformats-officedocument.customXmlProperties+xml"/>
  <Override PartName="/customXml/itemProps39.xml" ContentType="application/vnd.openxmlformats-officedocument.customXmlProperties+xml"/>
  <Override PartName="/customXml/itemProps40.xml" ContentType="application/vnd.openxmlformats-officedocument.customXmlProperties+xml"/>
  <Override PartName="/customXml/itemProps41.xml" ContentType="application/vnd.openxmlformats-officedocument.customXmlProperties+xml"/>
  <Override PartName="/customXml/itemProps42.xml" ContentType="application/vnd.openxmlformats-officedocument.customXmlProperties+xml"/>
  <Override PartName="/customXml/itemProps43.xml" ContentType="application/vnd.openxmlformats-officedocument.customXmlProperties+xml"/>
  <Override PartName="/customXml/itemProps44.xml" ContentType="application/vnd.openxmlformats-officedocument.customXmlProperties+xml"/>
  <Override PartName="/customXml/itemProps45.xml" ContentType="application/vnd.openxmlformats-officedocument.customXmlProperties+xml"/>
  <Override PartName="/customXml/itemProps46.xml" ContentType="application/vnd.openxmlformats-officedocument.customXmlProperties+xml"/>
  <Override PartName="/customXml/itemProps47.xml" ContentType="application/vnd.openxmlformats-officedocument.customXmlProperties+xml"/>
  <Override PartName="/customXml/itemProps48.xml" ContentType="application/vnd.openxmlformats-officedocument.customXmlProperties+xml"/>
  <Override PartName="/customXml/itemProps49.xml" ContentType="application/vnd.openxmlformats-officedocument.customXmlProperties+xml"/>
  <Override PartName="/customXml/itemProps50.xml" ContentType="application/vnd.openxmlformats-officedocument.customXmlProperties+xml"/>
  <Override PartName="/customXml/itemProps51.xml" ContentType="application/vnd.openxmlformats-officedocument.customXmlProperties+xml"/>
  <Override PartName="/customXml/itemProps52.xml" ContentType="application/vnd.openxmlformats-officedocument.customXmlProperties+xml"/>
  <Override PartName="/customXml/itemProps53.xml" ContentType="application/vnd.openxmlformats-officedocument.customXmlProperties+xml"/>
  <Override PartName="/customXml/itemProps54.xml" ContentType="application/vnd.openxmlformats-officedocument.customXmlProperties+xml"/>
  <Override PartName="/customXml/itemProps55.xml" ContentType="application/vnd.openxmlformats-officedocument.customXmlProperties+xml"/>
  <Override PartName="/customXml/itemProps56.xml" ContentType="application/vnd.openxmlformats-officedocument.customXmlProperties+xml"/>
  <Override PartName="/customXml/itemProps57.xml" ContentType="application/vnd.openxmlformats-officedocument.customXmlProperties+xml"/>
  <Override PartName="/customXml/itemProps58.xml" ContentType="application/vnd.openxmlformats-officedocument.customXmlProperties+xml"/>
  <Override PartName="/customXml/itemProps59.xml" ContentType="application/vnd.openxmlformats-officedocument.customXmlProperties+xml"/>
  <Override PartName="/customXml/itemProps60.xml" ContentType="application/vnd.openxmlformats-officedocument.customXmlProperties+xml"/>
  <Override PartName="/customXml/itemProps61.xml" ContentType="application/vnd.openxmlformats-officedocument.customXmlProperties+xml"/>
  <Override PartName="/customXml/itemProps62.xml" ContentType="application/vnd.openxmlformats-officedocument.customXmlProperties+xml"/>
  <Override PartName="/customXml/itemProps63.xml" ContentType="application/vnd.openxmlformats-officedocument.customXmlProperties+xml"/>
  <Override PartName="/customXml/itemProps64.xml" ContentType="application/vnd.openxmlformats-officedocument.customXmlProperties+xml"/>
  <Override PartName="/customXml/itemProps65.xml" ContentType="application/vnd.openxmlformats-officedocument.customXmlProperties+xml"/>
  <Override PartName="/customXml/itemProps66.xml" ContentType="application/vnd.openxmlformats-officedocument.customXmlProperties+xml"/>
  <Override PartName="/customXml/itemProps67.xml" ContentType="application/vnd.openxmlformats-officedocument.customXmlProperties+xml"/>
  <Override PartName="/customXml/itemProps68.xml" ContentType="application/vnd.openxmlformats-officedocument.customXmlProperties+xml"/>
  <Override PartName="/customXml/itemProps69.xml" ContentType="application/vnd.openxmlformats-officedocument.customXmlProperties+xml"/>
  <Override PartName="/customXml/itemProps70.xml" ContentType="application/vnd.openxmlformats-officedocument.customXmlProperties+xml"/>
  <Override PartName="/customXml/itemProps71.xml" ContentType="application/vnd.openxmlformats-officedocument.customXmlProperties+xml"/>
  <Override PartName="/customXml/itemProps72.xml" ContentType="application/vnd.openxmlformats-officedocument.customXmlProperties+xml"/>
  <Override PartName="/customXml/itemProps73.xml" ContentType="application/vnd.openxmlformats-officedocument.customXmlProperties+xml"/>
  <Override PartName="/customXml/itemProps74.xml" ContentType="application/vnd.openxmlformats-officedocument.customXmlProperties+xml"/>
  <Override PartName="/customXml/itemProps75.xml" ContentType="application/vnd.openxmlformats-officedocument.customXmlProperties+xml"/>
  <Override PartName="/customXml/itemProps76.xml" ContentType="application/vnd.openxmlformats-officedocument.customXmlProperties+xml"/>
  <Override PartName="/customXml/itemProps77.xml" ContentType="application/vnd.openxmlformats-officedocument.customXmlProperties+xml"/>
  <Override PartName="/customXml/itemProps78.xml" ContentType="application/vnd.openxmlformats-officedocument.customXmlProperties+xml"/>
  <Override PartName="/customXml/itemProps79.xml" ContentType="application/vnd.openxmlformats-officedocument.customXmlProperties+xml"/>
  <Override PartName="/customXml/itemProps80.xml" ContentType="application/vnd.openxmlformats-officedocument.customXmlProperties+xml"/>
  <Override PartName="/customXml/itemProps81.xml" ContentType="application/vnd.openxmlformats-officedocument.customXmlProperties+xml"/>
  <Override PartName="/customXml/itemProps82.xml" ContentType="application/vnd.openxmlformats-officedocument.customXmlProperties+xml"/>
  <Override PartName="/customXml/itemProps83.xml" ContentType="application/vnd.openxmlformats-officedocument.customXmlProperties+xml"/>
  <Override PartName="/customXml/itemProps84.xml" ContentType="application/vnd.openxmlformats-officedocument.customXmlProperties+xml"/>
  <Override PartName="/customXml/itemProps85.xml" ContentType="application/vnd.openxmlformats-officedocument.customXmlProperties+xml"/>
  <Override PartName="/customXml/itemProps86.xml" ContentType="application/vnd.openxmlformats-officedocument.customXmlProperties+xml"/>
  <Override PartName="/customXml/itemProps87.xml" ContentType="application/vnd.openxmlformats-officedocument.customXmlProperties+xml"/>
  <Override PartName="/customXml/itemProps88.xml" ContentType="application/vnd.openxmlformats-officedocument.customXmlProperties+xml"/>
  <Override PartName="/customXml/itemProps89.xml" ContentType="application/vnd.openxmlformats-officedocument.customXmlProperties+xml"/>
  <Override PartName="/customXml/itemProps90.xml" ContentType="application/vnd.openxmlformats-officedocument.customXmlProperties+xml"/>
  <Override PartName="/customXml/itemProps91.xml" ContentType="application/vnd.openxmlformats-officedocument.customXmlProperties+xml"/>
  <Override PartName="/customXml/itemProps92.xml" ContentType="application/vnd.openxmlformats-officedocument.customXmlProperties+xml"/>
  <Override PartName="/customXml/itemProps93.xml" ContentType="application/vnd.openxmlformats-officedocument.customXmlProperties+xml"/>
  <Override PartName="/customXml/itemProps94.xml" ContentType="application/vnd.openxmlformats-officedocument.customXmlProperties+xml"/>
  <Override PartName="/customXml/itemProps95.xml" ContentType="application/vnd.openxmlformats-officedocument.customXmlProperties+xml"/>
  <Override PartName="/customXml/itemProps96.xml" ContentType="application/vnd.openxmlformats-officedocument.customXmlProperties+xml"/>
  <Override PartName="/customXml/itemProps97.xml" ContentType="application/vnd.openxmlformats-officedocument.customXmlProperties+xml"/>
  <Override PartName="/customXml/itemProps98.xml" ContentType="application/vnd.openxmlformats-officedocument.customXmlProperties+xml"/>
  <Override PartName="/customXml/itemProps99.xml" ContentType="application/vnd.openxmlformats-officedocument.customXmlProperties+xml"/>
  <Override PartName="/customXml/itemProps100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tags/tag6.xml" ContentType="application/vnd.openxmlformats-officedocument.presentationml.tags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4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2" r:id="rId101"/>
    <p:sldMasterId id="2147483648" r:id="rId102"/>
    <p:sldMasterId id="2362889418" r:id="rId103"/>
    <p:sldMasterId id="2362889421" r:id="rId104"/>
    <p:sldMasterId id="2362889435" r:id="rId105"/>
  </p:sldMasterIdLst>
  <p:notesMasterIdLst>
    <p:notesMasterId r:id="rId194"/>
  </p:notesMasterIdLst>
  <p:handoutMasterIdLst>
    <p:handoutMasterId r:id="rId195"/>
  </p:handoutMasterIdLst>
  <p:sldIdLst>
    <p:sldId id="343" r:id="rId106"/>
    <p:sldId id="417" r:id="rId107"/>
    <p:sldId id="303" r:id="rId108"/>
    <p:sldId id="348" r:id="rId109"/>
    <p:sldId id="418" r:id="rId110"/>
    <p:sldId id="420" r:id="rId111"/>
    <p:sldId id="306" r:id="rId112"/>
    <p:sldId id="453" r:id="rId113"/>
    <p:sldId id="455" r:id="rId114"/>
    <p:sldId id="547" r:id="rId115"/>
    <p:sldId id="442" r:id="rId116"/>
    <p:sldId id="456" r:id="rId117"/>
    <p:sldId id="445" r:id="rId118"/>
    <p:sldId id="548" r:id="rId119"/>
    <p:sldId id="422" r:id="rId120"/>
    <p:sldId id="449" r:id="rId121"/>
    <p:sldId id="423" r:id="rId122"/>
    <p:sldId id="549" r:id="rId123"/>
    <p:sldId id="550" r:id="rId124"/>
    <p:sldId id="447" r:id="rId125"/>
    <p:sldId id="424" r:id="rId126"/>
    <p:sldId id="460" r:id="rId127"/>
    <p:sldId id="419" r:id="rId128"/>
    <p:sldId id="450" r:id="rId129"/>
    <p:sldId id="451" r:id="rId130"/>
    <p:sldId id="382" r:id="rId131"/>
    <p:sldId id="527" r:id="rId132"/>
    <p:sldId id="528" r:id="rId133"/>
    <p:sldId id="529" r:id="rId134"/>
    <p:sldId id="426" r:id="rId135"/>
    <p:sldId id="542" r:id="rId136"/>
    <p:sldId id="541" r:id="rId137"/>
    <p:sldId id="532" r:id="rId138"/>
    <p:sldId id="543" r:id="rId139"/>
    <p:sldId id="533" r:id="rId140"/>
    <p:sldId id="535" r:id="rId141"/>
    <p:sldId id="536" r:id="rId142"/>
    <p:sldId id="537" r:id="rId143"/>
    <p:sldId id="538" r:id="rId144"/>
    <p:sldId id="539" r:id="rId145"/>
    <p:sldId id="552" r:id="rId146"/>
    <p:sldId id="553" r:id="rId147"/>
    <p:sldId id="457" r:id="rId148"/>
    <p:sldId id="474" r:id="rId149"/>
    <p:sldId id="475" r:id="rId150"/>
    <p:sldId id="476" r:id="rId151"/>
    <p:sldId id="477" r:id="rId152"/>
    <p:sldId id="459" r:id="rId153"/>
    <p:sldId id="478" r:id="rId154"/>
    <p:sldId id="479" r:id="rId155"/>
    <p:sldId id="487" r:id="rId156"/>
    <p:sldId id="480" r:id="rId157"/>
    <p:sldId id="545" r:id="rId158"/>
    <p:sldId id="546" r:id="rId159"/>
    <p:sldId id="544" r:id="rId160"/>
    <p:sldId id="484" r:id="rId161"/>
    <p:sldId id="488" r:id="rId162"/>
    <p:sldId id="489" r:id="rId163"/>
    <p:sldId id="458" r:id="rId164"/>
    <p:sldId id="360" r:id="rId165"/>
    <p:sldId id="551" r:id="rId166"/>
    <p:sldId id="491" r:id="rId167"/>
    <p:sldId id="492" r:id="rId168"/>
    <p:sldId id="511" r:id="rId169"/>
    <p:sldId id="493" r:id="rId170"/>
    <p:sldId id="494" r:id="rId171"/>
    <p:sldId id="512" r:id="rId172"/>
    <p:sldId id="517" r:id="rId173"/>
    <p:sldId id="521" r:id="rId174"/>
    <p:sldId id="522" r:id="rId175"/>
    <p:sldId id="518" r:id="rId176"/>
    <p:sldId id="526" r:id="rId177"/>
    <p:sldId id="515" r:id="rId178"/>
    <p:sldId id="523" r:id="rId179"/>
    <p:sldId id="524" r:id="rId180"/>
    <p:sldId id="525" r:id="rId181"/>
    <p:sldId id="498" r:id="rId182"/>
    <p:sldId id="500" r:id="rId183"/>
    <p:sldId id="502" r:id="rId184"/>
    <p:sldId id="504" r:id="rId185"/>
    <p:sldId id="505" r:id="rId186"/>
    <p:sldId id="508" r:id="rId187"/>
    <p:sldId id="506" r:id="rId188"/>
    <p:sldId id="507" r:id="rId189"/>
    <p:sldId id="509" r:id="rId190"/>
    <p:sldId id="510" r:id="rId191"/>
    <p:sldId id="386" r:id="rId192"/>
    <p:sldId id="513" r:id="rId193"/>
  </p:sldIdLst>
  <p:sldSz cx="12190413" cy="6858000"/>
  <p:notesSz cx="6858000" cy="9144000"/>
  <p:custDataLst>
    <p:tags r:id="rId196"/>
  </p:custDataLst>
  <p:defaultTextStyle>
    <a:defPPr>
      <a:defRPr lang="da-DK"/>
    </a:defPPr>
    <a:lvl1pPr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FFFFA3"/>
    <a:srgbClr val="FFFF4B"/>
    <a:srgbClr val="000000"/>
    <a:srgbClr val="FFFF00"/>
    <a:srgbClr val="FFCC00"/>
    <a:srgbClr val="FF6600"/>
    <a:srgbClr val="FFFFFF"/>
    <a:srgbClr val="9900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6098" autoAdjust="0"/>
  </p:normalViewPr>
  <p:slideViewPr>
    <p:cSldViewPr showGuides="1">
      <p:cViewPr varScale="1">
        <p:scale>
          <a:sx n="155" d="100"/>
          <a:sy n="155" d="100"/>
        </p:scale>
        <p:origin x="368" y="8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2.xml"/><Relationship Id="rId21" Type="http://schemas.openxmlformats.org/officeDocument/2006/relationships/customXml" Target="../customXml/item21.xml"/><Relationship Id="rId42" Type="http://schemas.openxmlformats.org/officeDocument/2006/relationships/customXml" Target="../customXml/item42.xml"/><Relationship Id="rId63" Type="http://schemas.openxmlformats.org/officeDocument/2006/relationships/customXml" Target="../customXml/item63.xml"/><Relationship Id="rId84" Type="http://schemas.openxmlformats.org/officeDocument/2006/relationships/customXml" Target="../customXml/item84.xml"/><Relationship Id="rId138" Type="http://schemas.openxmlformats.org/officeDocument/2006/relationships/slide" Target="slides/slide33.xml"/><Relationship Id="rId159" Type="http://schemas.openxmlformats.org/officeDocument/2006/relationships/slide" Target="slides/slide54.xml"/><Relationship Id="rId170" Type="http://schemas.openxmlformats.org/officeDocument/2006/relationships/slide" Target="slides/slide65.xml"/><Relationship Id="rId191" Type="http://schemas.openxmlformats.org/officeDocument/2006/relationships/slide" Target="slides/slide86.xml"/><Relationship Id="rId107" Type="http://schemas.openxmlformats.org/officeDocument/2006/relationships/slide" Target="slides/slide2.xml"/><Relationship Id="rId11" Type="http://schemas.openxmlformats.org/officeDocument/2006/relationships/customXml" Target="../customXml/item11.xml"/><Relationship Id="rId32" Type="http://schemas.openxmlformats.org/officeDocument/2006/relationships/customXml" Target="../customXml/item32.xml"/><Relationship Id="rId53" Type="http://schemas.openxmlformats.org/officeDocument/2006/relationships/customXml" Target="../customXml/item53.xml"/><Relationship Id="rId74" Type="http://schemas.openxmlformats.org/officeDocument/2006/relationships/customXml" Target="../customXml/item74.xml"/><Relationship Id="rId128" Type="http://schemas.openxmlformats.org/officeDocument/2006/relationships/slide" Target="slides/slide23.xml"/><Relationship Id="rId149" Type="http://schemas.openxmlformats.org/officeDocument/2006/relationships/slide" Target="slides/slide44.xml"/><Relationship Id="rId5" Type="http://schemas.openxmlformats.org/officeDocument/2006/relationships/customXml" Target="../customXml/item5.xml"/><Relationship Id="rId95" Type="http://schemas.openxmlformats.org/officeDocument/2006/relationships/customXml" Target="../customXml/item95.xml"/><Relationship Id="rId160" Type="http://schemas.openxmlformats.org/officeDocument/2006/relationships/slide" Target="slides/slide55.xml"/><Relationship Id="rId181" Type="http://schemas.openxmlformats.org/officeDocument/2006/relationships/slide" Target="slides/slide76.xml"/><Relationship Id="rId22" Type="http://schemas.openxmlformats.org/officeDocument/2006/relationships/customXml" Target="../customXml/item22.xml"/><Relationship Id="rId43" Type="http://schemas.openxmlformats.org/officeDocument/2006/relationships/customXml" Target="../customXml/item43.xml"/><Relationship Id="rId64" Type="http://schemas.openxmlformats.org/officeDocument/2006/relationships/customXml" Target="../customXml/item64.xml"/><Relationship Id="rId118" Type="http://schemas.openxmlformats.org/officeDocument/2006/relationships/slide" Target="slides/slide13.xml"/><Relationship Id="rId139" Type="http://schemas.openxmlformats.org/officeDocument/2006/relationships/slide" Target="slides/slide34.xml"/><Relationship Id="rId85" Type="http://schemas.openxmlformats.org/officeDocument/2006/relationships/customXml" Target="../customXml/item85.xml"/><Relationship Id="rId150" Type="http://schemas.openxmlformats.org/officeDocument/2006/relationships/slide" Target="slides/slide45.xml"/><Relationship Id="rId171" Type="http://schemas.openxmlformats.org/officeDocument/2006/relationships/slide" Target="slides/slide66.xml"/><Relationship Id="rId192" Type="http://schemas.openxmlformats.org/officeDocument/2006/relationships/slide" Target="slides/slide87.xml"/><Relationship Id="rId12" Type="http://schemas.openxmlformats.org/officeDocument/2006/relationships/customXml" Target="../customXml/item12.xml"/><Relationship Id="rId33" Type="http://schemas.openxmlformats.org/officeDocument/2006/relationships/customXml" Target="../customXml/item33.xml"/><Relationship Id="rId108" Type="http://schemas.openxmlformats.org/officeDocument/2006/relationships/slide" Target="slides/slide3.xml"/><Relationship Id="rId129" Type="http://schemas.openxmlformats.org/officeDocument/2006/relationships/slide" Target="slides/slide24.xml"/><Relationship Id="rId54" Type="http://schemas.openxmlformats.org/officeDocument/2006/relationships/customXml" Target="../customXml/item54.xml"/><Relationship Id="rId75" Type="http://schemas.openxmlformats.org/officeDocument/2006/relationships/customXml" Target="../customXml/item75.xml"/><Relationship Id="rId96" Type="http://schemas.openxmlformats.org/officeDocument/2006/relationships/customXml" Target="../customXml/item96.xml"/><Relationship Id="rId140" Type="http://schemas.openxmlformats.org/officeDocument/2006/relationships/slide" Target="slides/slide35.xml"/><Relationship Id="rId161" Type="http://schemas.openxmlformats.org/officeDocument/2006/relationships/slide" Target="slides/slide56.xml"/><Relationship Id="rId182" Type="http://schemas.openxmlformats.org/officeDocument/2006/relationships/slide" Target="slides/slide77.xml"/><Relationship Id="rId6" Type="http://schemas.openxmlformats.org/officeDocument/2006/relationships/customXml" Target="../customXml/item6.xml"/><Relationship Id="rId23" Type="http://schemas.openxmlformats.org/officeDocument/2006/relationships/customXml" Target="../customXml/item23.xml"/><Relationship Id="rId119" Type="http://schemas.openxmlformats.org/officeDocument/2006/relationships/slide" Target="slides/slide14.xml"/><Relationship Id="rId44" Type="http://schemas.openxmlformats.org/officeDocument/2006/relationships/customXml" Target="../customXml/item44.xml"/><Relationship Id="rId65" Type="http://schemas.openxmlformats.org/officeDocument/2006/relationships/customXml" Target="../customXml/item65.xml"/><Relationship Id="rId86" Type="http://schemas.openxmlformats.org/officeDocument/2006/relationships/customXml" Target="../customXml/item86.xml"/><Relationship Id="rId130" Type="http://schemas.openxmlformats.org/officeDocument/2006/relationships/slide" Target="slides/slide25.xml"/><Relationship Id="rId151" Type="http://schemas.openxmlformats.org/officeDocument/2006/relationships/slide" Target="slides/slide46.xml"/><Relationship Id="rId172" Type="http://schemas.openxmlformats.org/officeDocument/2006/relationships/slide" Target="slides/slide67.xml"/><Relationship Id="rId193" Type="http://schemas.openxmlformats.org/officeDocument/2006/relationships/slide" Target="slides/slide88.xml"/><Relationship Id="rId13" Type="http://schemas.openxmlformats.org/officeDocument/2006/relationships/customXml" Target="../customXml/item13.xml"/><Relationship Id="rId109" Type="http://schemas.openxmlformats.org/officeDocument/2006/relationships/slide" Target="slides/slide4.xml"/><Relationship Id="rId34" Type="http://schemas.openxmlformats.org/officeDocument/2006/relationships/customXml" Target="../customXml/item34.xml"/><Relationship Id="rId55" Type="http://schemas.openxmlformats.org/officeDocument/2006/relationships/customXml" Target="../customXml/item55.xml"/><Relationship Id="rId76" Type="http://schemas.openxmlformats.org/officeDocument/2006/relationships/customXml" Target="../customXml/item76.xml"/><Relationship Id="rId97" Type="http://schemas.openxmlformats.org/officeDocument/2006/relationships/customXml" Target="../customXml/item97.xml"/><Relationship Id="rId120" Type="http://schemas.openxmlformats.org/officeDocument/2006/relationships/slide" Target="slides/slide15.xml"/><Relationship Id="rId141" Type="http://schemas.openxmlformats.org/officeDocument/2006/relationships/slide" Target="slides/slide36.xml"/><Relationship Id="rId7" Type="http://schemas.openxmlformats.org/officeDocument/2006/relationships/customXml" Target="../customXml/item7.xml"/><Relationship Id="rId71" Type="http://schemas.openxmlformats.org/officeDocument/2006/relationships/customXml" Target="../customXml/item71.xml"/><Relationship Id="rId92" Type="http://schemas.openxmlformats.org/officeDocument/2006/relationships/customXml" Target="../customXml/item92.xml"/><Relationship Id="rId162" Type="http://schemas.openxmlformats.org/officeDocument/2006/relationships/slide" Target="slides/slide57.xml"/><Relationship Id="rId183" Type="http://schemas.openxmlformats.org/officeDocument/2006/relationships/slide" Target="slides/slide78.xml"/><Relationship Id="rId2" Type="http://schemas.openxmlformats.org/officeDocument/2006/relationships/customXml" Target="../customXml/item2.xml"/><Relationship Id="rId29" Type="http://schemas.openxmlformats.org/officeDocument/2006/relationships/customXml" Target="../customXml/item29.xml"/><Relationship Id="rId24" Type="http://schemas.openxmlformats.org/officeDocument/2006/relationships/customXml" Target="../customXml/item24.xml"/><Relationship Id="rId40" Type="http://schemas.openxmlformats.org/officeDocument/2006/relationships/customXml" Target="../customXml/item40.xml"/><Relationship Id="rId45" Type="http://schemas.openxmlformats.org/officeDocument/2006/relationships/customXml" Target="../customXml/item45.xml"/><Relationship Id="rId66" Type="http://schemas.openxmlformats.org/officeDocument/2006/relationships/customXml" Target="../customXml/item66.xml"/><Relationship Id="rId87" Type="http://schemas.openxmlformats.org/officeDocument/2006/relationships/customXml" Target="../customXml/item87.xml"/><Relationship Id="rId110" Type="http://schemas.openxmlformats.org/officeDocument/2006/relationships/slide" Target="slides/slide5.xml"/><Relationship Id="rId115" Type="http://schemas.openxmlformats.org/officeDocument/2006/relationships/slide" Target="slides/slide10.xml"/><Relationship Id="rId131" Type="http://schemas.openxmlformats.org/officeDocument/2006/relationships/slide" Target="slides/slide26.xml"/><Relationship Id="rId136" Type="http://schemas.openxmlformats.org/officeDocument/2006/relationships/slide" Target="slides/slide31.xml"/><Relationship Id="rId157" Type="http://schemas.openxmlformats.org/officeDocument/2006/relationships/slide" Target="slides/slide52.xml"/><Relationship Id="rId178" Type="http://schemas.openxmlformats.org/officeDocument/2006/relationships/slide" Target="slides/slide73.xml"/><Relationship Id="rId61" Type="http://schemas.openxmlformats.org/officeDocument/2006/relationships/customXml" Target="../customXml/item61.xml"/><Relationship Id="rId82" Type="http://schemas.openxmlformats.org/officeDocument/2006/relationships/customXml" Target="../customXml/item82.xml"/><Relationship Id="rId152" Type="http://schemas.openxmlformats.org/officeDocument/2006/relationships/slide" Target="slides/slide47.xml"/><Relationship Id="rId173" Type="http://schemas.openxmlformats.org/officeDocument/2006/relationships/slide" Target="slides/slide68.xml"/><Relationship Id="rId194" Type="http://schemas.openxmlformats.org/officeDocument/2006/relationships/notesMaster" Target="notesMasters/notesMaster1.xml"/><Relationship Id="rId199" Type="http://schemas.openxmlformats.org/officeDocument/2006/relationships/theme" Target="theme/theme1.xml"/><Relationship Id="rId19" Type="http://schemas.openxmlformats.org/officeDocument/2006/relationships/customXml" Target="../customXml/item19.xml"/><Relationship Id="rId14" Type="http://schemas.openxmlformats.org/officeDocument/2006/relationships/customXml" Target="../customXml/item14.xml"/><Relationship Id="rId30" Type="http://schemas.openxmlformats.org/officeDocument/2006/relationships/customXml" Target="../customXml/item30.xml"/><Relationship Id="rId35" Type="http://schemas.openxmlformats.org/officeDocument/2006/relationships/customXml" Target="../customXml/item35.xml"/><Relationship Id="rId56" Type="http://schemas.openxmlformats.org/officeDocument/2006/relationships/customXml" Target="../customXml/item56.xml"/><Relationship Id="rId77" Type="http://schemas.openxmlformats.org/officeDocument/2006/relationships/customXml" Target="../customXml/item77.xml"/><Relationship Id="rId100" Type="http://schemas.openxmlformats.org/officeDocument/2006/relationships/customXml" Target="../customXml/item100.xml"/><Relationship Id="rId105" Type="http://schemas.openxmlformats.org/officeDocument/2006/relationships/slideMaster" Target="slideMasters/slideMaster5.xml"/><Relationship Id="rId126" Type="http://schemas.openxmlformats.org/officeDocument/2006/relationships/slide" Target="slides/slide21.xml"/><Relationship Id="rId147" Type="http://schemas.openxmlformats.org/officeDocument/2006/relationships/slide" Target="slides/slide42.xml"/><Relationship Id="rId168" Type="http://schemas.openxmlformats.org/officeDocument/2006/relationships/slide" Target="slides/slide63.xml"/><Relationship Id="rId8" Type="http://schemas.openxmlformats.org/officeDocument/2006/relationships/customXml" Target="../customXml/item8.xml"/><Relationship Id="rId51" Type="http://schemas.openxmlformats.org/officeDocument/2006/relationships/customXml" Target="../customXml/item51.xml"/><Relationship Id="rId72" Type="http://schemas.openxmlformats.org/officeDocument/2006/relationships/customXml" Target="../customXml/item72.xml"/><Relationship Id="rId93" Type="http://schemas.openxmlformats.org/officeDocument/2006/relationships/customXml" Target="../customXml/item93.xml"/><Relationship Id="rId98" Type="http://schemas.openxmlformats.org/officeDocument/2006/relationships/customXml" Target="../customXml/item98.xml"/><Relationship Id="rId121" Type="http://schemas.openxmlformats.org/officeDocument/2006/relationships/slide" Target="slides/slide16.xml"/><Relationship Id="rId142" Type="http://schemas.openxmlformats.org/officeDocument/2006/relationships/slide" Target="slides/slide37.xml"/><Relationship Id="rId163" Type="http://schemas.openxmlformats.org/officeDocument/2006/relationships/slide" Target="slides/slide58.xml"/><Relationship Id="rId184" Type="http://schemas.openxmlformats.org/officeDocument/2006/relationships/slide" Target="slides/slide79.xml"/><Relationship Id="rId189" Type="http://schemas.openxmlformats.org/officeDocument/2006/relationships/slide" Target="slides/slide84.xml"/><Relationship Id="rId3" Type="http://schemas.openxmlformats.org/officeDocument/2006/relationships/customXml" Target="../customXml/item3.xml"/><Relationship Id="rId25" Type="http://schemas.openxmlformats.org/officeDocument/2006/relationships/customXml" Target="../customXml/item25.xml"/><Relationship Id="rId46" Type="http://schemas.openxmlformats.org/officeDocument/2006/relationships/customXml" Target="../customXml/item46.xml"/><Relationship Id="rId67" Type="http://schemas.openxmlformats.org/officeDocument/2006/relationships/customXml" Target="../customXml/item67.xml"/><Relationship Id="rId116" Type="http://schemas.openxmlformats.org/officeDocument/2006/relationships/slide" Target="slides/slide11.xml"/><Relationship Id="rId137" Type="http://schemas.openxmlformats.org/officeDocument/2006/relationships/slide" Target="slides/slide32.xml"/><Relationship Id="rId158" Type="http://schemas.openxmlformats.org/officeDocument/2006/relationships/slide" Target="slides/slide53.xml"/><Relationship Id="rId20" Type="http://schemas.openxmlformats.org/officeDocument/2006/relationships/customXml" Target="../customXml/item20.xml"/><Relationship Id="rId41" Type="http://schemas.openxmlformats.org/officeDocument/2006/relationships/customXml" Target="../customXml/item41.xml"/><Relationship Id="rId62" Type="http://schemas.openxmlformats.org/officeDocument/2006/relationships/customXml" Target="../customXml/item62.xml"/><Relationship Id="rId83" Type="http://schemas.openxmlformats.org/officeDocument/2006/relationships/customXml" Target="../customXml/item83.xml"/><Relationship Id="rId88" Type="http://schemas.openxmlformats.org/officeDocument/2006/relationships/customXml" Target="../customXml/item88.xml"/><Relationship Id="rId111" Type="http://schemas.openxmlformats.org/officeDocument/2006/relationships/slide" Target="slides/slide6.xml"/><Relationship Id="rId132" Type="http://schemas.openxmlformats.org/officeDocument/2006/relationships/slide" Target="slides/slide27.xml"/><Relationship Id="rId153" Type="http://schemas.openxmlformats.org/officeDocument/2006/relationships/slide" Target="slides/slide48.xml"/><Relationship Id="rId174" Type="http://schemas.openxmlformats.org/officeDocument/2006/relationships/slide" Target="slides/slide69.xml"/><Relationship Id="rId179" Type="http://schemas.openxmlformats.org/officeDocument/2006/relationships/slide" Target="slides/slide74.xml"/><Relationship Id="rId195" Type="http://schemas.openxmlformats.org/officeDocument/2006/relationships/handoutMaster" Target="handoutMasters/handoutMaster1.xml"/><Relationship Id="rId190" Type="http://schemas.openxmlformats.org/officeDocument/2006/relationships/slide" Target="slides/slide85.xml"/><Relationship Id="rId15" Type="http://schemas.openxmlformats.org/officeDocument/2006/relationships/customXml" Target="../customXml/item15.xml"/><Relationship Id="rId36" Type="http://schemas.openxmlformats.org/officeDocument/2006/relationships/customXml" Target="../customXml/item36.xml"/><Relationship Id="rId57" Type="http://schemas.openxmlformats.org/officeDocument/2006/relationships/customXml" Target="../customXml/item57.xml"/><Relationship Id="rId106" Type="http://schemas.openxmlformats.org/officeDocument/2006/relationships/slide" Target="slides/slide1.xml"/><Relationship Id="rId127" Type="http://schemas.openxmlformats.org/officeDocument/2006/relationships/slide" Target="slides/slide22.xml"/><Relationship Id="rId10" Type="http://schemas.openxmlformats.org/officeDocument/2006/relationships/customXml" Target="../customXml/item10.xml"/><Relationship Id="rId31" Type="http://schemas.openxmlformats.org/officeDocument/2006/relationships/customXml" Target="../customXml/item31.xml"/><Relationship Id="rId52" Type="http://schemas.openxmlformats.org/officeDocument/2006/relationships/customXml" Target="../customXml/item52.xml"/><Relationship Id="rId73" Type="http://schemas.openxmlformats.org/officeDocument/2006/relationships/customXml" Target="../customXml/item73.xml"/><Relationship Id="rId78" Type="http://schemas.openxmlformats.org/officeDocument/2006/relationships/customXml" Target="../customXml/item78.xml"/><Relationship Id="rId94" Type="http://schemas.openxmlformats.org/officeDocument/2006/relationships/customXml" Target="../customXml/item94.xml"/><Relationship Id="rId99" Type="http://schemas.openxmlformats.org/officeDocument/2006/relationships/customXml" Target="../customXml/item99.xml"/><Relationship Id="rId101" Type="http://schemas.openxmlformats.org/officeDocument/2006/relationships/slideMaster" Target="slideMasters/slideMaster1.xml"/><Relationship Id="rId122" Type="http://schemas.openxmlformats.org/officeDocument/2006/relationships/slide" Target="slides/slide17.xml"/><Relationship Id="rId143" Type="http://schemas.openxmlformats.org/officeDocument/2006/relationships/slide" Target="slides/slide38.xml"/><Relationship Id="rId148" Type="http://schemas.openxmlformats.org/officeDocument/2006/relationships/slide" Target="slides/slide43.xml"/><Relationship Id="rId164" Type="http://schemas.openxmlformats.org/officeDocument/2006/relationships/slide" Target="slides/slide59.xml"/><Relationship Id="rId169" Type="http://schemas.openxmlformats.org/officeDocument/2006/relationships/slide" Target="slides/slide64.xml"/><Relationship Id="rId185" Type="http://schemas.openxmlformats.org/officeDocument/2006/relationships/slide" Target="slides/slide80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80" Type="http://schemas.openxmlformats.org/officeDocument/2006/relationships/slide" Target="slides/slide75.xml"/><Relationship Id="rId26" Type="http://schemas.openxmlformats.org/officeDocument/2006/relationships/customXml" Target="../customXml/item26.xml"/><Relationship Id="rId47" Type="http://schemas.openxmlformats.org/officeDocument/2006/relationships/customXml" Target="../customXml/item47.xml"/><Relationship Id="rId68" Type="http://schemas.openxmlformats.org/officeDocument/2006/relationships/customXml" Target="../customXml/item68.xml"/><Relationship Id="rId89" Type="http://schemas.openxmlformats.org/officeDocument/2006/relationships/customXml" Target="../customXml/item89.xml"/><Relationship Id="rId112" Type="http://schemas.openxmlformats.org/officeDocument/2006/relationships/slide" Target="slides/slide7.xml"/><Relationship Id="rId133" Type="http://schemas.openxmlformats.org/officeDocument/2006/relationships/slide" Target="slides/slide28.xml"/><Relationship Id="rId154" Type="http://schemas.openxmlformats.org/officeDocument/2006/relationships/slide" Target="slides/slide49.xml"/><Relationship Id="rId175" Type="http://schemas.openxmlformats.org/officeDocument/2006/relationships/slide" Target="slides/slide70.xml"/><Relationship Id="rId196" Type="http://schemas.openxmlformats.org/officeDocument/2006/relationships/tags" Target="tags/tag1.xml"/><Relationship Id="rId200" Type="http://schemas.openxmlformats.org/officeDocument/2006/relationships/tableStyles" Target="tableStyles.xml"/><Relationship Id="rId16" Type="http://schemas.openxmlformats.org/officeDocument/2006/relationships/customXml" Target="../customXml/item16.xml"/><Relationship Id="rId37" Type="http://schemas.openxmlformats.org/officeDocument/2006/relationships/customXml" Target="../customXml/item37.xml"/><Relationship Id="rId58" Type="http://schemas.openxmlformats.org/officeDocument/2006/relationships/customXml" Target="../customXml/item58.xml"/><Relationship Id="rId79" Type="http://schemas.openxmlformats.org/officeDocument/2006/relationships/customXml" Target="../customXml/item79.xml"/><Relationship Id="rId102" Type="http://schemas.openxmlformats.org/officeDocument/2006/relationships/slideMaster" Target="slideMasters/slideMaster2.xml"/><Relationship Id="rId123" Type="http://schemas.openxmlformats.org/officeDocument/2006/relationships/slide" Target="slides/slide18.xml"/><Relationship Id="rId144" Type="http://schemas.openxmlformats.org/officeDocument/2006/relationships/slide" Target="slides/slide39.xml"/><Relationship Id="rId90" Type="http://schemas.openxmlformats.org/officeDocument/2006/relationships/customXml" Target="../customXml/item90.xml"/><Relationship Id="rId165" Type="http://schemas.openxmlformats.org/officeDocument/2006/relationships/slide" Target="slides/slide60.xml"/><Relationship Id="rId186" Type="http://schemas.openxmlformats.org/officeDocument/2006/relationships/slide" Target="slides/slide81.xml"/><Relationship Id="rId27" Type="http://schemas.openxmlformats.org/officeDocument/2006/relationships/customXml" Target="../customXml/item27.xml"/><Relationship Id="rId48" Type="http://schemas.openxmlformats.org/officeDocument/2006/relationships/customXml" Target="../customXml/item48.xml"/><Relationship Id="rId69" Type="http://schemas.openxmlformats.org/officeDocument/2006/relationships/customXml" Target="../customXml/item69.xml"/><Relationship Id="rId113" Type="http://schemas.openxmlformats.org/officeDocument/2006/relationships/slide" Target="slides/slide8.xml"/><Relationship Id="rId134" Type="http://schemas.openxmlformats.org/officeDocument/2006/relationships/slide" Target="slides/slide29.xml"/><Relationship Id="rId80" Type="http://schemas.openxmlformats.org/officeDocument/2006/relationships/customXml" Target="../customXml/item80.xml"/><Relationship Id="rId155" Type="http://schemas.openxmlformats.org/officeDocument/2006/relationships/slide" Target="slides/slide50.xml"/><Relationship Id="rId176" Type="http://schemas.openxmlformats.org/officeDocument/2006/relationships/slide" Target="slides/slide71.xml"/><Relationship Id="rId197" Type="http://schemas.openxmlformats.org/officeDocument/2006/relationships/presProps" Target="presProps.xml"/><Relationship Id="rId17" Type="http://schemas.openxmlformats.org/officeDocument/2006/relationships/customXml" Target="../customXml/item17.xml"/><Relationship Id="rId38" Type="http://schemas.openxmlformats.org/officeDocument/2006/relationships/customXml" Target="../customXml/item38.xml"/><Relationship Id="rId59" Type="http://schemas.openxmlformats.org/officeDocument/2006/relationships/customXml" Target="../customXml/item59.xml"/><Relationship Id="rId103" Type="http://schemas.openxmlformats.org/officeDocument/2006/relationships/slideMaster" Target="slideMasters/slideMaster3.xml"/><Relationship Id="rId124" Type="http://schemas.openxmlformats.org/officeDocument/2006/relationships/slide" Target="slides/slide19.xml"/><Relationship Id="rId70" Type="http://schemas.openxmlformats.org/officeDocument/2006/relationships/customXml" Target="../customXml/item70.xml"/><Relationship Id="rId91" Type="http://schemas.openxmlformats.org/officeDocument/2006/relationships/customXml" Target="../customXml/item91.xml"/><Relationship Id="rId145" Type="http://schemas.openxmlformats.org/officeDocument/2006/relationships/slide" Target="slides/slide40.xml"/><Relationship Id="rId166" Type="http://schemas.openxmlformats.org/officeDocument/2006/relationships/slide" Target="slides/slide61.xml"/><Relationship Id="rId187" Type="http://schemas.openxmlformats.org/officeDocument/2006/relationships/slide" Target="slides/slide82.xml"/><Relationship Id="rId1" Type="http://schemas.openxmlformats.org/officeDocument/2006/relationships/customXml" Target="../customXml/item1.xml"/><Relationship Id="rId28" Type="http://schemas.openxmlformats.org/officeDocument/2006/relationships/customXml" Target="../customXml/item28.xml"/><Relationship Id="rId49" Type="http://schemas.openxmlformats.org/officeDocument/2006/relationships/customXml" Target="../customXml/item49.xml"/><Relationship Id="rId114" Type="http://schemas.openxmlformats.org/officeDocument/2006/relationships/slide" Target="slides/slide9.xml"/><Relationship Id="rId60" Type="http://schemas.openxmlformats.org/officeDocument/2006/relationships/customXml" Target="../customXml/item60.xml"/><Relationship Id="rId81" Type="http://schemas.openxmlformats.org/officeDocument/2006/relationships/customXml" Target="../customXml/item81.xml"/><Relationship Id="rId135" Type="http://schemas.openxmlformats.org/officeDocument/2006/relationships/slide" Target="slides/slide30.xml"/><Relationship Id="rId156" Type="http://schemas.openxmlformats.org/officeDocument/2006/relationships/slide" Target="slides/slide51.xml"/><Relationship Id="rId177" Type="http://schemas.openxmlformats.org/officeDocument/2006/relationships/slide" Target="slides/slide72.xml"/><Relationship Id="rId198" Type="http://schemas.openxmlformats.org/officeDocument/2006/relationships/viewProps" Target="viewProps.xml"/><Relationship Id="rId18" Type="http://schemas.openxmlformats.org/officeDocument/2006/relationships/customXml" Target="../customXml/item18.xml"/><Relationship Id="rId39" Type="http://schemas.openxmlformats.org/officeDocument/2006/relationships/customXml" Target="../customXml/item39.xml"/><Relationship Id="rId50" Type="http://schemas.openxmlformats.org/officeDocument/2006/relationships/customXml" Target="../customXml/item50.xml"/><Relationship Id="rId104" Type="http://schemas.openxmlformats.org/officeDocument/2006/relationships/slideMaster" Target="slideMasters/slideMaster4.xml"/><Relationship Id="rId125" Type="http://schemas.openxmlformats.org/officeDocument/2006/relationships/slide" Target="slides/slide20.xml"/><Relationship Id="rId146" Type="http://schemas.openxmlformats.org/officeDocument/2006/relationships/slide" Target="slides/slide41.xml"/><Relationship Id="rId167" Type="http://schemas.openxmlformats.org/officeDocument/2006/relationships/slide" Target="slides/slide62.xml"/><Relationship Id="rId188" Type="http://schemas.openxmlformats.org/officeDocument/2006/relationships/slide" Target="slides/slide8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fld id="{491ECFBD-4A0D-4BCF-98A8-E205F44719BF}" type="slidenum">
              <a:rPr lang="da-DK" smtClean="0">
                <a:latin typeface="Arial" panose="020B0604020202020204" pitchFamily="34" charset="0"/>
              </a:rPr>
              <a:pPr/>
              <a:t>‹#›</a:t>
            </a:fld>
            <a:endParaRPr lang="da-DK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8099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2588" y="685800"/>
            <a:ext cx="6092825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Master </a:t>
            </a:r>
            <a:r>
              <a:rPr lang="da-DK" dirty="0" err="1"/>
              <a:t>text</a:t>
            </a:r>
            <a:r>
              <a:rPr lang="da-DK" dirty="0"/>
              <a:t> </a:t>
            </a:r>
            <a:r>
              <a:rPr lang="da-DK" dirty="0" err="1"/>
              <a:t>styles</a:t>
            </a:r>
            <a:endParaRPr lang="da-DK" dirty="0"/>
          </a:p>
          <a:p>
            <a:pPr lvl="1"/>
            <a:r>
              <a:rPr lang="da-DK" dirty="0"/>
              <a:t>Second </a:t>
            </a:r>
            <a:r>
              <a:rPr lang="da-DK" dirty="0" err="1"/>
              <a:t>level</a:t>
            </a:r>
            <a:endParaRPr lang="da-DK" dirty="0"/>
          </a:p>
          <a:p>
            <a:pPr lvl="2"/>
            <a:r>
              <a:rPr lang="da-DK" dirty="0"/>
              <a:t>Third </a:t>
            </a:r>
            <a:r>
              <a:rPr lang="da-DK" dirty="0" err="1"/>
              <a:t>level</a:t>
            </a:r>
            <a:endParaRPr lang="da-DK" dirty="0"/>
          </a:p>
          <a:p>
            <a:pPr lvl="3"/>
            <a:r>
              <a:rPr lang="da-DK" dirty="0" err="1"/>
              <a:t>Fourth</a:t>
            </a:r>
            <a:r>
              <a:rPr lang="da-DK" dirty="0"/>
              <a:t> </a:t>
            </a:r>
            <a:r>
              <a:rPr lang="da-DK" dirty="0" err="1"/>
              <a:t>level</a:t>
            </a:r>
            <a:endParaRPr lang="da-DK" dirty="0"/>
          </a:p>
          <a:p>
            <a:pPr lvl="4"/>
            <a:r>
              <a:rPr lang="da-DK" dirty="0"/>
              <a:t>Fifth </a:t>
            </a:r>
            <a:r>
              <a:rPr lang="da-DK" dirty="0" err="1"/>
              <a:t>level</a:t>
            </a:r>
            <a:endParaRPr lang="da-DK" dirty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fld id="{C734BB09-483B-4C4B-A5A4-C02A22055B01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7783607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A3B6C-1761-5DAE-96E1-4FEC2A1E9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>
            <a:extLst>
              <a:ext uri="{FF2B5EF4-FFF2-40B4-BE49-F238E27FC236}">
                <a16:creationId xmlns:a16="http://schemas.microsoft.com/office/drawing/2014/main" id="{BE7E7381-8DB3-B130-7D2D-64FB23274D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</p:spPr>
      </p:sp>
      <p:sp>
        <p:nvSpPr>
          <p:cNvPr id="414" name="PlaceHolder 2">
            <a:extLst>
              <a:ext uri="{FF2B5EF4-FFF2-40B4-BE49-F238E27FC236}">
                <a16:creationId xmlns:a16="http://schemas.microsoft.com/office/drawing/2014/main" id="{80C4A0FC-B900-E11C-D0CD-F49A6F62E20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15" name="TextShape 3">
            <a:extLst>
              <a:ext uri="{FF2B5EF4-FFF2-40B4-BE49-F238E27FC236}">
                <a16:creationId xmlns:a16="http://schemas.microsoft.com/office/drawing/2014/main" id="{4158C2BE-FA43-2F34-2287-B0C3A9CEA305}"/>
              </a:ext>
            </a:extLst>
          </p:cNvPr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D8C2A030-BC3E-40EB-A6E8-455946B6E66D}" type="slidenum">
              <a:rPr lang="en-US" sz="1200" b="0" strike="noStrike" spc="-1">
                <a:latin typeface="Times New Roman"/>
              </a:rPr>
              <a:t>3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870493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88F0C2-9B19-4521-A456-FB6FD7B1982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2733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66C3B-9641-00AD-2ED0-50146EBD7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>
            <a:extLst>
              <a:ext uri="{FF2B5EF4-FFF2-40B4-BE49-F238E27FC236}">
                <a16:creationId xmlns:a16="http://schemas.microsoft.com/office/drawing/2014/main" id="{DF647CFC-1BD7-5C2C-B1EA-3B501B0FEB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</p:spPr>
      </p:sp>
      <p:sp>
        <p:nvSpPr>
          <p:cNvPr id="417" name="PlaceHolder 2">
            <a:extLst>
              <a:ext uri="{FF2B5EF4-FFF2-40B4-BE49-F238E27FC236}">
                <a16:creationId xmlns:a16="http://schemas.microsoft.com/office/drawing/2014/main" id="{9356CB02-BBD7-5955-23ED-963D29584B1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18" name="TextShape 3">
            <a:extLst>
              <a:ext uri="{FF2B5EF4-FFF2-40B4-BE49-F238E27FC236}">
                <a16:creationId xmlns:a16="http://schemas.microsoft.com/office/drawing/2014/main" id="{C540B9F5-F56F-CE41-3D3C-DA07F2166740}"/>
              </a:ext>
            </a:extLst>
          </p:cNvPr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ACEF8-BC90-4DB5-AF9D-CF22B45B56C1}" type="slidenum"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541809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DE5E8-99D7-EC3A-6BC5-F0D33251B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>
            <a:extLst>
              <a:ext uri="{FF2B5EF4-FFF2-40B4-BE49-F238E27FC236}">
                <a16:creationId xmlns:a16="http://schemas.microsoft.com/office/drawing/2014/main" id="{1AAC279A-4C3F-C7B3-8AEB-91E3C5A695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</p:spPr>
      </p:sp>
      <p:sp>
        <p:nvSpPr>
          <p:cNvPr id="417" name="PlaceHolder 2">
            <a:extLst>
              <a:ext uri="{FF2B5EF4-FFF2-40B4-BE49-F238E27FC236}">
                <a16:creationId xmlns:a16="http://schemas.microsoft.com/office/drawing/2014/main" id="{40E719BD-655A-D8D9-200B-8DA75AB4D02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18" name="TextShape 3">
            <a:extLst>
              <a:ext uri="{FF2B5EF4-FFF2-40B4-BE49-F238E27FC236}">
                <a16:creationId xmlns:a16="http://schemas.microsoft.com/office/drawing/2014/main" id="{531B438C-8FB2-CD52-06D3-3A7C5ED19B36}"/>
              </a:ext>
            </a:extLst>
          </p:cNvPr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ACEF8-BC90-4DB5-AF9D-CF22B45B56C1}" type="slidenum"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062163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1F3F9-F64A-AC71-8B4A-4BCAFE3D7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>
            <a:extLst>
              <a:ext uri="{FF2B5EF4-FFF2-40B4-BE49-F238E27FC236}">
                <a16:creationId xmlns:a16="http://schemas.microsoft.com/office/drawing/2014/main" id="{D8437070-D521-A47C-9658-ABE54A1359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</p:spPr>
      </p:sp>
      <p:sp>
        <p:nvSpPr>
          <p:cNvPr id="417" name="PlaceHolder 2">
            <a:extLst>
              <a:ext uri="{FF2B5EF4-FFF2-40B4-BE49-F238E27FC236}">
                <a16:creationId xmlns:a16="http://schemas.microsoft.com/office/drawing/2014/main" id="{EB1C680B-0454-B2BF-319E-20D5958DE76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18" name="TextShape 3">
            <a:extLst>
              <a:ext uri="{FF2B5EF4-FFF2-40B4-BE49-F238E27FC236}">
                <a16:creationId xmlns:a16="http://schemas.microsoft.com/office/drawing/2014/main" id="{58E2F1E8-E330-C325-469E-E8291677A09E}"/>
              </a:ext>
            </a:extLst>
          </p:cNvPr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ACEF8-BC90-4DB5-AF9D-CF22B45B56C1}" type="slidenum"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340190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E7C11-8D30-9B4D-A566-AC2C6B246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>
            <a:extLst>
              <a:ext uri="{FF2B5EF4-FFF2-40B4-BE49-F238E27FC236}">
                <a16:creationId xmlns:a16="http://schemas.microsoft.com/office/drawing/2014/main" id="{AA397AC3-B74F-2DF3-8656-8F4BF0600B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</p:spPr>
      </p:sp>
      <p:sp>
        <p:nvSpPr>
          <p:cNvPr id="417" name="PlaceHolder 2">
            <a:extLst>
              <a:ext uri="{FF2B5EF4-FFF2-40B4-BE49-F238E27FC236}">
                <a16:creationId xmlns:a16="http://schemas.microsoft.com/office/drawing/2014/main" id="{4D97F2CA-A7C1-EDBE-CBD8-FD13DA3C78D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18" name="TextShape 3">
            <a:extLst>
              <a:ext uri="{FF2B5EF4-FFF2-40B4-BE49-F238E27FC236}">
                <a16:creationId xmlns:a16="http://schemas.microsoft.com/office/drawing/2014/main" id="{2B443926-C14E-2B4E-F316-920F67C73E00}"/>
              </a:ext>
            </a:extLst>
          </p:cNvPr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ACEF8-BC90-4DB5-AF9D-CF22B45B56C1}" type="slidenum"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756275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C4E38-92D5-B8EC-6B95-069669B16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>
            <a:extLst>
              <a:ext uri="{FF2B5EF4-FFF2-40B4-BE49-F238E27FC236}">
                <a16:creationId xmlns:a16="http://schemas.microsoft.com/office/drawing/2014/main" id="{A2B4D4B8-F769-1D2C-A0B1-1D883AD4CE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</p:spPr>
      </p:sp>
      <p:sp>
        <p:nvSpPr>
          <p:cNvPr id="417" name="PlaceHolder 2">
            <a:extLst>
              <a:ext uri="{FF2B5EF4-FFF2-40B4-BE49-F238E27FC236}">
                <a16:creationId xmlns:a16="http://schemas.microsoft.com/office/drawing/2014/main" id="{84E60051-1669-D3D2-1BF0-5D0A62F0810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18" name="TextShape 3">
            <a:extLst>
              <a:ext uri="{FF2B5EF4-FFF2-40B4-BE49-F238E27FC236}">
                <a16:creationId xmlns:a16="http://schemas.microsoft.com/office/drawing/2014/main" id="{7AC7A438-CA63-05C8-D21A-E136050A7C28}"/>
              </a:ext>
            </a:extLst>
          </p:cNvPr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ACEF8-BC90-4DB5-AF9D-CF22B45B56C1}" type="slidenum"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557213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3C9C6-74C3-C7FD-A163-F2086EF7B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>
            <a:extLst>
              <a:ext uri="{FF2B5EF4-FFF2-40B4-BE49-F238E27FC236}">
                <a16:creationId xmlns:a16="http://schemas.microsoft.com/office/drawing/2014/main" id="{95E3F021-4761-77BD-389A-396896BD00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</p:spPr>
      </p:sp>
      <p:sp>
        <p:nvSpPr>
          <p:cNvPr id="417" name="PlaceHolder 2">
            <a:extLst>
              <a:ext uri="{FF2B5EF4-FFF2-40B4-BE49-F238E27FC236}">
                <a16:creationId xmlns:a16="http://schemas.microsoft.com/office/drawing/2014/main" id="{046606C8-C517-BFDD-558D-0F99E09FC4D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18" name="TextShape 3">
            <a:extLst>
              <a:ext uri="{FF2B5EF4-FFF2-40B4-BE49-F238E27FC236}">
                <a16:creationId xmlns:a16="http://schemas.microsoft.com/office/drawing/2014/main" id="{0B05400B-B18D-D8D6-6D0A-7F401C2EA5B8}"/>
              </a:ext>
            </a:extLst>
          </p:cNvPr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ACEF8-BC90-4DB5-AF9D-CF22B45B56C1}" type="slidenum"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ＭＳ Ｐゴシック" pitchFamily="-8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ＭＳ Ｐゴシック" pitchFamily="-8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84299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E43F9-0D6A-9DFB-C742-DA9ED54F9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>
            <a:extLst>
              <a:ext uri="{FF2B5EF4-FFF2-40B4-BE49-F238E27FC236}">
                <a16:creationId xmlns:a16="http://schemas.microsoft.com/office/drawing/2014/main" id="{6A1E1745-0531-2753-88CB-F6BF37533C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</p:spPr>
      </p:sp>
      <p:sp>
        <p:nvSpPr>
          <p:cNvPr id="417" name="PlaceHolder 2">
            <a:extLst>
              <a:ext uri="{FF2B5EF4-FFF2-40B4-BE49-F238E27FC236}">
                <a16:creationId xmlns:a16="http://schemas.microsoft.com/office/drawing/2014/main" id="{5A1A7F58-9A98-CD9C-5AF6-25380A959DE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18" name="TextShape 3">
            <a:extLst>
              <a:ext uri="{FF2B5EF4-FFF2-40B4-BE49-F238E27FC236}">
                <a16:creationId xmlns:a16="http://schemas.microsoft.com/office/drawing/2014/main" id="{983064B2-4BEB-E3BA-5867-240334AE4305}"/>
              </a:ext>
            </a:extLst>
          </p:cNvPr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ACEF8-BC90-4DB5-AF9D-CF22B45B56C1}" type="slidenum"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ＭＳ Ｐゴシック" pitchFamily="-8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ＭＳ Ｐゴシック" pitchFamily="-8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02174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3461F-9843-4873-810F-1E92A379B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>
            <a:extLst>
              <a:ext uri="{FF2B5EF4-FFF2-40B4-BE49-F238E27FC236}">
                <a16:creationId xmlns:a16="http://schemas.microsoft.com/office/drawing/2014/main" id="{7A9D27BA-1C32-9FFA-2705-9B02C68DC7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</p:spPr>
      </p:sp>
      <p:sp>
        <p:nvSpPr>
          <p:cNvPr id="417" name="PlaceHolder 2">
            <a:extLst>
              <a:ext uri="{FF2B5EF4-FFF2-40B4-BE49-F238E27FC236}">
                <a16:creationId xmlns:a16="http://schemas.microsoft.com/office/drawing/2014/main" id="{EF530443-9B05-9382-BB71-2F02F013551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18" name="TextShape 3">
            <a:extLst>
              <a:ext uri="{FF2B5EF4-FFF2-40B4-BE49-F238E27FC236}">
                <a16:creationId xmlns:a16="http://schemas.microsoft.com/office/drawing/2014/main" id="{7B856F7E-0A88-C311-D12C-9740630256C7}"/>
              </a:ext>
            </a:extLst>
          </p:cNvPr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ACEF8-BC90-4DB5-AF9D-CF22B45B56C1}" type="slidenum"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ＭＳ Ｐゴシック" pitchFamily="-8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ＭＳ Ｐゴシック" pitchFamily="-8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88185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B9EA2-2224-ADA7-3F95-89251F535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>
            <a:extLst>
              <a:ext uri="{FF2B5EF4-FFF2-40B4-BE49-F238E27FC236}">
                <a16:creationId xmlns:a16="http://schemas.microsoft.com/office/drawing/2014/main" id="{0C0D7640-9BA1-BE5F-CABF-EBC0C01D8B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</p:spPr>
      </p:sp>
      <p:sp>
        <p:nvSpPr>
          <p:cNvPr id="417" name="PlaceHolder 2">
            <a:extLst>
              <a:ext uri="{FF2B5EF4-FFF2-40B4-BE49-F238E27FC236}">
                <a16:creationId xmlns:a16="http://schemas.microsoft.com/office/drawing/2014/main" id="{B0C68458-1F67-29B2-9060-7311D4624EC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18" name="TextShape 3">
            <a:extLst>
              <a:ext uri="{FF2B5EF4-FFF2-40B4-BE49-F238E27FC236}">
                <a16:creationId xmlns:a16="http://schemas.microsoft.com/office/drawing/2014/main" id="{FD7627E0-B35E-7DFF-F25A-309793A7D966}"/>
              </a:ext>
            </a:extLst>
          </p:cNvPr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ACEF8-BC90-4DB5-AF9D-CF22B45B56C1}" type="slidenum"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ＭＳ Ｐゴシック" pitchFamily="-8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ＭＳ Ｐゴシック" pitchFamily="-8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65772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8FDF2-E725-9A14-7EBA-930A35320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F51DD9-4969-10C0-14CF-83309F985A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44887F-B161-8E8D-38DA-D23291B466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83544C-E629-FF19-A70E-25660E2FD8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88F0C2-9B19-4521-A456-FB6FD7B1982E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8782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FCC42-C6EB-9DDE-92AC-57E48D278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2A04CE-305B-DCC1-CF74-FE744D767A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CDB9C5-7359-D7F8-AB16-2850AFBBB7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F8DD33-2B7A-53A7-FFDE-7B20FEE80F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88F0C2-9B19-4521-A456-FB6FD7B1982E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925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1" name="Logo white">
            <a:extLst>
              <a:ext uri="{FF2B5EF4-FFF2-40B4-BE49-F238E27FC236}">
                <a16:creationId xmlns:a16="http://schemas.microsoft.com/office/drawing/2014/main" id="{275A6477-FE3A-4D40-B1FE-E46C11E344A5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Master title style</a:t>
            </a:r>
            <a:endParaRPr lang="en-GB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Master subtitle style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117C6C-7BC3-4888-BC29-FAB17565D11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7E4668-D07F-4B96-9755-17540273485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72145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dirty="0"/>
              <a:t>Click to edit Master title style</a:t>
            </a:r>
            <a:endParaRPr lang="en-GB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dirty="0"/>
              <a:t>Click to edit Master subtitle style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46B4F-F02C-40EC-9B70-932B18214C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59193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8A0E3C-0CE1-4BBF-A912-5A81BF3B7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800" y="1706400"/>
            <a:ext cx="9312374" cy="4545578"/>
          </a:xfrm>
        </p:spPr>
        <p:txBody>
          <a:bodyPr/>
          <a:lstStyle/>
          <a:p>
            <a:pPr lvl="0"/>
            <a:r>
              <a:rPr lang="en-GB" dirty="0"/>
              <a:t>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FCA8860-CDAD-4F91-9292-2B11655C19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7A21B-9B48-4777-BF0D-9FB95719C2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7774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1117" userDrawn="1">
          <p15:clr>
            <a:srgbClr val="F26B43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EB1D5E1-0C4E-4A74-BE37-26307F7E2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9312374" cy="9727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74800" y="1706399"/>
            <a:ext cx="4410177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78001" y="1706399"/>
            <a:ext cx="4409100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499420-B0E8-4C8A-8C00-E21262271A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3EE7F0E-E606-41AC-BBBF-B5AECB1112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457112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8" userDrawn="1">
          <p15:clr>
            <a:srgbClr val="F26B43"/>
          </p15:clr>
        </p15:guide>
        <p15:guide id="2" pos="3896" userDrawn="1">
          <p15:clr>
            <a:srgbClr val="F26B43"/>
          </p15:clr>
        </p15:guide>
        <p15:guide id="3" pos="4205" userDrawn="1">
          <p15:clr>
            <a:srgbClr val="F26B43"/>
          </p15:clr>
        </p15:guide>
        <p15:guide id="4" pos="6984" userDrawn="1">
          <p15:clr>
            <a:srgbClr val="F26B43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90A2595F-A737-4D92-946C-EC0BBF885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6048672" cy="972716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726" y="1706328"/>
            <a:ext cx="6048672" cy="4545578"/>
          </a:xfrm>
        </p:spPr>
        <p:txBody>
          <a:bodyPr/>
          <a:lstStyle/>
          <a:p>
            <a:pPr lvl="0"/>
            <a:r>
              <a:rPr lang="en-GB" dirty="0"/>
              <a:t>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31213" y="849734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  <a:endParaRPr lang="en-GB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31213" y="3563718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  <a:endParaRPr lang="en-GB"/>
          </a:p>
          <a:p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986237-C7E2-4498-82A4-361A340A650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64EEF-2B63-484E-803A-4FCD66F243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2670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27" userDrawn="1">
          <p15:clr>
            <a:srgbClr val="F26B43"/>
          </p15:clr>
        </p15:guide>
        <p15:guide id="2" pos="5247" userDrawn="1">
          <p15:clr>
            <a:srgbClr val="F26B43"/>
          </p15:clr>
        </p15:guide>
        <p15:guide id="3" pos="1117" userDrawn="1">
          <p15:clr>
            <a:srgbClr val="F26B43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92213382-11A1-48CE-B0A0-D8A7D2686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360" y="426127"/>
            <a:ext cx="6865740" cy="972716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1360" y="1706328"/>
            <a:ext cx="6865740" cy="4545578"/>
          </a:xfrm>
        </p:spPr>
        <p:txBody>
          <a:bodyPr/>
          <a:lstStyle/>
          <a:p>
            <a:pPr lvl="0"/>
            <a:r>
              <a:rPr lang="en-GB" dirty="0"/>
              <a:t>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131452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  <a:endParaRPr lang="en-GB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" y="396815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  <a:endParaRPr lang="en-GB"/>
          </a:p>
          <a:p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26B732-1A52-4AA9-89FC-8FC5439E40D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5D0DC-E43F-43DA-AA0F-C0C54C8939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83562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2660" userDrawn="1">
          <p15:clr>
            <a:srgbClr val="F26B43"/>
          </p15:clr>
        </p15:guide>
        <p15:guide id="3" pos="2335" userDrawn="1">
          <p15:clr>
            <a:srgbClr val="F26B43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953C3-F3F7-4638-96F8-7CF20CB55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7650" y="980727"/>
            <a:ext cx="3740400" cy="418115"/>
          </a:xfrm>
        </p:spPr>
        <p:txBody>
          <a:bodyPr/>
          <a:lstStyle>
            <a:lvl1pPr>
              <a:defRPr sz="2400"/>
            </a:lvl1pPr>
          </a:lstStyle>
          <a:p>
            <a:r>
              <a:rPr lang="en-GB"/>
              <a:t>Click to add title one line</a:t>
            </a:r>
            <a:endParaRPr lang="en-GB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C0DB591-4602-46B3-B1C3-1E64148AB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4407150"/>
            <a:ext cx="3740400" cy="184442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 dirty="0"/>
              <a:t>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8416079-1CFC-426F-A6ED-5AB355FC54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227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GB"/>
              <a:t>Click to add title one line</a:t>
            </a:r>
            <a:endParaRPr lang="en-GB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D358873C-68BF-4E89-B536-B3248F2B25FE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222750" y="4406899"/>
            <a:ext cx="3740401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endParaRPr lang="en-GB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9A0E900-1FE2-4CC1-B435-93F3A118935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78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GB"/>
              <a:t>Click to add title one line</a:t>
            </a:r>
            <a:endParaRPr lang="en-GB" dirty="0"/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E094886A-F110-4851-B1DA-8DFC40D509F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197850" y="4406899"/>
            <a:ext cx="3740400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endParaRPr lang="en-GB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1B02311-54A6-4455-B615-BBCA0DA742E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47650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  <a:endParaRPr lang="en-GB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710A5827-3485-49A0-81F0-FF89EE34B80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23149" y="1548581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  <a:endParaRPr lang="en-GB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E27B0558-FCB8-4A55-9BA9-182DFF0387F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198648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46B4F-F02C-40EC-9B70-932B18214C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63740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>
          <p15:clr>
            <a:srgbClr val="F26B43"/>
          </p15:clr>
        </p15:guide>
        <p15:guide id="2" pos="7522" userDrawn="1">
          <p15:clr>
            <a:srgbClr val="F26B43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297DEAA-3B7B-49C7-8C28-3F21F36A9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1F74546-9D06-4CF7-806D-E04B043BF5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53AB3-8AAF-469F-AD3F-AE5E1A39D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845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7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ogo og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75ABF-082F-4A38-B952-09157E37A81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A39F3A-7714-4FD6-9132-D60FFA220D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9264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ont/Pause 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">
            <a:extLst>
              <a:ext uri="{FF2B5EF4-FFF2-40B4-BE49-F238E27FC236}">
                <a16:creationId xmlns:a16="http://schemas.microsoft.com/office/drawing/2014/main" id="{AF9D3C51-A276-4E1F-B6B6-FD6A4E17EE28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C9776080-6230-4AB8-AB28-4D6744DD01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B7FFAE6-D148-4A15-9DFC-7D71B8202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3125B57E-AFC7-4517-B327-461DB01D2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Logo color">
            <a:extLst>
              <a:ext uri="{FF2B5EF4-FFF2-40B4-BE49-F238E27FC236}">
                <a16:creationId xmlns:a16="http://schemas.microsoft.com/office/drawing/2014/main" id="{B0EE486B-843B-49D6-90AE-5093AB56E30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1786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/Pause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A3420087-96DF-432F-B192-585D42BF6A4E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3" name="Logo color">
            <a:extLst>
              <a:ext uri="{FF2B5EF4-FFF2-40B4-BE49-F238E27FC236}">
                <a16:creationId xmlns:a16="http://schemas.microsoft.com/office/drawing/2014/main" id="{09BBEE10-6A59-474F-B766-7643F97F869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99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AF062B26-8169-4B93-8FD8-CFDB0855A9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CA59923C-6F09-424E-AF1E-AC62326A9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4C299FA2-BF46-4410-B2CD-E3C80B7A9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495865CE-5BE9-4122-8AB8-48E534DD88F7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2" name="Top bar">
            <a:extLst>
              <a:ext uri="{FF2B5EF4-FFF2-40B4-BE49-F238E27FC236}">
                <a16:creationId xmlns:a16="http://schemas.microsoft.com/office/drawing/2014/main" id="{0D436479-94F3-475C-8F8D-D3CDC81793FD}"/>
              </a:ext>
            </a:extLst>
          </p:cNvPr>
          <p:cNvSpPr/>
          <p:nvPr userDrawn="1"/>
        </p:nvSpPr>
        <p:spPr bwMode="auto">
          <a:xfrm>
            <a:off x="0" y="0"/>
            <a:ext cx="12193200" cy="504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963761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vox double dec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37C4F-B92E-1E2D-D640-6453A375F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2EE1D6-E875-BC73-C0F1-ACBBEB438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3657D-8E22-4681-BD7E-16E8F6F56673}" type="datetimeFigureOut">
              <a:rPr lang="en-FI" smtClean="0"/>
              <a:t>02/10/2026</a:t>
            </a:fld>
            <a:endParaRPr lang="en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04571B-68EF-9D7B-0A35-F71996C84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E06B6A-CB89-EBFF-94F3-3663DAF52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D3D6-B89C-4D82-B254-B84B3D342745}" type="slidenum">
              <a:rPr lang="en-FI" smtClean="0"/>
              <a:t>‹#›</a:t>
            </a:fld>
            <a:endParaRPr lang="en-FI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6DA7FF6-8C19-BA4D-02FE-C99E3C5CBD7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091" y="1838325"/>
            <a:ext cx="5155529" cy="4398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A01FD0F-07FA-89FA-36B2-E925D11193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96793" y="1828801"/>
            <a:ext cx="5155529" cy="4398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184653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vox basic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72F2E-3F20-0DC0-CFA3-D11D49B01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DD3D74-F972-E096-E828-44B6C11A3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3657D-8E22-4681-BD7E-16E8F6F56673}" type="datetimeFigureOut">
              <a:rPr lang="en-FI" smtClean="0"/>
              <a:t>02/10/2026</a:t>
            </a:fld>
            <a:endParaRPr lang="en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87A18-8950-3A86-D6FB-14BF0F08B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D9F6BC-1B26-1DC3-0C4B-4C12F07C7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D3D6-B89C-4D82-B254-B84B3D342745}" type="slidenum">
              <a:rPr lang="en-FI" smtClean="0"/>
              <a:t>‹#›</a:t>
            </a:fld>
            <a:endParaRPr lang="en-FI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CADAFE8-3608-FDE7-C3ED-12BD6811F72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091" y="1798320"/>
            <a:ext cx="10514231" cy="4429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8740310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8A0E3C-0CE1-4BBF-A912-5A81BF3B7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800" y="1706400"/>
            <a:ext cx="9312374" cy="4545578"/>
          </a:xfrm>
        </p:spPr>
        <p:txBody>
          <a:bodyPr/>
          <a:lstStyle/>
          <a:p>
            <a:pPr lvl="0"/>
            <a:r>
              <a:rPr lang="en-GB" dirty="0"/>
              <a:t>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FCA8860-CDAD-4F91-9292-2B11655C19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7A21B-9B48-4777-BF0D-9FB95719C2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7774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1117" userDrawn="1">
          <p15:clr>
            <a:srgbClr val="F26B43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vox basic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72F2E-3F20-0DC0-CFA3-D11D49B01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DD3D74-F972-E096-E828-44B6C11A3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3657D-8E22-4681-BD7E-16E8F6F56673}" type="datetimeFigureOut">
              <a:rPr lang="en-FI" smtClean="0"/>
              <a:t>02/10/2026</a:t>
            </a:fld>
            <a:endParaRPr lang="en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87A18-8950-3A86-D6FB-14BF0F08B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D9F6BC-1B26-1DC3-0C4B-4C12F07C7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D3D6-B89C-4D82-B254-B84B3D342745}" type="slidenum">
              <a:rPr lang="en-FI" smtClean="0"/>
              <a:t>‹#›</a:t>
            </a:fld>
            <a:endParaRPr lang="en-FI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CADAFE8-3608-FDE7-C3ED-12BD6811F72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091" y="1798320"/>
            <a:ext cx="10514231" cy="4429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7428106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22216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4587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774809" y="787771"/>
            <a:ext cx="9311748" cy="249299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1774809" y="3757481"/>
            <a:ext cx="9311748" cy="443198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469354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774809" y="787771"/>
            <a:ext cx="9311748" cy="249299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1774809" y="1706400"/>
            <a:ext cx="9311748" cy="4545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105025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774809" y="787771"/>
            <a:ext cx="9311748" cy="249299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1774809" y="1706400"/>
            <a:ext cx="4544048" cy="4545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6546348" y="1706400"/>
            <a:ext cx="4544048" cy="4545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56697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774809" y="787771"/>
            <a:ext cx="9311748" cy="249299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479388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ubTitle"/>
          </p:nvPr>
        </p:nvSpPr>
        <p:spPr>
          <a:xfrm>
            <a:off x="1774809" y="2458961"/>
            <a:ext cx="9311748" cy="443198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953655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774809" y="787771"/>
            <a:ext cx="9311748" cy="249299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1774809" y="1706400"/>
            <a:ext cx="4544048" cy="2167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546348" y="1706400"/>
            <a:ext cx="4544048" cy="4545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1774809" y="4080600"/>
            <a:ext cx="4544048" cy="2167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861624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774809" y="787771"/>
            <a:ext cx="9311748" cy="249299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1774809" y="1706400"/>
            <a:ext cx="4544048" cy="4545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546348" y="1706400"/>
            <a:ext cx="4544048" cy="2167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6546348" y="4080600"/>
            <a:ext cx="4544048" cy="2167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2287815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774809" y="787771"/>
            <a:ext cx="9311748" cy="249299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1774809" y="1706400"/>
            <a:ext cx="4544048" cy="2167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6546348" y="1706400"/>
            <a:ext cx="4544048" cy="2167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1774809" y="4080600"/>
            <a:ext cx="9311748" cy="2167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0899484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774809" y="787771"/>
            <a:ext cx="9311748" cy="249299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1774809" y="1706400"/>
            <a:ext cx="9311748" cy="2167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1774809" y="4080600"/>
            <a:ext cx="9311748" cy="2167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3029034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774809" y="787771"/>
            <a:ext cx="9311748" cy="249299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1774809" y="1706400"/>
            <a:ext cx="4544048" cy="2167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6546348" y="1706400"/>
            <a:ext cx="4544048" cy="2167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body"/>
          </p:nvPr>
        </p:nvSpPr>
        <p:spPr>
          <a:xfrm>
            <a:off x="1774809" y="4080600"/>
            <a:ext cx="4544048" cy="2167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 type="body"/>
          </p:nvPr>
        </p:nvSpPr>
        <p:spPr>
          <a:xfrm>
            <a:off x="6546348" y="4080600"/>
            <a:ext cx="4544048" cy="2167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7747524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1774809" y="787771"/>
            <a:ext cx="9311748" cy="249299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1774809" y="1706400"/>
            <a:ext cx="2998170" cy="2167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4923199" y="1706400"/>
            <a:ext cx="2998170" cy="2167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body"/>
          </p:nvPr>
        </p:nvSpPr>
        <p:spPr>
          <a:xfrm>
            <a:off x="8072069" y="1706400"/>
            <a:ext cx="2998170" cy="2167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 type="body"/>
          </p:nvPr>
        </p:nvSpPr>
        <p:spPr>
          <a:xfrm>
            <a:off x="1774809" y="4080600"/>
            <a:ext cx="2998170" cy="2167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 type="body"/>
          </p:nvPr>
        </p:nvSpPr>
        <p:spPr>
          <a:xfrm>
            <a:off x="4923199" y="4080600"/>
            <a:ext cx="2998170" cy="2167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7"/>
          <p:cNvSpPr>
            <a:spLocks noGrp="1"/>
          </p:cNvSpPr>
          <p:nvPr>
            <p:ph type="body"/>
          </p:nvPr>
        </p:nvSpPr>
        <p:spPr>
          <a:xfrm>
            <a:off x="8072069" y="4080600"/>
            <a:ext cx="2998170" cy="2167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6407481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333375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774809" y="787771"/>
            <a:ext cx="9311748" cy="249299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subTitle"/>
          </p:nvPr>
        </p:nvSpPr>
        <p:spPr>
          <a:xfrm>
            <a:off x="1774809" y="3732860"/>
            <a:ext cx="9311748" cy="49244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010081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1774809" y="787771"/>
            <a:ext cx="9311748" cy="249299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1774809" y="1706400"/>
            <a:ext cx="9311748" cy="4545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1524934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1774809" y="787771"/>
            <a:ext cx="9311748" cy="249299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1774809" y="1706400"/>
            <a:ext cx="4544048" cy="4545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6546348" y="1706400"/>
            <a:ext cx="4544048" cy="4545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6133631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1774809" y="787771"/>
            <a:ext cx="9311748" cy="249299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814012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subTitle"/>
          </p:nvPr>
        </p:nvSpPr>
        <p:spPr>
          <a:xfrm>
            <a:off x="1774809" y="2434340"/>
            <a:ext cx="9311748" cy="49244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5797734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1774809" y="787771"/>
            <a:ext cx="9311748" cy="249299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1774809" y="1706400"/>
            <a:ext cx="4544048" cy="2167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6546348" y="1706400"/>
            <a:ext cx="4544048" cy="4545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body"/>
          </p:nvPr>
        </p:nvSpPr>
        <p:spPr>
          <a:xfrm>
            <a:off x="1774809" y="4080600"/>
            <a:ext cx="4544048" cy="2167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0783038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1774809" y="787771"/>
            <a:ext cx="9311748" cy="249299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1774809" y="1706400"/>
            <a:ext cx="4544048" cy="4545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body"/>
          </p:nvPr>
        </p:nvSpPr>
        <p:spPr>
          <a:xfrm>
            <a:off x="6546348" y="1706400"/>
            <a:ext cx="4544048" cy="2167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 type="body"/>
          </p:nvPr>
        </p:nvSpPr>
        <p:spPr>
          <a:xfrm>
            <a:off x="6546348" y="4080600"/>
            <a:ext cx="4544048" cy="2167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5897772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1774809" y="787771"/>
            <a:ext cx="9311748" cy="249299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1774809" y="1706400"/>
            <a:ext cx="4544048" cy="2167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body"/>
          </p:nvPr>
        </p:nvSpPr>
        <p:spPr>
          <a:xfrm>
            <a:off x="6546348" y="1706400"/>
            <a:ext cx="4544048" cy="2167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 type="body"/>
          </p:nvPr>
        </p:nvSpPr>
        <p:spPr>
          <a:xfrm>
            <a:off x="1774809" y="4080600"/>
            <a:ext cx="9311748" cy="2167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2992122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1774809" y="787771"/>
            <a:ext cx="9311748" cy="249299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1774809" y="1706400"/>
            <a:ext cx="9311748" cy="2167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body"/>
          </p:nvPr>
        </p:nvSpPr>
        <p:spPr>
          <a:xfrm>
            <a:off x="1774809" y="4080600"/>
            <a:ext cx="9311748" cy="2167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5409422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1774809" y="787771"/>
            <a:ext cx="9311748" cy="249299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1774809" y="1706400"/>
            <a:ext cx="4544048" cy="2167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body"/>
          </p:nvPr>
        </p:nvSpPr>
        <p:spPr>
          <a:xfrm>
            <a:off x="6546348" y="1706400"/>
            <a:ext cx="4544048" cy="2167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 type="body"/>
          </p:nvPr>
        </p:nvSpPr>
        <p:spPr>
          <a:xfrm>
            <a:off x="1774809" y="4080600"/>
            <a:ext cx="4544048" cy="2167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5"/>
          <p:cNvSpPr>
            <a:spLocks noGrp="1"/>
          </p:cNvSpPr>
          <p:nvPr>
            <p:ph type="body"/>
          </p:nvPr>
        </p:nvSpPr>
        <p:spPr>
          <a:xfrm>
            <a:off x="6546348" y="4080600"/>
            <a:ext cx="4544048" cy="2167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658206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1774809" y="787771"/>
            <a:ext cx="9311748" cy="249299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1774809" y="1706400"/>
            <a:ext cx="2998170" cy="2167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body"/>
          </p:nvPr>
        </p:nvSpPr>
        <p:spPr>
          <a:xfrm>
            <a:off x="4923199" y="1706400"/>
            <a:ext cx="2998170" cy="2167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 type="body"/>
          </p:nvPr>
        </p:nvSpPr>
        <p:spPr>
          <a:xfrm>
            <a:off x="8072069" y="1706400"/>
            <a:ext cx="2998170" cy="2167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5"/>
          <p:cNvSpPr>
            <a:spLocks noGrp="1"/>
          </p:cNvSpPr>
          <p:nvPr>
            <p:ph type="body"/>
          </p:nvPr>
        </p:nvSpPr>
        <p:spPr>
          <a:xfrm>
            <a:off x="1774809" y="4080600"/>
            <a:ext cx="2998170" cy="2167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6"/>
          <p:cNvSpPr>
            <a:spLocks noGrp="1"/>
          </p:cNvSpPr>
          <p:nvPr>
            <p:ph type="body"/>
          </p:nvPr>
        </p:nvSpPr>
        <p:spPr>
          <a:xfrm>
            <a:off x="4923199" y="4080600"/>
            <a:ext cx="2998170" cy="2167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7"/>
          <p:cNvSpPr>
            <a:spLocks noGrp="1"/>
          </p:cNvSpPr>
          <p:nvPr>
            <p:ph type="body"/>
          </p:nvPr>
        </p:nvSpPr>
        <p:spPr>
          <a:xfrm>
            <a:off x="8072069" y="4080600"/>
            <a:ext cx="2998170" cy="2167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0235006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EB1D5E1-0C4E-4A74-BE37-26307F7E2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9312374" cy="9727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74800" y="1706399"/>
            <a:ext cx="4410177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78001" y="1706399"/>
            <a:ext cx="4409100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499420-B0E8-4C8A-8C00-E21262271A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3EE7F0E-E606-41AC-BBBF-B5AECB1112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878477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8">
          <p15:clr>
            <a:srgbClr val="F26B43"/>
          </p15:clr>
        </p15:guide>
        <p15:guide id="2" pos="3896">
          <p15:clr>
            <a:srgbClr val="F26B43"/>
          </p15:clr>
        </p15:guide>
        <p15:guide id="3" pos="4205">
          <p15:clr>
            <a:srgbClr val="F26B43"/>
          </p15:clr>
        </p15:guide>
        <p15:guide id="4" pos="6984">
          <p15:clr>
            <a:srgbClr val="F26B43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5" Type="http://schemas.openxmlformats.org/officeDocument/2006/relationships/tags" Target="../tags/tag6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ogo color">
            <a:extLst>
              <a:ext uri="{FF2B5EF4-FFF2-40B4-BE49-F238E27FC236}">
                <a16:creationId xmlns:a16="http://schemas.microsoft.com/office/drawing/2014/main" id="{ADC92552-7939-46C1-AAFE-B97F51EBFFE9}"/>
              </a:ext>
            </a:extLst>
          </p:cNvPr>
          <p:cNvSpPr>
            <a:spLocks noChangeAspect="1"/>
          </p:cNvSpPr>
          <p:nvPr userDrawn="1">
            <p:custDataLst>
              <p:tags r:id="rId15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99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FFFFD011-0D94-46EE-B45C-787FE82C3B5E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" name="FLD_Presentation Title"/>
          <p:cNvSpPr>
            <a:spLocks noGrp="1"/>
          </p:cNvSpPr>
          <p:nvPr>
            <p:ph type="ftr" sz="quarter" idx="3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spcBef>
                <a:spcPts val="0"/>
              </a:spcBef>
              <a:defRPr sz="700" b="0">
                <a:noFill/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700" b="1">
                <a:solidFill>
                  <a:schemeClr val="bg1"/>
                </a:solidFill>
                <a:latin typeface="+mn-lt"/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4726" y="426127"/>
            <a:ext cx="9312374" cy="97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title style</a:t>
            </a:r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4726" y="1706328"/>
            <a:ext cx="9312374" cy="4545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  <a:p>
            <a:pPr lvl="5"/>
            <a:endParaRPr lang="en-GB" dirty="0"/>
          </a:p>
        </p:txBody>
      </p:sp>
      <p:sp>
        <p:nvSpPr>
          <p:cNvPr id="113676" name="text" descr="{&quot;templafy&quot;:{&quot;id&quot;:&quot;3a063327-8622-4279-957b-cd6a3239a1a5&quot;}}" title="UserProfile.Offices.Workarea_{{DocumentLanguage}}"/>
          <p:cNvSpPr>
            <a:spLocks noChangeArrowheads="1"/>
          </p:cNvSpPr>
          <p:nvPr/>
        </p:nvSpPr>
        <p:spPr bwMode="auto">
          <a:xfrm>
            <a:off x="1774726" y="6541200"/>
            <a:ext cx="3397071" cy="31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0"/>
          <a:lstStyle/>
          <a:p>
            <a:pPr algn="l" eaLnBrk="0" hangingPunct="0">
              <a:spcBef>
                <a:spcPct val="0"/>
              </a:spcBef>
            </a:pPr>
            <a:r>
              <a:rPr lang="en-GB" sz="700" b="1" dirty="0">
                <a:solidFill>
                  <a:schemeClr val="bg1"/>
                </a:solidFill>
                <a:latin typeface="+mn-lt"/>
              </a:rPr>
              <a:t>DTU Compute</a:t>
            </a:r>
          </a:p>
        </p:txBody>
      </p:sp>
      <p:sp>
        <p:nvSpPr>
          <p:cNvPr id="5" name="date" descr="{&quot;templafy&quot;:{&quot;id&quot;:&quot;dbf306c5-072f-40be-88b5-a7a678b7f2e9&quot;}}" title="Form.Date">
            <a:extLst>
              <a:ext uri="{FF2B5EF4-FFF2-40B4-BE49-F238E27FC236}">
                <a16:creationId xmlns:a16="http://schemas.microsoft.com/office/drawing/2014/main" id="{792B975C-625D-4095-8E1D-63F20A11B57C}"/>
              </a:ext>
            </a:extLst>
          </p:cNvPr>
          <p:cNvSpPr/>
          <p:nvPr userDrawn="1"/>
        </p:nvSpPr>
        <p:spPr bwMode="auto">
          <a:xfrm>
            <a:off x="251363" y="6541200"/>
            <a:ext cx="1104013" cy="3168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ＭＳ Ｐゴシック" pitchFamily="-80" charset="-128"/>
              </a:rPr>
              <a:t>24 May 2023</a:t>
            </a:r>
          </a:p>
        </p:txBody>
      </p:sp>
      <p:sp>
        <p:nvSpPr>
          <p:cNvPr id="7" name="text" descr="{&quot;templafy&quot;:{&quot;id&quot;:&quot;49ebe68f-ea7b-450b-9698-7f38e354f87c&quot;}}" title="Form.PresentationTitle">
            <a:extLst>
              <a:ext uri="{FF2B5EF4-FFF2-40B4-BE49-F238E27FC236}">
                <a16:creationId xmlns:a16="http://schemas.microsoft.com/office/drawing/2014/main" id="{06B09BDB-1C7D-4F8A-8F1B-82D88054A428}"/>
              </a:ext>
            </a:extLst>
          </p:cNvPr>
          <p:cNvSpPr txBox="1"/>
          <p:nvPr userDrawn="1"/>
        </p:nvSpPr>
        <p:spPr>
          <a:xfrm>
            <a:off x="5591149" y="6541200"/>
            <a:ext cx="5495949" cy="316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endParaRPr lang="en-GB" sz="7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Top bar">
            <a:extLst>
              <a:ext uri="{FF2B5EF4-FFF2-40B4-BE49-F238E27FC236}">
                <a16:creationId xmlns:a16="http://schemas.microsoft.com/office/drawing/2014/main" id="{35912424-89BF-4A93-9096-3282916C71FE}"/>
              </a:ext>
            </a:extLst>
          </p:cNvPr>
          <p:cNvSpPr/>
          <p:nvPr userDrawn="1"/>
        </p:nvSpPr>
        <p:spPr bwMode="auto">
          <a:xfrm>
            <a:off x="0" y="0"/>
            <a:ext cx="12193200" cy="504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54702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71" r:id="rId2"/>
    <p:sldLayoutId id="2147483664" r:id="rId3"/>
    <p:sldLayoutId id="2147483677" r:id="rId4"/>
    <p:sldLayoutId id="2147483672" r:id="rId5"/>
    <p:sldLayoutId id="2147483673" r:id="rId6"/>
    <p:sldLayoutId id="2147483676" r:id="rId7"/>
    <p:sldLayoutId id="2147483666" r:id="rId8"/>
    <p:sldLayoutId id="2147483667" r:id="rId9"/>
    <p:sldLayoutId id="2147483668" r:id="rId10"/>
    <p:sldLayoutId id="2147483669" r:id="rId11"/>
    <p:sldLayoutId id="2147483678" r:id="rId12"/>
    <p:sldLayoutId id="2147483679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9pPr>
    </p:titleStyle>
    <p:bodyStyle>
      <a:lvl1pPr marL="1980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14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2pPr>
      <a:lvl3pPr marL="6156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828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4pPr>
      <a:lvl5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5pPr>
      <a:lvl6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6pPr>
      <a:lvl7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7pPr>
      <a:lvl8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8pPr>
      <a:lvl9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68" userDrawn="1">
          <p15:clr>
            <a:srgbClr val="F26B43"/>
          </p15:clr>
        </p15:guide>
        <p15:guide id="4" orient="horz" pos="881" userDrawn="1">
          <p15:clr>
            <a:srgbClr val="F26B43"/>
          </p15:clr>
        </p15:guide>
        <p15:guide id="5" orient="horz" pos="1074" userDrawn="1">
          <p15:clr>
            <a:srgbClr val="F26B43"/>
          </p15:clr>
        </p15:guide>
        <p15:guide id="6" orient="horz" pos="393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362889417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indent="-324900" algn="ctr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ogo color">
            <a:extLst>
              <a:ext uri="{FF2B5EF4-FFF2-40B4-BE49-F238E27FC236}">
                <a16:creationId xmlns:a16="http://schemas.microsoft.com/office/drawing/2014/main" id="{ADC92552-7939-46C1-AAFE-B97F51EBFFE9}"/>
              </a:ext>
            </a:extLst>
          </p:cNvPr>
          <p:cNvSpPr>
            <a:spLocks noChangeAspect="1"/>
          </p:cNvSpPr>
          <p:nvPr userDrawn="1">
            <p:custDataLst>
              <p:tags r:id="rId5"/>
            </p:custDataLst>
          </p:nvPr>
        </p:nvSpPr>
        <p:spPr bwMode="auto">
          <a:xfrm>
            <a:off x="252001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99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9" tIns="34294" rIns="68589" bIns="34294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sz="1200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FFFFD011-0D94-46EE-B45C-787FE82C3B5E}"/>
              </a:ext>
            </a:extLst>
          </p:cNvPr>
          <p:cNvSpPr/>
          <p:nvPr userDrawn="1"/>
        </p:nvSpPr>
        <p:spPr bwMode="auto">
          <a:xfrm>
            <a:off x="0" y="6541200"/>
            <a:ext cx="12193201" cy="3168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67509" tIns="35105" rIns="67509" bIns="35105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685891" rtl="0" eaLnBrk="1" fontAlgn="base" latinLnBrk="0" hangingPunct="1">
              <a:lnSpc>
                <a:spcPct val="100000"/>
              </a:lnSpc>
              <a:spcBef>
                <a:spcPts val="324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2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" name="FLD_Presentation Title"/>
          <p:cNvSpPr>
            <a:spLocks noGrp="1"/>
          </p:cNvSpPr>
          <p:nvPr>
            <p:ph type="ftr" sz="quarter" idx="3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spcBef>
                <a:spcPts val="0"/>
              </a:spcBef>
              <a:defRPr sz="525" b="0">
                <a:noFill/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525" b="1">
                <a:solidFill>
                  <a:schemeClr val="bg1"/>
                </a:solidFill>
                <a:latin typeface="+mn-lt"/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4726" y="426127"/>
            <a:ext cx="9312374" cy="97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title style</a:t>
            </a:r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4726" y="1706328"/>
            <a:ext cx="9312374" cy="4545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  <a:p>
            <a:pPr lvl="5"/>
            <a:endParaRPr lang="en-GB" dirty="0"/>
          </a:p>
        </p:txBody>
      </p:sp>
      <p:sp>
        <p:nvSpPr>
          <p:cNvPr id="113676" name="text" descr="{&quot;templafy&quot;:{&quot;id&quot;:&quot;67c03a06-2a3c-411c-802a-4f45bd3789d9&quot;}}" title="UserProfile.Offices.Workarea_{{DocumentLanguage}}"/>
          <p:cNvSpPr>
            <a:spLocks noChangeArrowheads="1"/>
          </p:cNvSpPr>
          <p:nvPr/>
        </p:nvSpPr>
        <p:spPr bwMode="auto">
          <a:xfrm>
            <a:off x="1774727" y="6541200"/>
            <a:ext cx="3397071" cy="31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0"/>
          <a:lstStyle/>
          <a:p>
            <a:pPr algn="l" eaLnBrk="0" hangingPunct="0">
              <a:spcBef>
                <a:spcPct val="0"/>
              </a:spcBef>
            </a:pPr>
            <a:r>
              <a:rPr lang="en-GB" sz="525" b="1" dirty="0">
                <a:solidFill>
                  <a:schemeClr val="bg1"/>
                </a:solidFill>
                <a:latin typeface="+mn-lt"/>
              </a:rPr>
              <a:t>DTU Compute</a:t>
            </a:r>
          </a:p>
        </p:txBody>
      </p:sp>
      <p:sp>
        <p:nvSpPr>
          <p:cNvPr id="5" name="date" descr="{&quot;templafy&quot;:{&quot;id&quot;:&quot;df1a8e8f-2d4a-4eb2-ab7b-e1f3983ed480&quot;}}" title="Form.Date">
            <a:extLst>
              <a:ext uri="{FF2B5EF4-FFF2-40B4-BE49-F238E27FC236}">
                <a16:creationId xmlns:a16="http://schemas.microsoft.com/office/drawing/2014/main" id="{792B975C-625D-4095-8E1D-63F20A11B57C}"/>
              </a:ext>
            </a:extLst>
          </p:cNvPr>
          <p:cNvSpPr/>
          <p:nvPr userDrawn="1"/>
        </p:nvSpPr>
        <p:spPr bwMode="auto">
          <a:xfrm>
            <a:off x="251363" y="6541200"/>
            <a:ext cx="1104014" cy="3168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685891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25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ＭＳ Ｐゴシック" pitchFamily="-80" charset="-128"/>
              </a:rPr>
              <a:t>2 February 2021</a:t>
            </a:r>
          </a:p>
        </p:txBody>
      </p:sp>
      <p:sp>
        <p:nvSpPr>
          <p:cNvPr id="7" name="text" descr="{&quot;templafy&quot;:{&quot;id&quot;:&quot;f169167c-5ca8-4c48-8610-8e2a3921279f&quot;}}" title="Form.PresentationTitle">
            <a:extLst>
              <a:ext uri="{FF2B5EF4-FFF2-40B4-BE49-F238E27FC236}">
                <a16:creationId xmlns:a16="http://schemas.microsoft.com/office/drawing/2014/main" id="{06B09BDB-1C7D-4F8A-8F1B-82D88054A428}"/>
              </a:ext>
            </a:extLst>
          </p:cNvPr>
          <p:cNvSpPr txBox="1"/>
          <p:nvPr userDrawn="1"/>
        </p:nvSpPr>
        <p:spPr>
          <a:xfrm>
            <a:off x="5591149" y="6541200"/>
            <a:ext cx="5495949" cy="316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en-GB" sz="525" dirty="0">
                <a:solidFill>
                  <a:schemeClr val="bg1"/>
                </a:solidFill>
                <a:latin typeface="+mn-lt"/>
              </a:rPr>
              <a:t>Welcome to 02435</a:t>
            </a:r>
            <a:br>
              <a:rPr sz="1200"/>
            </a:br>
            <a:r>
              <a:rPr lang="en-GB" sz="525" dirty="0">
                <a:solidFill>
                  <a:schemeClr val="bg1"/>
                </a:solidFill>
                <a:latin typeface="+mn-lt"/>
              </a:rPr>
              <a:t>Decision-making under uncertainty</a:t>
            </a:r>
          </a:p>
        </p:txBody>
      </p:sp>
      <p:sp>
        <p:nvSpPr>
          <p:cNvPr id="2" name="Top bar">
            <a:extLst>
              <a:ext uri="{FF2B5EF4-FFF2-40B4-BE49-F238E27FC236}">
                <a16:creationId xmlns:a16="http://schemas.microsoft.com/office/drawing/2014/main" id="{35912424-89BF-4A93-9096-3282916C71FE}"/>
              </a:ext>
            </a:extLst>
          </p:cNvPr>
          <p:cNvSpPr/>
          <p:nvPr userDrawn="1"/>
        </p:nvSpPr>
        <p:spPr bwMode="auto">
          <a:xfrm>
            <a:off x="0" y="0"/>
            <a:ext cx="12193201" cy="504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67509" tIns="35105" rIns="67509" bIns="35105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685891" rtl="0" eaLnBrk="1" fontAlgn="base" latinLnBrk="0" hangingPunct="1">
              <a:lnSpc>
                <a:spcPct val="100000"/>
              </a:lnSpc>
              <a:spcBef>
                <a:spcPts val="324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2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54702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362889419" r:id="rId1"/>
    <p:sldLayoutId id="2362889420" r:id="rId2"/>
    <p:sldLayoutId id="2362889434" r:id="rId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9pPr>
    </p:titleStyle>
    <p:bodyStyle>
      <a:lvl1pPr marL="1980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14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2pPr>
      <a:lvl3pPr marL="6156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828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4pPr>
      <a:lvl5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5pPr>
      <a:lvl6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6pPr>
      <a:lvl7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7pPr>
      <a:lvl8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8pPr>
      <a:lvl9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68" userDrawn="1">
          <p15:clr>
            <a:srgbClr val="F26B43"/>
          </p15:clr>
        </p15:guide>
        <p15:guide id="4" orient="horz" pos="881" userDrawn="1">
          <p15:clr>
            <a:srgbClr val="F26B43"/>
          </p15:clr>
        </p15:guide>
        <p15:guide id="5" orient="horz" pos="1074" userDrawn="1">
          <p15:clr>
            <a:srgbClr val="F26B43"/>
          </p15:clr>
        </p15:guide>
        <p15:guide id="6" orient="horz" pos="3938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ustomShape 1"/>
          <p:cNvSpPr/>
          <p:nvPr/>
        </p:nvSpPr>
        <p:spPr>
          <a:xfrm>
            <a:off x="251967" y="252000"/>
            <a:ext cx="418985" cy="611640"/>
          </a:xfrm>
          <a:custGeom>
            <a:avLst/>
            <a:gdLst/>
            <a:ahLst/>
            <a:cxnLst/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99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00"/>
          </a:p>
        </p:txBody>
      </p:sp>
      <p:sp>
        <p:nvSpPr>
          <p:cNvPr id="39" name="CustomShape 2"/>
          <p:cNvSpPr/>
          <p:nvPr/>
        </p:nvSpPr>
        <p:spPr>
          <a:xfrm>
            <a:off x="0" y="6541200"/>
            <a:ext cx="12192813" cy="316440"/>
          </a:xfrm>
          <a:prstGeom prst="rect">
            <a:avLst/>
          </a:prstGeom>
          <a:solidFill>
            <a:srgbClr val="9900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00"/>
          </a:p>
        </p:txBody>
      </p:sp>
      <p:sp>
        <p:nvSpPr>
          <p:cNvPr id="40" name="CustomShape 3"/>
          <p:cNvSpPr/>
          <p:nvPr/>
        </p:nvSpPr>
        <p:spPr>
          <a:xfrm>
            <a:off x="1774809" y="6541200"/>
            <a:ext cx="3396518" cy="316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530" b="1" strike="noStrike" spc="-1">
                <a:solidFill>
                  <a:srgbClr val="FFFFFF"/>
                </a:solidFill>
                <a:latin typeface="Arial"/>
              </a:rPr>
              <a:t>DTU Compute</a:t>
            </a:r>
            <a:endParaRPr lang="en-US" sz="530" b="0" strike="noStrike" spc="-1">
              <a:latin typeface="Arial"/>
            </a:endParaRPr>
          </a:p>
        </p:txBody>
      </p:sp>
      <p:sp>
        <p:nvSpPr>
          <p:cNvPr id="41" name="CustomShape 4"/>
          <p:cNvSpPr/>
          <p:nvPr/>
        </p:nvSpPr>
        <p:spPr>
          <a:xfrm>
            <a:off x="251487" y="6541200"/>
            <a:ext cx="1103376" cy="31644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261"/>
              </a:spcBef>
            </a:pPr>
            <a:r>
              <a:rPr lang="en-US" sz="530" b="1" strike="noStrike" spc="-1">
                <a:solidFill>
                  <a:srgbClr val="FFFFFF"/>
                </a:solidFill>
                <a:latin typeface="Arial"/>
                <a:ea typeface="ＭＳ Ｐゴシック"/>
              </a:rPr>
              <a:t>2 February 2021</a:t>
            </a:r>
            <a:endParaRPr lang="en-US" sz="530" b="0" strike="noStrike" spc="-1">
              <a:latin typeface="Arial"/>
            </a:endParaRPr>
          </a:p>
        </p:txBody>
      </p:sp>
      <p:sp>
        <p:nvSpPr>
          <p:cNvPr id="42" name="CustomShape 5"/>
          <p:cNvSpPr/>
          <p:nvPr/>
        </p:nvSpPr>
        <p:spPr>
          <a:xfrm>
            <a:off x="5591272" y="6541200"/>
            <a:ext cx="5495285" cy="316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530" b="0" strike="noStrike" spc="-1">
                <a:solidFill>
                  <a:srgbClr val="FFFFFF"/>
                </a:solidFill>
                <a:latin typeface="Arial"/>
              </a:rPr>
              <a:t>Welcome to 02435</a:t>
            </a:r>
            <a:br>
              <a:rPr sz="1600"/>
            </a:br>
            <a:r>
              <a:rPr lang="en-US" sz="530" b="0" strike="noStrike" spc="-1">
                <a:solidFill>
                  <a:srgbClr val="FFFFFF"/>
                </a:solidFill>
                <a:latin typeface="Arial"/>
              </a:rPr>
              <a:t>Decision-making under uncertainty</a:t>
            </a:r>
            <a:endParaRPr lang="en-US" sz="530" b="0" strike="noStrike" spc="-1">
              <a:latin typeface="Arial"/>
            </a:endParaRPr>
          </a:p>
        </p:txBody>
      </p:sp>
      <p:sp>
        <p:nvSpPr>
          <p:cNvPr id="43" name="CustomShape 6"/>
          <p:cNvSpPr/>
          <p:nvPr/>
        </p:nvSpPr>
        <p:spPr>
          <a:xfrm>
            <a:off x="0" y="0"/>
            <a:ext cx="12192813" cy="50040"/>
          </a:xfrm>
          <a:prstGeom prst="rect">
            <a:avLst/>
          </a:prstGeom>
          <a:solidFill>
            <a:srgbClr val="9900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00"/>
          </a:p>
        </p:txBody>
      </p:sp>
      <p:sp>
        <p:nvSpPr>
          <p:cNvPr id="44" name="CustomShape 7"/>
          <p:cNvSpPr/>
          <p:nvPr/>
        </p:nvSpPr>
        <p:spPr>
          <a:xfrm>
            <a:off x="0" y="0"/>
            <a:ext cx="480" cy="360"/>
          </a:xfrm>
          <a:prstGeom prst="rect">
            <a:avLst/>
          </a:prstGeom>
          <a:solidFill>
            <a:srgbClr val="9900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00"/>
          </a:p>
        </p:txBody>
      </p:sp>
      <p:sp>
        <p:nvSpPr>
          <p:cNvPr id="45" name="CustomShape 8"/>
          <p:cNvSpPr/>
          <p:nvPr/>
        </p:nvSpPr>
        <p:spPr>
          <a:xfrm>
            <a:off x="251967" y="252000"/>
            <a:ext cx="418985" cy="611640"/>
          </a:xfrm>
          <a:custGeom>
            <a:avLst/>
            <a:gdLst/>
            <a:ahLst/>
            <a:cxnLst/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00"/>
          </a:p>
        </p:txBody>
      </p:sp>
      <p:sp>
        <p:nvSpPr>
          <p:cNvPr id="46" name="PlaceHolder 9"/>
          <p:cNvSpPr>
            <a:spLocks noGrp="1"/>
          </p:cNvSpPr>
          <p:nvPr>
            <p:ph type="title"/>
          </p:nvPr>
        </p:nvSpPr>
        <p:spPr>
          <a:xfrm>
            <a:off x="250047" y="3545280"/>
            <a:ext cx="10839389" cy="270612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lnSpc>
                <a:spcPct val="93000"/>
              </a:lnSpc>
            </a:pPr>
            <a:r>
              <a:rPr lang="fr-FR" sz="6000" b="1" strike="noStrike" spc="-1">
                <a:solidFill>
                  <a:srgbClr val="FFFFFF"/>
                </a:solidFill>
                <a:latin typeface="Arial"/>
              </a:rPr>
              <a:t>Click to edit Master title style</a:t>
            </a:r>
            <a:endParaRPr lang="fr-FR" sz="6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10"/>
          <p:cNvSpPr>
            <a:spLocks noGrp="1"/>
          </p:cNvSpPr>
          <p:nvPr>
            <p:ph type="ftr"/>
          </p:nvPr>
        </p:nvSpPr>
        <p:spPr>
          <a:xfrm>
            <a:off x="0" y="6912000"/>
            <a:ext cx="479938" cy="3600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48" name="PlaceHolder 11"/>
          <p:cNvSpPr>
            <a:spLocks noGrp="1"/>
          </p:cNvSpPr>
          <p:nvPr>
            <p:ph type="sldNum"/>
          </p:nvPr>
        </p:nvSpPr>
        <p:spPr>
          <a:xfrm>
            <a:off x="11506502" y="6541200"/>
            <a:ext cx="431944" cy="31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fld id="{43651913-722E-47DE-A1A6-909E983D9C78}" type="slidenum">
              <a:rPr lang="en-US" sz="530" b="1" strike="noStrike" spc="-1">
                <a:solidFill>
                  <a:srgbClr val="FFFFFF"/>
                </a:solidFill>
                <a:latin typeface="Arial"/>
              </a:rPr>
              <a:t>‹#›</a:t>
            </a:fld>
            <a:endParaRPr lang="en-US" sz="530" b="0" strike="noStrike" spc="-1">
              <a:latin typeface="Times New Roman"/>
            </a:endParaRPr>
          </a:p>
        </p:txBody>
      </p:sp>
      <p:sp>
        <p:nvSpPr>
          <p:cNvPr id="49" name="PlaceHolder 12"/>
          <p:cNvSpPr>
            <a:spLocks noGrp="1"/>
          </p:cNvSpPr>
          <p:nvPr>
            <p:ph type="body"/>
          </p:nvPr>
        </p:nvSpPr>
        <p:spPr>
          <a:xfrm>
            <a:off x="609521" y="1604520"/>
            <a:ext cx="10970892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1012068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362889422" r:id="rId1"/>
    <p:sldLayoutId id="2362889423" r:id="rId2"/>
    <p:sldLayoutId id="2362889424" r:id="rId3"/>
    <p:sldLayoutId id="2362889425" r:id="rId4"/>
    <p:sldLayoutId id="2362889426" r:id="rId5"/>
    <p:sldLayoutId id="2362889427" r:id="rId6"/>
    <p:sldLayoutId id="2362889428" r:id="rId7"/>
    <p:sldLayoutId id="2362889429" r:id="rId8"/>
    <p:sldLayoutId id="2362889430" r:id="rId9"/>
    <p:sldLayoutId id="2362889431" r:id="rId10"/>
    <p:sldLayoutId id="2362889432" r:id="rId11"/>
    <p:sldLayoutId id="236288943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2000" indent="-324000" algn="l" defTabSz="914400" rtl="0" eaLnBrk="1" latinLnBrk="0" hangingPunct="1">
        <a:lnSpc>
          <a:spcPct val="90000"/>
        </a:lnSpc>
        <a:spcBef>
          <a:spcPts val="1417"/>
        </a:spcBef>
        <a:buClr>
          <a:srgbClr val="FFFFFF"/>
        </a:buClr>
        <a:buSzPct val="45000"/>
        <a:buFont typeface="Wingdings" charset="2"/>
        <a:buChar char="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251967" y="252000"/>
            <a:ext cx="418985" cy="611640"/>
          </a:xfrm>
          <a:custGeom>
            <a:avLst/>
            <a:gdLst/>
            <a:ahLst/>
            <a:cxnLst/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99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00"/>
          </a:p>
        </p:txBody>
      </p:sp>
      <p:sp>
        <p:nvSpPr>
          <p:cNvPr id="87" name="CustomShape 2"/>
          <p:cNvSpPr/>
          <p:nvPr/>
        </p:nvSpPr>
        <p:spPr>
          <a:xfrm>
            <a:off x="0" y="6541200"/>
            <a:ext cx="12192813" cy="316440"/>
          </a:xfrm>
          <a:prstGeom prst="rect">
            <a:avLst/>
          </a:prstGeom>
          <a:solidFill>
            <a:srgbClr val="9900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00"/>
          </a:p>
        </p:txBody>
      </p:sp>
      <p:sp>
        <p:nvSpPr>
          <p:cNvPr id="88" name="CustomShape 3"/>
          <p:cNvSpPr/>
          <p:nvPr/>
        </p:nvSpPr>
        <p:spPr>
          <a:xfrm>
            <a:off x="1774809" y="6541200"/>
            <a:ext cx="3396518" cy="316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530" b="1" strike="noStrike" spc="-1">
                <a:solidFill>
                  <a:srgbClr val="FFFFFF"/>
                </a:solidFill>
                <a:latin typeface="Arial"/>
              </a:rPr>
              <a:t>DTU Compute</a:t>
            </a:r>
            <a:endParaRPr lang="en-US" sz="530" b="0" strike="noStrike" spc="-1">
              <a:latin typeface="Arial"/>
            </a:endParaRPr>
          </a:p>
        </p:txBody>
      </p:sp>
      <p:sp>
        <p:nvSpPr>
          <p:cNvPr id="89" name="CustomShape 4"/>
          <p:cNvSpPr/>
          <p:nvPr/>
        </p:nvSpPr>
        <p:spPr>
          <a:xfrm>
            <a:off x="251487" y="6541200"/>
            <a:ext cx="1103376" cy="31644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261"/>
              </a:spcBef>
            </a:pPr>
            <a:r>
              <a:rPr lang="en-US" sz="530" b="1" strike="noStrike" spc="-1">
                <a:solidFill>
                  <a:srgbClr val="FFFFFF"/>
                </a:solidFill>
                <a:latin typeface="Arial"/>
                <a:ea typeface="ＭＳ Ｐゴシック"/>
              </a:rPr>
              <a:t>2 February 2021</a:t>
            </a:r>
            <a:endParaRPr lang="en-US" sz="530" b="0" strike="noStrike" spc="-1">
              <a:latin typeface="Arial"/>
            </a:endParaRPr>
          </a:p>
        </p:txBody>
      </p:sp>
      <p:sp>
        <p:nvSpPr>
          <p:cNvPr id="90" name="CustomShape 5"/>
          <p:cNvSpPr/>
          <p:nvPr/>
        </p:nvSpPr>
        <p:spPr>
          <a:xfrm>
            <a:off x="5591272" y="6541200"/>
            <a:ext cx="5495285" cy="316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530" b="0" strike="noStrike" spc="-1">
                <a:solidFill>
                  <a:srgbClr val="FFFFFF"/>
                </a:solidFill>
                <a:latin typeface="Arial"/>
              </a:rPr>
              <a:t>Welcome to 02435</a:t>
            </a:r>
            <a:br>
              <a:rPr sz="1600"/>
            </a:br>
            <a:r>
              <a:rPr lang="en-US" sz="530" b="0" strike="noStrike" spc="-1">
                <a:solidFill>
                  <a:srgbClr val="FFFFFF"/>
                </a:solidFill>
                <a:latin typeface="Arial"/>
              </a:rPr>
              <a:t>Decision-making under uncertainty</a:t>
            </a:r>
            <a:endParaRPr lang="en-US" sz="530" b="0" strike="noStrike" spc="-1">
              <a:latin typeface="Arial"/>
            </a:endParaRPr>
          </a:p>
        </p:txBody>
      </p:sp>
      <p:sp>
        <p:nvSpPr>
          <p:cNvPr id="91" name="CustomShape 6"/>
          <p:cNvSpPr/>
          <p:nvPr/>
        </p:nvSpPr>
        <p:spPr>
          <a:xfrm>
            <a:off x="0" y="0"/>
            <a:ext cx="12192813" cy="50040"/>
          </a:xfrm>
          <a:prstGeom prst="rect">
            <a:avLst/>
          </a:prstGeom>
          <a:solidFill>
            <a:srgbClr val="9900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600"/>
          </a:p>
        </p:txBody>
      </p:sp>
      <p:sp>
        <p:nvSpPr>
          <p:cNvPr id="92" name="PlaceHolder 7"/>
          <p:cNvSpPr>
            <a:spLocks noGrp="1"/>
          </p:cNvSpPr>
          <p:nvPr>
            <p:ph type="title"/>
          </p:nvPr>
        </p:nvSpPr>
        <p:spPr>
          <a:xfrm>
            <a:off x="1774809" y="426240"/>
            <a:ext cx="9311748" cy="97236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fr-FR" sz="3000" b="1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  <a:endParaRPr lang="fr-FR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8"/>
          <p:cNvSpPr>
            <a:spLocks noGrp="1"/>
          </p:cNvSpPr>
          <p:nvPr>
            <p:ph type="body"/>
          </p:nvPr>
        </p:nvSpPr>
        <p:spPr>
          <a:xfrm>
            <a:off x="1774809" y="1706400"/>
            <a:ext cx="9311748" cy="45453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198000" indent="-197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Edit Master text styles</a:t>
            </a:r>
          </a:p>
          <a:p>
            <a:pPr marL="414000" lvl="1" indent="-197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Second level</a:t>
            </a:r>
          </a:p>
          <a:p>
            <a:pPr marL="615600" lvl="2" indent="-197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Third level</a:t>
            </a:r>
          </a:p>
          <a:p>
            <a:pPr marL="828000" lvl="3" indent="-197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Fourth level</a:t>
            </a:r>
          </a:p>
          <a:p>
            <a:pPr marL="1026000" lvl="4" indent="-197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tarSymbol"/>
              <a:buChar char="»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Fifth level</a:t>
            </a:r>
          </a:p>
        </p:txBody>
      </p:sp>
      <p:sp>
        <p:nvSpPr>
          <p:cNvPr id="94" name="PlaceHolder 9"/>
          <p:cNvSpPr>
            <a:spLocks noGrp="1"/>
          </p:cNvSpPr>
          <p:nvPr>
            <p:ph type="ftr"/>
          </p:nvPr>
        </p:nvSpPr>
        <p:spPr>
          <a:xfrm>
            <a:off x="0" y="6912000"/>
            <a:ext cx="479938" cy="3600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95" name="PlaceHolder 10"/>
          <p:cNvSpPr>
            <a:spLocks noGrp="1"/>
          </p:cNvSpPr>
          <p:nvPr>
            <p:ph type="sldNum"/>
          </p:nvPr>
        </p:nvSpPr>
        <p:spPr>
          <a:xfrm>
            <a:off x="11506502" y="6541200"/>
            <a:ext cx="431944" cy="31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fld id="{978B8B22-8AE6-4E66-8458-39F6B6031B25}" type="slidenum">
              <a:rPr lang="en-US" sz="530" b="1" strike="noStrike" spc="-1">
                <a:solidFill>
                  <a:srgbClr val="FFFFFF"/>
                </a:solidFill>
                <a:latin typeface="Arial"/>
              </a:rPr>
              <a:t>‹#›</a:t>
            </a:fld>
            <a:endParaRPr lang="en-US" sz="53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09134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362889436" r:id="rId1"/>
    <p:sldLayoutId id="2362889437" r:id="rId2"/>
    <p:sldLayoutId id="2362889438" r:id="rId3"/>
    <p:sldLayoutId id="2362889439" r:id="rId4"/>
    <p:sldLayoutId id="2362889440" r:id="rId5"/>
    <p:sldLayoutId id="2362889441" r:id="rId6"/>
    <p:sldLayoutId id="2362889442" r:id="rId7"/>
    <p:sldLayoutId id="2362889443" r:id="rId8"/>
    <p:sldLayoutId id="2362889444" r:id="rId9"/>
    <p:sldLayoutId id="2362889445" r:id="rId10"/>
    <p:sldLayoutId id="2362889446" r:id="rId11"/>
    <p:sldLayoutId id="2362889447" r:id="rId12"/>
    <p:sldLayoutId id="2362889448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8000" indent="-197640" algn="l" defTabSz="914400" rtl="0" eaLnBrk="1" latinLnBrk="0" hangingPunct="1">
        <a:lnSpc>
          <a:spcPct val="100000"/>
        </a:lnSpc>
        <a:spcBef>
          <a:spcPts val="360"/>
        </a:spcBef>
        <a:buClr>
          <a:srgbClr val="000000"/>
        </a:buClr>
        <a:buFont typeface="Symbol" charset="2"/>
        <a:buChar char="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customXml" Target="../../customXml/item39.xml"/><Relationship Id="rId1" Type="http://schemas.openxmlformats.org/officeDocument/2006/relationships/customXml" Target="../../customXml/item38.xml"/><Relationship Id="rId4" Type="http://schemas.openxmlformats.org/officeDocument/2006/relationships/notesSlide" Target="../notesSlides/notesSlid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3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2.xml"/><Relationship Id="rId2" Type="http://schemas.openxmlformats.org/officeDocument/2006/relationships/customXml" Target="../../customXml/item55.xml"/><Relationship Id="rId1" Type="http://schemas.openxmlformats.org/officeDocument/2006/relationships/customXml" Target="../../customXml/item5.xml"/><Relationship Id="rId5" Type="http://schemas.openxmlformats.org/officeDocument/2006/relationships/image" Target="../media/image17.png"/><Relationship Id="rId4" Type="http://schemas.openxmlformats.org/officeDocument/2006/relationships/image" Target="../media/image1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2.xml"/><Relationship Id="rId2" Type="http://schemas.openxmlformats.org/officeDocument/2006/relationships/customXml" Target="../../customXml/item52.xml"/><Relationship Id="rId1" Type="http://schemas.openxmlformats.org/officeDocument/2006/relationships/customXml" Target="../../customXml/item3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2.xml"/><Relationship Id="rId2" Type="http://schemas.openxmlformats.org/officeDocument/2006/relationships/customXml" Target="../../customXml/item33.xml"/><Relationship Id="rId1" Type="http://schemas.openxmlformats.org/officeDocument/2006/relationships/customXml" Target="../../customXml/item43.xml"/><Relationship Id="rId5" Type="http://schemas.openxmlformats.org/officeDocument/2006/relationships/image" Target="../media/image19.png"/><Relationship Id="rId4" Type="http://schemas.openxmlformats.org/officeDocument/2006/relationships/image" Target="../media/image1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2.xml"/><Relationship Id="rId2" Type="http://schemas.openxmlformats.org/officeDocument/2006/relationships/customXml" Target="../../customXml/item92.xml"/><Relationship Id="rId1" Type="http://schemas.openxmlformats.org/officeDocument/2006/relationships/customXml" Target="../../customXml/item91.xml"/><Relationship Id="rId6" Type="http://schemas.openxmlformats.org/officeDocument/2006/relationships/image" Target="../media/image16.png"/><Relationship Id="rId5" Type="http://schemas.openxmlformats.org/officeDocument/2006/relationships/image" Target="../media/image19.png"/><Relationship Id="rId4" Type="http://schemas.openxmlformats.org/officeDocument/2006/relationships/image" Target="../media/image1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2.xml"/><Relationship Id="rId2" Type="http://schemas.openxmlformats.org/officeDocument/2006/relationships/customXml" Target="../../customXml/item93.xml"/><Relationship Id="rId1" Type="http://schemas.openxmlformats.org/officeDocument/2006/relationships/customXml" Target="../../customXml/item94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2.xml"/><Relationship Id="rId2" Type="http://schemas.openxmlformats.org/officeDocument/2006/relationships/customXml" Target="../../customXml/item12.xml"/><Relationship Id="rId1" Type="http://schemas.openxmlformats.org/officeDocument/2006/relationships/customXml" Target="../../customXml/item66.xml"/><Relationship Id="rId6" Type="http://schemas.openxmlformats.org/officeDocument/2006/relationships/image" Target="../media/image200.png"/><Relationship Id="rId5" Type="http://schemas.openxmlformats.org/officeDocument/2006/relationships/image" Target="../media/image19.png"/><Relationship Id="rId4" Type="http://schemas.openxmlformats.org/officeDocument/2006/relationships/image" Target="../media/image1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2.xml"/><Relationship Id="rId7" Type="http://schemas.openxmlformats.org/officeDocument/2006/relationships/image" Target="../media/image22.png"/><Relationship Id="rId2" Type="http://schemas.openxmlformats.org/officeDocument/2006/relationships/customXml" Target="../../customXml/item3.xml"/><Relationship Id="rId1" Type="http://schemas.openxmlformats.org/officeDocument/2006/relationships/customXml" Target="../../customXml/item60.xml"/><Relationship Id="rId6" Type="http://schemas.openxmlformats.org/officeDocument/2006/relationships/image" Target="../media/image19.png"/><Relationship Id="rId5" Type="http://schemas.openxmlformats.org/officeDocument/2006/relationships/image" Target="../media/image21.png"/><Relationship Id="rId4" Type="http://schemas.openxmlformats.org/officeDocument/2006/relationships/image" Target="../media/image13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slideLayout" Target="../slideLayouts/slideLayout42.xml"/><Relationship Id="rId7" Type="http://schemas.openxmlformats.org/officeDocument/2006/relationships/image" Target="../media/image22.png"/><Relationship Id="rId2" Type="http://schemas.openxmlformats.org/officeDocument/2006/relationships/customXml" Target="../../customXml/item18.xml"/><Relationship Id="rId1" Type="http://schemas.openxmlformats.org/officeDocument/2006/relationships/customXml" Target="../../customXml/item85.xml"/><Relationship Id="rId6" Type="http://schemas.openxmlformats.org/officeDocument/2006/relationships/image" Target="../media/image19.png"/><Relationship Id="rId4" Type="http://schemas.openxmlformats.org/officeDocument/2006/relationships/image" Target="../media/image13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35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0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37.png"/><Relationship Id="rId5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37.png"/><Relationship Id="rId5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40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37.png"/><Relationship Id="rId5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42.png"/><Relationship Id="rId7" Type="http://schemas.openxmlformats.org/officeDocument/2006/relationships/image" Target="../media/image43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40.png"/><Relationship Id="rId5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42.png"/><Relationship Id="rId7" Type="http://schemas.openxmlformats.org/officeDocument/2006/relationships/image" Target="../media/image43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40.png"/><Relationship Id="rId5" Type="http://schemas.openxmlformats.org/officeDocument/2006/relationships/image" Target="../media/image35.png"/><Relationship Id="rId4" Type="http://schemas.openxmlformats.org/officeDocument/2006/relationships/image" Target="../media/image45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42.png"/><Relationship Id="rId7" Type="http://schemas.openxmlformats.org/officeDocument/2006/relationships/image" Target="../media/image43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40.png"/><Relationship Id="rId5" Type="http://schemas.openxmlformats.org/officeDocument/2006/relationships/image" Target="../media/image35.png"/><Relationship Id="rId4" Type="http://schemas.openxmlformats.org/officeDocument/2006/relationships/image" Target="../media/image46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42.png"/><Relationship Id="rId7" Type="http://schemas.openxmlformats.org/officeDocument/2006/relationships/image" Target="../media/image48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40.png"/><Relationship Id="rId5" Type="http://schemas.openxmlformats.org/officeDocument/2006/relationships/image" Target="../media/image35.png"/><Relationship Id="rId4" Type="http://schemas.openxmlformats.org/officeDocument/2006/relationships/image" Target="../media/image4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8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40.png"/><Relationship Id="rId11" Type="http://schemas.openxmlformats.org/officeDocument/2006/relationships/image" Target="../media/image44.png"/><Relationship Id="rId5" Type="http://schemas.openxmlformats.org/officeDocument/2006/relationships/image" Target="../media/image35.png"/><Relationship Id="rId10" Type="http://schemas.openxmlformats.org/officeDocument/2006/relationships/image" Target="../media/image3.png"/><Relationship Id="rId4" Type="http://schemas.openxmlformats.org/officeDocument/2006/relationships/image" Target="../media/image47.png"/><Relationship Id="rId9" Type="http://schemas.openxmlformats.org/officeDocument/2006/relationships/image" Target="../media/image4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8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50.png"/><Relationship Id="rId11" Type="http://schemas.openxmlformats.org/officeDocument/2006/relationships/image" Target="../media/image44.png"/><Relationship Id="rId5" Type="http://schemas.openxmlformats.org/officeDocument/2006/relationships/image" Target="../media/image35.png"/><Relationship Id="rId10" Type="http://schemas.openxmlformats.org/officeDocument/2006/relationships/image" Target="../media/image3.png"/><Relationship Id="rId4" Type="http://schemas.openxmlformats.org/officeDocument/2006/relationships/image" Target="../media/image47.png"/><Relationship Id="rId9" Type="http://schemas.openxmlformats.org/officeDocument/2006/relationships/image" Target="../media/image4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2.xml"/><Relationship Id="rId2" Type="http://schemas.openxmlformats.org/officeDocument/2006/relationships/customXml" Target="../../customXml/item97.xml"/><Relationship Id="rId1" Type="http://schemas.openxmlformats.org/officeDocument/2006/relationships/customXml" Target="../../customXml/item98.xml"/><Relationship Id="rId6" Type="http://schemas.openxmlformats.org/officeDocument/2006/relationships/image" Target="../media/image51.png"/><Relationship Id="rId5" Type="http://schemas.openxmlformats.org/officeDocument/2006/relationships/image" Target="../media/image65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2.xml"/><Relationship Id="rId7" Type="http://schemas.openxmlformats.org/officeDocument/2006/relationships/image" Target="../media/image51.png"/><Relationship Id="rId2" Type="http://schemas.openxmlformats.org/officeDocument/2006/relationships/customXml" Target="../../customXml/item100.xml"/><Relationship Id="rId1" Type="http://schemas.openxmlformats.org/officeDocument/2006/relationships/customXml" Target="../../customXml/item99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0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52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0.xml"/><Relationship Id="rId5" Type="http://schemas.openxmlformats.org/officeDocument/2006/relationships/image" Target="../media/image530.png"/><Relationship Id="rId4" Type="http://schemas.openxmlformats.org/officeDocument/2006/relationships/image" Target="../media/image52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0.xml"/><Relationship Id="rId5" Type="http://schemas.openxmlformats.org/officeDocument/2006/relationships/image" Target="../media/image530.png"/><Relationship Id="rId4" Type="http://schemas.openxmlformats.org/officeDocument/2006/relationships/image" Target="../media/image52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customXml" Target="../../customXml/item21.xml"/><Relationship Id="rId1" Type="http://schemas.openxmlformats.org/officeDocument/2006/relationships/customXml" Target="../../customXml/item47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customXml" Target="../../customXml/item74.xml"/><Relationship Id="rId1" Type="http://schemas.openxmlformats.org/officeDocument/2006/relationships/customXml" Target="../../customXml/item44.xml"/><Relationship Id="rId5" Type="http://schemas.openxmlformats.org/officeDocument/2006/relationships/image" Target="../media/image55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0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57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0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57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0.png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57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0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570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0.png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57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0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570.png"/></Relationships>
</file>

<file path=ppt/slides/_rels/slide5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90.png"/><Relationship Id="rId12" Type="http://schemas.openxmlformats.org/officeDocument/2006/relationships/image" Target="../media/image61.png"/><Relationship Id="rId17" Type="http://schemas.openxmlformats.org/officeDocument/2006/relationships/image" Target="../media/image65.png"/><Relationship Id="rId2" Type="http://schemas.openxmlformats.org/officeDocument/2006/relationships/image" Target="../media/image58.png"/><Relationship Id="rId16" Type="http://schemas.openxmlformats.org/officeDocument/2006/relationships/image" Target="../media/image580.png"/><Relationship Id="rId1" Type="http://schemas.openxmlformats.org/officeDocument/2006/relationships/slideLayout" Target="../slideLayouts/slideLayout30.xml"/><Relationship Id="rId11" Type="http://schemas.openxmlformats.org/officeDocument/2006/relationships/image" Target="../media/image59.png"/><Relationship Id="rId15" Type="http://schemas.openxmlformats.org/officeDocument/2006/relationships/image" Target="../media/image64.png"/><Relationship Id="rId10" Type="http://schemas.openxmlformats.org/officeDocument/2006/relationships/image" Target="../media/image3.png"/><Relationship Id="rId9" Type="http://schemas.openxmlformats.org/officeDocument/2006/relationships/image" Target="../media/image62.png"/><Relationship Id="rId14" Type="http://schemas.openxmlformats.org/officeDocument/2006/relationships/image" Target="../media/image540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0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0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customXml" Target="../../customXml/item24.xml"/><Relationship Id="rId1" Type="http://schemas.openxmlformats.org/officeDocument/2006/relationships/customXml" Target="../../customXml/item49.xml"/><Relationship Id="rId6" Type="http://schemas.openxmlformats.org/officeDocument/2006/relationships/image" Target="../media/image51.png"/><Relationship Id="rId5" Type="http://schemas.openxmlformats.org/officeDocument/2006/relationships/image" Target="../media/image650.png"/><Relationship Id="rId4" Type="http://schemas.openxmlformats.org/officeDocument/2006/relationships/image" Target="../media/image6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51.png"/><Relationship Id="rId2" Type="http://schemas.openxmlformats.org/officeDocument/2006/relationships/customXml" Target="../../customXml/item96.xml"/><Relationship Id="rId1" Type="http://schemas.openxmlformats.org/officeDocument/2006/relationships/customXml" Target="../../customXml/item95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customXml" Target="../../customXml/item86.xml"/><Relationship Id="rId1" Type="http://schemas.openxmlformats.org/officeDocument/2006/relationships/customXml" Target="../../customXml/item27.xml"/><Relationship Id="rId6" Type="http://schemas.openxmlformats.org/officeDocument/2006/relationships/image" Target="../media/image51.png"/><Relationship Id="rId5" Type="http://schemas.openxmlformats.org/officeDocument/2006/relationships/image" Target="../media/image68.png"/><Relationship Id="rId4" Type="http://schemas.openxmlformats.org/officeDocument/2006/relationships/image" Target="../media/image66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72.png"/><Relationship Id="rId2" Type="http://schemas.openxmlformats.org/officeDocument/2006/relationships/customXml" Target="../../customXml/item26.xml"/><Relationship Id="rId1" Type="http://schemas.openxmlformats.org/officeDocument/2006/relationships/customXml" Target="../../customXml/item7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10" Type="http://schemas.openxmlformats.org/officeDocument/2006/relationships/image" Target="../media/image75.png"/><Relationship Id="rId4" Type="http://schemas.openxmlformats.org/officeDocument/2006/relationships/image" Target="../media/image67.png"/><Relationship Id="rId9" Type="http://schemas.openxmlformats.org/officeDocument/2006/relationships/image" Target="../media/image74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72.png"/><Relationship Id="rId2" Type="http://schemas.openxmlformats.org/officeDocument/2006/relationships/customXml" Target="../../customXml/item30.xml"/><Relationship Id="rId1" Type="http://schemas.openxmlformats.org/officeDocument/2006/relationships/customXml" Target="../../customXml/item14.xml"/><Relationship Id="rId6" Type="http://schemas.openxmlformats.org/officeDocument/2006/relationships/image" Target="../media/image71.png"/><Relationship Id="rId11" Type="http://schemas.openxmlformats.org/officeDocument/2006/relationships/image" Target="../media/image3.png"/><Relationship Id="rId5" Type="http://schemas.openxmlformats.org/officeDocument/2006/relationships/image" Target="../media/image70.png"/><Relationship Id="rId10" Type="http://schemas.openxmlformats.org/officeDocument/2006/relationships/image" Target="../media/image75.png"/><Relationship Id="rId4" Type="http://schemas.openxmlformats.org/officeDocument/2006/relationships/image" Target="../media/image67.png"/><Relationship Id="rId9" Type="http://schemas.openxmlformats.org/officeDocument/2006/relationships/image" Target="../media/image74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80.png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73.png"/><Relationship Id="rId12" Type="http://schemas.openxmlformats.org/officeDocument/2006/relationships/image" Target="../media/image79.png"/><Relationship Id="rId2" Type="http://schemas.openxmlformats.org/officeDocument/2006/relationships/customXml" Target="../../customXml/item9.xml"/><Relationship Id="rId16" Type="http://schemas.openxmlformats.org/officeDocument/2006/relationships/image" Target="../media/image83.png"/><Relationship Id="rId1" Type="http://schemas.openxmlformats.org/officeDocument/2006/relationships/customXml" Target="../../customXml/item37.xml"/><Relationship Id="rId6" Type="http://schemas.openxmlformats.org/officeDocument/2006/relationships/image" Target="../media/image72.png"/><Relationship Id="rId11" Type="http://schemas.openxmlformats.org/officeDocument/2006/relationships/image" Target="../media/image78.png"/><Relationship Id="rId5" Type="http://schemas.openxmlformats.org/officeDocument/2006/relationships/image" Target="../media/image71.png"/><Relationship Id="rId15" Type="http://schemas.openxmlformats.org/officeDocument/2006/relationships/image" Target="../media/image82.png"/><Relationship Id="rId10" Type="http://schemas.openxmlformats.org/officeDocument/2006/relationships/image" Target="../media/image69.png"/><Relationship Id="rId4" Type="http://schemas.openxmlformats.org/officeDocument/2006/relationships/image" Target="../media/image76.png"/><Relationship Id="rId9" Type="http://schemas.openxmlformats.org/officeDocument/2006/relationships/image" Target="../media/image75.png"/><Relationship Id="rId14" Type="http://schemas.openxmlformats.org/officeDocument/2006/relationships/image" Target="../media/image81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81.png"/><Relationship Id="rId18" Type="http://schemas.openxmlformats.org/officeDocument/2006/relationships/image" Target="../media/image86.png"/><Relationship Id="rId3" Type="http://schemas.openxmlformats.org/officeDocument/2006/relationships/slideLayout" Target="../slideLayouts/slideLayout4.xml"/><Relationship Id="rId21" Type="http://schemas.openxmlformats.org/officeDocument/2006/relationships/image" Target="../media/image89.png"/><Relationship Id="rId7" Type="http://schemas.openxmlformats.org/officeDocument/2006/relationships/image" Target="../media/image73.png"/><Relationship Id="rId12" Type="http://schemas.openxmlformats.org/officeDocument/2006/relationships/image" Target="../media/image80.png"/><Relationship Id="rId17" Type="http://schemas.openxmlformats.org/officeDocument/2006/relationships/image" Target="../media/image85.png"/><Relationship Id="rId2" Type="http://schemas.openxmlformats.org/officeDocument/2006/relationships/customXml" Target="../../customXml/item63.xml"/><Relationship Id="rId16" Type="http://schemas.openxmlformats.org/officeDocument/2006/relationships/image" Target="../media/image84.png"/><Relationship Id="rId20" Type="http://schemas.openxmlformats.org/officeDocument/2006/relationships/image" Target="../media/image88.png"/><Relationship Id="rId1" Type="http://schemas.openxmlformats.org/officeDocument/2006/relationships/customXml" Target="../../customXml/item90.xml"/><Relationship Id="rId6" Type="http://schemas.openxmlformats.org/officeDocument/2006/relationships/image" Target="../media/image72.png"/><Relationship Id="rId11" Type="http://schemas.openxmlformats.org/officeDocument/2006/relationships/image" Target="../media/image79.png"/><Relationship Id="rId5" Type="http://schemas.openxmlformats.org/officeDocument/2006/relationships/image" Target="../media/image71.png"/><Relationship Id="rId15" Type="http://schemas.openxmlformats.org/officeDocument/2006/relationships/image" Target="../media/image83.png"/><Relationship Id="rId10" Type="http://schemas.openxmlformats.org/officeDocument/2006/relationships/image" Target="../media/image78.png"/><Relationship Id="rId19" Type="http://schemas.openxmlformats.org/officeDocument/2006/relationships/image" Target="../media/image87.png"/><Relationship Id="rId4" Type="http://schemas.openxmlformats.org/officeDocument/2006/relationships/image" Target="../media/image76.png"/><Relationship Id="rId9" Type="http://schemas.openxmlformats.org/officeDocument/2006/relationships/image" Target="../media/image75.png"/><Relationship Id="rId14" Type="http://schemas.openxmlformats.org/officeDocument/2006/relationships/image" Target="../media/image82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81.png"/><Relationship Id="rId18" Type="http://schemas.openxmlformats.org/officeDocument/2006/relationships/image" Target="../media/image86.png"/><Relationship Id="rId3" Type="http://schemas.openxmlformats.org/officeDocument/2006/relationships/slideLayout" Target="../slideLayouts/slideLayout4.xml"/><Relationship Id="rId21" Type="http://schemas.openxmlformats.org/officeDocument/2006/relationships/image" Target="../media/image89.png"/><Relationship Id="rId7" Type="http://schemas.openxmlformats.org/officeDocument/2006/relationships/image" Target="../media/image73.png"/><Relationship Id="rId12" Type="http://schemas.openxmlformats.org/officeDocument/2006/relationships/image" Target="../media/image80.png"/><Relationship Id="rId17" Type="http://schemas.openxmlformats.org/officeDocument/2006/relationships/image" Target="../media/image85.png"/><Relationship Id="rId25" Type="http://schemas.openxmlformats.org/officeDocument/2006/relationships/image" Target="../media/image93.png"/><Relationship Id="rId2" Type="http://schemas.openxmlformats.org/officeDocument/2006/relationships/customXml" Target="../../customXml/item1.xml"/><Relationship Id="rId16" Type="http://schemas.openxmlformats.org/officeDocument/2006/relationships/image" Target="../media/image84.png"/><Relationship Id="rId20" Type="http://schemas.openxmlformats.org/officeDocument/2006/relationships/image" Target="../media/image88.png"/><Relationship Id="rId1" Type="http://schemas.openxmlformats.org/officeDocument/2006/relationships/customXml" Target="../../customXml/item36.xml"/><Relationship Id="rId6" Type="http://schemas.openxmlformats.org/officeDocument/2006/relationships/image" Target="../media/image72.png"/><Relationship Id="rId11" Type="http://schemas.openxmlformats.org/officeDocument/2006/relationships/image" Target="../media/image79.png"/><Relationship Id="rId24" Type="http://schemas.openxmlformats.org/officeDocument/2006/relationships/image" Target="../media/image92.png"/><Relationship Id="rId5" Type="http://schemas.openxmlformats.org/officeDocument/2006/relationships/image" Target="../media/image71.png"/><Relationship Id="rId15" Type="http://schemas.openxmlformats.org/officeDocument/2006/relationships/image" Target="../media/image83.png"/><Relationship Id="rId23" Type="http://schemas.openxmlformats.org/officeDocument/2006/relationships/image" Target="../media/image91.png"/><Relationship Id="rId10" Type="http://schemas.openxmlformats.org/officeDocument/2006/relationships/image" Target="../media/image78.png"/><Relationship Id="rId19" Type="http://schemas.openxmlformats.org/officeDocument/2006/relationships/image" Target="../media/image87.png"/><Relationship Id="rId4" Type="http://schemas.openxmlformats.org/officeDocument/2006/relationships/image" Target="../media/image76.png"/><Relationship Id="rId9" Type="http://schemas.openxmlformats.org/officeDocument/2006/relationships/image" Target="../media/image75.png"/><Relationship Id="rId14" Type="http://schemas.openxmlformats.org/officeDocument/2006/relationships/image" Target="../media/image82.png"/><Relationship Id="rId22" Type="http://schemas.openxmlformats.org/officeDocument/2006/relationships/image" Target="../media/image90.png"/></Relationships>
</file>

<file path=ppt/slides/_rels/slide68.xml.rels><?xml version="1.0" encoding="UTF-8" standalone="yes"?>
<Relationships xmlns="http://schemas.openxmlformats.org/package/2006/relationships"><Relationship Id="rId18" Type="http://schemas.openxmlformats.org/officeDocument/2006/relationships/image" Target="../media/image86.png"/><Relationship Id="rId26" Type="http://schemas.openxmlformats.org/officeDocument/2006/relationships/image" Target="../media/image94.png"/><Relationship Id="rId3" Type="http://schemas.openxmlformats.org/officeDocument/2006/relationships/slideLayout" Target="../slideLayouts/slideLayout4.xml"/><Relationship Id="rId21" Type="http://schemas.openxmlformats.org/officeDocument/2006/relationships/image" Target="../media/image89.png"/><Relationship Id="rId34" Type="http://schemas.openxmlformats.org/officeDocument/2006/relationships/image" Target="../media/image102.png"/><Relationship Id="rId17" Type="http://schemas.openxmlformats.org/officeDocument/2006/relationships/image" Target="../media/image85.png"/><Relationship Id="rId25" Type="http://schemas.openxmlformats.org/officeDocument/2006/relationships/image" Target="../media/image93.png"/><Relationship Id="rId33" Type="http://schemas.openxmlformats.org/officeDocument/2006/relationships/image" Target="../media/image101.png"/><Relationship Id="rId2" Type="http://schemas.openxmlformats.org/officeDocument/2006/relationships/customXml" Target="../../customXml/item88.xml"/><Relationship Id="rId16" Type="http://schemas.openxmlformats.org/officeDocument/2006/relationships/image" Target="../media/image84.png"/><Relationship Id="rId20" Type="http://schemas.openxmlformats.org/officeDocument/2006/relationships/image" Target="../media/image88.png"/><Relationship Id="rId29" Type="http://schemas.openxmlformats.org/officeDocument/2006/relationships/image" Target="../media/image97.png"/><Relationship Id="rId1" Type="http://schemas.openxmlformats.org/officeDocument/2006/relationships/customXml" Target="../../customXml/item81.xml"/><Relationship Id="rId24" Type="http://schemas.openxmlformats.org/officeDocument/2006/relationships/image" Target="../media/image92.png"/><Relationship Id="rId32" Type="http://schemas.openxmlformats.org/officeDocument/2006/relationships/image" Target="../media/image100.png"/><Relationship Id="rId37" Type="http://schemas.openxmlformats.org/officeDocument/2006/relationships/image" Target="../media/image105.png"/><Relationship Id="rId23" Type="http://schemas.openxmlformats.org/officeDocument/2006/relationships/image" Target="../media/image91.png"/><Relationship Id="rId28" Type="http://schemas.openxmlformats.org/officeDocument/2006/relationships/image" Target="../media/image96.png"/><Relationship Id="rId36" Type="http://schemas.openxmlformats.org/officeDocument/2006/relationships/image" Target="../media/image104.png"/><Relationship Id="rId19" Type="http://schemas.openxmlformats.org/officeDocument/2006/relationships/image" Target="../media/image87.png"/><Relationship Id="rId31" Type="http://schemas.openxmlformats.org/officeDocument/2006/relationships/image" Target="../media/image99.png"/><Relationship Id="rId22" Type="http://schemas.openxmlformats.org/officeDocument/2006/relationships/image" Target="../media/image90.png"/><Relationship Id="rId27" Type="http://schemas.openxmlformats.org/officeDocument/2006/relationships/image" Target="../media/image95.png"/><Relationship Id="rId30" Type="http://schemas.openxmlformats.org/officeDocument/2006/relationships/image" Target="../media/image98.png"/><Relationship Id="rId35" Type="http://schemas.openxmlformats.org/officeDocument/2006/relationships/image" Target="../media/image103.png"/></Relationships>
</file>

<file path=ppt/slides/_rels/slide69.xml.rels><?xml version="1.0" encoding="UTF-8" standalone="yes"?>
<Relationships xmlns="http://schemas.openxmlformats.org/package/2006/relationships"><Relationship Id="rId18" Type="http://schemas.openxmlformats.org/officeDocument/2006/relationships/image" Target="../media/image86.png"/><Relationship Id="rId26" Type="http://schemas.openxmlformats.org/officeDocument/2006/relationships/image" Target="../media/image106.png"/><Relationship Id="rId3" Type="http://schemas.openxmlformats.org/officeDocument/2006/relationships/slideLayout" Target="../slideLayouts/slideLayout4.xml"/><Relationship Id="rId21" Type="http://schemas.openxmlformats.org/officeDocument/2006/relationships/image" Target="../media/image89.png"/><Relationship Id="rId17" Type="http://schemas.openxmlformats.org/officeDocument/2006/relationships/image" Target="../media/image85.png"/><Relationship Id="rId25" Type="http://schemas.openxmlformats.org/officeDocument/2006/relationships/image" Target="../media/image93.png"/><Relationship Id="rId2" Type="http://schemas.openxmlformats.org/officeDocument/2006/relationships/customXml" Target="../../customXml/item51.xml"/><Relationship Id="rId16" Type="http://schemas.openxmlformats.org/officeDocument/2006/relationships/image" Target="../media/image84.png"/><Relationship Id="rId20" Type="http://schemas.openxmlformats.org/officeDocument/2006/relationships/image" Target="../media/image88.png"/><Relationship Id="rId1" Type="http://schemas.openxmlformats.org/officeDocument/2006/relationships/customXml" Target="../../customXml/item19.xml"/><Relationship Id="rId24" Type="http://schemas.openxmlformats.org/officeDocument/2006/relationships/image" Target="../media/image92.png"/><Relationship Id="rId23" Type="http://schemas.openxmlformats.org/officeDocument/2006/relationships/image" Target="../media/image91.png"/><Relationship Id="rId19" Type="http://schemas.openxmlformats.org/officeDocument/2006/relationships/image" Target="../media/image87.png"/><Relationship Id="rId22" Type="http://schemas.openxmlformats.org/officeDocument/2006/relationships/image" Target="../media/image90.png"/></Relationships>
</file>

<file path=ppt/slides/_rels/slide70.xml.rels><?xml version="1.0" encoding="UTF-8" standalone="yes"?>
<Relationships xmlns="http://schemas.openxmlformats.org/package/2006/relationships"><Relationship Id="rId18" Type="http://schemas.openxmlformats.org/officeDocument/2006/relationships/image" Target="../media/image86.png"/><Relationship Id="rId26" Type="http://schemas.openxmlformats.org/officeDocument/2006/relationships/image" Target="../media/image107.png"/><Relationship Id="rId3" Type="http://schemas.openxmlformats.org/officeDocument/2006/relationships/slideLayout" Target="../slideLayouts/slideLayout4.xml"/><Relationship Id="rId21" Type="http://schemas.openxmlformats.org/officeDocument/2006/relationships/image" Target="../media/image89.png"/><Relationship Id="rId17" Type="http://schemas.openxmlformats.org/officeDocument/2006/relationships/image" Target="../media/image85.png"/><Relationship Id="rId25" Type="http://schemas.openxmlformats.org/officeDocument/2006/relationships/image" Target="../media/image93.png"/><Relationship Id="rId2" Type="http://schemas.openxmlformats.org/officeDocument/2006/relationships/customXml" Target="../../customXml/item89.xml"/><Relationship Id="rId16" Type="http://schemas.openxmlformats.org/officeDocument/2006/relationships/image" Target="../media/image84.png"/><Relationship Id="rId20" Type="http://schemas.openxmlformats.org/officeDocument/2006/relationships/image" Target="../media/image88.png"/><Relationship Id="rId1" Type="http://schemas.openxmlformats.org/officeDocument/2006/relationships/customXml" Target="../../customXml/item84.xml"/><Relationship Id="rId24" Type="http://schemas.openxmlformats.org/officeDocument/2006/relationships/image" Target="../media/image92.png"/><Relationship Id="rId23" Type="http://schemas.openxmlformats.org/officeDocument/2006/relationships/image" Target="../media/image91.png"/><Relationship Id="rId19" Type="http://schemas.openxmlformats.org/officeDocument/2006/relationships/image" Target="../media/image87.png"/><Relationship Id="rId22" Type="http://schemas.openxmlformats.org/officeDocument/2006/relationships/image" Target="../media/image90.png"/></Relationships>
</file>

<file path=ppt/slides/_rels/slide7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08.png"/><Relationship Id="rId3" Type="http://schemas.openxmlformats.org/officeDocument/2006/relationships/slideLayout" Target="../slideLayouts/slideLayout4.xml"/><Relationship Id="rId25" Type="http://schemas.openxmlformats.org/officeDocument/2006/relationships/image" Target="../media/image93.png"/><Relationship Id="rId2" Type="http://schemas.openxmlformats.org/officeDocument/2006/relationships/customXml" Target="../../customXml/item78.xml"/><Relationship Id="rId1" Type="http://schemas.openxmlformats.org/officeDocument/2006/relationships/customXml" Target="../../customXml/item10.xml"/><Relationship Id="rId24" Type="http://schemas.openxmlformats.org/officeDocument/2006/relationships/image" Target="../media/image92.png"/><Relationship Id="rId23" Type="http://schemas.openxmlformats.org/officeDocument/2006/relationships/image" Target="../media/image91.png"/><Relationship Id="rId22" Type="http://schemas.openxmlformats.org/officeDocument/2006/relationships/image" Target="../media/image90.png"/></Relationships>
</file>

<file path=ppt/slides/_rels/slide7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09.png"/><Relationship Id="rId3" Type="http://schemas.openxmlformats.org/officeDocument/2006/relationships/slideLayout" Target="../slideLayouts/slideLayout4.xml"/><Relationship Id="rId25" Type="http://schemas.openxmlformats.org/officeDocument/2006/relationships/image" Target="../media/image93.png"/><Relationship Id="rId2" Type="http://schemas.openxmlformats.org/officeDocument/2006/relationships/customXml" Target="../../customXml/item2.xml"/><Relationship Id="rId1" Type="http://schemas.openxmlformats.org/officeDocument/2006/relationships/customXml" Target="../../customXml/item15.xml"/><Relationship Id="rId24" Type="http://schemas.openxmlformats.org/officeDocument/2006/relationships/image" Target="../media/image92.png"/><Relationship Id="rId23" Type="http://schemas.openxmlformats.org/officeDocument/2006/relationships/image" Target="../media/image91.png"/><Relationship Id="rId22" Type="http://schemas.openxmlformats.org/officeDocument/2006/relationships/image" Target="../media/image90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113.png"/><Relationship Id="rId2" Type="http://schemas.openxmlformats.org/officeDocument/2006/relationships/customXml" Target="../../customXml/item83.xml"/><Relationship Id="rId1" Type="http://schemas.openxmlformats.org/officeDocument/2006/relationships/customXml" Target="../../customXml/item67.xml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118.png"/><Relationship Id="rId2" Type="http://schemas.openxmlformats.org/officeDocument/2006/relationships/customXml" Target="../../customXml/item53.xml"/><Relationship Id="rId1" Type="http://schemas.openxmlformats.org/officeDocument/2006/relationships/customXml" Target="../../customXml/item40.xml"/><Relationship Id="rId6" Type="http://schemas.openxmlformats.org/officeDocument/2006/relationships/image" Target="../media/image117.png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118.png"/><Relationship Id="rId2" Type="http://schemas.openxmlformats.org/officeDocument/2006/relationships/customXml" Target="../../customXml/item8.xml"/><Relationship Id="rId1" Type="http://schemas.openxmlformats.org/officeDocument/2006/relationships/customXml" Target="../../customXml/item80.xml"/><Relationship Id="rId6" Type="http://schemas.openxmlformats.org/officeDocument/2006/relationships/image" Target="../media/image117.png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118.png"/><Relationship Id="rId2" Type="http://schemas.openxmlformats.org/officeDocument/2006/relationships/customXml" Target="../../customXml/item68.xml"/><Relationship Id="rId1" Type="http://schemas.openxmlformats.org/officeDocument/2006/relationships/customXml" Target="../../customXml/item69.xml"/><Relationship Id="rId6" Type="http://schemas.openxmlformats.org/officeDocument/2006/relationships/image" Target="../media/image117.png"/><Relationship Id="rId5" Type="http://schemas.openxmlformats.org/officeDocument/2006/relationships/image" Target="../media/image116.png"/><Relationship Id="rId4" Type="http://schemas.openxmlformats.org/officeDocument/2006/relationships/image" Target="../media/image115.png"/><Relationship Id="rId9" Type="http://schemas.openxmlformats.org/officeDocument/2006/relationships/image" Target="../media/image120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customXml" Target="../../customXml/item57.xml"/><Relationship Id="rId1" Type="http://schemas.openxmlformats.org/officeDocument/2006/relationships/customXml" Target="../../customXml/item8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customXml" Target="../../customXml/item32.xml"/><Relationship Id="rId1" Type="http://schemas.openxmlformats.org/officeDocument/2006/relationships/customXml" Target="../../customXml/item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customXml" Target="../../customXml/item50.xml"/><Relationship Id="rId1" Type="http://schemas.openxmlformats.org/officeDocument/2006/relationships/customXml" Target="../../customXml/item31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customXml" Target="../../customXml/item65.xml"/><Relationship Id="rId1" Type="http://schemas.openxmlformats.org/officeDocument/2006/relationships/customXml" Target="../../customXml/item2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customXml" Target="../../customXml/item34.xml"/><Relationship Id="rId1" Type="http://schemas.openxmlformats.org/officeDocument/2006/relationships/customXml" Target="../../customXml/item46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customXml" Target="../../customXml/item56.xml"/><Relationship Id="rId1" Type="http://schemas.openxmlformats.org/officeDocument/2006/relationships/customXml" Target="../../customXml/item71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customXml" Target="../../customXml/item17.xml"/><Relationship Id="rId1" Type="http://schemas.openxmlformats.org/officeDocument/2006/relationships/customXml" Target="../../customXml/item20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customXml" Target="../../customXml/item23.xml"/><Relationship Id="rId1" Type="http://schemas.openxmlformats.org/officeDocument/2006/relationships/customXml" Target="../../customXml/item76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customXml" Target="../../customXml/item62.xml"/><Relationship Id="rId1" Type="http://schemas.openxmlformats.org/officeDocument/2006/relationships/customXml" Target="../../customXml/item70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customXml" Target="../../customXml/item13.xml"/><Relationship Id="rId1" Type="http://schemas.openxmlformats.org/officeDocument/2006/relationships/customXml" Target="../../customXml/item59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customXml" Target="../../customXml/item77.xml"/><Relationship Id="rId1" Type="http://schemas.openxmlformats.org/officeDocument/2006/relationships/customXml" Target="../../customXml/item75.xml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customXml" Target="../../customXml/item64.xml"/><Relationship Id="rId1" Type="http://schemas.openxmlformats.org/officeDocument/2006/relationships/customXml" Target="../../customXml/item28.xml"/><Relationship Id="rId5" Type="http://schemas.openxmlformats.org/officeDocument/2006/relationships/image" Target="../media/image63.png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7451"/>
          <a:ext cx="9144000" cy="6865451"/>
          <a:chOff x="0" y="7451"/>
          <a:chExt cx="9144000" cy="6865451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206" y="7451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524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extShape 1"/>
          <p:cNvSpPr txBox="1"/>
          <p:nvPr/>
        </p:nvSpPr>
        <p:spPr>
          <a:xfrm>
            <a:off x="2400886" y="177480"/>
            <a:ext cx="9022912" cy="16516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fontAlgn="auto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3600" b="1" spc="-1" dirty="0">
                <a:solidFill>
                  <a:srgbClr val="FFFFFF"/>
                </a:solidFill>
                <a:latin typeface="Arial"/>
              </a:rPr>
              <a:t>Lecture 02: </a:t>
            </a:r>
            <a:r>
              <a:rPr lang="fr-FR" sz="3600" b="1" spc="-1" dirty="0" err="1">
                <a:solidFill>
                  <a:srgbClr val="FFFFFF"/>
                </a:solidFill>
                <a:latin typeface="Arial"/>
              </a:rPr>
              <a:t>Sequential</a:t>
            </a:r>
            <a:r>
              <a:rPr lang="fr-FR" sz="3600" b="1" spc="-1" dirty="0">
                <a:solidFill>
                  <a:srgbClr val="FFFFFF"/>
                </a:solidFill>
                <a:latin typeface="Arial"/>
              </a:rPr>
              <a:t> </a:t>
            </a:r>
            <a:r>
              <a:rPr lang="fr-FR" sz="3600" b="1" spc="-1" dirty="0" err="1">
                <a:solidFill>
                  <a:srgbClr val="FFFFFF"/>
                </a:solidFill>
                <a:latin typeface="Arial"/>
              </a:rPr>
              <a:t>Decisions</a:t>
            </a:r>
            <a:r>
              <a:rPr lang="fr-FR" sz="3600" b="1" spc="-1" dirty="0">
                <a:solidFill>
                  <a:srgbClr val="FFFFFF"/>
                </a:solidFill>
                <a:latin typeface="Arial"/>
              </a:rPr>
              <a:t> </a:t>
            </a:r>
            <a:r>
              <a:rPr lang="fr-FR" sz="3600" b="1" spc="-1" dirty="0" err="1">
                <a:solidFill>
                  <a:srgbClr val="FFFFFF"/>
                </a:solidFill>
                <a:latin typeface="Arial"/>
              </a:rPr>
              <a:t>under</a:t>
            </a:r>
            <a:r>
              <a:rPr lang="fr-FR" sz="3600" b="1" spc="-1" dirty="0">
                <a:solidFill>
                  <a:srgbClr val="FFFFFF"/>
                </a:solidFill>
                <a:latin typeface="Arial"/>
              </a:rPr>
              <a:t> </a:t>
            </a:r>
            <a:r>
              <a:rPr lang="fr-FR" sz="3600" b="1" spc="-1" dirty="0" err="1">
                <a:solidFill>
                  <a:srgbClr val="FFFFFF"/>
                </a:solidFill>
                <a:latin typeface="Arial"/>
              </a:rPr>
              <a:t>Uncertainty</a:t>
            </a:r>
            <a:r>
              <a:rPr lang="fr-FR" sz="3600" b="1" spc="-1" dirty="0">
                <a:solidFill>
                  <a:srgbClr val="FFFFFF"/>
                </a:solidFill>
                <a:latin typeface="Arial"/>
              </a:rPr>
              <a:t> - </a:t>
            </a:r>
            <a:r>
              <a:rPr lang="en-US" sz="3600" b="1" spc="-1" dirty="0">
                <a:solidFill>
                  <a:srgbClr val="FFFFFF"/>
                </a:solidFill>
                <a:latin typeface="Arial"/>
              </a:rPr>
              <a:t>Markov Decision Processes</a:t>
            </a:r>
            <a:endParaRPr lang="fr-FR" sz="36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Shape 3"/>
          <p:cNvSpPr txBox="1"/>
          <p:nvPr/>
        </p:nvSpPr>
        <p:spPr>
          <a:xfrm>
            <a:off x="10154206" y="6541200"/>
            <a:ext cx="324000" cy="31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fld id="{6F0260D1-715F-4A85-9441-F9F0D6C48798}" type="slidenum">
              <a:rPr lang="en-US" sz="530" b="1" spc="-1">
                <a:solidFill>
                  <a:srgbClr val="FFFFFF"/>
                </a:solidFill>
                <a:latin typeface="Arial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</a:t>
            </a:fld>
            <a:endParaRPr lang="en-US" sz="530" spc="-1">
              <a:solidFill>
                <a:prstClr val="black"/>
              </a:solidFill>
              <a:latin typeface="Times New Roman"/>
            </a:endParaRPr>
          </a:p>
        </p:txBody>
      </p:sp>
      <p:sp>
        <p:nvSpPr>
          <p:cNvPr id="190" name="CustomShape 4"/>
          <p:cNvSpPr/>
          <p:nvPr/>
        </p:nvSpPr>
        <p:spPr>
          <a:xfrm>
            <a:off x="2379505" y="1717925"/>
            <a:ext cx="2742840" cy="426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fontAlgn="auto">
              <a:spcBef>
                <a:spcPts val="431"/>
              </a:spcBef>
              <a:spcAft>
                <a:spcPts val="0"/>
              </a:spcAft>
            </a:pPr>
            <a:r>
              <a:rPr lang="en-US" sz="2800" b="1" i="1" spc="-1">
                <a:solidFill>
                  <a:srgbClr val="FFFFFF"/>
                </a:solidFill>
                <a:latin typeface="Arial"/>
              </a:rPr>
              <a:t>Scan me:</a:t>
            </a:r>
            <a:endParaRPr lang="en-US" sz="2800" spc="-1">
              <a:solidFill>
                <a:prstClr val="black"/>
              </a:solidFill>
              <a:latin typeface="Arial"/>
            </a:endParaRPr>
          </a:p>
        </p:txBody>
      </p:sp>
      <p:sp>
        <p:nvSpPr>
          <p:cNvPr id="191" name="CustomShape 5"/>
          <p:cNvSpPr/>
          <p:nvPr/>
        </p:nvSpPr>
        <p:spPr>
          <a:xfrm>
            <a:off x="7571065" y="4962965"/>
            <a:ext cx="2035080" cy="82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400" spc="-1" dirty="0">
                <a:solidFill>
                  <a:srgbClr val="FFFFFF"/>
                </a:solidFill>
                <a:latin typeface="Arial"/>
              </a:rPr>
              <a:t>Quizzes</a:t>
            </a:r>
            <a:endParaRPr lang="en-US" sz="2400" spc="-1" dirty="0">
              <a:solidFill>
                <a:prstClr val="black"/>
              </a:solidFill>
              <a:latin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2400" spc="-1" dirty="0">
              <a:solidFill>
                <a:prstClr val="black"/>
              </a:solidFill>
              <a:latin typeface="Arial"/>
            </a:endParaRPr>
          </a:p>
        </p:txBody>
      </p:sp>
      <p:pic>
        <p:nvPicPr>
          <p:cNvPr id="192" name="Picture 12"/>
          <p:cNvPicPr/>
          <p:nvPr/>
        </p:nvPicPr>
        <p:blipFill>
          <a:blip r:embed="rId2"/>
          <a:stretch/>
        </p:blipFill>
        <p:spPr>
          <a:xfrm>
            <a:off x="5111185" y="1868405"/>
            <a:ext cx="1823040" cy="4045680"/>
          </a:xfrm>
          <a:prstGeom prst="rect">
            <a:avLst/>
          </a:prstGeom>
          <a:ln>
            <a:noFill/>
          </a:ln>
        </p:spPr>
      </p:pic>
      <p:sp>
        <p:nvSpPr>
          <p:cNvPr id="193" name="CustomShape 6"/>
          <p:cNvSpPr/>
          <p:nvPr/>
        </p:nvSpPr>
        <p:spPr>
          <a:xfrm>
            <a:off x="7575745" y="3422165"/>
            <a:ext cx="3049560" cy="1189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400" spc="-1">
                <a:solidFill>
                  <a:srgbClr val="FFFFFF"/>
                </a:solidFill>
                <a:latin typeface="Arial"/>
              </a:rPr>
              <a:t>Anonymous Questions (during or after the lecture)</a:t>
            </a:r>
            <a:endParaRPr lang="en-US" sz="2400" spc="-1">
              <a:solidFill>
                <a:prstClr val="black"/>
              </a:solidFill>
              <a:latin typeface="Arial"/>
            </a:endParaRPr>
          </a:p>
        </p:txBody>
      </p:sp>
      <p:sp>
        <p:nvSpPr>
          <p:cNvPr id="194" name="CustomShape 7"/>
          <p:cNvSpPr/>
          <p:nvPr/>
        </p:nvSpPr>
        <p:spPr>
          <a:xfrm rot="19293000">
            <a:off x="6477745" y="2395445"/>
            <a:ext cx="286560" cy="290664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FF00"/>
          </a:solidFill>
          <a:ln w="9360">
            <a:solidFill>
              <a:schemeClr val="accent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800">
              <a:solidFill>
                <a:prstClr val="black"/>
              </a:solidFill>
              <a:latin typeface="Arial"/>
            </a:endParaRPr>
          </a:p>
        </p:txBody>
      </p:sp>
      <p:sp>
        <p:nvSpPr>
          <p:cNvPr id="195" name="CustomShape 8"/>
          <p:cNvSpPr/>
          <p:nvPr/>
        </p:nvSpPr>
        <p:spPr>
          <a:xfrm rot="19293000">
            <a:off x="6921265" y="2516405"/>
            <a:ext cx="255240" cy="159084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FF00"/>
          </a:solidFill>
          <a:ln w="9360">
            <a:solidFill>
              <a:schemeClr val="accent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800">
              <a:solidFill>
                <a:prstClr val="black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352A66-AE7D-4786-862E-F193A817C097}"/>
              </a:ext>
            </a:extLst>
          </p:cNvPr>
          <p:cNvSpPr txBox="1"/>
          <p:nvPr/>
        </p:nvSpPr>
        <p:spPr>
          <a:xfrm>
            <a:off x="7391573" y="5865696"/>
            <a:ext cx="46802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spc="-1" dirty="0">
                <a:solidFill>
                  <a:srgbClr val="FFFFFF"/>
                </a:solidFill>
                <a:latin typeface="Arial"/>
              </a:rPr>
              <a:t>The Lecture will be recorded</a:t>
            </a:r>
            <a:endParaRPr lang="en-US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CC5BCA-B402-CF03-214C-04EECA1A76CD}"/>
              </a:ext>
            </a:extLst>
          </p:cNvPr>
          <p:cNvSpPr txBox="1"/>
          <p:nvPr/>
        </p:nvSpPr>
        <p:spPr>
          <a:xfrm>
            <a:off x="1295573" y="5265531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  <a:latin typeface="+mn-lt"/>
              </a:rPr>
              <a:t>v</a:t>
            </a:r>
            <a:r>
              <a:rPr kumimoji="0" lang="en-US" sz="3600" b="0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ＭＳ Ｐゴシック" pitchFamily="-80" charset="-128"/>
              </a:rPr>
              <a:t>evox.app</a:t>
            </a:r>
            <a:br>
              <a:rPr lang="en-US" sz="3600" dirty="0">
                <a:solidFill>
                  <a:schemeClr val="bg1"/>
                </a:solidFill>
                <a:latin typeface="+mn-lt"/>
              </a:rPr>
            </a:br>
            <a:r>
              <a:rPr kumimoji="0" lang="en-US" sz="3600" b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ＭＳ Ｐゴシック" pitchFamily="-80" charset="-128"/>
              </a:rPr>
              <a:t>161-834-334</a:t>
            </a:r>
            <a:endParaRPr lang="en-US" sz="360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322BA6-B0B9-D036-A70C-368D72A6C4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455" y="2208258"/>
            <a:ext cx="3009000" cy="30572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069AD-BEAD-8D6A-0072-81B3F8B09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TextShape 1">
            <a:extLst>
              <a:ext uri="{FF2B5EF4-FFF2-40B4-BE49-F238E27FC236}">
                <a16:creationId xmlns:a16="http://schemas.microsoft.com/office/drawing/2014/main" id="{A40315FA-30A3-F54B-63C4-79B6CCB63AB6}"/>
              </a:ext>
            </a:extLst>
          </p:cNvPr>
          <p:cNvSpPr txBox="1"/>
          <p:nvPr/>
        </p:nvSpPr>
        <p:spPr>
          <a:xfrm>
            <a:off x="2894806" y="76320"/>
            <a:ext cx="7695720" cy="7377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fr-FR" sz="3000" b="1" spc="-1" dirty="0">
                <a:solidFill>
                  <a:srgbClr val="000000"/>
                </a:solidFill>
                <a:latin typeface="Arial"/>
              </a:rPr>
              <a:t>Course Plan</a:t>
            </a:r>
            <a:endParaRPr lang="fr-FR" sz="30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Shape 2">
            <a:extLst>
              <a:ext uri="{FF2B5EF4-FFF2-40B4-BE49-F238E27FC236}">
                <a16:creationId xmlns:a16="http://schemas.microsoft.com/office/drawing/2014/main" id="{0B070276-A844-6C13-3F4A-F95F9A9862A5}"/>
              </a:ext>
            </a:extLst>
          </p:cNvPr>
          <p:cNvSpPr txBox="1"/>
          <p:nvPr/>
        </p:nvSpPr>
        <p:spPr>
          <a:xfrm>
            <a:off x="10154206" y="6541200"/>
            <a:ext cx="324000" cy="31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fld id="{454E0A3D-B481-497E-B011-A1C1D806F450}" type="slidenum">
              <a:rPr lang="en-US" sz="530" b="1" spc="-1">
                <a:solidFill>
                  <a:srgbClr val="FFFFFF"/>
                </a:solidFill>
                <a:latin typeface="Arial"/>
              </a:rPr>
              <a:t>3</a:t>
            </a:fld>
            <a:endParaRPr lang="en-US" sz="530" spc="-1">
              <a:latin typeface="Times New Roman"/>
            </a:endParaRPr>
          </a:p>
        </p:txBody>
      </p:sp>
      <p:pic>
        <p:nvPicPr>
          <p:cNvPr id="3" name="Picture 2" descr="A diagram of a task&#10;&#10;AI-generated content may be incorrect.">
            <a:extLst>
              <a:ext uri="{FF2B5EF4-FFF2-40B4-BE49-F238E27FC236}">
                <a16:creationId xmlns:a16="http://schemas.microsoft.com/office/drawing/2014/main" id="{C9C94480-CA81-5606-CD30-14CC3B5FECE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3755" y="891252"/>
            <a:ext cx="5910430" cy="550954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8106465-CB17-1D3A-DC24-5C82474B4F54}"/>
              </a:ext>
            </a:extLst>
          </p:cNvPr>
          <p:cNvSpPr txBox="1"/>
          <p:nvPr/>
        </p:nvSpPr>
        <p:spPr>
          <a:xfrm rot="20904453">
            <a:off x="3960963" y="1219511"/>
            <a:ext cx="21490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  <a:latin typeface="Bradley Hand ITC" panose="03070402050302030203" pitchFamily="66" charset="0"/>
              </a:rPr>
              <a:t>without</a:t>
            </a:r>
            <a:br>
              <a:rPr lang="en-US" sz="1400" b="1" dirty="0">
                <a:solidFill>
                  <a:srgbClr val="FF0000"/>
                </a:solidFill>
                <a:latin typeface="Bradley Hand ITC" panose="03070402050302030203" pitchFamily="66" charset="0"/>
              </a:rPr>
            </a:br>
            <a:r>
              <a:rPr lang="en-US" sz="1400" b="1" dirty="0">
                <a:solidFill>
                  <a:srgbClr val="FF0000"/>
                </a:solidFill>
                <a:latin typeface="Bradley Hand ITC" panose="03070402050302030203" pitchFamily="66" charset="0"/>
              </a:rPr>
              <a:t>Uncertainty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C31E52D-6F2E-4944-529E-634C6AC2BA75}"/>
              </a:ext>
            </a:extLst>
          </p:cNvPr>
          <p:cNvSpPr/>
          <p:nvPr/>
        </p:nvSpPr>
        <p:spPr bwMode="auto">
          <a:xfrm>
            <a:off x="3033754" y="1916832"/>
            <a:ext cx="6122903" cy="576064"/>
          </a:xfrm>
          <a:prstGeom prst="roundRect">
            <a:avLst/>
          </a:prstGeom>
          <a:noFill/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9386F914-AD2F-97D8-2B42-4969C01296D0}"/>
              </a:ext>
            </a:extLst>
          </p:cNvPr>
          <p:cNvSpPr/>
          <p:nvPr/>
        </p:nvSpPr>
        <p:spPr bwMode="auto">
          <a:xfrm>
            <a:off x="1900434" y="1960726"/>
            <a:ext cx="936104" cy="504056"/>
          </a:xfrm>
          <a:prstGeom prst="rightArrow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85111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B9D89-4678-4B3C-8679-3E429EFBB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2406" y="76200"/>
            <a:ext cx="7772400" cy="685800"/>
          </a:xfrm>
        </p:spPr>
        <p:txBody>
          <a:bodyPr/>
          <a:lstStyle/>
          <a:p>
            <a:r>
              <a:rPr lang="en-GB" dirty="0"/>
              <a:t>Agenda for today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A318CF-975E-4A42-1780-D5B1E527F7D7}"/>
              </a:ext>
            </a:extLst>
          </p:cNvPr>
          <p:cNvSpPr txBox="1"/>
          <p:nvPr/>
        </p:nvSpPr>
        <p:spPr>
          <a:xfrm>
            <a:off x="1702718" y="1447801"/>
            <a:ext cx="8050088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sz="1800" dirty="0"/>
              <a:t>Small example</a:t>
            </a:r>
          </a:p>
          <a:p>
            <a:pPr marL="342900" indent="-342900">
              <a:buFontTx/>
              <a:buAutoNum type="arabicPeriod"/>
            </a:pPr>
            <a:r>
              <a:rPr lang="en-US" sz="1800" dirty="0"/>
              <a:t>Defining a problem of Sequential Decisions under Uncertainty</a:t>
            </a:r>
          </a:p>
          <a:p>
            <a:pPr marL="342900" indent="-342900">
              <a:buAutoNum type="arabicPeriod"/>
            </a:pPr>
            <a:r>
              <a:rPr lang="en-US" sz="1800" dirty="0"/>
              <a:t>Student’s problem as a Sequential Decisions problem</a:t>
            </a:r>
          </a:p>
          <a:p>
            <a:pPr marL="342900" indent="-342900">
              <a:buAutoNum type="arabicPeriod"/>
            </a:pPr>
            <a:r>
              <a:rPr lang="en-US" sz="1800" dirty="0"/>
              <a:t>Applying what we learned on the Lead Example</a:t>
            </a:r>
          </a:p>
          <a:p>
            <a:pPr marL="342900" indent="-342900">
              <a:buFontTx/>
              <a:buAutoNum type="arabicPeriod"/>
            </a:pPr>
            <a:r>
              <a:rPr lang="en-US" sz="1800" dirty="0"/>
              <a:t>How to code an Evaluation Framework</a:t>
            </a:r>
          </a:p>
          <a:p>
            <a:pPr marL="342900" indent="-342900">
              <a:buFontTx/>
              <a:buAutoNum type="arabicPeriod"/>
            </a:pPr>
            <a:r>
              <a:rPr lang="en-US" sz="1800" dirty="0"/>
              <a:t>Quiz with 1.5 bonus points for the top 3.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4000473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CC4B1-A24B-3301-A607-C17A82438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TextShape 1">
            <a:extLst>
              <a:ext uri="{FF2B5EF4-FFF2-40B4-BE49-F238E27FC236}">
                <a16:creationId xmlns:a16="http://schemas.microsoft.com/office/drawing/2014/main" id="{E86E2471-DE55-78E1-08E6-69A7F09D923D}"/>
              </a:ext>
            </a:extLst>
          </p:cNvPr>
          <p:cNvSpPr txBox="1"/>
          <p:nvPr/>
        </p:nvSpPr>
        <p:spPr>
          <a:xfrm>
            <a:off x="2894806" y="76320"/>
            <a:ext cx="7695720" cy="9723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fr-FR" sz="3000" b="1" spc="-1">
                <a:solidFill>
                  <a:srgbClr val="000000"/>
                </a:solidFill>
                <a:latin typeface="Arial"/>
              </a:rPr>
              <a:t>The process of designing </a:t>
            </a:r>
            <a:br>
              <a:rPr sz="1800">
                <a:solidFill>
                  <a:prstClr val="black"/>
                </a:solidFill>
                <a:latin typeface="Arial"/>
              </a:rPr>
            </a:br>
            <a:r>
              <a:rPr lang="fr-FR" sz="3000" b="1" spc="-1">
                <a:solidFill>
                  <a:srgbClr val="000000"/>
                </a:solidFill>
                <a:latin typeface="Arial"/>
              </a:rPr>
              <a:t>“Decision-making” frameworks</a:t>
            </a:r>
            <a:endParaRPr lang="fr-FR" sz="300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Shape 2">
            <a:extLst>
              <a:ext uri="{FF2B5EF4-FFF2-40B4-BE49-F238E27FC236}">
                <a16:creationId xmlns:a16="http://schemas.microsoft.com/office/drawing/2014/main" id="{F36DE6E5-CC93-A02F-59E2-2E1082F2AF77}"/>
              </a:ext>
            </a:extLst>
          </p:cNvPr>
          <p:cNvSpPr txBox="1"/>
          <p:nvPr/>
        </p:nvSpPr>
        <p:spPr>
          <a:xfrm>
            <a:off x="10154206" y="6541200"/>
            <a:ext cx="324000" cy="31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fld id="{73988310-29CA-4543-938F-4307B4B069BB}" type="slidenum">
              <a:rPr lang="en-US" sz="530" b="1" spc="-1">
                <a:solidFill>
                  <a:srgbClr val="FFFFFF"/>
                </a:solidFill>
                <a:latin typeface="Arial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5</a:t>
            </a:fld>
            <a:endParaRPr lang="en-US" sz="530" spc="-1">
              <a:solidFill>
                <a:prstClr val="black"/>
              </a:solidFill>
              <a:latin typeface="Times New Roman"/>
            </a:endParaRPr>
          </a:p>
        </p:txBody>
      </p:sp>
      <p:sp>
        <p:nvSpPr>
          <p:cNvPr id="245" name="CustomShape 3">
            <a:extLst>
              <a:ext uri="{FF2B5EF4-FFF2-40B4-BE49-F238E27FC236}">
                <a16:creationId xmlns:a16="http://schemas.microsoft.com/office/drawing/2014/main" id="{3EC86FBA-70B2-5E65-AB4A-C2A64D23BC71}"/>
              </a:ext>
            </a:extLst>
          </p:cNvPr>
          <p:cNvSpPr/>
          <p:nvPr/>
        </p:nvSpPr>
        <p:spPr>
          <a:xfrm>
            <a:off x="2101366" y="1789200"/>
            <a:ext cx="1154880" cy="685440"/>
          </a:xfrm>
          <a:prstGeom prst="roundRect">
            <a:avLst>
              <a:gd name="adj" fmla="val 16667"/>
            </a:avLst>
          </a:prstGeom>
          <a:ln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400" spc="-1">
                <a:solidFill>
                  <a:srgbClr val="FFFFFF"/>
                </a:solidFill>
                <a:latin typeface="Arial"/>
              </a:rPr>
              <a:t>Define</a:t>
            </a:r>
            <a:endParaRPr lang="en-US" sz="2400" spc="-1">
              <a:solidFill>
                <a:prstClr val="black"/>
              </a:solidFill>
              <a:latin typeface="Arial"/>
            </a:endParaRPr>
          </a:p>
        </p:txBody>
      </p:sp>
      <p:sp>
        <p:nvSpPr>
          <p:cNvPr id="246" name="CustomShape 4">
            <a:extLst>
              <a:ext uri="{FF2B5EF4-FFF2-40B4-BE49-F238E27FC236}">
                <a16:creationId xmlns:a16="http://schemas.microsoft.com/office/drawing/2014/main" id="{25AFB5A0-F982-5720-6956-DA8E9DDC7AD4}"/>
              </a:ext>
            </a:extLst>
          </p:cNvPr>
          <p:cNvSpPr/>
          <p:nvPr/>
        </p:nvSpPr>
        <p:spPr>
          <a:xfrm>
            <a:off x="5320126" y="1788120"/>
            <a:ext cx="1218960" cy="685440"/>
          </a:xfrm>
          <a:prstGeom prst="roundRect">
            <a:avLst>
              <a:gd name="adj" fmla="val 16667"/>
            </a:avLst>
          </a:prstGeom>
          <a:ln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400" spc="-1">
                <a:solidFill>
                  <a:srgbClr val="FFFFFF"/>
                </a:solidFill>
                <a:latin typeface="Arial"/>
              </a:rPr>
              <a:t>Design</a:t>
            </a:r>
            <a:endParaRPr lang="en-US" sz="2400" spc="-1">
              <a:solidFill>
                <a:prstClr val="black"/>
              </a:solidFill>
              <a:latin typeface="Arial"/>
            </a:endParaRPr>
          </a:p>
        </p:txBody>
      </p:sp>
      <p:sp>
        <p:nvSpPr>
          <p:cNvPr id="247" name="CustomShape 5">
            <a:extLst>
              <a:ext uri="{FF2B5EF4-FFF2-40B4-BE49-F238E27FC236}">
                <a16:creationId xmlns:a16="http://schemas.microsoft.com/office/drawing/2014/main" id="{8A1D3E76-0794-D89C-9258-F891F394DFC0}"/>
              </a:ext>
            </a:extLst>
          </p:cNvPr>
          <p:cNvSpPr/>
          <p:nvPr/>
        </p:nvSpPr>
        <p:spPr>
          <a:xfrm>
            <a:off x="8738326" y="1791360"/>
            <a:ext cx="1460880" cy="685440"/>
          </a:xfrm>
          <a:prstGeom prst="roundRect">
            <a:avLst>
              <a:gd name="adj" fmla="val 16667"/>
            </a:avLst>
          </a:prstGeom>
          <a:ln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400" spc="-1" dirty="0">
                <a:solidFill>
                  <a:srgbClr val="FFFFFF"/>
                </a:solidFill>
              </a:rPr>
              <a:t>Evaluate</a:t>
            </a:r>
            <a:endParaRPr lang="en-US" sz="2400" spc="-1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248" name="CustomShape 6">
            <a:extLst>
              <a:ext uri="{FF2B5EF4-FFF2-40B4-BE49-F238E27FC236}">
                <a16:creationId xmlns:a16="http://schemas.microsoft.com/office/drawing/2014/main" id="{263D1828-91B2-CFA3-53FC-1A5FA2446B71}"/>
              </a:ext>
            </a:extLst>
          </p:cNvPr>
          <p:cNvSpPr/>
          <p:nvPr/>
        </p:nvSpPr>
        <p:spPr>
          <a:xfrm flipV="1">
            <a:off x="3653326" y="2130840"/>
            <a:ext cx="1196640" cy="108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240">
            <a:solidFill>
              <a:srgbClr val="00B050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800">
              <a:solidFill>
                <a:prstClr val="black"/>
              </a:solidFill>
              <a:latin typeface="Arial"/>
            </a:endParaRPr>
          </a:p>
        </p:txBody>
      </p:sp>
      <p:sp>
        <p:nvSpPr>
          <p:cNvPr id="249" name="CustomShape 7">
            <a:extLst>
              <a:ext uri="{FF2B5EF4-FFF2-40B4-BE49-F238E27FC236}">
                <a16:creationId xmlns:a16="http://schemas.microsoft.com/office/drawing/2014/main" id="{557B9F3E-5987-1A2B-F3FA-65EA02CD18B9}"/>
              </a:ext>
            </a:extLst>
          </p:cNvPr>
          <p:cNvSpPr/>
          <p:nvPr/>
        </p:nvSpPr>
        <p:spPr>
          <a:xfrm flipV="1">
            <a:off x="7146046" y="2126520"/>
            <a:ext cx="1196640" cy="108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240">
            <a:solidFill>
              <a:srgbClr val="00B050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800">
              <a:solidFill>
                <a:prstClr val="black"/>
              </a:solidFill>
              <a:latin typeface="Arial"/>
            </a:endParaRPr>
          </a:p>
        </p:txBody>
      </p:sp>
      <p:sp>
        <p:nvSpPr>
          <p:cNvPr id="250" name="CustomShape 8">
            <a:extLst>
              <a:ext uri="{FF2B5EF4-FFF2-40B4-BE49-F238E27FC236}">
                <a16:creationId xmlns:a16="http://schemas.microsoft.com/office/drawing/2014/main" id="{01B435AF-7605-631C-ADBC-7F4EB339863F}"/>
              </a:ext>
            </a:extLst>
          </p:cNvPr>
          <p:cNvSpPr/>
          <p:nvPr/>
        </p:nvSpPr>
        <p:spPr>
          <a:xfrm>
            <a:off x="1890766" y="1750680"/>
            <a:ext cx="1571760" cy="830520"/>
          </a:xfrm>
          <a:prstGeom prst="roundRect">
            <a:avLst>
              <a:gd name="adj" fmla="val 16667"/>
            </a:avLst>
          </a:prstGeom>
          <a:noFill/>
          <a:ln w="57240">
            <a:solidFill>
              <a:srgbClr val="FF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800">
              <a:solidFill>
                <a:prstClr val="black"/>
              </a:solidFill>
              <a:latin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53DF20-A1F4-CA1D-FDBD-030C56E4F273}"/>
              </a:ext>
            </a:extLst>
          </p:cNvPr>
          <p:cNvSpPr txBox="1"/>
          <p:nvPr/>
        </p:nvSpPr>
        <p:spPr>
          <a:xfrm>
            <a:off x="1523206" y="128246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" fontAlgn="auto">
              <a:spcBef>
                <a:spcPts val="431"/>
              </a:spcBef>
              <a:spcAft>
                <a:spcPts val="0"/>
              </a:spcAft>
              <a:buClr>
                <a:srgbClr val="C00000"/>
              </a:buClr>
            </a:pPr>
            <a:r>
              <a:rPr lang="en-US" sz="1800" b="1" spc="-1" dirty="0">
                <a:solidFill>
                  <a:srgbClr val="00B050"/>
                </a:solidFill>
                <a:latin typeface="Arial"/>
              </a:rPr>
              <a:t>Markov Decision Process</a:t>
            </a:r>
          </a:p>
        </p:txBody>
      </p:sp>
    </p:spTree>
    <p:extLst>
      <p:ext uri="{BB962C8B-B14F-4D97-AF65-F5344CB8AC3E}">
        <p14:creationId xmlns:p14="http://schemas.microsoft.com/office/powerpoint/2010/main" val="516256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7F0CC-8C34-869E-60C0-5A5E78CB9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TextShape 1">
            <a:extLst>
              <a:ext uri="{FF2B5EF4-FFF2-40B4-BE49-F238E27FC236}">
                <a16:creationId xmlns:a16="http://schemas.microsoft.com/office/drawing/2014/main" id="{CA091EFF-5F17-BCB3-FB7D-2B23113EBE5C}"/>
              </a:ext>
            </a:extLst>
          </p:cNvPr>
          <p:cNvSpPr txBox="1"/>
          <p:nvPr/>
        </p:nvSpPr>
        <p:spPr>
          <a:xfrm>
            <a:off x="2894806" y="76320"/>
            <a:ext cx="7695720" cy="9723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fr-FR" sz="3000" b="1" spc="-1">
                <a:solidFill>
                  <a:srgbClr val="000000"/>
                </a:solidFill>
                <a:latin typeface="Arial"/>
              </a:rPr>
              <a:t>The process of designing </a:t>
            </a:r>
            <a:br>
              <a:rPr sz="1800">
                <a:solidFill>
                  <a:prstClr val="black"/>
                </a:solidFill>
                <a:latin typeface="Arial"/>
              </a:rPr>
            </a:br>
            <a:r>
              <a:rPr lang="fr-FR" sz="3000" b="1" spc="-1">
                <a:solidFill>
                  <a:srgbClr val="000000"/>
                </a:solidFill>
                <a:latin typeface="Arial"/>
              </a:rPr>
              <a:t>“Decision-making” frameworks</a:t>
            </a:r>
            <a:endParaRPr lang="fr-FR" sz="300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Shape 2">
            <a:extLst>
              <a:ext uri="{FF2B5EF4-FFF2-40B4-BE49-F238E27FC236}">
                <a16:creationId xmlns:a16="http://schemas.microsoft.com/office/drawing/2014/main" id="{EAFC6B74-6C96-5669-9BFB-D72ABD69E69F}"/>
              </a:ext>
            </a:extLst>
          </p:cNvPr>
          <p:cNvSpPr txBox="1"/>
          <p:nvPr/>
        </p:nvSpPr>
        <p:spPr>
          <a:xfrm>
            <a:off x="10154206" y="6541200"/>
            <a:ext cx="324000" cy="31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fld id="{73988310-29CA-4543-938F-4307B4B069BB}" type="slidenum">
              <a:rPr lang="en-US" sz="530" b="1" spc="-1">
                <a:solidFill>
                  <a:srgbClr val="FFFFFF"/>
                </a:solidFill>
                <a:latin typeface="Arial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6</a:t>
            </a:fld>
            <a:endParaRPr lang="en-US" sz="530" spc="-1">
              <a:solidFill>
                <a:prstClr val="black"/>
              </a:solidFill>
              <a:latin typeface="Times New Roman"/>
            </a:endParaRPr>
          </a:p>
        </p:txBody>
      </p:sp>
      <p:sp>
        <p:nvSpPr>
          <p:cNvPr id="245" name="CustomShape 3">
            <a:extLst>
              <a:ext uri="{FF2B5EF4-FFF2-40B4-BE49-F238E27FC236}">
                <a16:creationId xmlns:a16="http://schemas.microsoft.com/office/drawing/2014/main" id="{CA44C3E6-93D1-A821-828B-93F97C7ED24C}"/>
              </a:ext>
            </a:extLst>
          </p:cNvPr>
          <p:cNvSpPr/>
          <p:nvPr/>
        </p:nvSpPr>
        <p:spPr>
          <a:xfrm>
            <a:off x="2101366" y="1789200"/>
            <a:ext cx="1154880" cy="685440"/>
          </a:xfrm>
          <a:prstGeom prst="roundRect">
            <a:avLst>
              <a:gd name="adj" fmla="val 16667"/>
            </a:avLst>
          </a:prstGeom>
          <a:ln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400" spc="-1">
                <a:solidFill>
                  <a:srgbClr val="FFFFFF"/>
                </a:solidFill>
                <a:latin typeface="Arial"/>
              </a:rPr>
              <a:t>Define</a:t>
            </a:r>
            <a:endParaRPr lang="en-US" sz="2400" spc="-1">
              <a:solidFill>
                <a:prstClr val="black"/>
              </a:solidFill>
              <a:latin typeface="Arial"/>
            </a:endParaRPr>
          </a:p>
        </p:txBody>
      </p:sp>
      <p:sp>
        <p:nvSpPr>
          <p:cNvPr id="246" name="CustomShape 4">
            <a:extLst>
              <a:ext uri="{FF2B5EF4-FFF2-40B4-BE49-F238E27FC236}">
                <a16:creationId xmlns:a16="http://schemas.microsoft.com/office/drawing/2014/main" id="{882229C7-1D2A-4D66-5A35-61FB48C74D7D}"/>
              </a:ext>
            </a:extLst>
          </p:cNvPr>
          <p:cNvSpPr/>
          <p:nvPr/>
        </p:nvSpPr>
        <p:spPr>
          <a:xfrm>
            <a:off x="5320126" y="1788120"/>
            <a:ext cx="1218960" cy="685440"/>
          </a:xfrm>
          <a:prstGeom prst="roundRect">
            <a:avLst>
              <a:gd name="adj" fmla="val 16667"/>
            </a:avLst>
          </a:prstGeom>
          <a:ln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400" spc="-1">
                <a:solidFill>
                  <a:srgbClr val="FFFFFF"/>
                </a:solidFill>
                <a:latin typeface="Arial"/>
              </a:rPr>
              <a:t>Design</a:t>
            </a:r>
            <a:endParaRPr lang="en-US" sz="2400" spc="-1">
              <a:solidFill>
                <a:prstClr val="black"/>
              </a:solidFill>
              <a:latin typeface="Arial"/>
            </a:endParaRPr>
          </a:p>
        </p:txBody>
      </p:sp>
      <p:sp>
        <p:nvSpPr>
          <p:cNvPr id="247" name="CustomShape 5">
            <a:extLst>
              <a:ext uri="{FF2B5EF4-FFF2-40B4-BE49-F238E27FC236}">
                <a16:creationId xmlns:a16="http://schemas.microsoft.com/office/drawing/2014/main" id="{0428441C-36AE-CCE6-55CD-BA8D7AC01EB1}"/>
              </a:ext>
            </a:extLst>
          </p:cNvPr>
          <p:cNvSpPr/>
          <p:nvPr/>
        </p:nvSpPr>
        <p:spPr>
          <a:xfrm>
            <a:off x="8738326" y="1791360"/>
            <a:ext cx="1460880" cy="685440"/>
          </a:xfrm>
          <a:prstGeom prst="roundRect">
            <a:avLst>
              <a:gd name="adj" fmla="val 16667"/>
            </a:avLst>
          </a:prstGeom>
          <a:ln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400" spc="-1" dirty="0">
                <a:solidFill>
                  <a:srgbClr val="FFFFFF"/>
                </a:solidFill>
              </a:rPr>
              <a:t>Evaluate</a:t>
            </a:r>
            <a:endParaRPr lang="en-US" sz="2400" spc="-1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248" name="CustomShape 6">
            <a:extLst>
              <a:ext uri="{FF2B5EF4-FFF2-40B4-BE49-F238E27FC236}">
                <a16:creationId xmlns:a16="http://schemas.microsoft.com/office/drawing/2014/main" id="{17BCD4E7-9B15-E2CB-DF64-55D243A97C3E}"/>
              </a:ext>
            </a:extLst>
          </p:cNvPr>
          <p:cNvSpPr/>
          <p:nvPr/>
        </p:nvSpPr>
        <p:spPr>
          <a:xfrm flipV="1">
            <a:off x="3653326" y="2130840"/>
            <a:ext cx="1196640" cy="108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240">
            <a:solidFill>
              <a:srgbClr val="00B050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800">
              <a:solidFill>
                <a:prstClr val="black"/>
              </a:solidFill>
              <a:latin typeface="Arial"/>
            </a:endParaRPr>
          </a:p>
        </p:txBody>
      </p:sp>
      <p:sp>
        <p:nvSpPr>
          <p:cNvPr id="249" name="CustomShape 7">
            <a:extLst>
              <a:ext uri="{FF2B5EF4-FFF2-40B4-BE49-F238E27FC236}">
                <a16:creationId xmlns:a16="http://schemas.microsoft.com/office/drawing/2014/main" id="{F505A617-B691-938F-85C6-8813021D26D3}"/>
              </a:ext>
            </a:extLst>
          </p:cNvPr>
          <p:cNvSpPr/>
          <p:nvPr/>
        </p:nvSpPr>
        <p:spPr>
          <a:xfrm flipV="1">
            <a:off x="7146046" y="2126520"/>
            <a:ext cx="1196640" cy="108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240">
            <a:solidFill>
              <a:srgbClr val="00B050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800">
              <a:solidFill>
                <a:prstClr val="black"/>
              </a:solidFill>
              <a:latin typeface="Arial"/>
            </a:endParaRPr>
          </a:p>
        </p:txBody>
      </p:sp>
      <p:sp>
        <p:nvSpPr>
          <p:cNvPr id="250" name="CustomShape 8">
            <a:extLst>
              <a:ext uri="{FF2B5EF4-FFF2-40B4-BE49-F238E27FC236}">
                <a16:creationId xmlns:a16="http://schemas.microsoft.com/office/drawing/2014/main" id="{20D51563-D91F-2A7C-12EB-03ADD1FF9150}"/>
              </a:ext>
            </a:extLst>
          </p:cNvPr>
          <p:cNvSpPr/>
          <p:nvPr/>
        </p:nvSpPr>
        <p:spPr>
          <a:xfrm>
            <a:off x="1890766" y="1750680"/>
            <a:ext cx="1571760" cy="830520"/>
          </a:xfrm>
          <a:prstGeom prst="roundRect">
            <a:avLst>
              <a:gd name="adj" fmla="val 16667"/>
            </a:avLst>
          </a:prstGeom>
          <a:noFill/>
          <a:ln w="57240">
            <a:solidFill>
              <a:srgbClr val="FF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800">
              <a:solidFill>
                <a:prstClr val="black"/>
              </a:solidFill>
              <a:latin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2A4C44-152D-8DAF-C784-D7DF914ECFDC}"/>
              </a:ext>
            </a:extLst>
          </p:cNvPr>
          <p:cNvSpPr txBox="1"/>
          <p:nvPr/>
        </p:nvSpPr>
        <p:spPr>
          <a:xfrm>
            <a:off x="1523206" y="128246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" fontAlgn="auto">
              <a:spcBef>
                <a:spcPts val="431"/>
              </a:spcBef>
              <a:spcAft>
                <a:spcPts val="0"/>
              </a:spcAft>
              <a:buClr>
                <a:srgbClr val="C00000"/>
              </a:buClr>
            </a:pPr>
            <a:r>
              <a:rPr lang="en-US" sz="1800" b="1" spc="-1" dirty="0">
                <a:solidFill>
                  <a:srgbClr val="00B050"/>
                </a:solidFill>
                <a:latin typeface="Arial"/>
              </a:rPr>
              <a:t>Markov Decision Process</a:t>
            </a:r>
          </a:p>
        </p:txBody>
      </p:sp>
      <p:sp>
        <p:nvSpPr>
          <p:cNvPr id="2" name="CustomShape 8">
            <a:extLst>
              <a:ext uri="{FF2B5EF4-FFF2-40B4-BE49-F238E27FC236}">
                <a16:creationId xmlns:a16="http://schemas.microsoft.com/office/drawing/2014/main" id="{CA6BC3BF-4121-2133-A2D2-0D34C8BEC727}"/>
              </a:ext>
            </a:extLst>
          </p:cNvPr>
          <p:cNvSpPr/>
          <p:nvPr/>
        </p:nvSpPr>
        <p:spPr>
          <a:xfrm>
            <a:off x="8682886" y="1718820"/>
            <a:ext cx="1571760" cy="830520"/>
          </a:xfrm>
          <a:prstGeom prst="roundRect">
            <a:avLst>
              <a:gd name="adj" fmla="val 16667"/>
            </a:avLst>
          </a:prstGeom>
          <a:noFill/>
          <a:ln w="57240">
            <a:solidFill>
              <a:srgbClr val="FF0000"/>
            </a:solidFill>
            <a:prstDash val="sys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800">
              <a:solidFill>
                <a:prstClr val="black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99041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1551F-D3DB-7F3D-B8D3-2FB2DDF8E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TextShape 1">
            <a:extLst>
              <a:ext uri="{FF2B5EF4-FFF2-40B4-BE49-F238E27FC236}">
                <a16:creationId xmlns:a16="http://schemas.microsoft.com/office/drawing/2014/main" id="{B97972DB-4DC4-1467-654F-AC4A96533711}"/>
              </a:ext>
            </a:extLst>
          </p:cNvPr>
          <p:cNvSpPr txBox="1"/>
          <p:nvPr/>
        </p:nvSpPr>
        <p:spPr>
          <a:xfrm>
            <a:off x="2710830" y="116632"/>
            <a:ext cx="6984776" cy="58832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000" b="1" spc="-1" dirty="0">
                <a:solidFill>
                  <a:srgbClr val="000000"/>
                </a:solidFill>
                <a:latin typeface="Arial"/>
              </a:rPr>
              <a:t>The Bike-to-University problem</a:t>
            </a:r>
            <a:endParaRPr lang="fr-FR" sz="30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Shape 3">
            <a:extLst>
              <a:ext uri="{FF2B5EF4-FFF2-40B4-BE49-F238E27FC236}">
                <a16:creationId xmlns:a16="http://schemas.microsoft.com/office/drawing/2014/main" id="{2A85481B-C4A1-5FCC-542C-BCB3C9B603D2}"/>
              </a:ext>
            </a:extLst>
          </p:cNvPr>
          <p:cNvSpPr txBox="1"/>
          <p:nvPr/>
        </p:nvSpPr>
        <p:spPr>
          <a:xfrm>
            <a:off x="10154206" y="6541200"/>
            <a:ext cx="324000" cy="31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fld id="{2FB9A7C0-A375-4B14-A573-B65C749CF92E}" type="slidenum">
              <a:rPr lang="en-US" sz="530" b="1" spc="-1">
                <a:solidFill>
                  <a:srgbClr val="FFFFFF"/>
                </a:solidFill>
                <a:latin typeface="Arial"/>
              </a:rPr>
              <a:t>7</a:t>
            </a:fld>
            <a:endParaRPr lang="en-US" sz="530" spc="-1">
              <a:latin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Shape 2">
                <a:extLst>
                  <a:ext uri="{FF2B5EF4-FFF2-40B4-BE49-F238E27FC236}">
                    <a16:creationId xmlns:a16="http://schemas.microsoft.com/office/drawing/2014/main" id="{5F29566E-7EEE-8003-F5E3-EC84D622B73A}"/>
                  </a:ext>
                </a:extLst>
              </p:cNvPr>
              <p:cNvSpPr txBox="1"/>
              <p:nvPr/>
            </p:nvSpPr>
            <p:spPr>
              <a:xfrm>
                <a:off x="478582" y="980728"/>
                <a:ext cx="4248472" cy="42484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>
                <a:noAutofit/>
              </a:bodyPr>
              <a:lstStyle/>
              <a:p>
                <a:r>
                  <a:rPr lang="en-US" sz="2000" spc="-1" dirty="0">
                    <a:solidFill>
                      <a:srgbClr val="000000"/>
                    </a:solidFill>
                    <a:latin typeface="Arial"/>
                  </a:rPr>
                  <a:t>Objective: Get to DTU as fast as possible but without getting too tired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0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spc="-1" dirty="0">
                    <a:solidFill>
                      <a:srgbClr val="000000"/>
                    </a:solidFill>
                    <a:latin typeface="Arial"/>
                  </a:rPr>
                  <a:t>: distance from university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spc="-1" dirty="0">
                    <a:solidFill>
                      <a:srgbClr val="000000"/>
                    </a:solidFill>
                    <a:latin typeface="Arial"/>
                  </a:rPr>
                  <a:t>: fatigue</a:t>
                </a:r>
              </a:p>
              <a:p>
                <a:endParaRPr lang="en-US" sz="2000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14" name="TextShape 2">
                <a:extLst>
                  <a:ext uri="{FF2B5EF4-FFF2-40B4-BE49-F238E27FC236}">
                    <a16:creationId xmlns:a16="http://schemas.microsoft.com/office/drawing/2014/main" id="{5F29566E-7EEE-8003-F5E3-EC84D622B7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82" y="980728"/>
                <a:ext cx="4248472" cy="4248472"/>
              </a:xfrm>
              <a:prstGeom prst="rect">
                <a:avLst/>
              </a:prstGeom>
              <a:blipFill>
                <a:blip r:embed="rId2"/>
                <a:stretch>
                  <a:fillRect l="-3736" t="-17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3876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3D1E6-ED7F-4A45-BC0F-BBF4220D5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TextShape 1">
            <a:extLst>
              <a:ext uri="{FF2B5EF4-FFF2-40B4-BE49-F238E27FC236}">
                <a16:creationId xmlns:a16="http://schemas.microsoft.com/office/drawing/2014/main" id="{74C4602F-6E3A-87EA-F2AF-0B92C5D6739D}"/>
              </a:ext>
            </a:extLst>
          </p:cNvPr>
          <p:cNvSpPr txBox="1"/>
          <p:nvPr/>
        </p:nvSpPr>
        <p:spPr>
          <a:xfrm>
            <a:off x="2710830" y="116632"/>
            <a:ext cx="6984776" cy="58832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000" b="1" spc="-1" dirty="0">
                <a:solidFill>
                  <a:srgbClr val="000000"/>
                </a:solidFill>
                <a:latin typeface="Arial"/>
              </a:rPr>
              <a:t>The Bike-to-University problem</a:t>
            </a:r>
            <a:endParaRPr lang="fr-FR" sz="30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Shape 3">
            <a:extLst>
              <a:ext uri="{FF2B5EF4-FFF2-40B4-BE49-F238E27FC236}">
                <a16:creationId xmlns:a16="http://schemas.microsoft.com/office/drawing/2014/main" id="{1830DE6E-96DE-20B3-97F8-4E725412608C}"/>
              </a:ext>
            </a:extLst>
          </p:cNvPr>
          <p:cNvSpPr txBox="1"/>
          <p:nvPr/>
        </p:nvSpPr>
        <p:spPr>
          <a:xfrm>
            <a:off x="10154206" y="6541200"/>
            <a:ext cx="324000" cy="31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fld id="{2FB9A7C0-A375-4B14-A573-B65C749CF92E}" type="slidenum">
              <a:rPr lang="en-US" sz="530" b="1" spc="-1">
                <a:solidFill>
                  <a:srgbClr val="FFFFFF"/>
                </a:solidFill>
                <a:latin typeface="Arial"/>
              </a:rPr>
              <a:t>8</a:t>
            </a:fld>
            <a:endParaRPr lang="en-US" sz="530" spc="-1">
              <a:latin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686CC93-A23E-64E5-BE3B-1305D39C6E91}"/>
                  </a:ext>
                </a:extLst>
              </p:cNvPr>
              <p:cNvSpPr txBox="1"/>
              <p:nvPr/>
            </p:nvSpPr>
            <p:spPr>
              <a:xfrm>
                <a:off x="7031310" y="980728"/>
                <a:ext cx="5095174" cy="27385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𝑚𝑖𝑛𝑖𝑚𝑖𝑧𝑒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/>
                            <m:e>
                              <m:r>
                                <a:rPr lang="en-US" sz="2400" i="1" spc="-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d>
                                <m:dPr>
                                  <m:ctrlPr>
                                    <a:rPr lang="en-US" sz="2400" i="1" spc="-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 spc="-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 spc="-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sz="2400" i="1" spc="-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2400" i="1" spc="-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spc="-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sz="2400" i="1" spc="-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pc="-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en-US" sz="2400" i="1" spc="-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d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Subject to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400" i="1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400" i="1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i="1" spc="-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l-GR" sz="2400" i="1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400" i="1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i="1" spc="-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US" sz="2400" i="1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pc="-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400" i="1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i="1" spc="-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l-GR" sz="2400" spc="-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m:rPr>
                          <m:sty m:val="p"/>
                        </m:rPr>
                        <a:rPr lang="en-US" sz="2400" spc="-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oMath>
                  </m:oMathPara>
                </a14:m>
                <a:endParaRPr lang="en-US" sz="2400" spc="-1" dirty="0">
                  <a:solidFill>
                    <a:srgbClr val="000000"/>
                  </a:solidFill>
                  <a:latin typeface="Arial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pc="-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i="1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i="1" spc="-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pc="-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400" i="1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spc="-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pc="-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400" i="1" spc="-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400" i="1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400" i="1" spc="-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spc="-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i="1" spc="-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spc="-1" dirty="0">
                  <a:solidFill>
                    <a:srgbClr val="000000"/>
                  </a:solidFill>
                  <a:latin typeface="Arial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686CC93-A23E-64E5-BE3B-1305D39C6E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1310" y="980728"/>
                <a:ext cx="5095174" cy="2738507"/>
              </a:xfrm>
              <a:prstGeom prst="rect">
                <a:avLst/>
              </a:prstGeom>
              <a:blipFill>
                <a:blip r:embed="rId2"/>
                <a:stretch>
                  <a:fillRect l="-17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Shape 2">
                <a:extLst>
                  <a:ext uri="{FF2B5EF4-FFF2-40B4-BE49-F238E27FC236}">
                    <a16:creationId xmlns:a16="http://schemas.microsoft.com/office/drawing/2014/main" id="{9234BC71-310D-ACCE-F101-EC252A8BF691}"/>
                  </a:ext>
                </a:extLst>
              </p:cNvPr>
              <p:cNvSpPr txBox="1"/>
              <p:nvPr/>
            </p:nvSpPr>
            <p:spPr>
              <a:xfrm>
                <a:off x="478582" y="980728"/>
                <a:ext cx="4248472" cy="42484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>
                <a:noAutofit/>
              </a:bodyPr>
              <a:lstStyle/>
              <a:p>
                <a:r>
                  <a:rPr lang="en-US" sz="2000" spc="-1" dirty="0">
                    <a:solidFill>
                      <a:srgbClr val="000000"/>
                    </a:solidFill>
                    <a:latin typeface="Arial"/>
                  </a:rPr>
                  <a:t>Objective: Get to DTU as fast as possible but without getting too tired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0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spc="-1" dirty="0">
                    <a:solidFill>
                      <a:srgbClr val="000000"/>
                    </a:solidFill>
                    <a:latin typeface="Arial"/>
                  </a:rPr>
                  <a:t>: distance from university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spc="-1" dirty="0">
                    <a:solidFill>
                      <a:srgbClr val="000000"/>
                    </a:solidFill>
                    <a:latin typeface="Arial"/>
                  </a:rPr>
                  <a:t>: fatigue</a:t>
                </a:r>
              </a:p>
              <a:p>
                <a:r>
                  <a:rPr lang="en-US" sz="2000" b="0" spc="-1" dirty="0">
                    <a:solidFill>
                      <a:srgbClr val="000000"/>
                    </a:solidFill>
                    <a:latin typeface="+mn-lt"/>
                  </a:rPr>
                  <a:t>Cost</a:t>
                </a:r>
                <a:r>
                  <a:rPr lang="en-US" sz="2000" b="0" spc="-1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sz="20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000" b="0" i="1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0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0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000" b="0" i="1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000" b="0" i="1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l-GR" sz="2000" spc="-1" dirty="0">
                  <a:solidFill>
                    <a:srgbClr val="000000"/>
                  </a:solidFill>
                  <a:latin typeface="Arial"/>
                </a:endParaRPr>
              </a:p>
              <a:p>
                <a:r>
                  <a:rPr lang="en-US" sz="2000" spc="-1" dirty="0">
                    <a:solidFill>
                      <a:srgbClr val="000000"/>
                    </a:solidFill>
                    <a:latin typeface="Arial"/>
                  </a:rPr>
                  <a:t>Decision: velocity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2000" b="0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14" name="TextShape 2">
                <a:extLst>
                  <a:ext uri="{FF2B5EF4-FFF2-40B4-BE49-F238E27FC236}">
                    <a16:creationId xmlns:a16="http://schemas.microsoft.com/office/drawing/2014/main" id="{9234BC71-310D-ACCE-F101-EC252A8BF6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82" y="980728"/>
                <a:ext cx="4248472" cy="4248472"/>
              </a:xfrm>
              <a:prstGeom prst="rect">
                <a:avLst/>
              </a:prstGeom>
              <a:blipFill>
                <a:blip r:embed="rId3"/>
                <a:stretch>
                  <a:fillRect l="-3736" t="-17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506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FD59E-5A6F-63AC-7404-46FDD0C4A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TextShape 1">
            <a:extLst>
              <a:ext uri="{FF2B5EF4-FFF2-40B4-BE49-F238E27FC236}">
                <a16:creationId xmlns:a16="http://schemas.microsoft.com/office/drawing/2014/main" id="{61FC8FA4-6051-02D1-E266-A504353F2863}"/>
              </a:ext>
            </a:extLst>
          </p:cNvPr>
          <p:cNvSpPr txBox="1"/>
          <p:nvPr/>
        </p:nvSpPr>
        <p:spPr>
          <a:xfrm>
            <a:off x="1702718" y="116632"/>
            <a:ext cx="10225136" cy="58832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000" b="1" spc="-1" dirty="0">
                <a:solidFill>
                  <a:srgbClr val="000000"/>
                </a:solidFill>
                <a:latin typeface="Arial"/>
              </a:rPr>
              <a:t>Stochastic Dynamics</a:t>
            </a:r>
            <a:endParaRPr lang="fr-FR" sz="30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Shape 3">
            <a:extLst>
              <a:ext uri="{FF2B5EF4-FFF2-40B4-BE49-F238E27FC236}">
                <a16:creationId xmlns:a16="http://schemas.microsoft.com/office/drawing/2014/main" id="{BA11004A-11B9-B8A0-5E4D-91E8785EC86C}"/>
              </a:ext>
            </a:extLst>
          </p:cNvPr>
          <p:cNvSpPr txBox="1"/>
          <p:nvPr/>
        </p:nvSpPr>
        <p:spPr>
          <a:xfrm>
            <a:off x="10154206" y="6541200"/>
            <a:ext cx="324000" cy="31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fld id="{2FB9A7C0-A375-4B14-A573-B65C749CF92E}" type="slidenum">
              <a:rPr lang="en-US" sz="530" b="1" spc="-1">
                <a:solidFill>
                  <a:srgbClr val="FFFFFF"/>
                </a:solidFill>
                <a:latin typeface="Arial"/>
              </a:rPr>
              <a:t>9</a:t>
            </a:fld>
            <a:endParaRPr lang="en-US" sz="530" spc="-1">
              <a:latin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7B50073-4C04-15E4-F599-23AAA60B08B4}"/>
                  </a:ext>
                </a:extLst>
              </p:cNvPr>
              <p:cNvSpPr txBox="1"/>
              <p:nvPr/>
            </p:nvSpPr>
            <p:spPr>
              <a:xfrm>
                <a:off x="7031310" y="980728"/>
                <a:ext cx="5095174" cy="27385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𝑚𝑖𝑛𝑖𝑚𝑖𝑧𝑒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/>
                            <m:e>
                              <m:r>
                                <a:rPr lang="en-US" sz="2400" i="1" spc="-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d>
                                <m:dPr>
                                  <m:ctrlPr>
                                    <a:rPr lang="en-US" sz="2400" i="1" spc="-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 spc="-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 spc="-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sz="2400" i="1" spc="-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2400" i="1" spc="-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spc="-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sz="2400" i="1" spc="-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pc="-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en-US" sz="2400" i="1" spc="-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d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Subject to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400" i="1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400" i="1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i="1" spc="-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l-GR" sz="2400" i="1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400" i="1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i="1" spc="-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US" sz="2400" i="1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pc="-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400" i="1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i="1" spc="-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l-GR" sz="2400" spc="-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m:rPr>
                          <m:sty m:val="p"/>
                        </m:rPr>
                        <a:rPr lang="en-US" sz="2400" spc="-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oMath>
                  </m:oMathPara>
                </a14:m>
                <a:endParaRPr lang="en-US" sz="2400" spc="-1" dirty="0">
                  <a:solidFill>
                    <a:srgbClr val="000000"/>
                  </a:solidFill>
                  <a:latin typeface="Arial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trike="sngStrike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trike="sngStrike" spc="-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i="1" strike="sngStrike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 strike="sngStrike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i="1" strike="sngStrike" spc="-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trike="sngStrike" spc="-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400" i="1" strike="sngStrike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strike="sngStrike" spc="-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trike="sngStrike" spc="-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400" i="1" strike="sngStrike" spc="-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400" i="1" strike="sngStrike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400" i="1" strike="sngStrike" spc="-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strike="sngStrike" spc="-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i="1" strike="sngStrike" spc="-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strike="sngStrike" spc="-1" dirty="0">
                  <a:solidFill>
                    <a:srgbClr val="000000"/>
                  </a:solidFill>
                  <a:latin typeface="Arial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7B50073-4C04-15E4-F599-23AAA60B08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1310" y="980728"/>
                <a:ext cx="5095174" cy="2738507"/>
              </a:xfrm>
              <a:prstGeom prst="rect">
                <a:avLst/>
              </a:prstGeom>
              <a:blipFill>
                <a:blip r:embed="rId2"/>
                <a:stretch>
                  <a:fillRect l="-17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Shape 2">
                <a:extLst>
                  <a:ext uri="{FF2B5EF4-FFF2-40B4-BE49-F238E27FC236}">
                    <a16:creationId xmlns:a16="http://schemas.microsoft.com/office/drawing/2014/main" id="{639D9556-D653-42ED-8C26-5FF883C381CF}"/>
                  </a:ext>
                </a:extLst>
              </p:cNvPr>
              <p:cNvSpPr txBox="1"/>
              <p:nvPr/>
            </p:nvSpPr>
            <p:spPr>
              <a:xfrm>
                <a:off x="478582" y="980728"/>
                <a:ext cx="4248472" cy="42484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>
                <a:noAutofit/>
              </a:bodyPr>
              <a:lstStyle/>
              <a:p>
                <a:r>
                  <a:rPr lang="en-US" sz="2000" spc="-1" dirty="0">
                    <a:solidFill>
                      <a:srgbClr val="000000"/>
                    </a:solidFill>
                    <a:latin typeface="Arial"/>
                  </a:rPr>
                  <a:t>Objective: Get to DTU as fast as possible but without getting too tired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0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spc="-1" dirty="0">
                    <a:solidFill>
                      <a:srgbClr val="000000"/>
                    </a:solidFill>
                    <a:latin typeface="Arial"/>
                  </a:rPr>
                  <a:t>: distance from university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spc="-1" dirty="0">
                    <a:solidFill>
                      <a:srgbClr val="000000"/>
                    </a:solidFill>
                    <a:latin typeface="Arial"/>
                  </a:rPr>
                  <a:t>: fatigue</a:t>
                </a:r>
              </a:p>
              <a:p>
                <a:r>
                  <a:rPr lang="en-US" sz="2000" b="0" spc="-1" dirty="0">
                    <a:solidFill>
                      <a:srgbClr val="000000"/>
                    </a:solidFill>
                    <a:latin typeface="+mn-lt"/>
                  </a:rPr>
                  <a:t>Cost</a:t>
                </a:r>
                <a:r>
                  <a:rPr lang="en-US" sz="2000" b="0" spc="-1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sz="20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000" b="0" i="1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0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0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000" b="0" i="1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000" b="0" i="1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l-GR" sz="2000" spc="-1" dirty="0">
                  <a:solidFill>
                    <a:srgbClr val="000000"/>
                  </a:solidFill>
                  <a:latin typeface="Arial"/>
                </a:endParaRPr>
              </a:p>
              <a:p>
                <a:r>
                  <a:rPr lang="en-US" sz="2000" spc="-1" dirty="0">
                    <a:solidFill>
                      <a:srgbClr val="000000"/>
                    </a:solidFill>
                    <a:latin typeface="Arial"/>
                  </a:rPr>
                  <a:t>Decision: velocity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2000" b="0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14" name="TextShape 2">
                <a:extLst>
                  <a:ext uri="{FF2B5EF4-FFF2-40B4-BE49-F238E27FC236}">
                    <a16:creationId xmlns:a16="http://schemas.microsoft.com/office/drawing/2014/main" id="{639D9556-D653-42ED-8C26-5FF883C381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82" y="980728"/>
                <a:ext cx="4248472" cy="4248472"/>
              </a:xfrm>
              <a:prstGeom prst="rect">
                <a:avLst/>
              </a:prstGeom>
              <a:blipFill>
                <a:blip r:embed="rId3"/>
                <a:stretch>
                  <a:fillRect l="-3736" t="-17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Shape 2">
                <a:extLst>
                  <a:ext uri="{FF2B5EF4-FFF2-40B4-BE49-F238E27FC236}">
                    <a16:creationId xmlns:a16="http://schemas.microsoft.com/office/drawing/2014/main" id="{639D2CFA-FEDF-08AD-89F1-35468D11E270}"/>
                  </a:ext>
                </a:extLst>
              </p:cNvPr>
              <p:cNvSpPr txBox="1"/>
              <p:nvPr/>
            </p:nvSpPr>
            <p:spPr>
              <a:xfrm>
                <a:off x="7175326" y="3562955"/>
                <a:ext cx="4248472" cy="8640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>
                <a:no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pc="-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pc="-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pc="-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pc="-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b="0" i="1" spc="-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2000" b="0" i="1" spc="-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000" b="0" i="1" spc="-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sz="2000" i="1" spc="-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pc="-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sz="2000" i="1" spc="-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2000" i="1" spc="-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l-GR" sz="2000" i="1" spc="-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  <m:sSub>
                              <m:sSubPr>
                                <m:ctrlPr>
                                  <a:rPr lang="en-US" sz="2000" i="1" spc="-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pc="-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2000" i="1" spc="-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sz="2000" spc="-1" dirty="0">
                                <a:solidFill>
                                  <a:srgbClr val="C00000"/>
                                </a:solidFill>
                                <a:latin typeface="Arial"/>
                              </a:rPr>
                              <m:t>   </m:t>
                            </m:r>
                            <m:r>
                              <m:rPr>
                                <m:nor/>
                              </m:rPr>
                              <a:rPr lang="en-US" sz="2000" spc="-1" dirty="0">
                                <a:solidFill>
                                  <a:srgbClr val="C00000"/>
                                </a:solidFill>
                                <a:latin typeface="Arial"/>
                              </a:rPr>
                              <m:t>with</m:t>
                            </m:r>
                            <m:r>
                              <m:rPr>
                                <m:nor/>
                              </m:rPr>
                              <a:rPr lang="en-US" sz="2000" spc="-1" dirty="0">
                                <a:solidFill>
                                  <a:srgbClr val="C00000"/>
                                </a:solidFill>
                                <a:latin typeface="Arial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000" spc="-1" dirty="0">
                                <a:solidFill>
                                  <a:srgbClr val="C00000"/>
                                </a:solidFill>
                                <a:latin typeface="Arial"/>
                              </a:rPr>
                              <m:t>probability</m:t>
                            </m:r>
                            <m:r>
                              <m:rPr>
                                <m:nor/>
                              </m:rPr>
                              <a:rPr lang="en-US" sz="2000" spc="-1" dirty="0">
                                <a:solidFill>
                                  <a:srgbClr val="C00000"/>
                                </a:solidFill>
                                <a:latin typeface="Arial"/>
                              </a:rPr>
                              <m:t> 0.7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sz="2000" i="1" spc="-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pc="-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sz="2000" i="1" spc="-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2000" i="1" spc="-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l-GR" sz="2000" b="0" i="1" spc="-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  <m:sSub>
                              <m:sSubPr>
                                <m:ctrlPr>
                                  <a:rPr lang="en-US" sz="2000" i="1" spc="-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pc="-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2000" i="1" spc="-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sz="2000" spc="-1" dirty="0">
                                <a:solidFill>
                                  <a:srgbClr val="C00000"/>
                                </a:solidFill>
                                <a:latin typeface="Arial"/>
                              </a:rPr>
                              <m:t>   </m:t>
                            </m:r>
                            <m:r>
                              <m:rPr>
                                <m:nor/>
                              </m:rPr>
                              <a:rPr lang="en-US" sz="2000" spc="-1" dirty="0">
                                <a:solidFill>
                                  <a:srgbClr val="C00000"/>
                                </a:solidFill>
                                <a:latin typeface="Arial"/>
                              </a:rPr>
                              <m:t>with</m:t>
                            </m:r>
                            <m:r>
                              <m:rPr>
                                <m:nor/>
                              </m:rPr>
                              <a:rPr lang="en-US" sz="2000" spc="-1" dirty="0">
                                <a:solidFill>
                                  <a:srgbClr val="C00000"/>
                                </a:solidFill>
                                <a:latin typeface="Arial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000" spc="-1" dirty="0">
                                <a:solidFill>
                                  <a:srgbClr val="C00000"/>
                                </a:solidFill>
                                <a:latin typeface="Arial"/>
                              </a:rPr>
                              <m:t>probability</m:t>
                            </m:r>
                            <m:r>
                              <m:rPr>
                                <m:nor/>
                              </m:rPr>
                              <a:rPr lang="en-US" sz="2000" spc="-1" dirty="0">
                                <a:solidFill>
                                  <a:srgbClr val="C00000"/>
                                </a:solidFill>
                                <a:latin typeface="Arial"/>
                              </a:rPr>
                              <m:t> 0.</m:t>
                            </m:r>
                            <m:r>
                              <a:rPr lang="el-GR" sz="2000" b="0" i="1" spc="-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2000" spc="-1" dirty="0">
                    <a:solidFill>
                      <a:srgbClr val="000000"/>
                    </a:solidFill>
                    <a:latin typeface="Arial"/>
                  </a:rPr>
                  <a:t> </a:t>
                </a:r>
              </a:p>
            </p:txBody>
          </p:sp>
        </mc:Choice>
        <mc:Fallback xmlns="">
          <p:sp>
            <p:nvSpPr>
              <p:cNvPr id="2" name="TextShape 2">
                <a:extLst>
                  <a:ext uri="{FF2B5EF4-FFF2-40B4-BE49-F238E27FC236}">
                    <a16:creationId xmlns:a16="http://schemas.microsoft.com/office/drawing/2014/main" id="{639D2CFA-FEDF-08AD-89F1-35468D11E2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5326" y="3562955"/>
                <a:ext cx="4248472" cy="8640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6701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0A68D-4AD5-3E62-E42C-CCB5C2D0F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TextShape 1">
            <a:extLst>
              <a:ext uri="{FF2B5EF4-FFF2-40B4-BE49-F238E27FC236}">
                <a16:creationId xmlns:a16="http://schemas.microsoft.com/office/drawing/2014/main" id="{622627B7-46AF-3D20-3EF4-CAE487C8B9D0}"/>
              </a:ext>
            </a:extLst>
          </p:cNvPr>
          <p:cNvSpPr txBox="1"/>
          <p:nvPr/>
        </p:nvSpPr>
        <p:spPr>
          <a:xfrm>
            <a:off x="1702718" y="116632"/>
            <a:ext cx="10225136" cy="58832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000" b="1" spc="-1" dirty="0">
                <a:solidFill>
                  <a:srgbClr val="000000"/>
                </a:solidFill>
                <a:latin typeface="Arial"/>
              </a:rPr>
              <a:t>State Variables</a:t>
            </a:r>
            <a:endParaRPr lang="fr-FR" sz="30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Shape 3">
            <a:extLst>
              <a:ext uri="{FF2B5EF4-FFF2-40B4-BE49-F238E27FC236}">
                <a16:creationId xmlns:a16="http://schemas.microsoft.com/office/drawing/2014/main" id="{5FBB6D7D-8ED6-390E-4C7B-3EC4BCC04CAA}"/>
              </a:ext>
            </a:extLst>
          </p:cNvPr>
          <p:cNvSpPr txBox="1"/>
          <p:nvPr/>
        </p:nvSpPr>
        <p:spPr>
          <a:xfrm>
            <a:off x="10154206" y="6541200"/>
            <a:ext cx="324000" cy="31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fld id="{2FB9A7C0-A375-4B14-A573-B65C749CF92E}" type="slidenum">
              <a:rPr lang="en-US" sz="530" b="1" spc="-1">
                <a:solidFill>
                  <a:srgbClr val="FFFFFF"/>
                </a:solidFill>
                <a:latin typeface="Arial"/>
              </a:rPr>
              <a:t>10</a:t>
            </a:fld>
            <a:endParaRPr lang="en-US" sz="530" spc="-1">
              <a:latin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8B1D15E-4C6C-9054-503B-F253EE2FC715}"/>
                  </a:ext>
                </a:extLst>
              </p:cNvPr>
              <p:cNvSpPr txBox="1"/>
              <p:nvPr/>
            </p:nvSpPr>
            <p:spPr>
              <a:xfrm>
                <a:off x="7031310" y="980728"/>
                <a:ext cx="5095174" cy="27385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𝑚𝑖𝑛𝑖𝑚𝑖𝑧𝑒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/>
                            <m:e>
                              <m:r>
                                <a:rPr lang="en-US" sz="2400" i="1" spc="-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d>
                                <m:dPr>
                                  <m:ctrlPr>
                                    <a:rPr lang="en-US" sz="2400" i="1" spc="-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 spc="-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 spc="-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sz="2400" i="1" spc="-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2400" i="1" spc="-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spc="-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sz="2400" i="1" spc="-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pc="-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en-US" sz="2400" i="1" spc="-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d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Subject to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400" i="1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400" i="1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i="1" spc="-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l-GR" sz="2400" i="1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400" i="1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i="1" spc="-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US" sz="2400" i="1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pc="-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400" i="1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i="1" spc="-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l-GR" sz="2400" spc="-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m:rPr>
                          <m:sty m:val="p"/>
                        </m:rPr>
                        <a:rPr lang="en-US" sz="2400" spc="-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oMath>
                  </m:oMathPara>
                </a14:m>
                <a:endParaRPr lang="en-US" sz="2400" spc="-1" dirty="0">
                  <a:solidFill>
                    <a:srgbClr val="000000"/>
                  </a:solidFill>
                  <a:latin typeface="Arial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trike="sngStrike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trike="sngStrike" spc="-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i="1" strike="sngStrike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 strike="sngStrike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i="1" strike="sngStrike" spc="-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trike="sngStrike" spc="-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400" i="1" strike="sngStrike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strike="sngStrike" spc="-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trike="sngStrike" spc="-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400" i="1" strike="sngStrike" spc="-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400" i="1" strike="sngStrike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400" i="1" strike="sngStrike" spc="-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strike="sngStrike" spc="-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i="1" strike="sngStrike" spc="-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strike="sngStrike" spc="-1" dirty="0">
                  <a:solidFill>
                    <a:srgbClr val="000000"/>
                  </a:solidFill>
                  <a:latin typeface="Arial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7B50073-4C04-15E4-F599-23AAA60B08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1310" y="980728"/>
                <a:ext cx="5095174" cy="2738507"/>
              </a:xfrm>
              <a:prstGeom prst="rect">
                <a:avLst/>
              </a:prstGeom>
              <a:blipFill>
                <a:blip r:embed="rId2"/>
                <a:stretch>
                  <a:fillRect l="-17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Shape 2">
                <a:extLst>
                  <a:ext uri="{FF2B5EF4-FFF2-40B4-BE49-F238E27FC236}">
                    <a16:creationId xmlns:a16="http://schemas.microsoft.com/office/drawing/2014/main" id="{73B205D0-9358-ACCE-38C9-983A0D4686BF}"/>
                  </a:ext>
                </a:extLst>
              </p:cNvPr>
              <p:cNvSpPr txBox="1"/>
              <p:nvPr/>
            </p:nvSpPr>
            <p:spPr>
              <a:xfrm>
                <a:off x="478582" y="980728"/>
                <a:ext cx="4248472" cy="42484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>
                <a:noAutofit/>
              </a:bodyPr>
              <a:lstStyle/>
              <a:p>
                <a:r>
                  <a:rPr lang="en-US" sz="2000" spc="-1" dirty="0">
                    <a:solidFill>
                      <a:srgbClr val="000000"/>
                    </a:solidFill>
                    <a:latin typeface="Arial"/>
                  </a:rPr>
                  <a:t>Objective: Get to DTU as fast as possible but without getting too tired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pc="-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pc="-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000" b="0" i="1" spc="-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spc="-1" dirty="0">
                    <a:solidFill>
                      <a:srgbClr val="C00000"/>
                    </a:solidFill>
                    <a:latin typeface="Arial"/>
                  </a:rPr>
                  <a:t>: distance from university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pc="-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pc="-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pc="-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spc="-1" dirty="0">
                    <a:solidFill>
                      <a:srgbClr val="C00000"/>
                    </a:solidFill>
                    <a:latin typeface="Arial"/>
                  </a:rPr>
                  <a:t>: fatigue</a:t>
                </a:r>
              </a:p>
              <a:p>
                <a:r>
                  <a:rPr lang="en-US" sz="2000" b="0" spc="-1" dirty="0">
                    <a:solidFill>
                      <a:srgbClr val="000000"/>
                    </a:solidFill>
                    <a:latin typeface="+mn-lt"/>
                  </a:rPr>
                  <a:t>Cost</a:t>
                </a:r>
                <a:r>
                  <a:rPr lang="en-US" sz="2000" b="0" spc="-1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sz="20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000" b="0" i="1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0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0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000" b="0" i="1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000" b="0" i="1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l-GR" sz="2000" spc="-1" dirty="0">
                  <a:solidFill>
                    <a:srgbClr val="000000"/>
                  </a:solidFill>
                  <a:latin typeface="Arial"/>
                </a:endParaRPr>
              </a:p>
              <a:p>
                <a:r>
                  <a:rPr lang="en-US" sz="2000" spc="-1" dirty="0">
                    <a:solidFill>
                      <a:srgbClr val="000000"/>
                    </a:solidFill>
                    <a:latin typeface="Arial"/>
                  </a:rPr>
                  <a:t>Decision: velocity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2000" b="0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</mc:Choice>
        <mc:Fallback>
          <p:sp>
            <p:nvSpPr>
              <p:cNvPr id="14" name="TextShape 2">
                <a:extLst>
                  <a:ext uri="{FF2B5EF4-FFF2-40B4-BE49-F238E27FC236}">
                    <a16:creationId xmlns:a16="http://schemas.microsoft.com/office/drawing/2014/main" id="{73B205D0-9358-ACCE-38C9-983A0D4686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82" y="980728"/>
                <a:ext cx="4248472" cy="4248472"/>
              </a:xfrm>
              <a:prstGeom prst="rect">
                <a:avLst/>
              </a:prstGeom>
              <a:blipFill>
                <a:blip r:embed="rId3"/>
                <a:stretch>
                  <a:fillRect l="-3736" t="-17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Shape 2">
                <a:extLst>
                  <a:ext uri="{FF2B5EF4-FFF2-40B4-BE49-F238E27FC236}">
                    <a16:creationId xmlns:a16="http://schemas.microsoft.com/office/drawing/2014/main" id="{28831BE2-BB9B-B0ED-F223-7E04C39C5D3A}"/>
                  </a:ext>
                </a:extLst>
              </p:cNvPr>
              <p:cNvSpPr txBox="1"/>
              <p:nvPr/>
            </p:nvSpPr>
            <p:spPr>
              <a:xfrm>
                <a:off x="7175326" y="3562955"/>
                <a:ext cx="4248472" cy="8640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>
                <a:no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b="0" i="1" spc="-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000" b="0" i="1" spc="-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sz="2000" i="1" spc="-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pc="-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sz="2000" i="1" spc="-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2000" i="1" spc="-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l-GR" sz="2000" i="1" spc="-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  <m:sSub>
                              <m:sSubPr>
                                <m:ctrlPr>
                                  <a:rPr lang="en-US" sz="2000" i="1" spc="-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pc="-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2000" i="1" spc="-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sz="2000" spc="-1" dirty="0">
                                <a:solidFill>
                                  <a:schemeClr val="tx1"/>
                                </a:solidFill>
                                <a:latin typeface="Arial"/>
                              </a:rPr>
                              <m:t>   </m:t>
                            </m:r>
                            <m:r>
                              <m:rPr>
                                <m:nor/>
                              </m:rPr>
                              <a:rPr lang="en-US" sz="2000" spc="-1" dirty="0">
                                <a:solidFill>
                                  <a:schemeClr val="tx1"/>
                                </a:solidFill>
                                <a:latin typeface="Arial"/>
                              </a:rPr>
                              <m:t>with</m:t>
                            </m:r>
                            <m:r>
                              <m:rPr>
                                <m:nor/>
                              </m:rPr>
                              <a:rPr lang="en-US" sz="2000" spc="-1" dirty="0">
                                <a:solidFill>
                                  <a:schemeClr val="tx1"/>
                                </a:solidFill>
                                <a:latin typeface="Arial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000" spc="-1" dirty="0">
                                <a:solidFill>
                                  <a:schemeClr val="tx1"/>
                                </a:solidFill>
                                <a:latin typeface="Arial"/>
                              </a:rPr>
                              <m:t>probability</m:t>
                            </m:r>
                            <m:r>
                              <m:rPr>
                                <m:nor/>
                              </m:rPr>
                              <a:rPr lang="en-US" sz="2000" spc="-1" dirty="0">
                                <a:solidFill>
                                  <a:schemeClr val="tx1"/>
                                </a:solidFill>
                                <a:latin typeface="Arial"/>
                              </a:rPr>
                              <m:t> 0.7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sz="2000" i="1" spc="-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pc="-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sz="2000" i="1" spc="-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2000" i="1" spc="-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l-GR" sz="2000" b="0" i="1" spc="-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  <m:sSub>
                              <m:sSubPr>
                                <m:ctrlPr>
                                  <a:rPr lang="en-US" sz="2000" i="1" spc="-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pc="-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2000" i="1" spc="-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sz="2000" spc="-1" dirty="0">
                                <a:solidFill>
                                  <a:schemeClr val="tx1"/>
                                </a:solidFill>
                                <a:latin typeface="Arial"/>
                              </a:rPr>
                              <m:t>   </m:t>
                            </m:r>
                            <m:r>
                              <m:rPr>
                                <m:nor/>
                              </m:rPr>
                              <a:rPr lang="en-US" sz="2000" spc="-1" dirty="0">
                                <a:solidFill>
                                  <a:schemeClr val="tx1"/>
                                </a:solidFill>
                                <a:latin typeface="Arial"/>
                              </a:rPr>
                              <m:t>with</m:t>
                            </m:r>
                            <m:r>
                              <m:rPr>
                                <m:nor/>
                              </m:rPr>
                              <a:rPr lang="en-US" sz="2000" spc="-1" dirty="0">
                                <a:solidFill>
                                  <a:schemeClr val="tx1"/>
                                </a:solidFill>
                                <a:latin typeface="Arial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000" spc="-1" dirty="0">
                                <a:solidFill>
                                  <a:schemeClr val="tx1"/>
                                </a:solidFill>
                                <a:latin typeface="Arial"/>
                              </a:rPr>
                              <m:t>probability</m:t>
                            </m:r>
                            <m:r>
                              <m:rPr>
                                <m:nor/>
                              </m:rPr>
                              <a:rPr lang="en-US" sz="2000" spc="-1" dirty="0">
                                <a:solidFill>
                                  <a:schemeClr val="tx1"/>
                                </a:solidFill>
                                <a:latin typeface="Arial"/>
                              </a:rPr>
                              <m:t> 0.</m:t>
                            </m:r>
                            <m:r>
                              <a:rPr lang="el-GR" sz="2000" b="0" i="1" spc="-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2000" spc="-1" dirty="0">
                    <a:solidFill>
                      <a:schemeClr val="tx1"/>
                    </a:solidFill>
                    <a:latin typeface="Arial"/>
                  </a:rPr>
                  <a:t> </a:t>
                </a:r>
              </a:p>
            </p:txBody>
          </p:sp>
        </mc:Choice>
        <mc:Fallback>
          <p:sp>
            <p:nvSpPr>
              <p:cNvPr id="2" name="TextShape 2">
                <a:extLst>
                  <a:ext uri="{FF2B5EF4-FFF2-40B4-BE49-F238E27FC236}">
                    <a16:creationId xmlns:a16="http://schemas.microsoft.com/office/drawing/2014/main" id="{28831BE2-BB9B-B0ED-F223-7E04C39C5D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5326" y="3562955"/>
                <a:ext cx="4248472" cy="8640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1589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997D6-6FCE-1310-0B84-D7A881A84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TextShape 1">
            <a:extLst>
              <a:ext uri="{FF2B5EF4-FFF2-40B4-BE49-F238E27FC236}">
                <a16:creationId xmlns:a16="http://schemas.microsoft.com/office/drawing/2014/main" id="{26A2F1C1-1F1D-9525-1B6F-53967F77D4A3}"/>
              </a:ext>
            </a:extLst>
          </p:cNvPr>
          <p:cNvSpPr txBox="1"/>
          <p:nvPr/>
        </p:nvSpPr>
        <p:spPr>
          <a:xfrm>
            <a:off x="2710830" y="367518"/>
            <a:ext cx="6984776" cy="58832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000" b="1" spc="-1" dirty="0">
                <a:solidFill>
                  <a:srgbClr val="000000"/>
                </a:solidFill>
                <a:latin typeface="Arial"/>
              </a:rPr>
              <a:t>The Bike-to-University problem as a Markov Decision Process (MDP)</a:t>
            </a:r>
            <a:endParaRPr lang="fr-FR" sz="3000" spc="-1" dirty="0">
              <a:solidFill>
                <a:srgbClr val="000000"/>
              </a:solidFill>
              <a:latin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8" name="TextShape 2">
                <a:extLst>
                  <a:ext uri="{FF2B5EF4-FFF2-40B4-BE49-F238E27FC236}">
                    <a16:creationId xmlns:a16="http://schemas.microsoft.com/office/drawing/2014/main" id="{5A7C1124-4EA2-6E9D-9364-2B851AE50BEE}"/>
                  </a:ext>
                </a:extLst>
              </p:cNvPr>
              <p:cNvSpPr txBox="1"/>
              <p:nvPr/>
            </p:nvSpPr>
            <p:spPr>
              <a:xfrm>
                <a:off x="478582" y="4869160"/>
                <a:ext cx="4248472" cy="8640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>
                <a:no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b="0" i="1" spc="-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000" b="0" i="1" spc="-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sz="2000" i="1" spc="-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pc="-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sz="2000" i="1" spc="-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2000" i="1" spc="-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l-GR" sz="2000" i="1" spc="-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  <m:sSub>
                              <m:sSubPr>
                                <m:ctrlPr>
                                  <a:rPr lang="en-US" sz="2000" i="1" spc="-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pc="-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2000" i="1" spc="-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sz="2000" spc="-1" dirty="0">
                                <a:solidFill>
                                  <a:schemeClr val="tx1"/>
                                </a:solidFill>
                                <a:latin typeface="Arial"/>
                              </a:rPr>
                              <m:t>   </m:t>
                            </m:r>
                            <m:r>
                              <m:rPr>
                                <m:nor/>
                              </m:rPr>
                              <a:rPr lang="en-US" sz="2000" spc="-1" dirty="0">
                                <a:solidFill>
                                  <a:schemeClr val="tx1"/>
                                </a:solidFill>
                                <a:latin typeface="Arial"/>
                              </a:rPr>
                              <m:t>with</m:t>
                            </m:r>
                            <m:r>
                              <m:rPr>
                                <m:nor/>
                              </m:rPr>
                              <a:rPr lang="en-US" sz="2000" spc="-1" dirty="0">
                                <a:solidFill>
                                  <a:schemeClr val="tx1"/>
                                </a:solidFill>
                                <a:latin typeface="Arial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000" spc="-1" dirty="0">
                                <a:solidFill>
                                  <a:schemeClr val="tx1"/>
                                </a:solidFill>
                                <a:latin typeface="Arial"/>
                              </a:rPr>
                              <m:t>probability</m:t>
                            </m:r>
                            <m:r>
                              <m:rPr>
                                <m:nor/>
                              </m:rPr>
                              <a:rPr lang="en-US" sz="2000" spc="-1" dirty="0">
                                <a:solidFill>
                                  <a:schemeClr val="tx1"/>
                                </a:solidFill>
                                <a:latin typeface="Arial"/>
                              </a:rPr>
                              <m:t> 0.7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sz="2000" i="1" spc="-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pc="-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sz="2000" i="1" spc="-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2000" i="1" spc="-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l-GR" sz="2000" b="0" i="1" spc="-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  <m:sSub>
                              <m:sSubPr>
                                <m:ctrlPr>
                                  <a:rPr lang="en-US" sz="2000" i="1" spc="-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pc="-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2000" i="1" spc="-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sz="2000" spc="-1" dirty="0">
                                <a:solidFill>
                                  <a:schemeClr val="tx1"/>
                                </a:solidFill>
                                <a:latin typeface="Arial"/>
                              </a:rPr>
                              <m:t>   </m:t>
                            </m:r>
                            <m:r>
                              <m:rPr>
                                <m:nor/>
                              </m:rPr>
                              <a:rPr lang="en-US" sz="2000" spc="-1" dirty="0">
                                <a:solidFill>
                                  <a:schemeClr val="tx1"/>
                                </a:solidFill>
                                <a:latin typeface="Arial"/>
                              </a:rPr>
                              <m:t>with</m:t>
                            </m:r>
                            <m:r>
                              <m:rPr>
                                <m:nor/>
                              </m:rPr>
                              <a:rPr lang="en-US" sz="2000" spc="-1" dirty="0">
                                <a:solidFill>
                                  <a:schemeClr val="tx1"/>
                                </a:solidFill>
                                <a:latin typeface="Arial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000" spc="-1" dirty="0">
                                <a:solidFill>
                                  <a:schemeClr val="tx1"/>
                                </a:solidFill>
                                <a:latin typeface="Arial"/>
                              </a:rPr>
                              <m:t>probability</m:t>
                            </m:r>
                            <m:r>
                              <m:rPr>
                                <m:nor/>
                              </m:rPr>
                              <a:rPr lang="en-US" sz="2000" spc="-1" dirty="0">
                                <a:solidFill>
                                  <a:schemeClr val="tx1"/>
                                </a:solidFill>
                                <a:latin typeface="Arial"/>
                              </a:rPr>
                              <m:t> 0.</m:t>
                            </m:r>
                            <m:r>
                              <a:rPr lang="el-GR" sz="2000" b="0" i="1" spc="-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2000" spc="-1" dirty="0">
                    <a:solidFill>
                      <a:schemeClr val="tx1"/>
                    </a:solidFill>
                    <a:latin typeface="Arial"/>
                  </a:rPr>
                  <a:t> </a:t>
                </a:r>
              </a:p>
            </p:txBody>
          </p:sp>
        </mc:Choice>
        <mc:Fallback>
          <p:sp>
            <p:nvSpPr>
              <p:cNvPr id="278" name="TextShape 2">
                <a:extLst>
                  <a:ext uri="{FF2B5EF4-FFF2-40B4-BE49-F238E27FC236}">
                    <a16:creationId xmlns:a16="http://schemas.microsoft.com/office/drawing/2014/main" id="{5A7C1124-4EA2-6E9D-9364-2B851AE50B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82" y="4869160"/>
                <a:ext cx="4248472" cy="8640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9" name="TextShape 3">
            <a:extLst>
              <a:ext uri="{FF2B5EF4-FFF2-40B4-BE49-F238E27FC236}">
                <a16:creationId xmlns:a16="http://schemas.microsoft.com/office/drawing/2014/main" id="{76638400-122C-7F81-78E9-4363BAF5F510}"/>
              </a:ext>
            </a:extLst>
          </p:cNvPr>
          <p:cNvSpPr txBox="1"/>
          <p:nvPr/>
        </p:nvSpPr>
        <p:spPr>
          <a:xfrm>
            <a:off x="10154206" y="6541200"/>
            <a:ext cx="324000" cy="31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fld id="{2FB9A7C0-A375-4B14-A573-B65C749CF92E}" type="slidenum">
              <a:rPr lang="en-US" sz="530" b="1" spc="-1">
                <a:solidFill>
                  <a:srgbClr val="FFFFFF"/>
                </a:solidFill>
                <a:latin typeface="Arial"/>
              </a:rPr>
              <a:t>11</a:t>
            </a:fld>
            <a:endParaRPr lang="en-US" sz="530" spc="-1">
              <a:latin typeface="Times New Roman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Shape 2">
                <a:extLst>
                  <a:ext uri="{FF2B5EF4-FFF2-40B4-BE49-F238E27FC236}">
                    <a16:creationId xmlns:a16="http://schemas.microsoft.com/office/drawing/2014/main" id="{249317B6-757C-C35B-9CFF-F7414186FCCA}"/>
                  </a:ext>
                </a:extLst>
              </p:cNvPr>
              <p:cNvSpPr txBox="1"/>
              <p:nvPr/>
            </p:nvSpPr>
            <p:spPr>
              <a:xfrm>
                <a:off x="478582" y="980728"/>
                <a:ext cx="4248472" cy="42484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>
                <a:noAutofit/>
              </a:bodyPr>
              <a:lstStyle/>
              <a:p>
                <a:r>
                  <a:rPr lang="en-US" sz="2000" spc="-1" dirty="0">
                    <a:solidFill>
                      <a:srgbClr val="000000"/>
                    </a:solidFill>
                    <a:latin typeface="Arial"/>
                  </a:rPr>
                  <a:t>Objective: Get to DTU as fast as possible but without getting too tired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0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spc="-1" dirty="0">
                    <a:solidFill>
                      <a:srgbClr val="000000"/>
                    </a:solidFill>
                    <a:latin typeface="Arial"/>
                  </a:rPr>
                  <a:t>: distance from university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spc="-1" dirty="0">
                    <a:solidFill>
                      <a:srgbClr val="000000"/>
                    </a:solidFill>
                    <a:latin typeface="Arial"/>
                  </a:rPr>
                  <a:t>: fatigue</a:t>
                </a:r>
              </a:p>
              <a:p>
                <a:r>
                  <a:rPr lang="en-US" sz="2000" b="0" spc="-1" dirty="0">
                    <a:solidFill>
                      <a:srgbClr val="C00000"/>
                    </a:solidFill>
                    <a:latin typeface="+mn-lt"/>
                  </a:rPr>
                  <a:t>Cost</a:t>
                </a:r>
                <a:r>
                  <a:rPr lang="en-US" sz="2000" b="0" spc="-1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sz="20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000" b="0" i="1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0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0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000" b="0" i="1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000" b="0" i="1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l-GR" sz="2000" spc="-1" dirty="0">
                  <a:solidFill>
                    <a:srgbClr val="000000"/>
                  </a:solidFill>
                  <a:latin typeface="Arial"/>
                </a:endParaRPr>
              </a:p>
              <a:p>
                <a:r>
                  <a:rPr lang="en-US" sz="2000" spc="-1" dirty="0">
                    <a:solidFill>
                      <a:srgbClr val="C00000"/>
                    </a:solidFill>
                    <a:latin typeface="Arial"/>
                  </a:rPr>
                  <a:t>Decision</a:t>
                </a:r>
                <a:r>
                  <a:rPr lang="en-US" sz="2000" spc="-1" dirty="0">
                    <a:solidFill>
                      <a:srgbClr val="000000"/>
                    </a:solidFill>
                    <a:latin typeface="Arial"/>
                  </a:rPr>
                  <a:t>: velocity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2000" spc="-1" dirty="0">
                  <a:solidFill>
                    <a:srgbClr val="000000"/>
                  </a:solidFill>
                  <a:latin typeface="Arial"/>
                </a:endParaRPr>
              </a:p>
              <a:p>
                <a:r>
                  <a:rPr lang="en-US" sz="2000" spc="-1" dirty="0">
                    <a:solidFill>
                      <a:srgbClr val="C00000"/>
                    </a:solidFill>
                    <a:latin typeface="Arial"/>
                  </a:rPr>
                  <a:t>State</a:t>
                </a:r>
                <a:r>
                  <a:rPr lang="en-US" sz="2000" spc="-1" dirty="0">
                    <a:solidFill>
                      <a:schemeClr val="tx1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pc="-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2000" spc="-1" dirty="0">
                  <a:solidFill>
                    <a:schemeClr val="tx1"/>
                  </a:solidFill>
                  <a:latin typeface="Arial"/>
                </a:endParaRPr>
              </a:p>
              <a:p>
                <a:r>
                  <a:rPr lang="en-US" sz="2000" spc="-1" dirty="0">
                    <a:solidFill>
                      <a:srgbClr val="C00000"/>
                    </a:solidFill>
                    <a:latin typeface="Arial"/>
                  </a:rPr>
                  <a:t>Transition Dynamics: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000" b="0" i="1" spc="-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pc="-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000" b="0" i="1" spc="-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pc="-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b="0" i="1" spc="-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l-GR" sz="2000" b="0" i="1" spc="-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pc="-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000" b="0" i="1" spc="-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pc="-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US" sz="2000" b="0" i="1" spc="-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pc="-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000" b="0" i="1" spc="-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pc="-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l-GR" sz="2000" b="0" i="0" spc="-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m:rPr>
                          <m:sty m:val="p"/>
                        </m:rPr>
                        <a:rPr lang="en-US" sz="2000" b="0" i="0" spc="-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oMath>
                  </m:oMathPara>
                </a14:m>
                <a:endParaRPr lang="en-US" sz="2000" spc="-1" dirty="0">
                  <a:solidFill>
                    <a:schemeClr val="tx1"/>
                  </a:solidFill>
                  <a:latin typeface="Arial"/>
                </a:endParaRPr>
              </a:p>
            </p:txBody>
          </p:sp>
        </mc:Choice>
        <mc:Fallback>
          <p:sp>
            <p:nvSpPr>
              <p:cNvPr id="8" name="TextShape 2">
                <a:extLst>
                  <a:ext uri="{FF2B5EF4-FFF2-40B4-BE49-F238E27FC236}">
                    <a16:creationId xmlns:a16="http://schemas.microsoft.com/office/drawing/2014/main" id="{249317B6-757C-C35B-9CFF-F7414186FC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82" y="980728"/>
                <a:ext cx="4248472" cy="4248472"/>
              </a:xfrm>
              <a:prstGeom prst="rect">
                <a:avLst/>
              </a:prstGeom>
              <a:blipFill>
                <a:blip r:embed="rId3"/>
                <a:stretch>
                  <a:fillRect l="-3736" t="-17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7726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33152-10AB-0CD7-A03C-B4A614843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CB86789-67D4-E296-DDDB-AA6B04BFDCFC}"/>
              </a:ext>
            </a:extLst>
          </p:cNvPr>
          <p:cNvSpPr/>
          <p:nvPr/>
        </p:nvSpPr>
        <p:spPr>
          <a:xfrm>
            <a:off x="4871070" y="4269369"/>
            <a:ext cx="5112568" cy="1175855"/>
          </a:xfrm>
          <a:prstGeom prst="roundRect">
            <a:avLst/>
          </a:prstGeom>
          <a:solidFill>
            <a:srgbClr val="FFFF4B">
              <a:alpha val="76863"/>
            </a:srgbClr>
          </a:solidFill>
          <a:ln>
            <a:solidFill>
              <a:srgbClr val="0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7" name="TextShape 1">
            <a:extLst>
              <a:ext uri="{FF2B5EF4-FFF2-40B4-BE49-F238E27FC236}">
                <a16:creationId xmlns:a16="http://schemas.microsoft.com/office/drawing/2014/main" id="{1F1EA81F-DF24-0B3B-50B3-DA05D6F2CF0E}"/>
              </a:ext>
            </a:extLst>
          </p:cNvPr>
          <p:cNvSpPr txBox="1"/>
          <p:nvPr/>
        </p:nvSpPr>
        <p:spPr>
          <a:xfrm>
            <a:off x="2710830" y="367518"/>
            <a:ext cx="6984776" cy="58832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000" b="1" spc="-1" dirty="0">
                <a:solidFill>
                  <a:srgbClr val="000000"/>
                </a:solidFill>
                <a:latin typeface="Arial"/>
              </a:rPr>
              <a:t>The Bike-to-University problem as a Markov Decision Process (MDP)</a:t>
            </a:r>
            <a:endParaRPr lang="fr-FR" sz="30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Shape 3">
            <a:extLst>
              <a:ext uri="{FF2B5EF4-FFF2-40B4-BE49-F238E27FC236}">
                <a16:creationId xmlns:a16="http://schemas.microsoft.com/office/drawing/2014/main" id="{C42A09EA-5A72-95D3-92DA-0D831EAEFAA1}"/>
              </a:ext>
            </a:extLst>
          </p:cNvPr>
          <p:cNvSpPr txBox="1"/>
          <p:nvPr/>
        </p:nvSpPr>
        <p:spPr>
          <a:xfrm>
            <a:off x="10154206" y="6541200"/>
            <a:ext cx="324000" cy="31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fld id="{2FB9A7C0-A375-4B14-A573-B65C749CF92E}" type="slidenum">
              <a:rPr lang="en-US" sz="530" b="1" spc="-1">
                <a:solidFill>
                  <a:srgbClr val="FFFFFF"/>
                </a:solidFill>
                <a:latin typeface="Arial"/>
              </a:rPr>
              <a:t>12</a:t>
            </a:fld>
            <a:endParaRPr lang="en-US" sz="530" spc="-1">
              <a:latin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057E72A-E90B-9C65-5A1A-B9396D7CA563}"/>
                  </a:ext>
                </a:extLst>
              </p:cNvPr>
              <p:cNvSpPr txBox="1"/>
              <p:nvPr/>
            </p:nvSpPr>
            <p:spPr>
              <a:xfrm>
                <a:off x="4943078" y="4338179"/>
                <a:ext cx="5184576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spc="-1" dirty="0">
                    <a:solidFill>
                      <a:srgbClr val="000000"/>
                    </a:solidFill>
                    <a:latin typeface="Arial"/>
                  </a:rPr>
                  <a:t>The value of each state variable at </a:t>
                </a:r>
                <a14:m>
                  <m:oMath xmlns:m="http://schemas.openxmlformats.org/officeDocument/2006/math">
                    <m:r>
                      <a:rPr lang="en-US" sz="2000" i="1" spc="-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i="1" spc="-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000" spc="-1" dirty="0">
                    <a:solidFill>
                      <a:srgbClr val="000000"/>
                    </a:solidFill>
                    <a:latin typeface="Arial"/>
                  </a:rPr>
                  <a:t>, depends (stochastically) on the value of the state variables at </a:t>
                </a:r>
                <a14:m>
                  <m:oMath xmlns:m="http://schemas.openxmlformats.org/officeDocument/2006/math">
                    <m:r>
                      <a:rPr lang="en-US" sz="2000" i="1" spc="-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000" spc="-1" dirty="0">
                    <a:solidFill>
                      <a:srgbClr val="000000"/>
                    </a:solidFill>
                    <a:latin typeface="Arial"/>
                  </a:rPr>
                  <a:t> and the decisions at </a:t>
                </a:r>
                <a14:m>
                  <m:oMath xmlns:m="http://schemas.openxmlformats.org/officeDocument/2006/math">
                    <m:r>
                      <a:rPr lang="en-US" sz="2000" i="1" spc="-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057E72A-E90B-9C65-5A1A-B9396D7CA5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3078" y="4338179"/>
                <a:ext cx="5184576" cy="1015663"/>
              </a:xfrm>
              <a:prstGeom prst="rect">
                <a:avLst/>
              </a:prstGeom>
              <a:blipFill>
                <a:blip r:embed="rId4"/>
                <a:stretch>
                  <a:fillRect l="-1294" t="-3012" r="-118" b="-10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C847028-BA31-A6A7-3F4F-B71992092A5E}"/>
              </a:ext>
            </a:extLst>
          </p:cNvPr>
          <p:cNvSpPr/>
          <p:nvPr/>
        </p:nvSpPr>
        <p:spPr>
          <a:xfrm>
            <a:off x="6807529" y="3981130"/>
            <a:ext cx="3014967" cy="400110"/>
          </a:xfrm>
          <a:prstGeom prst="roundRect">
            <a:avLst/>
          </a:prstGeom>
          <a:solidFill>
            <a:srgbClr val="FFFF00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C51CBB-CE9D-363C-8BCA-12197397342E}"/>
              </a:ext>
            </a:extLst>
          </p:cNvPr>
          <p:cNvSpPr txBox="1"/>
          <p:nvPr/>
        </p:nvSpPr>
        <p:spPr>
          <a:xfrm>
            <a:off x="6959302" y="3981130"/>
            <a:ext cx="28776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spc="-1" dirty="0">
                <a:solidFill>
                  <a:srgbClr val="000000"/>
                </a:solidFill>
                <a:latin typeface="Arial"/>
              </a:rPr>
              <a:t>“The Markov property”</a:t>
            </a:r>
            <a:endParaRPr 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Shape 2">
                <a:extLst>
                  <a:ext uri="{FF2B5EF4-FFF2-40B4-BE49-F238E27FC236}">
                    <a16:creationId xmlns:a16="http://schemas.microsoft.com/office/drawing/2014/main" id="{18CE9B2B-7CF7-6D78-602F-DBB1001753A4}"/>
                  </a:ext>
                </a:extLst>
              </p:cNvPr>
              <p:cNvSpPr txBox="1"/>
              <p:nvPr/>
            </p:nvSpPr>
            <p:spPr>
              <a:xfrm>
                <a:off x="478582" y="4869160"/>
                <a:ext cx="4248472" cy="8640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>
                <a:no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b="0" i="1" spc="-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000" b="0" i="1" spc="-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sz="2000" i="1" spc="-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pc="-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sz="2000" i="1" spc="-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2000" i="1" spc="-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l-GR" sz="2000" i="1" spc="-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  <m:sSub>
                              <m:sSubPr>
                                <m:ctrlPr>
                                  <a:rPr lang="en-US" sz="2000" i="1" spc="-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pc="-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2000" i="1" spc="-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sz="2000" spc="-1" dirty="0">
                                <a:solidFill>
                                  <a:schemeClr val="tx1"/>
                                </a:solidFill>
                                <a:latin typeface="Arial"/>
                              </a:rPr>
                              <m:t>   </m:t>
                            </m:r>
                            <m:r>
                              <m:rPr>
                                <m:nor/>
                              </m:rPr>
                              <a:rPr lang="en-US" sz="2000" spc="-1" dirty="0">
                                <a:solidFill>
                                  <a:schemeClr val="tx1"/>
                                </a:solidFill>
                                <a:latin typeface="Arial"/>
                              </a:rPr>
                              <m:t>with</m:t>
                            </m:r>
                            <m:r>
                              <m:rPr>
                                <m:nor/>
                              </m:rPr>
                              <a:rPr lang="en-US" sz="2000" spc="-1" dirty="0">
                                <a:solidFill>
                                  <a:schemeClr val="tx1"/>
                                </a:solidFill>
                                <a:latin typeface="Arial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000" spc="-1" dirty="0">
                                <a:solidFill>
                                  <a:schemeClr val="tx1"/>
                                </a:solidFill>
                                <a:latin typeface="Arial"/>
                              </a:rPr>
                              <m:t>probability</m:t>
                            </m:r>
                            <m:r>
                              <m:rPr>
                                <m:nor/>
                              </m:rPr>
                              <a:rPr lang="en-US" sz="2000" spc="-1" dirty="0">
                                <a:solidFill>
                                  <a:schemeClr val="tx1"/>
                                </a:solidFill>
                                <a:latin typeface="Arial"/>
                              </a:rPr>
                              <m:t> 0.7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sz="2000" i="1" spc="-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pc="-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sz="2000" i="1" spc="-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2000" i="1" spc="-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l-GR" sz="2000" b="0" i="1" spc="-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  <m:sSub>
                              <m:sSubPr>
                                <m:ctrlPr>
                                  <a:rPr lang="en-US" sz="2000" i="1" spc="-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pc="-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2000" i="1" spc="-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sz="2000" spc="-1" dirty="0">
                                <a:solidFill>
                                  <a:schemeClr val="tx1"/>
                                </a:solidFill>
                                <a:latin typeface="Arial"/>
                              </a:rPr>
                              <m:t>   </m:t>
                            </m:r>
                            <m:r>
                              <m:rPr>
                                <m:nor/>
                              </m:rPr>
                              <a:rPr lang="en-US" sz="2000" spc="-1" dirty="0">
                                <a:solidFill>
                                  <a:schemeClr val="tx1"/>
                                </a:solidFill>
                                <a:latin typeface="Arial"/>
                              </a:rPr>
                              <m:t>with</m:t>
                            </m:r>
                            <m:r>
                              <m:rPr>
                                <m:nor/>
                              </m:rPr>
                              <a:rPr lang="en-US" sz="2000" spc="-1" dirty="0">
                                <a:solidFill>
                                  <a:schemeClr val="tx1"/>
                                </a:solidFill>
                                <a:latin typeface="Arial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000" spc="-1" dirty="0">
                                <a:solidFill>
                                  <a:schemeClr val="tx1"/>
                                </a:solidFill>
                                <a:latin typeface="Arial"/>
                              </a:rPr>
                              <m:t>probability</m:t>
                            </m:r>
                            <m:r>
                              <m:rPr>
                                <m:nor/>
                              </m:rPr>
                              <a:rPr lang="en-US" sz="2000" spc="-1" dirty="0">
                                <a:solidFill>
                                  <a:schemeClr val="tx1"/>
                                </a:solidFill>
                                <a:latin typeface="Arial"/>
                              </a:rPr>
                              <m:t> 0.</m:t>
                            </m:r>
                            <m:r>
                              <a:rPr lang="el-GR" sz="2000" b="0" i="1" spc="-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2000" spc="-1" dirty="0">
                    <a:solidFill>
                      <a:schemeClr val="tx1"/>
                    </a:solidFill>
                    <a:latin typeface="Arial"/>
                  </a:rPr>
                  <a:t> </a:t>
                </a:r>
              </a:p>
            </p:txBody>
          </p:sp>
        </mc:Choice>
        <mc:Fallback>
          <p:sp>
            <p:nvSpPr>
              <p:cNvPr id="7" name="TextShape 2">
                <a:extLst>
                  <a:ext uri="{FF2B5EF4-FFF2-40B4-BE49-F238E27FC236}">
                    <a16:creationId xmlns:a16="http://schemas.microsoft.com/office/drawing/2014/main" id="{18CE9B2B-7CF7-6D78-602F-DBB100175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82" y="4869160"/>
                <a:ext cx="4248472" cy="8640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Shape 2">
                <a:extLst>
                  <a:ext uri="{FF2B5EF4-FFF2-40B4-BE49-F238E27FC236}">
                    <a16:creationId xmlns:a16="http://schemas.microsoft.com/office/drawing/2014/main" id="{C103CC35-9814-AF09-BDDE-6FD25CAFD94F}"/>
                  </a:ext>
                </a:extLst>
              </p:cNvPr>
              <p:cNvSpPr txBox="1"/>
              <p:nvPr/>
            </p:nvSpPr>
            <p:spPr>
              <a:xfrm>
                <a:off x="478582" y="980728"/>
                <a:ext cx="4248472" cy="42484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>
                <a:noAutofit/>
              </a:bodyPr>
              <a:lstStyle/>
              <a:p>
                <a:r>
                  <a:rPr lang="en-US" sz="2000" spc="-1" dirty="0">
                    <a:solidFill>
                      <a:srgbClr val="000000"/>
                    </a:solidFill>
                    <a:latin typeface="Arial"/>
                  </a:rPr>
                  <a:t>Objective: Get to DTU as fast as possible but without getting too tired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spc="-1" dirty="0">
                    <a:solidFill>
                      <a:schemeClr val="tx1"/>
                    </a:solidFill>
                    <a:latin typeface="Arial"/>
                  </a:rPr>
                  <a:t>: distance from university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spc="-1" dirty="0">
                    <a:solidFill>
                      <a:schemeClr val="tx1"/>
                    </a:solidFill>
                    <a:latin typeface="Arial"/>
                  </a:rPr>
                  <a:t>: fatigue</a:t>
                </a:r>
              </a:p>
              <a:p>
                <a:r>
                  <a:rPr lang="en-US" sz="2000" b="0" spc="-1" dirty="0">
                    <a:solidFill>
                      <a:srgbClr val="C00000"/>
                    </a:solidFill>
                    <a:latin typeface="+mn-lt"/>
                  </a:rPr>
                  <a:t>Cost</a:t>
                </a:r>
                <a:r>
                  <a:rPr lang="en-US" sz="2000" b="0" spc="-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pc="-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pc="-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pc="-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pc="-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000" b="0" i="1" spc="-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0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000" b="0" i="1" spc="-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pc="-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000" b="0" i="1" spc="-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l-GR" sz="2000" spc="-1" dirty="0">
                  <a:solidFill>
                    <a:schemeClr val="tx1"/>
                  </a:solidFill>
                  <a:latin typeface="Arial"/>
                </a:endParaRPr>
              </a:p>
              <a:p>
                <a:r>
                  <a:rPr lang="en-US" sz="2000" spc="-1" dirty="0">
                    <a:solidFill>
                      <a:srgbClr val="C00000"/>
                    </a:solidFill>
                    <a:latin typeface="Arial"/>
                  </a:rPr>
                  <a:t>Decision</a:t>
                </a:r>
                <a:r>
                  <a:rPr lang="en-US" sz="2000" spc="-1" dirty="0">
                    <a:solidFill>
                      <a:schemeClr val="tx1"/>
                    </a:solidFill>
                    <a:latin typeface="Arial"/>
                  </a:rPr>
                  <a:t>: velocity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2000" spc="-1" dirty="0">
                  <a:solidFill>
                    <a:schemeClr val="tx1"/>
                  </a:solidFill>
                  <a:latin typeface="Arial"/>
                </a:endParaRPr>
              </a:p>
              <a:p>
                <a:r>
                  <a:rPr lang="en-US" sz="2000" spc="-1" dirty="0">
                    <a:solidFill>
                      <a:srgbClr val="C00000"/>
                    </a:solidFill>
                    <a:latin typeface="Arial"/>
                  </a:rPr>
                  <a:t>State</a:t>
                </a:r>
                <a:r>
                  <a:rPr lang="en-US" sz="2000" spc="-1" dirty="0">
                    <a:solidFill>
                      <a:schemeClr val="tx1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pc="-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2000" spc="-1" dirty="0">
                  <a:solidFill>
                    <a:schemeClr val="tx1"/>
                  </a:solidFill>
                  <a:latin typeface="Arial"/>
                </a:endParaRPr>
              </a:p>
              <a:p>
                <a:r>
                  <a:rPr lang="en-US" sz="2000" spc="-1" dirty="0">
                    <a:solidFill>
                      <a:srgbClr val="C00000"/>
                    </a:solidFill>
                    <a:latin typeface="Arial"/>
                  </a:rPr>
                  <a:t>Transition Dynamics: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000" b="0" i="1" spc="-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pc="-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000" b="0" i="1" spc="-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pc="-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b="0" i="1" spc="-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l-GR" sz="2000" b="0" i="1" spc="-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pc="-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000" b="0" i="1" spc="-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pc="-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US" sz="2000" b="0" i="1" spc="-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pc="-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000" b="0" i="1" spc="-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pc="-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l-GR" sz="2000" b="0" i="0" spc="-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m:rPr>
                          <m:sty m:val="p"/>
                        </m:rPr>
                        <a:rPr lang="en-US" sz="2000" b="0" i="0" spc="-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oMath>
                  </m:oMathPara>
                </a14:m>
                <a:endParaRPr lang="en-US" sz="2000" spc="-1" dirty="0">
                  <a:solidFill>
                    <a:schemeClr val="tx1"/>
                  </a:solidFill>
                  <a:latin typeface="Arial"/>
                </a:endParaRPr>
              </a:p>
            </p:txBody>
          </p:sp>
        </mc:Choice>
        <mc:Fallback>
          <p:sp>
            <p:nvSpPr>
              <p:cNvPr id="9" name="TextShape 2">
                <a:extLst>
                  <a:ext uri="{FF2B5EF4-FFF2-40B4-BE49-F238E27FC236}">
                    <a16:creationId xmlns:a16="http://schemas.microsoft.com/office/drawing/2014/main" id="{C103CC35-9814-AF09-BDDE-6FD25CAFD9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82" y="980728"/>
                <a:ext cx="4248472" cy="4248472"/>
              </a:xfrm>
              <a:prstGeom prst="rect">
                <a:avLst/>
              </a:prstGeom>
              <a:blipFill>
                <a:blip r:embed="rId6"/>
                <a:stretch>
                  <a:fillRect l="-3736" t="-17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68842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D9A89-33BB-3BD2-5C95-B179DDD8D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TextShape 1">
            <a:extLst>
              <a:ext uri="{FF2B5EF4-FFF2-40B4-BE49-F238E27FC236}">
                <a16:creationId xmlns:a16="http://schemas.microsoft.com/office/drawing/2014/main" id="{00325C02-643D-EFAC-D71A-BCB7CE94BCD4}"/>
              </a:ext>
            </a:extLst>
          </p:cNvPr>
          <p:cNvSpPr txBox="1"/>
          <p:nvPr/>
        </p:nvSpPr>
        <p:spPr>
          <a:xfrm>
            <a:off x="2206774" y="116632"/>
            <a:ext cx="9361040" cy="58832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000" b="1" spc="-1" dirty="0">
                <a:solidFill>
                  <a:srgbClr val="000000"/>
                </a:solidFill>
                <a:latin typeface="Arial"/>
              </a:rPr>
              <a:t>Solution Concept</a:t>
            </a:r>
            <a:endParaRPr lang="fr-FR" sz="30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Shape 3">
            <a:extLst>
              <a:ext uri="{FF2B5EF4-FFF2-40B4-BE49-F238E27FC236}">
                <a16:creationId xmlns:a16="http://schemas.microsoft.com/office/drawing/2014/main" id="{03D54F46-01C4-5D6A-FF1F-C6555FC586C9}"/>
              </a:ext>
            </a:extLst>
          </p:cNvPr>
          <p:cNvSpPr txBox="1"/>
          <p:nvPr/>
        </p:nvSpPr>
        <p:spPr>
          <a:xfrm>
            <a:off x="10154206" y="6541200"/>
            <a:ext cx="324000" cy="31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fld id="{2FB9A7C0-A375-4B14-A573-B65C749CF92E}" type="slidenum">
              <a:rPr lang="en-US" sz="530" b="1" spc="-1">
                <a:solidFill>
                  <a:srgbClr val="FFFFFF"/>
                </a:solidFill>
                <a:latin typeface="Arial"/>
              </a:rPr>
              <a:t>13</a:t>
            </a:fld>
            <a:endParaRPr lang="en-US" sz="530" spc="-1">
              <a:latin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AF44C0-B3B7-2EE4-D798-B09D99B39701}"/>
              </a:ext>
            </a:extLst>
          </p:cNvPr>
          <p:cNvSpPr txBox="1"/>
          <p:nvPr/>
        </p:nvSpPr>
        <p:spPr>
          <a:xfrm>
            <a:off x="6095206" y="1412776"/>
            <a:ext cx="5544616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spc="-1" dirty="0">
                <a:solidFill>
                  <a:srgbClr val="000000"/>
                </a:solidFill>
                <a:latin typeface="Arial"/>
              </a:rPr>
              <a:t>Solution Concept: …?</a:t>
            </a:r>
            <a:endParaRPr lang="en-US" sz="2000" i="1" spc="-1" dirty="0">
              <a:solidFill>
                <a:srgbClr val="000000"/>
              </a:solidFill>
              <a:latin typeface="Arial"/>
            </a:endParaRPr>
          </a:p>
          <a:p>
            <a:pPr/>
            <a:endParaRPr lang="en-US" sz="2800" i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Shape 2">
                <a:extLst>
                  <a:ext uri="{FF2B5EF4-FFF2-40B4-BE49-F238E27FC236}">
                    <a16:creationId xmlns:a16="http://schemas.microsoft.com/office/drawing/2014/main" id="{280EF716-9150-D675-FD1B-056EF951C88F}"/>
                  </a:ext>
                </a:extLst>
              </p:cNvPr>
              <p:cNvSpPr txBox="1"/>
              <p:nvPr/>
            </p:nvSpPr>
            <p:spPr>
              <a:xfrm>
                <a:off x="478582" y="4869160"/>
                <a:ext cx="4248472" cy="8640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>
                <a:no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b="0" i="1" spc="-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000" b="0" i="1" spc="-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sz="2000" i="1" spc="-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pc="-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sz="2000" i="1" spc="-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2000" i="1" spc="-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l-GR" sz="2000" i="1" spc="-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  <m:sSub>
                              <m:sSubPr>
                                <m:ctrlPr>
                                  <a:rPr lang="en-US" sz="2000" i="1" spc="-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pc="-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2000" i="1" spc="-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sz="2000" spc="-1" dirty="0">
                                <a:solidFill>
                                  <a:schemeClr val="tx1"/>
                                </a:solidFill>
                                <a:latin typeface="Arial"/>
                              </a:rPr>
                              <m:t>   </m:t>
                            </m:r>
                            <m:r>
                              <m:rPr>
                                <m:nor/>
                              </m:rPr>
                              <a:rPr lang="en-US" sz="2000" spc="-1" dirty="0">
                                <a:solidFill>
                                  <a:schemeClr val="tx1"/>
                                </a:solidFill>
                                <a:latin typeface="Arial"/>
                              </a:rPr>
                              <m:t>with</m:t>
                            </m:r>
                            <m:r>
                              <m:rPr>
                                <m:nor/>
                              </m:rPr>
                              <a:rPr lang="en-US" sz="2000" spc="-1" dirty="0">
                                <a:solidFill>
                                  <a:schemeClr val="tx1"/>
                                </a:solidFill>
                                <a:latin typeface="Arial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000" spc="-1" dirty="0">
                                <a:solidFill>
                                  <a:schemeClr val="tx1"/>
                                </a:solidFill>
                                <a:latin typeface="Arial"/>
                              </a:rPr>
                              <m:t>probability</m:t>
                            </m:r>
                            <m:r>
                              <m:rPr>
                                <m:nor/>
                              </m:rPr>
                              <a:rPr lang="en-US" sz="2000" spc="-1" dirty="0">
                                <a:solidFill>
                                  <a:schemeClr val="tx1"/>
                                </a:solidFill>
                                <a:latin typeface="Arial"/>
                              </a:rPr>
                              <m:t> 0.7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sz="2000" i="1" spc="-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pc="-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sz="2000" i="1" spc="-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2000" i="1" spc="-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l-GR" sz="2000" b="0" i="1" spc="-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  <m:sSub>
                              <m:sSubPr>
                                <m:ctrlPr>
                                  <a:rPr lang="en-US" sz="2000" i="1" spc="-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pc="-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2000" i="1" spc="-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sz="2000" spc="-1" dirty="0">
                                <a:solidFill>
                                  <a:schemeClr val="tx1"/>
                                </a:solidFill>
                                <a:latin typeface="Arial"/>
                              </a:rPr>
                              <m:t>   </m:t>
                            </m:r>
                            <m:r>
                              <m:rPr>
                                <m:nor/>
                              </m:rPr>
                              <a:rPr lang="en-US" sz="2000" spc="-1" dirty="0">
                                <a:solidFill>
                                  <a:schemeClr val="tx1"/>
                                </a:solidFill>
                                <a:latin typeface="Arial"/>
                              </a:rPr>
                              <m:t>with</m:t>
                            </m:r>
                            <m:r>
                              <m:rPr>
                                <m:nor/>
                              </m:rPr>
                              <a:rPr lang="en-US" sz="2000" spc="-1" dirty="0">
                                <a:solidFill>
                                  <a:schemeClr val="tx1"/>
                                </a:solidFill>
                                <a:latin typeface="Arial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000" spc="-1" dirty="0">
                                <a:solidFill>
                                  <a:schemeClr val="tx1"/>
                                </a:solidFill>
                                <a:latin typeface="Arial"/>
                              </a:rPr>
                              <m:t>probability</m:t>
                            </m:r>
                            <m:r>
                              <m:rPr>
                                <m:nor/>
                              </m:rPr>
                              <a:rPr lang="en-US" sz="2000" spc="-1" dirty="0">
                                <a:solidFill>
                                  <a:schemeClr val="tx1"/>
                                </a:solidFill>
                                <a:latin typeface="Arial"/>
                              </a:rPr>
                              <m:t> 0.</m:t>
                            </m:r>
                            <m:r>
                              <a:rPr lang="el-GR" sz="2000" b="0" i="1" spc="-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2000" spc="-1" dirty="0">
                    <a:solidFill>
                      <a:schemeClr val="tx1"/>
                    </a:solidFill>
                    <a:latin typeface="Arial"/>
                  </a:rPr>
                  <a:t> </a:t>
                </a:r>
              </a:p>
            </p:txBody>
          </p:sp>
        </mc:Choice>
        <mc:Fallback>
          <p:sp>
            <p:nvSpPr>
              <p:cNvPr id="5" name="TextShape 2">
                <a:extLst>
                  <a:ext uri="{FF2B5EF4-FFF2-40B4-BE49-F238E27FC236}">
                    <a16:creationId xmlns:a16="http://schemas.microsoft.com/office/drawing/2014/main" id="{280EF716-9150-D675-FD1B-056EF951C8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82" y="4869160"/>
                <a:ext cx="4248472" cy="8640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Shape 2">
                <a:extLst>
                  <a:ext uri="{FF2B5EF4-FFF2-40B4-BE49-F238E27FC236}">
                    <a16:creationId xmlns:a16="http://schemas.microsoft.com/office/drawing/2014/main" id="{9D93F0FB-9EC4-F3D7-BE7B-D3BC8CF2AF6B}"/>
                  </a:ext>
                </a:extLst>
              </p:cNvPr>
              <p:cNvSpPr txBox="1"/>
              <p:nvPr/>
            </p:nvSpPr>
            <p:spPr>
              <a:xfrm>
                <a:off x="478582" y="980728"/>
                <a:ext cx="4248472" cy="42484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>
                <a:noAutofit/>
              </a:bodyPr>
              <a:lstStyle/>
              <a:p>
                <a:r>
                  <a:rPr lang="en-US" sz="2000" spc="-1" dirty="0">
                    <a:solidFill>
                      <a:srgbClr val="000000"/>
                    </a:solidFill>
                    <a:latin typeface="Arial"/>
                  </a:rPr>
                  <a:t>Objective: Get to DTU as fast as possible but without getting too tired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0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spc="-1" dirty="0">
                    <a:solidFill>
                      <a:srgbClr val="000000"/>
                    </a:solidFill>
                    <a:latin typeface="Arial"/>
                  </a:rPr>
                  <a:t>: distance from university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spc="-1" dirty="0">
                    <a:solidFill>
                      <a:srgbClr val="000000"/>
                    </a:solidFill>
                    <a:latin typeface="Arial"/>
                  </a:rPr>
                  <a:t>: fatigue</a:t>
                </a:r>
              </a:p>
              <a:p>
                <a:r>
                  <a:rPr lang="en-US" sz="2000" b="0" spc="-1" dirty="0">
                    <a:solidFill>
                      <a:srgbClr val="000000"/>
                    </a:solidFill>
                    <a:latin typeface="+mn-lt"/>
                  </a:rPr>
                  <a:t>Cost</a:t>
                </a:r>
                <a:r>
                  <a:rPr lang="en-US" sz="2000" b="0" spc="-1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sz="20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000" b="0" i="1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0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0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000" b="0" i="1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000" b="0" i="1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l-GR" sz="2000" spc="-1" dirty="0">
                  <a:solidFill>
                    <a:srgbClr val="000000"/>
                  </a:solidFill>
                  <a:latin typeface="Arial"/>
                </a:endParaRPr>
              </a:p>
              <a:p>
                <a:r>
                  <a:rPr lang="en-US" sz="2000" spc="-1" dirty="0">
                    <a:solidFill>
                      <a:schemeClr val="tx1"/>
                    </a:solidFill>
                    <a:latin typeface="Arial"/>
                  </a:rPr>
                  <a:t>Decision: velocity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2000" spc="-1" dirty="0">
                  <a:solidFill>
                    <a:schemeClr val="tx1"/>
                  </a:solidFill>
                  <a:latin typeface="Arial"/>
                </a:endParaRPr>
              </a:p>
              <a:p>
                <a:r>
                  <a:rPr lang="en-US" sz="2000" spc="-1" dirty="0">
                    <a:solidFill>
                      <a:schemeClr val="tx1"/>
                    </a:solidFill>
                    <a:latin typeface="Arial"/>
                  </a:rPr>
                  <a:t>State: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pc="-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2000" spc="-1" dirty="0">
                  <a:solidFill>
                    <a:schemeClr val="tx1"/>
                  </a:solidFill>
                  <a:latin typeface="Arial"/>
                </a:endParaRPr>
              </a:p>
              <a:p>
                <a:r>
                  <a:rPr lang="en-US" sz="2000" spc="-1" dirty="0">
                    <a:solidFill>
                      <a:schemeClr val="tx1"/>
                    </a:solidFill>
                    <a:latin typeface="Arial"/>
                  </a:rPr>
                  <a:t>Transition Dynamics: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000" b="0" i="1" spc="-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pc="-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000" b="0" i="1" spc="-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pc="-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b="0" i="1" spc="-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l-GR" sz="2000" b="0" i="1" spc="-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pc="-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000" b="0" i="1" spc="-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pc="-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US" sz="2000" b="0" i="1" spc="-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pc="-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000" b="0" i="1" spc="-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pc="-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l-GR" sz="2000" b="0" i="0" spc="-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m:rPr>
                          <m:sty m:val="p"/>
                        </m:rPr>
                        <a:rPr lang="en-US" sz="2000" b="0" i="0" spc="-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oMath>
                  </m:oMathPara>
                </a14:m>
                <a:endParaRPr lang="en-US" sz="2000" spc="-1" dirty="0">
                  <a:solidFill>
                    <a:schemeClr val="tx1"/>
                  </a:solidFill>
                  <a:latin typeface="Arial"/>
                </a:endParaRPr>
              </a:p>
            </p:txBody>
          </p:sp>
        </mc:Choice>
        <mc:Fallback>
          <p:sp>
            <p:nvSpPr>
              <p:cNvPr id="8" name="TextShape 2">
                <a:extLst>
                  <a:ext uri="{FF2B5EF4-FFF2-40B4-BE49-F238E27FC236}">
                    <a16:creationId xmlns:a16="http://schemas.microsoft.com/office/drawing/2014/main" id="{9D93F0FB-9EC4-F3D7-BE7B-D3BC8CF2AF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82" y="980728"/>
                <a:ext cx="4248472" cy="4248472"/>
              </a:xfrm>
              <a:prstGeom prst="rect">
                <a:avLst/>
              </a:prstGeom>
              <a:blipFill>
                <a:blip r:embed="rId3"/>
                <a:stretch>
                  <a:fillRect l="-3736" t="-17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82705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E56DF-7FB3-A377-1F61-4355C98A0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TextShape 1">
            <a:extLst>
              <a:ext uri="{FF2B5EF4-FFF2-40B4-BE49-F238E27FC236}">
                <a16:creationId xmlns:a16="http://schemas.microsoft.com/office/drawing/2014/main" id="{DDD7A98C-A8C9-A458-5CAE-A15C46A2F6BB}"/>
              </a:ext>
            </a:extLst>
          </p:cNvPr>
          <p:cNvSpPr txBox="1"/>
          <p:nvPr/>
        </p:nvSpPr>
        <p:spPr>
          <a:xfrm>
            <a:off x="2206774" y="95072"/>
            <a:ext cx="9361040" cy="58832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000" b="1" spc="-1" dirty="0">
                <a:solidFill>
                  <a:srgbClr val="000000"/>
                </a:solidFill>
                <a:latin typeface="Arial"/>
              </a:rPr>
              <a:t>Policy</a:t>
            </a:r>
            <a:endParaRPr lang="fr-FR" sz="30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Shape 3">
            <a:extLst>
              <a:ext uri="{FF2B5EF4-FFF2-40B4-BE49-F238E27FC236}">
                <a16:creationId xmlns:a16="http://schemas.microsoft.com/office/drawing/2014/main" id="{FEDBA84C-DBB8-B814-29FF-E5CD29FC6FF5}"/>
              </a:ext>
            </a:extLst>
          </p:cNvPr>
          <p:cNvSpPr txBox="1"/>
          <p:nvPr/>
        </p:nvSpPr>
        <p:spPr>
          <a:xfrm>
            <a:off x="10154206" y="6541200"/>
            <a:ext cx="324000" cy="31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fld id="{2FB9A7C0-A375-4B14-A573-B65C749CF92E}" type="slidenum">
              <a:rPr lang="en-US" sz="530" b="1" spc="-1">
                <a:solidFill>
                  <a:srgbClr val="FFFFFF"/>
                </a:solidFill>
                <a:latin typeface="Arial"/>
              </a:rPr>
              <a:t>14</a:t>
            </a:fld>
            <a:endParaRPr lang="en-US" sz="530" spc="-1">
              <a:latin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4AFAF09-887A-3428-E6DF-9CE191287872}"/>
                  </a:ext>
                </a:extLst>
              </p:cNvPr>
              <p:cNvSpPr txBox="1"/>
              <p:nvPr/>
            </p:nvSpPr>
            <p:spPr>
              <a:xfrm>
                <a:off x="6095206" y="1412776"/>
                <a:ext cx="5544616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spc="-1" dirty="0">
                    <a:solidFill>
                      <a:srgbClr val="000000"/>
                    </a:solidFill>
                    <a:latin typeface="Arial"/>
                  </a:rPr>
                  <a:t>Solution Concept: A decision-making </a:t>
                </a:r>
                <a:r>
                  <a:rPr lang="en-US" sz="2000" i="1" spc="-1" dirty="0">
                    <a:solidFill>
                      <a:srgbClr val="000000"/>
                    </a:solidFill>
                    <a:latin typeface="Arial"/>
                  </a:rPr>
                  <a:t>policy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2800" b="0" i="1" smtClean="0"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i="1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2AF44C0-B3B7-2EE4-D798-B09D99B397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206" y="1412776"/>
                <a:ext cx="5544616" cy="830997"/>
              </a:xfrm>
              <a:prstGeom prst="rect">
                <a:avLst/>
              </a:prstGeom>
              <a:blipFill>
                <a:blip r:embed="rId2"/>
                <a:stretch>
                  <a:fillRect l="-1210" t="-36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2B5288C-D097-2670-2221-33CEB70FCDDF}"/>
              </a:ext>
            </a:extLst>
          </p:cNvPr>
          <p:cNvSpPr/>
          <p:nvPr/>
        </p:nvSpPr>
        <p:spPr>
          <a:xfrm>
            <a:off x="8903519" y="1772816"/>
            <a:ext cx="1008112" cy="470957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F4227E-6985-2C74-F29C-5E281FCAA49A}"/>
              </a:ext>
            </a:extLst>
          </p:cNvPr>
          <p:cNvSpPr txBox="1"/>
          <p:nvPr/>
        </p:nvSpPr>
        <p:spPr>
          <a:xfrm>
            <a:off x="8571174" y="2253508"/>
            <a:ext cx="2276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spc="-1" dirty="0">
                <a:solidFill>
                  <a:srgbClr val="C00000"/>
                </a:solidFill>
                <a:latin typeface="Cambria Math" panose="02040503050406030204" pitchFamily="18" charset="0"/>
              </a:rPr>
              <a:t>State Variables</a:t>
            </a:r>
            <a:endParaRPr lang="en-US" sz="24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Shape 2">
                <a:extLst>
                  <a:ext uri="{FF2B5EF4-FFF2-40B4-BE49-F238E27FC236}">
                    <a16:creationId xmlns:a16="http://schemas.microsoft.com/office/drawing/2014/main" id="{3C7DE51F-9AF7-9CE5-76A1-4512B520B683}"/>
                  </a:ext>
                </a:extLst>
              </p:cNvPr>
              <p:cNvSpPr txBox="1"/>
              <p:nvPr/>
            </p:nvSpPr>
            <p:spPr>
              <a:xfrm>
                <a:off x="478582" y="4869160"/>
                <a:ext cx="4248472" cy="8640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>
                <a:no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b="0" i="1" spc="-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000" b="0" i="1" spc="-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sz="2000" i="1" spc="-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pc="-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sz="2000" i="1" spc="-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2000" i="1" spc="-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l-GR" sz="2000" i="1" spc="-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  <m:sSub>
                              <m:sSubPr>
                                <m:ctrlPr>
                                  <a:rPr lang="en-US" sz="2000" i="1" spc="-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pc="-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2000" i="1" spc="-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sz="2000" spc="-1" dirty="0">
                                <a:solidFill>
                                  <a:schemeClr val="tx1"/>
                                </a:solidFill>
                                <a:latin typeface="Arial"/>
                              </a:rPr>
                              <m:t>   </m:t>
                            </m:r>
                            <m:r>
                              <m:rPr>
                                <m:nor/>
                              </m:rPr>
                              <a:rPr lang="en-US" sz="2000" spc="-1" dirty="0">
                                <a:solidFill>
                                  <a:schemeClr val="tx1"/>
                                </a:solidFill>
                                <a:latin typeface="Arial"/>
                              </a:rPr>
                              <m:t>with</m:t>
                            </m:r>
                            <m:r>
                              <m:rPr>
                                <m:nor/>
                              </m:rPr>
                              <a:rPr lang="en-US" sz="2000" spc="-1" dirty="0">
                                <a:solidFill>
                                  <a:schemeClr val="tx1"/>
                                </a:solidFill>
                                <a:latin typeface="Arial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000" spc="-1" dirty="0">
                                <a:solidFill>
                                  <a:schemeClr val="tx1"/>
                                </a:solidFill>
                                <a:latin typeface="Arial"/>
                              </a:rPr>
                              <m:t>probability</m:t>
                            </m:r>
                            <m:r>
                              <m:rPr>
                                <m:nor/>
                              </m:rPr>
                              <a:rPr lang="en-US" sz="2000" spc="-1" dirty="0">
                                <a:solidFill>
                                  <a:schemeClr val="tx1"/>
                                </a:solidFill>
                                <a:latin typeface="Arial"/>
                              </a:rPr>
                              <m:t> 0.7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sz="2000" i="1" spc="-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pc="-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sz="2000" i="1" spc="-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2000" i="1" spc="-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l-GR" sz="2000" b="0" i="1" spc="-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  <m:sSub>
                              <m:sSubPr>
                                <m:ctrlPr>
                                  <a:rPr lang="en-US" sz="2000" i="1" spc="-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pc="-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2000" i="1" spc="-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sz="2000" spc="-1" dirty="0">
                                <a:solidFill>
                                  <a:schemeClr val="tx1"/>
                                </a:solidFill>
                                <a:latin typeface="Arial"/>
                              </a:rPr>
                              <m:t>   </m:t>
                            </m:r>
                            <m:r>
                              <m:rPr>
                                <m:nor/>
                              </m:rPr>
                              <a:rPr lang="en-US" sz="2000" spc="-1" dirty="0">
                                <a:solidFill>
                                  <a:schemeClr val="tx1"/>
                                </a:solidFill>
                                <a:latin typeface="Arial"/>
                              </a:rPr>
                              <m:t>with</m:t>
                            </m:r>
                            <m:r>
                              <m:rPr>
                                <m:nor/>
                              </m:rPr>
                              <a:rPr lang="en-US" sz="2000" spc="-1" dirty="0">
                                <a:solidFill>
                                  <a:schemeClr val="tx1"/>
                                </a:solidFill>
                                <a:latin typeface="Arial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000" spc="-1" dirty="0">
                                <a:solidFill>
                                  <a:schemeClr val="tx1"/>
                                </a:solidFill>
                                <a:latin typeface="Arial"/>
                              </a:rPr>
                              <m:t>probability</m:t>
                            </m:r>
                            <m:r>
                              <m:rPr>
                                <m:nor/>
                              </m:rPr>
                              <a:rPr lang="en-US" sz="2000" spc="-1" dirty="0">
                                <a:solidFill>
                                  <a:schemeClr val="tx1"/>
                                </a:solidFill>
                                <a:latin typeface="Arial"/>
                              </a:rPr>
                              <m:t> 0.</m:t>
                            </m:r>
                            <m:r>
                              <a:rPr lang="el-GR" sz="2000" b="0" i="1" spc="-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2000" spc="-1" dirty="0">
                    <a:solidFill>
                      <a:schemeClr val="tx1"/>
                    </a:solidFill>
                    <a:latin typeface="Arial"/>
                  </a:rPr>
                  <a:t> </a:t>
                </a:r>
              </a:p>
            </p:txBody>
          </p:sp>
        </mc:Choice>
        <mc:Fallback>
          <p:sp>
            <p:nvSpPr>
              <p:cNvPr id="5" name="TextShape 2">
                <a:extLst>
                  <a:ext uri="{FF2B5EF4-FFF2-40B4-BE49-F238E27FC236}">
                    <a16:creationId xmlns:a16="http://schemas.microsoft.com/office/drawing/2014/main" id="{3C7DE51F-9AF7-9CE5-76A1-4512B520B6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82" y="4869160"/>
                <a:ext cx="4248472" cy="8640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Shape 2">
                <a:extLst>
                  <a:ext uri="{FF2B5EF4-FFF2-40B4-BE49-F238E27FC236}">
                    <a16:creationId xmlns:a16="http://schemas.microsoft.com/office/drawing/2014/main" id="{B396007C-74CE-0016-99D3-C1D71C6500E4}"/>
                  </a:ext>
                </a:extLst>
              </p:cNvPr>
              <p:cNvSpPr txBox="1"/>
              <p:nvPr/>
            </p:nvSpPr>
            <p:spPr>
              <a:xfrm>
                <a:off x="478582" y="980728"/>
                <a:ext cx="4248472" cy="42484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>
                <a:noAutofit/>
              </a:bodyPr>
              <a:lstStyle/>
              <a:p>
                <a:r>
                  <a:rPr lang="en-US" sz="2000" spc="-1" dirty="0">
                    <a:solidFill>
                      <a:srgbClr val="000000"/>
                    </a:solidFill>
                    <a:latin typeface="Arial"/>
                  </a:rPr>
                  <a:t>Objective: Get to DTU as fast as possible but without getting too tired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0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spc="-1" dirty="0">
                    <a:solidFill>
                      <a:srgbClr val="000000"/>
                    </a:solidFill>
                    <a:latin typeface="Arial"/>
                  </a:rPr>
                  <a:t>: distance from university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spc="-1" dirty="0">
                    <a:solidFill>
                      <a:srgbClr val="000000"/>
                    </a:solidFill>
                    <a:latin typeface="Arial"/>
                  </a:rPr>
                  <a:t>: fatigue</a:t>
                </a:r>
              </a:p>
              <a:p>
                <a:r>
                  <a:rPr lang="en-US" sz="2000" b="0" spc="-1" dirty="0">
                    <a:solidFill>
                      <a:srgbClr val="000000"/>
                    </a:solidFill>
                    <a:latin typeface="+mn-lt"/>
                  </a:rPr>
                  <a:t>Cost</a:t>
                </a:r>
                <a:r>
                  <a:rPr lang="en-US" sz="2000" b="0" spc="-1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sz="20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000" b="0" i="1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0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0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000" b="0" i="1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000" b="0" i="1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l-GR" sz="2000" spc="-1" dirty="0">
                  <a:solidFill>
                    <a:srgbClr val="000000"/>
                  </a:solidFill>
                  <a:latin typeface="Arial"/>
                </a:endParaRPr>
              </a:p>
              <a:p>
                <a:r>
                  <a:rPr lang="en-US" sz="2000" spc="-1" dirty="0">
                    <a:solidFill>
                      <a:schemeClr val="tx1"/>
                    </a:solidFill>
                    <a:latin typeface="Arial"/>
                  </a:rPr>
                  <a:t>Decision: velocity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2000" spc="-1" dirty="0">
                  <a:solidFill>
                    <a:schemeClr val="tx1"/>
                  </a:solidFill>
                  <a:latin typeface="Arial"/>
                </a:endParaRPr>
              </a:p>
              <a:p>
                <a:r>
                  <a:rPr lang="en-US" sz="2000" spc="-1" dirty="0">
                    <a:solidFill>
                      <a:schemeClr val="tx1"/>
                    </a:solidFill>
                    <a:latin typeface="Arial"/>
                  </a:rPr>
                  <a:t>State: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pc="-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2000" spc="-1" dirty="0">
                  <a:solidFill>
                    <a:schemeClr val="tx1"/>
                  </a:solidFill>
                  <a:latin typeface="Arial"/>
                </a:endParaRPr>
              </a:p>
              <a:p>
                <a:r>
                  <a:rPr lang="en-US" sz="2000" spc="-1" dirty="0">
                    <a:solidFill>
                      <a:schemeClr val="tx1"/>
                    </a:solidFill>
                    <a:latin typeface="Arial"/>
                  </a:rPr>
                  <a:t>Transition Dynamics: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000" b="0" i="1" spc="-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pc="-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000" b="0" i="1" spc="-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pc="-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b="0" i="1" spc="-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l-GR" sz="2000" b="0" i="1" spc="-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pc="-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000" b="0" i="1" spc="-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pc="-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US" sz="2000" b="0" i="1" spc="-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pc="-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000" b="0" i="1" spc="-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pc="-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l-GR" sz="2000" b="0" i="0" spc="-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m:rPr>
                          <m:sty m:val="p"/>
                        </m:rPr>
                        <a:rPr lang="en-US" sz="2000" b="0" i="0" spc="-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oMath>
                  </m:oMathPara>
                </a14:m>
                <a:endParaRPr lang="en-US" sz="2000" spc="-1" dirty="0">
                  <a:solidFill>
                    <a:schemeClr val="tx1"/>
                  </a:solidFill>
                  <a:latin typeface="Arial"/>
                </a:endParaRPr>
              </a:p>
            </p:txBody>
          </p:sp>
        </mc:Choice>
        <mc:Fallback>
          <p:sp>
            <p:nvSpPr>
              <p:cNvPr id="8" name="TextShape 2">
                <a:extLst>
                  <a:ext uri="{FF2B5EF4-FFF2-40B4-BE49-F238E27FC236}">
                    <a16:creationId xmlns:a16="http://schemas.microsoft.com/office/drawing/2014/main" id="{B396007C-74CE-0016-99D3-C1D71C6500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82" y="980728"/>
                <a:ext cx="4248472" cy="4248472"/>
              </a:xfrm>
              <a:prstGeom prst="rect">
                <a:avLst/>
              </a:prstGeom>
              <a:blipFill>
                <a:blip r:embed="rId3"/>
                <a:stretch>
                  <a:fillRect l="-3736" t="-17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21427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06850-888D-5888-8DA7-AB62B00EF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535381B-2A51-3AE2-371C-D6460171F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8702" y="25715"/>
            <a:ext cx="9312374" cy="692040"/>
          </a:xfrm>
        </p:spPr>
        <p:txBody>
          <a:bodyPr wrap="square" anchor="b">
            <a:normAutofit/>
          </a:bodyPr>
          <a:lstStyle/>
          <a:p>
            <a:r>
              <a:rPr lang="en-GB" dirty="0"/>
              <a:t>Markov Decision Process (MDP)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AE9046B5-093F-4F93-C7D4-4FC93E3B6D8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334566" y="1052738"/>
                <a:ext cx="6405075" cy="2969743"/>
              </a:xfrm>
            </p:spPr>
            <p:txBody>
              <a:bodyPr wrap="square" anchor="t">
                <a:noAutofit/>
              </a:bodyPr>
              <a:lstStyle/>
              <a:p>
                <a:r>
                  <a:rPr lang="en-US" sz="2800" dirty="0"/>
                  <a:t>Stages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sz="2800" dirty="0"/>
              </a:p>
              <a:p>
                <a:r>
                  <a:rPr lang="en-US" sz="2800" dirty="0"/>
                  <a:t>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 …</m:t>
                        </m:r>
                      </m:e>
                    </m:d>
                  </m:oMath>
                </a14:m>
                <a:endParaRPr lang="en-US" sz="2800" dirty="0"/>
              </a:p>
              <a:p>
                <a:r>
                  <a:rPr lang="en-US" sz="2800" dirty="0"/>
                  <a:t>Decision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 …</m:t>
                        </m:r>
                      </m:e>
                    </m:d>
                  </m:oMath>
                </a14:m>
                <a:endParaRPr lang="en-US" sz="2800" b="0" dirty="0"/>
              </a:p>
              <a:p>
                <a:r>
                  <a:rPr lang="en-US" sz="2800" dirty="0"/>
                  <a:t>Dynamics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sz="2800" b="0" dirty="0"/>
              </a:p>
              <a:p>
                <a:r>
                  <a:rPr lang="en-US" sz="2800" dirty="0"/>
                  <a:t>Cost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AE9046B5-093F-4F93-C7D4-4FC93E3B6D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334566" y="1052738"/>
                <a:ext cx="6405075" cy="2969743"/>
              </a:xfrm>
              <a:blipFill>
                <a:blip r:embed="rId4"/>
                <a:stretch>
                  <a:fillRect l="-3425" t="-4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01FC46F-E0B5-4D79-3E85-39D2E72579B4}"/>
                  </a:ext>
                </a:extLst>
              </p:cNvPr>
              <p:cNvSpPr txBox="1"/>
              <p:nvPr/>
            </p:nvSpPr>
            <p:spPr>
              <a:xfrm>
                <a:off x="133643" y="3889164"/>
                <a:ext cx="6096000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The </a:t>
                </a:r>
                <a:r>
                  <a:rPr lang="en-US" sz="2000" i="1" dirty="0"/>
                  <a:t>State </a:t>
                </a:r>
                <a:r>
                  <a:rPr lang="en-US" sz="2000" dirty="0"/>
                  <a:t>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dirty="0"/>
                  <a:t> enclose the </a:t>
                </a:r>
                <a:r>
                  <a:rPr lang="en-US" sz="2000" i="1" dirty="0"/>
                  <a:t>relevant</a:t>
                </a:r>
                <a:r>
                  <a:rPr lang="en-US" sz="2000" dirty="0"/>
                  <a:t> information to model the system’s behavior from stage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000" i="1" dirty="0"/>
                  <a:t> </a:t>
                </a:r>
                <a:r>
                  <a:rPr lang="en-US" sz="2000" dirty="0"/>
                  <a:t>onwards</a:t>
                </a:r>
                <a:r>
                  <a:rPr lang="en-US" sz="2000" i="1" dirty="0"/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01FC46F-E0B5-4D79-3E85-39D2E72579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643" y="3889164"/>
                <a:ext cx="6096000" cy="1015663"/>
              </a:xfrm>
              <a:prstGeom prst="rect">
                <a:avLst/>
              </a:prstGeom>
              <a:blipFill>
                <a:blip r:embed="rId5"/>
                <a:stretch>
                  <a:fillRect l="-1100" t="-3593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544984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AA27E-F488-F78D-2028-4A2687A9A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15E799F-A108-F84E-361E-7270CB682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8702" y="25715"/>
            <a:ext cx="9312374" cy="692040"/>
          </a:xfrm>
        </p:spPr>
        <p:txBody>
          <a:bodyPr wrap="square" anchor="b">
            <a:normAutofit/>
          </a:bodyPr>
          <a:lstStyle/>
          <a:p>
            <a:r>
              <a:rPr lang="en-GB" dirty="0"/>
              <a:t>Markov Decision Process (MDP)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11194ECE-7C1E-857D-725A-4BBE1BFA9644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334566" y="1052738"/>
                <a:ext cx="6405075" cy="2969743"/>
              </a:xfrm>
            </p:spPr>
            <p:txBody>
              <a:bodyPr wrap="square" anchor="t">
                <a:noAutofit/>
              </a:bodyPr>
              <a:lstStyle/>
              <a:p>
                <a:r>
                  <a:rPr lang="en-US" sz="2800" dirty="0"/>
                  <a:t>Stages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sz="2800" dirty="0"/>
              </a:p>
              <a:p>
                <a:r>
                  <a:rPr lang="en-US" sz="2800" dirty="0"/>
                  <a:t>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 …</m:t>
                        </m:r>
                      </m:e>
                    </m:d>
                  </m:oMath>
                </a14:m>
                <a:endParaRPr lang="en-US" sz="2800" dirty="0"/>
              </a:p>
              <a:p>
                <a:r>
                  <a:rPr lang="en-US" sz="2800" dirty="0"/>
                  <a:t>Decision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 …</m:t>
                        </m:r>
                      </m:e>
                    </m:d>
                  </m:oMath>
                </a14:m>
                <a:endParaRPr lang="en-US" sz="2800" b="0" dirty="0"/>
              </a:p>
              <a:p>
                <a:r>
                  <a:rPr lang="en-US" sz="2800" dirty="0"/>
                  <a:t>Dynamics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sz="2800" b="0" dirty="0"/>
              </a:p>
              <a:p>
                <a:r>
                  <a:rPr lang="en-US" sz="2800" dirty="0"/>
                  <a:t>Cost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11194ECE-7C1E-857D-725A-4BBE1BFA96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334566" y="1052738"/>
                <a:ext cx="6405075" cy="2969743"/>
              </a:xfrm>
              <a:blipFill>
                <a:blip r:embed="rId4"/>
                <a:stretch>
                  <a:fillRect l="-3425" t="-4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204E86C-6001-FC35-D2F6-2820D8764D23}"/>
                  </a:ext>
                </a:extLst>
              </p:cNvPr>
              <p:cNvSpPr txBox="1"/>
              <p:nvPr/>
            </p:nvSpPr>
            <p:spPr>
              <a:xfrm>
                <a:off x="133643" y="3889164"/>
                <a:ext cx="6096000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The </a:t>
                </a:r>
                <a:r>
                  <a:rPr lang="en-US" sz="2000" i="1" dirty="0"/>
                  <a:t>State </a:t>
                </a:r>
                <a:r>
                  <a:rPr lang="en-US" sz="2000" dirty="0"/>
                  <a:t>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dirty="0"/>
                  <a:t> enclose the </a:t>
                </a:r>
                <a:r>
                  <a:rPr lang="en-US" sz="2000" i="1" dirty="0"/>
                  <a:t>relevant</a:t>
                </a:r>
                <a:r>
                  <a:rPr lang="en-US" sz="2000" dirty="0"/>
                  <a:t> information to model the system’s behavior from stage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000" i="1" dirty="0"/>
                  <a:t> </a:t>
                </a:r>
                <a:r>
                  <a:rPr lang="en-US" sz="2000" dirty="0"/>
                  <a:t>onwards</a:t>
                </a:r>
                <a:r>
                  <a:rPr lang="en-US" sz="2000" i="1" dirty="0"/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204E86C-6001-FC35-D2F6-2820D8764D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643" y="3889164"/>
                <a:ext cx="6096000" cy="1015663"/>
              </a:xfrm>
              <a:prstGeom prst="rect">
                <a:avLst/>
              </a:prstGeom>
              <a:blipFill>
                <a:blip r:embed="rId5"/>
                <a:stretch>
                  <a:fillRect l="-1100" t="-3593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607D1C4-2BD1-B187-393B-7547B1371DE8}"/>
                  </a:ext>
                </a:extLst>
              </p:cNvPr>
              <p:cNvSpPr txBox="1"/>
              <p:nvPr/>
            </p:nvSpPr>
            <p:spPr>
              <a:xfrm>
                <a:off x="5159102" y="2641886"/>
                <a:ext cx="6336704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 err="1"/>
                  <a:t>a.k.a</a:t>
                </a:r>
                <a:r>
                  <a:rPr lang="en-US" sz="1600" dirty="0"/>
                  <a:t> “Transition Function”. It is generally stochastic, as in: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607D1C4-2BD1-B187-393B-7547B1371D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9102" y="2641886"/>
                <a:ext cx="6336704" cy="584775"/>
              </a:xfrm>
              <a:prstGeom prst="rect">
                <a:avLst/>
              </a:prstGeom>
              <a:blipFill>
                <a:blip r:embed="rId6"/>
                <a:stretch>
                  <a:fillRect l="-481" t="-3125" b="-7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262FBD3C-312A-5C3F-EAAF-66BF90420476}"/>
              </a:ext>
            </a:extLst>
          </p:cNvPr>
          <p:cNvSpPr txBox="1"/>
          <p:nvPr/>
        </p:nvSpPr>
        <p:spPr>
          <a:xfrm>
            <a:off x="5146940" y="2178564"/>
            <a:ext cx="60973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a.k.a. “actions” or “controls” or “manipulated variables”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9DA87E-38CA-B681-886F-FEEC17D47A26}"/>
              </a:ext>
            </a:extLst>
          </p:cNvPr>
          <p:cNvSpPr txBox="1"/>
          <p:nvPr/>
        </p:nvSpPr>
        <p:spPr>
          <a:xfrm>
            <a:off x="5159102" y="3179621"/>
            <a:ext cx="60973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a.k.a. “Reward” function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691167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C74D9-881C-E473-9847-977867DB2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9090D31-D0B3-5A0A-90EE-EBA869584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8702" y="25715"/>
            <a:ext cx="9312374" cy="692040"/>
          </a:xfrm>
        </p:spPr>
        <p:txBody>
          <a:bodyPr wrap="square" anchor="b">
            <a:normAutofit/>
          </a:bodyPr>
          <a:lstStyle/>
          <a:p>
            <a:r>
              <a:rPr lang="en-GB" dirty="0"/>
              <a:t>Markov Decision Process (MDP)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E36EF91E-51D1-DD11-A337-53C1F1EB150B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334566" y="1052738"/>
                <a:ext cx="6405075" cy="2969743"/>
              </a:xfrm>
            </p:spPr>
            <p:txBody>
              <a:bodyPr wrap="square" anchor="t">
                <a:noAutofit/>
              </a:bodyPr>
              <a:lstStyle/>
              <a:p>
                <a:r>
                  <a:rPr lang="en-US" sz="2800" dirty="0"/>
                  <a:t>Stages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sz="2800" dirty="0"/>
              </a:p>
              <a:p>
                <a:r>
                  <a:rPr lang="en-US" sz="2800" dirty="0"/>
                  <a:t>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 …</m:t>
                        </m:r>
                      </m:e>
                    </m:d>
                  </m:oMath>
                </a14:m>
                <a:endParaRPr lang="en-US" sz="2800" dirty="0"/>
              </a:p>
              <a:p>
                <a:r>
                  <a:rPr lang="en-US" sz="2800" dirty="0"/>
                  <a:t>Decision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 …</m:t>
                        </m:r>
                      </m:e>
                    </m:d>
                  </m:oMath>
                </a14:m>
                <a:endParaRPr lang="en-US" sz="2800" b="0" dirty="0"/>
              </a:p>
              <a:p>
                <a:r>
                  <a:rPr lang="en-US" sz="2800" dirty="0"/>
                  <a:t>Dynamics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sz="2800" b="0" dirty="0"/>
              </a:p>
              <a:p>
                <a:r>
                  <a:rPr lang="en-US" sz="2800" dirty="0"/>
                  <a:t>Cost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E36EF91E-51D1-DD11-A337-53C1F1EB15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334566" y="1052738"/>
                <a:ext cx="6405075" cy="2969743"/>
              </a:xfrm>
              <a:blipFill>
                <a:blip r:embed="rId4"/>
                <a:stretch>
                  <a:fillRect l="-3425" t="-4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21BA33A-5E29-5313-3110-99CB58207C92}"/>
                  </a:ext>
                </a:extLst>
              </p:cNvPr>
              <p:cNvSpPr txBox="1"/>
              <p:nvPr/>
            </p:nvSpPr>
            <p:spPr>
              <a:xfrm>
                <a:off x="133643" y="3889164"/>
                <a:ext cx="6096000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The </a:t>
                </a:r>
                <a:r>
                  <a:rPr lang="en-US" sz="2000" i="1" dirty="0"/>
                  <a:t>State </a:t>
                </a:r>
                <a:r>
                  <a:rPr lang="en-US" sz="2000" dirty="0"/>
                  <a:t>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dirty="0"/>
                  <a:t> enclose the relevant information to model the system’s behavior from stage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000" i="1" dirty="0"/>
                  <a:t> </a:t>
                </a:r>
                <a:r>
                  <a:rPr lang="en-US" sz="2000" dirty="0"/>
                  <a:t>onwards</a:t>
                </a:r>
                <a:r>
                  <a:rPr lang="en-US" sz="2000" i="1" dirty="0"/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21BA33A-5E29-5313-3110-99CB58207C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643" y="3889164"/>
                <a:ext cx="6096000" cy="1015663"/>
              </a:xfrm>
              <a:prstGeom prst="rect">
                <a:avLst/>
              </a:prstGeom>
              <a:blipFill>
                <a:blip r:embed="rId5"/>
                <a:stretch>
                  <a:fillRect l="-1100" t="-3593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F78295AC-E60F-7494-C12D-B983FCC6657B}"/>
              </a:ext>
            </a:extLst>
          </p:cNvPr>
          <p:cNvSpPr txBox="1"/>
          <p:nvPr/>
        </p:nvSpPr>
        <p:spPr>
          <a:xfrm>
            <a:off x="118234" y="4981780"/>
            <a:ext cx="68410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Are all sequential decision frameworks Markovian?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2483373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D3300-3B0B-7DE1-E1C7-DFA86C377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95A8EF8-6BE9-EC97-1555-CCC393F22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8702" y="25715"/>
            <a:ext cx="9312374" cy="692040"/>
          </a:xfrm>
        </p:spPr>
        <p:txBody>
          <a:bodyPr wrap="square" anchor="b">
            <a:normAutofit/>
          </a:bodyPr>
          <a:lstStyle/>
          <a:p>
            <a:r>
              <a:rPr lang="en-GB" dirty="0"/>
              <a:t>Markov Decision Process (MDP)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C0CF79AA-4D04-AF45-A4CE-0BB1BD63BB4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334566" y="1052738"/>
                <a:ext cx="6405075" cy="2969743"/>
              </a:xfrm>
            </p:spPr>
            <p:txBody>
              <a:bodyPr wrap="square" anchor="t">
                <a:noAutofit/>
              </a:bodyPr>
              <a:lstStyle/>
              <a:p>
                <a:r>
                  <a:rPr lang="en-US" sz="2800" dirty="0"/>
                  <a:t>Stages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sz="2800" dirty="0"/>
              </a:p>
              <a:p>
                <a:r>
                  <a:rPr lang="en-US" sz="2800" dirty="0"/>
                  <a:t>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 …</m:t>
                        </m:r>
                      </m:e>
                    </m:d>
                  </m:oMath>
                </a14:m>
                <a:endParaRPr lang="en-US" sz="2800" dirty="0"/>
              </a:p>
              <a:p>
                <a:r>
                  <a:rPr lang="en-US" sz="2800" dirty="0"/>
                  <a:t>Decision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 …</m:t>
                        </m:r>
                      </m:e>
                    </m:d>
                  </m:oMath>
                </a14:m>
                <a:endParaRPr lang="en-US" sz="2800" b="0" dirty="0"/>
              </a:p>
              <a:p>
                <a:r>
                  <a:rPr lang="en-US" sz="2800" dirty="0"/>
                  <a:t>Dynamics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sz="2800" b="0" dirty="0"/>
              </a:p>
              <a:p>
                <a:r>
                  <a:rPr lang="en-US" sz="2800" dirty="0"/>
                  <a:t>Cost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7DD7EE0D-1F83-31E5-78F3-A068F53C61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334566" y="1052738"/>
                <a:ext cx="6405075" cy="2969743"/>
              </a:xfrm>
              <a:blipFill>
                <a:blip r:embed="rId4"/>
                <a:stretch>
                  <a:fillRect l="-3425" t="-4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65C6669-D7C2-CA54-A158-8DF41B639839}"/>
                  </a:ext>
                </a:extLst>
              </p:cNvPr>
              <p:cNvSpPr txBox="1"/>
              <p:nvPr/>
            </p:nvSpPr>
            <p:spPr>
              <a:xfrm>
                <a:off x="133643" y="3889164"/>
                <a:ext cx="6096000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The </a:t>
                </a:r>
                <a:r>
                  <a:rPr lang="en-US" sz="2000" i="1" dirty="0"/>
                  <a:t>State </a:t>
                </a:r>
                <a:r>
                  <a:rPr lang="en-US" sz="2000" dirty="0"/>
                  <a:t>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dirty="0"/>
                  <a:t> enclose the relevant information to model the system’s behavior from stage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000" i="1" dirty="0"/>
                  <a:t> </a:t>
                </a:r>
                <a:r>
                  <a:rPr lang="en-US" sz="2000" dirty="0"/>
                  <a:t>onwards</a:t>
                </a:r>
                <a:r>
                  <a:rPr lang="en-US" sz="2000" i="1" dirty="0"/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73BF7C5-C56A-F3AA-F2C9-CAB944AAC7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643" y="3889164"/>
                <a:ext cx="6096000" cy="1015663"/>
              </a:xfrm>
              <a:prstGeom prst="rect">
                <a:avLst/>
              </a:prstGeom>
              <a:blipFill>
                <a:blip r:embed="rId5"/>
                <a:stretch>
                  <a:fillRect l="-1100" t="-3593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9670CFDA-82D1-A2E8-6364-011FAE24AE85}"/>
              </a:ext>
            </a:extLst>
          </p:cNvPr>
          <p:cNvSpPr txBox="1"/>
          <p:nvPr/>
        </p:nvSpPr>
        <p:spPr>
          <a:xfrm>
            <a:off x="118234" y="4981780"/>
            <a:ext cx="68410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Are all sequential decision frameworks Markovian?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Shape 2">
                <a:extLst>
                  <a:ext uri="{FF2B5EF4-FFF2-40B4-BE49-F238E27FC236}">
                    <a16:creationId xmlns:a16="http://schemas.microsoft.com/office/drawing/2014/main" id="{E9D6E1F3-C28E-F9D3-E222-5E894CEC86CB}"/>
                  </a:ext>
                </a:extLst>
              </p:cNvPr>
              <p:cNvSpPr txBox="1"/>
              <p:nvPr/>
            </p:nvSpPr>
            <p:spPr>
              <a:xfrm>
                <a:off x="6311230" y="1133418"/>
                <a:ext cx="5879183" cy="30876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>
                <a:noAutofit/>
              </a:bodyPr>
              <a:lstStyle/>
              <a:p>
                <a:r>
                  <a:rPr lang="en-US" sz="2000" spc="-1" dirty="0">
                    <a:solidFill>
                      <a:schemeClr val="tx1"/>
                    </a:solidFill>
                    <a:latin typeface="Arial"/>
                  </a:rPr>
                  <a:t>What if your fatigue at </a:t>
                </a:r>
                <a14:m>
                  <m:oMath xmlns:m="http://schemas.openxmlformats.org/officeDocument/2006/math">
                    <m:r>
                      <a:rPr lang="en-US" sz="2000" b="0" i="1" spc="-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pc="-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000" spc="-1" dirty="0">
                    <a:solidFill>
                      <a:schemeClr val="tx1"/>
                    </a:solidFill>
                    <a:latin typeface="Arial"/>
                  </a:rPr>
                  <a:t> depends also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2000" spc="-1" dirty="0">
                    <a:solidFill>
                      <a:schemeClr val="tx1"/>
                    </a:solidFill>
                    <a:latin typeface="Arial"/>
                  </a:rPr>
                  <a:t>? </a:t>
                </a:r>
              </a:p>
              <a:p>
                <a:r>
                  <a:rPr lang="en-US" sz="2000" b="0" spc="-1" dirty="0">
                    <a:solidFill>
                      <a:schemeClr val="tx1"/>
                    </a:solidFill>
                    <a:latin typeface="+mn-lt"/>
                  </a:rPr>
                  <a:t>Cost</a:t>
                </a:r>
                <a:r>
                  <a:rPr lang="en-US" sz="2000" b="0" spc="-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pc="-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spc="-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sz="2000" i="1" spc="-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spc="-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spc="-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000" i="1" spc="-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000" i="1" spc="-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spc="-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000" i="1" spc="-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000" i="1" spc="-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l-GR" sz="2000" spc="-1" dirty="0">
                  <a:solidFill>
                    <a:schemeClr val="tx1"/>
                  </a:solidFill>
                  <a:latin typeface="Arial"/>
                </a:endParaRPr>
              </a:p>
              <a:p>
                <a:r>
                  <a:rPr lang="en-US" sz="2000" spc="-1" dirty="0">
                    <a:solidFill>
                      <a:schemeClr val="tx1"/>
                    </a:solidFill>
                    <a:latin typeface="Arial"/>
                  </a:rPr>
                  <a:t>Decision: velocity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2000" spc="-1" dirty="0">
                  <a:solidFill>
                    <a:schemeClr val="tx1"/>
                  </a:solidFill>
                  <a:latin typeface="Arial"/>
                </a:endParaRPr>
              </a:p>
              <a:p>
                <a:r>
                  <a:rPr lang="en-US" sz="2000" spc="-1" dirty="0">
                    <a:solidFill>
                      <a:schemeClr val="tx1"/>
                    </a:solidFill>
                    <a:latin typeface="Arial"/>
                  </a:rPr>
                  <a:t>State: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pc="-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pc="-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pc="-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pc="-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pc="-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pc="-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lang="en-US" sz="2000" spc="-1" dirty="0">
                  <a:solidFill>
                    <a:schemeClr val="tx1"/>
                  </a:solidFill>
                  <a:latin typeface="Arial"/>
                </a:endParaRPr>
              </a:p>
              <a:p>
                <a:r>
                  <a:rPr lang="en-US" sz="2000" spc="-1" dirty="0">
                    <a:solidFill>
                      <a:schemeClr val="tx1"/>
                    </a:solidFill>
                    <a:latin typeface="Arial"/>
                  </a:rPr>
                  <a:t>Transition Dynamics: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000" b="0" i="1" spc="-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pc="-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000" b="0" i="1" spc="-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pc="-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b="0" i="1" spc="-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l-GR" sz="2000" b="0" i="1" spc="-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pc="-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000" b="0" i="1" spc="-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pc="-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US" sz="2000" b="0" i="1" spc="-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pc="-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000" b="0" i="1" spc="-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pc="-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l-GR" sz="2000" b="0" i="0" spc="-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m:rPr>
                          <m:sty m:val="p"/>
                        </m:rPr>
                        <a:rPr lang="en-US" sz="2000" b="0" i="0" spc="-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oMath>
                  </m:oMathPara>
                </a14:m>
                <a:endParaRPr lang="en-US" sz="2000" spc="-1" dirty="0">
                  <a:solidFill>
                    <a:srgbClr val="000000"/>
                  </a:solidFill>
                  <a:latin typeface="Arial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pc="-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pc="-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000" b="0" i="1" spc="-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pc="-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b="0" i="1" spc="-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pc="-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000" b="0" i="1" spc="-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pc="-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pc="-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000" b="0" i="1" spc="-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b="0" i="1" spc="-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000" b="0" i="1" spc="-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pc="-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000" b="0" i="1" spc="-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b="0" i="1" spc="-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000" b="0" i="1" spc="-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pc="-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000" b="0" i="1" spc="-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b="0" i="1" spc="-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spc="-1" dirty="0">
                  <a:solidFill>
                    <a:schemeClr val="tx1"/>
                  </a:solidFill>
                  <a:latin typeface="Arial"/>
                </a:endParaRPr>
              </a:p>
            </p:txBody>
          </p:sp>
        </mc:Choice>
        <mc:Fallback>
          <p:sp>
            <p:nvSpPr>
              <p:cNvPr id="4" name="TextShape 2">
                <a:extLst>
                  <a:ext uri="{FF2B5EF4-FFF2-40B4-BE49-F238E27FC236}">
                    <a16:creationId xmlns:a16="http://schemas.microsoft.com/office/drawing/2014/main" id="{E9D6E1F3-C28E-F9D3-E222-5E894CEC86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1230" y="1133418"/>
                <a:ext cx="5879183" cy="3087670"/>
              </a:xfrm>
              <a:prstGeom prst="rect">
                <a:avLst/>
              </a:prstGeom>
              <a:blipFill>
                <a:blip r:embed="rId6"/>
                <a:stretch>
                  <a:fillRect l="-2591" t="-2372" r="-6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41944906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9BD11-3B33-D556-B377-BC243342F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F7303C8-12B9-215F-9204-F6ECCE827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8702" y="25715"/>
            <a:ext cx="9312374" cy="692040"/>
          </a:xfrm>
        </p:spPr>
        <p:txBody>
          <a:bodyPr wrap="square" anchor="b">
            <a:normAutofit/>
          </a:bodyPr>
          <a:lstStyle/>
          <a:p>
            <a:r>
              <a:rPr lang="en-GB" dirty="0"/>
              <a:t>Markov Decision Process (MDP)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D8D697D9-757A-AC1D-D45E-A45B0E602F24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334566" y="1052738"/>
                <a:ext cx="6405075" cy="2969743"/>
              </a:xfrm>
            </p:spPr>
            <p:txBody>
              <a:bodyPr wrap="square" anchor="t">
                <a:noAutofit/>
              </a:bodyPr>
              <a:lstStyle/>
              <a:p>
                <a:r>
                  <a:rPr lang="en-US" sz="2800" dirty="0"/>
                  <a:t>Stages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sz="2800" dirty="0"/>
              </a:p>
              <a:p>
                <a:r>
                  <a:rPr lang="en-US" sz="2800" dirty="0"/>
                  <a:t>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 …</m:t>
                        </m:r>
                      </m:e>
                    </m:d>
                  </m:oMath>
                </a14:m>
                <a:endParaRPr lang="en-US" sz="2800" dirty="0"/>
              </a:p>
              <a:p>
                <a:r>
                  <a:rPr lang="en-US" sz="2800" dirty="0"/>
                  <a:t>Decision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 …</m:t>
                        </m:r>
                      </m:e>
                    </m:d>
                  </m:oMath>
                </a14:m>
                <a:endParaRPr lang="en-US" sz="2800" b="0" dirty="0"/>
              </a:p>
              <a:p>
                <a:r>
                  <a:rPr lang="en-US" sz="2800" dirty="0"/>
                  <a:t>Dynamics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sz="2800" b="0" dirty="0"/>
              </a:p>
              <a:p>
                <a:r>
                  <a:rPr lang="en-US" sz="2800" dirty="0"/>
                  <a:t>Cost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7DD7EE0D-1F83-31E5-78F3-A068F53C61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334566" y="1052738"/>
                <a:ext cx="6405075" cy="2969743"/>
              </a:xfrm>
              <a:blipFill>
                <a:blip r:embed="rId4"/>
                <a:stretch>
                  <a:fillRect l="-3425" t="-4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01ED83C-84AE-E85B-C178-FE81449AD7A7}"/>
                  </a:ext>
                </a:extLst>
              </p:cNvPr>
              <p:cNvSpPr txBox="1"/>
              <p:nvPr/>
            </p:nvSpPr>
            <p:spPr>
              <a:xfrm>
                <a:off x="133643" y="3889164"/>
                <a:ext cx="6096000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The </a:t>
                </a:r>
                <a:r>
                  <a:rPr lang="en-US" sz="2000" i="1" dirty="0"/>
                  <a:t>State </a:t>
                </a:r>
                <a:r>
                  <a:rPr lang="en-US" sz="2000" dirty="0"/>
                  <a:t>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dirty="0"/>
                  <a:t> enclose the relevant information to model the system’s behavior from stage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000" i="1" dirty="0"/>
                  <a:t> </a:t>
                </a:r>
                <a:r>
                  <a:rPr lang="en-US" sz="2000" dirty="0"/>
                  <a:t>onwards</a:t>
                </a:r>
                <a:r>
                  <a:rPr lang="en-US" sz="2000" i="1" dirty="0"/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73BF7C5-C56A-F3AA-F2C9-CAB944AAC7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643" y="3889164"/>
                <a:ext cx="6096000" cy="1015663"/>
              </a:xfrm>
              <a:prstGeom prst="rect">
                <a:avLst/>
              </a:prstGeom>
              <a:blipFill>
                <a:blip r:embed="rId5"/>
                <a:stretch>
                  <a:fillRect l="-1100" t="-3593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DE47DBCF-0BE5-1B2F-BBF6-C02355F9C05F}"/>
              </a:ext>
            </a:extLst>
          </p:cNvPr>
          <p:cNvSpPr txBox="1"/>
          <p:nvPr/>
        </p:nvSpPr>
        <p:spPr>
          <a:xfrm>
            <a:off x="118234" y="4981780"/>
            <a:ext cx="68410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Are all sequential decision frameworks Markovian?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Shape 2">
                <a:extLst>
                  <a:ext uri="{FF2B5EF4-FFF2-40B4-BE49-F238E27FC236}">
                    <a16:creationId xmlns:a16="http://schemas.microsoft.com/office/drawing/2014/main" id="{D72C03D2-54D9-FD81-BE8D-C3A8EC2C5CF3}"/>
                  </a:ext>
                </a:extLst>
              </p:cNvPr>
              <p:cNvSpPr txBox="1"/>
              <p:nvPr/>
            </p:nvSpPr>
            <p:spPr>
              <a:xfrm>
                <a:off x="6311230" y="1133418"/>
                <a:ext cx="5879183" cy="30876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>
                <a:noAutofit/>
              </a:bodyPr>
              <a:lstStyle/>
              <a:p>
                <a:r>
                  <a:rPr lang="en-US" sz="2000" spc="-1" dirty="0">
                    <a:solidFill>
                      <a:schemeClr val="tx1"/>
                    </a:solidFill>
                    <a:latin typeface="Arial"/>
                  </a:rPr>
                  <a:t>What if your fatigue at </a:t>
                </a:r>
                <a14:m>
                  <m:oMath xmlns:m="http://schemas.openxmlformats.org/officeDocument/2006/math">
                    <m:r>
                      <a:rPr lang="en-US" sz="2000" b="0" i="1" spc="-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pc="-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000" spc="-1" dirty="0">
                    <a:solidFill>
                      <a:schemeClr val="tx1"/>
                    </a:solidFill>
                    <a:latin typeface="Arial"/>
                  </a:rPr>
                  <a:t> depends also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2000" spc="-1" dirty="0">
                    <a:solidFill>
                      <a:schemeClr val="tx1"/>
                    </a:solidFill>
                    <a:latin typeface="Arial"/>
                  </a:rPr>
                  <a:t>? </a:t>
                </a:r>
              </a:p>
              <a:p>
                <a:r>
                  <a:rPr lang="en-US" sz="2000" b="0" spc="-1" dirty="0">
                    <a:solidFill>
                      <a:schemeClr val="tx1"/>
                    </a:solidFill>
                    <a:latin typeface="+mn-lt"/>
                  </a:rPr>
                  <a:t>Cost</a:t>
                </a:r>
                <a:r>
                  <a:rPr lang="en-US" sz="2000" b="0" spc="-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pc="-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spc="-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sz="2000" i="1" spc="-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spc="-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spc="-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000" i="1" spc="-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000" i="1" spc="-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spc="-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000" i="1" spc="-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000" i="1" spc="-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l-GR" sz="2000" spc="-1" dirty="0">
                  <a:solidFill>
                    <a:schemeClr val="tx1"/>
                  </a:solidFill>
                  <a:latin typeface="Arial"/>
                </a:endParaRPr>
              </a:p>
              <a:p>
                <a:r>
                  <a:rPr lang="en-US" sz="2000" spc="-1" dirty="0">
                    <a:solidFill>
                      <a:schemeClr val="tx1"/>
                    </a:solidFill>
                    <a:latin typeface="Arial"/>
                  </a:rPr>
                  <a:t>Decision: velocity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2000" spc="-1" dirty="0">
                  <a:solidFill>
                    <a:schemeClr val="tx1"/>
                  </a:solidFill>
                  <a:latin typeface="Arial"/>
                </a:endParaRPr>
              </a:p>
              <a:p>
                <a:r>
                  <a:rPr lang="en-US" sz="2000" spc="-1" dirty="0">
                    <a:solidFill>
                      <a:schemeClr val="tx1"/>
                    </a:solidFill>
                    <a:latin typeface="Arial"/>
                  </a:rPr>
                  <a:t>State: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pc="-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pc="-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pc="-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Sup>
                      <m:sSubSupPr>
                        <m:ctrlPr>
                          <a:rPr lang="en-US" sz="2000" b="0" i="1" spc="-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pc="-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pc="-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b="0" i="1" spc="-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𝑝𝑟𝑒𝑣</m:t>
                        </m:r>
                      </m:sup>
                    </m:sSubSup>
                  </m:oMath>
                </a14:m>
                <a:endParaRPr lang="en-US" sz="2000" spc="-1" dirty="0">
                  <a:solidFill>
                    <a:schemeClr val="tx1"/>
                  </a:solidFill>
                  <a:latin typeface="Arial"/>
                </a:endParaRPr>
              </a:p>
              <a:p>
                <a:r>
                  <a:rPr lang="en-US" sz="2000" spc="-1" dirty="0">
                    <a:solidFill>
                      <a:schemeClr val="tx1"/>
                    </a:solidFill>
                    <a:latin typeface="Arial"/>
                  </a:rPr>
                  <a:t>Transition Dynamics: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000" b="0" i="1" spc="-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pc="-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000" b="0" i="1" spc="-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pc="-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b="0" i="1" spc="-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l-GR" sz="2000" b="0" i="1" spc="-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pc="-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000" b="0" i="1" spc="-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pc="-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US" sz="2000" b="0" i="1" spc="-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pc="-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000" b="0" i="1" spc="-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pc="-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l-GR" sz="2000" b="0" i="0" spc="-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m:rPr>
                          <m:sty m:val="p"/>
                        </m:rPr>
                        <a:rPr lang="en-US" sz="2000" b="0" i="0" spc="-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oMath>
                  </m:oMathPara>
                </a14:m>
                <a:endParaRPr lang="en-US" sz="2000" spc="-1" dirty="0">
                  <a:solidFill>
                    <a:srgbClr val="000000"/>
                  </a:solidFill>
                  <a:latin typeface="Arial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pc="-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pc="-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000" b="0" i="1" spc="-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pc="-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b="0" i="1" spc="-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pc="-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000" b="0" i="1" spc="-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pc="-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pc="-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000" b="0" i="1" spc="-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b="0" i="1" spc="-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000" b="0" i="1" spc="-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pc="-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000" b="0" i="1" spc="-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b="0" i="1" spc="-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2000" i="1" spc="-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 spc="-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000" i="1" spc="-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2000" i="1" spc="-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𝑝𝑟𝑒𝑣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2000" spc="-1" dirty="0">
                  <a:solidFill>
                    <a:schemeClr val="tx1"/>
                  </a:solidFill>
                  <a:latin typeface="Arial"/>
                </a:endParaRPr>
              </a:p>
            </p:txBody>
          </p:sp>
        </mc:Choice>
        <mc:Fallback>
          <p:sp>
            <p:nvSpPr>
              <p:cNvPr id="4" name="TextShape 2">
                <a:extLst>
                  <a:ext uri="{FF2B5EF4-FFF2-40B4-BE49-F238E27FC236}">
                    <a16:creationId xmlns:a16="http://schemas.microsoft.com/office/drawing/2014/main" id="{D72C03D2-54D9-FD81-BE8D-C3A8EC2C5C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1230" y="1133418"/>
                <a:ext cx="5879183" cy="3087670"/>
              </a:xfrm>
              <a:prstGeom prst="rect">
                <a:avLst/>
              </a:prstGeom>
              <a:blipFill>
                <a:blip r:embed="rId6"/>
                <a:stretch>
                  <a:fillRect l="-2591" t="-2372" r="-6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4842E88A-6D8E-86B9-F01A-722F96089182}"/>
              </a:ext>
            </a:extLst>
          </p:cNvPr>
          <p:cNvSpPr txBox="1"/>
          <p:nvPr/>
        </p:nvSpPr>
        <p:spPr>
          <a:xfrm rot="20904453">
            <a:off x="6692200" y="4624397"/>
            <a:ext cx="31022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  <a:latin typeface="Bradley Hand ITC" panose="03070402050302030203" pitchFamily="66" charset="0"/>
              </a:rPr>
              <a:t>No, but they can be made Markovian with State Augmentation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3887989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CA253-9CC9-BB48-13E0-489A99477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BC41CFB-A24B-9652-A45E-0E1A6E8BACAB}"/>
              </a:ext>
            </a:extLst>
          </p:cNvPr>
          <p:cNvSpPr/>
          <p:nvPr/>
        </p:nvSpPr>
        <p:spPr>
          <a:xfrm>
            <a:off x="118234" y="5633303"/>
            <a:ext cx="10225136" cy="790924"/>
          </a:xfrm>
          <a:prstGeom prst="roundRect">
            <a:avLst/>
          </a:prstGeom>
          <a:solidFill>
            <a:srgbClr val="FFFF4B">
              <a:alpha val="76863"/>
            </a:srgbClr>
          </a:solidFill>
          <a:ln>
            <a:solidFill>
              <a:srgbClr val="0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10A7A62-D346-5DBA-431B-D9980A2E2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8702" y="25715"/>
            <a:ext cx="9312374" cy="692040"/>
          </a:xfrm>
        </p:spPr>
        <p:txBody>
          <a:bodyPr wrap="square" anchor="b">
            <a:normAutofit/>
          </a:bodyPr>
          <a:lstStyle/>
          <a:p>
            <a:r>
              <a:rPr lang="en-GB" dirty="0"/>
              <a:t>Markov Decision Process (MDP)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6874A1EE-9674-5B9E-7485-E27C10A1278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334566" y="1052738"/>
                <a:ext cx="6405075" cy="2969743"/>
              </a:xfrm>
            </p:spPr>
            <p:txBody>
              <a:bodyPr wrap="square" anchor="t">
                <a:noAutofit/>
              </a:bodyPr>
              <a:lstStyle/>
              <a:p>
                <a:r>
                  <a:rPr lang="en-US" sz="2800" dirty="0"/>
                  <a:t>Stages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sz="2800" dirty="0"/>
              </a:p>
              <a:p>
                <a:r>
                  <a:rPr lang="en-US" sz="2800" dirty="0"/>
                  <a:t>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 …</m:t>
                        </m:r>
                      </m:e>
                    </m:d>
                  </m:oMath>
                </a14:m>
                <a:endParaRPr lang="en-US" sz="2800" dirty="0"/>
              </a:p>
              <a:p>
                <a:r>
                  <a:rPr lang="en-US" sz="2800" dirty="0"/>
                  <a:t>Decision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 …</m:t>
                        </m:r>
                      </m:e>
                    </m:d>
                  </m:oMath>
                </a14:m>
                <a:endParaRPr lang="en-US" sz="2800" b="0" dirty="0"/>
              </a:p>
              <a:p>
                <a:r>
                  <a:rPr lang="en-US" sz="2800" dirty="0"/>
                  <a:t>Dynamics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sz="2800" b="0" dirty="0"/>
              </a:p>
              <a:p>
                <a:r>
                  <a:rPr lang="en-US" sz="2800" dirty="0"/>
                  <a:t>Cost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6874A1EE-9674-5B9E-7485-E27C10A127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334566" y="1052738"/>
                <a:ext cx="6405075" cy="2969743"/>
              </a:xfrm>
              <a:blipFill>
                <a:blip r:embed="rId4"/>
                <a:stretch>
                  <a:fillRect l="-3425" t="-4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16CB232-9F38-7539-11C9-AE97DB1708B3}"/>
                  </a:ext>
                </a:extLst>
              </p:cNvPr>
              <p:cNvSpPr txBox="1"/>
              <p:nvPr/>
            </p:nvSpPr>
            <p:spPr>
              <a:xfrm>
                <a:off x="133643" y="3889164"/>
                <a:ext cx="6096000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The </a:t>
                </a:r>
                <a:r>
                  <a:rPr lang="en-US" sz="2000" i="1" dirty="0"/>
                  <a:t>State </a:t>
                </a:r>
                <a:r>
                  <a:rPr lang="en-US" sz="2000" dirty="0"/>
                  <a:t>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dirty="0"/>
                  <a:t> enclose the relevant information to model the system’s behavior from stage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000" i="1" dirty="0"/>
                  <a:t> </a:t>
                </a:r>
                <a:r>
                  <a:rPr lang="en-US" sz="2000" dirty="0"/>
                  <a:t>onwards</a:t>
                </a:r>
                <a:r>
                  <a:rPr lang="en-US" sz="2000" i="1" dirty="0"/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16CB232-9F38-7539-11C9-AE97DB1708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643" y="3889164"/>
                <a:ext cx="6096000" cy="1015663"/>
              </a:xfrm>
              <a:prstGeom prst="rect">
                <a:avLst/>
              </a:prstGeom>
              <a:blipFill>
                <a:blip r:embed="rId5"/>
                <a:stretch>
                  <a:fillRect l="-1100" t="-3593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ADD2C17C-64A8-9F3F-7305-DC89CF44A962}"/>
              </a:ext>
            </a:extLst>
          </p:cNvPr>
          <p:cNvSpPr txBox="1"/>
          <p:nvPr/>
        </p:nvSpPr>
        <p:spPr>
          <a:xfrm>
            <a:off x="118234" y="4981780"/>
            <a:ext cx="68410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</a:rPr>
              <a:t>Are all sequential decision frameworks Markovian?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050F419-EEBA-A668-D8F0-3723DD04C498}"/>
                  </a:ext>
                </a:extLst>
              </p:cNvPr>
              <p:cNvSpPr txBox="1"/>
              <p:nvPr/>
            </p:nvSpPr>
            <p:spPr>
              <a:xfrm>
                <a:off x="118234" y="5633303"/>
                <a:ext cx="12239132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If the Dynamics of some state: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b="0" i="1" strike="sngStrike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trike="sngStrike" smtClean="0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en-US" sz="2000" b="0" i="1" strike="sngStrike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 do not depend on the decisions</a:t>
                </a:r>
                <a:br>
                  <a:rPr lang="en-US" sz="2000" dirty="0"/>
                </a:br>
                <a:r>
                  <a:rPr lang="en-US" sz="2000" dirty="0"/>
                  <a:t>we will call this an “</a:t>
                </a:r>
                <a:r>
                  <a:rPr lang="en-US" sz="2000" i="1" u="sng" dirty="0"/>
                  <a:t>exogenous </a:t>
                </a:r>
                <a:r>
                  <a:rPr lang="en-US" sz="2000" i="1" dirty="0"/>
                  <a:t>state variable”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050F419-EEBA-A668-D8F0-3723DD04C4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234" y="5633303"/>
                <a:ext cx="12239132" cy="707886"/>
              </a:xfrm>
              <a:prstGeom prst="rect">
                <a:avLst/>
              </a:prstGeom>
              <a:blipFill>
                <a:blip r:embed="rId6"/>
                <a:stretch>
                  <a:fillRect l="-498" t="-4310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ED0390C9-FABE-53A5-E7B2-32BC5E05A425}"/>
              </a:ext>
            </a:extLst>
          </p:cNvPr>
          <p:cNvSpPr txBox="1"/>
          <p:nvPr/>
        </p:nvSpPr>
        <p:spPr>
          <a:xfrm rot="21066337">
            <a:off x="10415995" y="5589240"/>
            <a:ext cx="16561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Can you think of examples?</a:t>
            </a:r>
            <a:endParaRPr lang="en-US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40502983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D5E5B-91A5-1043-E5DB-319426852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5BEDDA-B4C2-A2F1-2EF5-5D152A26C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8702" y="25715"/>
            <a:ext cx="9312374" cy="692040"/>
          </a:xfrm>
        </p:spPr>
        <p:txBody>
          <a:bodyPr wrap="square" anchor="b">
            <a:normAutofit/>
          </a:bodyPr>
          <a:lstStyle/>
          <a:p>
            <a:r>
              <a:rPr lang="en-GB" dirty="0"/>
              <a:t>Markov Decision Process (MDP)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EEBC7C66-2F78-4CCB-958A-CC1FCA29FA0B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334566" y="1052738"/>
                <a:ext cx="6405075" cy="2969743"/>
              </a:xfrm>
            </p:spPr>
            <p:txBody>
              <a:bodyPr wrap="square" anchor="t">
                <a:noAutofit/>
              </a:bodyPr>
              <a:lstStyle/>
              <a:p>
                <a:r>
                  <a:rPr lang="en-US" sz="2800" dirty="0"/>
                  <a:t>Stages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sz="2800" dirty="0"/>
              </a:p>
              <a:p>
                <a:r>
                  <a:rPr lang="en-US" sz="2800" dirty="0"/>
                  <a:t>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 …</m:t>
                        </m:r>
                      </m:e>
                    </m:d>
                  </m:oMath>
                </a14:m>
                <a:endParaRPr lang="en-US" sz="2800" dirty="0"/>
              </a:p>
              <a:p>
                <a:r>
                  <a:rPr lang="en-US" sz="2800" dirty="0"/>
                  <a:t>Decision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 …</m:t>
                        </m:r>
                      </m:e>
                    </m:d>
                  </m:oMath>
                </a14:m>
                <a:endParaRPr lang="en-US" sz="2800" b="0" dirty="0"/>
              </a:p>
              <a:p>
                <a:r>
                  <a:rPr lang="en-US" sz="2800" dirty="0"/>
                  <a:t>Dynamics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sz="2800" b="0" dirty="0"/>
              </a:p>
              <a:p>
                <a:r>
                  <a:rPr lang="en-US" sz="2800" dirty="0"/>
                  <a:t>Cost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EEBC7C66-2F78-4CCB-958A-CC1FCA29FA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334566" y="1052738"/>
                <a:ext cx="6405075" cy="2969743"/>
              </a:xfrm>
              <a:blipFill>
                <a:blip r:embed="rId4"/>
                <a:stretch>
                  <a:fillRect l="-3425" t="-4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8">
                <a:extLst>
                  <a:ext uri="{FF2B5EF4-FFF2-40B4-BE49-F238E27FC236}">
                    <a16:creationId xmlns:a16="http://schemas.microsoft.com/office/drawing/2014/main" id="{6E6060E8-B5C5-0420-72CF-C58EA010FBF7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6419942" y="1050431"/>
                <a:ext cx="5533113" cy="44099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>
                <a:lvl1pPr marL="198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14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6156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828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1026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1026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1026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1026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1026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FontTx/>
                  <a:buNone/>
                </a:pPr>
                <a:r>
                  <a:rPr lang="en-US" sz="11200" kern="0" dirty="0"/>
                  <a:t>Solution Concept:</a:t>
                </a:r>
              </a:p>
              <a:p>
                <a:pPr marL="0" indent="0">
                  <a:buFontTx/>
                  <a:buNone/>
                </a:pPr>
                <a:r>
                  <a:rPr lang="en-US" sz="11200" i="1" kern="0" dirty="0"/>
                  <a:t>Policy </a:t>
                </a:r>
                <a14:m>
                  <m:oMath xmlns:m="http://schemas.openxmlformats.org/officeDocument/2006/math">
                    <m:r>
                      <a:rPr lang="el-GR" sz="11200" b="0" i="1" kern="0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l-GR" sz="11200" b="0" i="1" kern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l-GR" sz="11200" i="1" kern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200" b="1" i="1" kern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200" b="1" i="1" kern="0" dirty="0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sz="11200" b="0" i="1" kern="0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1200" b="1" i="1" kern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sz="11200" b="0" i="1" kern="0" dirty="0" smtClea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l-GR" sz="11200" b="0" i="1" kern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1200" b="1" i="1" kern="0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200" b="1" i="1" kern="0" dirty="0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1200" b="0" i="1" kern="0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sz="11200" b="1" i="1" kern="0" dirty="0"/>
              </a:p>
              <a:p>
                <a:pPr marL="0" indent="0">
                  <a:buFontTx/>
                  <a:buNone/>
                </a:pPr>
                <a:endParaRPr lang="en-US" sz="11200" b="1" i="1" kern="0" dirty="0"/>
              </a:p>
              <a:p>
                <a:pPr marL="0" indent="0">
                  <a:buFontTx/>
                  <a:buNone/>
                </a:pPr>
                <a:r>
                  <a:rPr lang="en-US" sz="11200" i="1" kern="0" dirty="0"/>
                  <a:t>Optimal Policy: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2800" b="0" i="1" kern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2800" b="0" i="1" kern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2800" b="0" i="0" kern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l-GR" sz="12800" b="0" i="1" kern="0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2800" b="0" i="1" kern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12800" b="0" i="1" kern="0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2800" b="0" i="1" kern="0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12800" b="0" i="1" kern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800" b="0" i="1" kern="0" smtClean="0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sz="12800" b="0" i="1" kern="0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sz="12800" b="0" i="1" kern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800" b="1" i="1" kern="0" smtClean="0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sz="12800" b="0" i="1" kern="0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en-US" sz="12800" b="0" i="1" kern="0" smtClean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sSub>
                                        <m:sSubPr>
                                          <m:ctrlPr>
                                            <a:rPr lang="en-US" sz="12800" b="0" i="1" kern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800" b="1" i="1" kern="0" smtClean="0">
                                              <a:latin typeface="Cambria Math" panose="02040503050406030204" pitchFamily="18" charset="0"/>
                                            </a:rPr>
                                            <m:t>𝒖</m:t>
                                          </m:r>
                                        </m:e>
                                        <m:sub>
                                          <m:r>
                                            <a:rPr lang="en-US" sz="12800" b="0" i="1" kern="0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en-US" sz="12800" b="0" i="1" kern="0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  <m:r>
                                        <a:rPr lang="en-US" sz="12800" b="0" i="1" kern="0" smtClean="0">
                                          <a:latin typeface="Cambria Math" panose="02040503050406030204" pitchFamily="18" charset="0"/>
                                        </a:rPr>
                                        <m:t>~</m:t>
                                      </m:r>
                                      <m:r>
                                        <a:rPr lang="el-GR" sz="12800" b="0" i="1" kern="0" smtClean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12800" b="0" i="1" kern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96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  <m:r>
                                        <a:rPr lang="en-US" sz="96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sz="9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96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sz="96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en-US" sz="9600" i="1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sSub>
                                        <m:sSubPr>
                                          <m:ctrlPr>
                                            <a:rPr lang="en-US" sz="9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9600" b="1" i="1">
                                              <a:latin typeface="Cambria Math" panose="02040503050406030204" pitchFamily="18" charset="0"/>
                                            </a:rPr>
                                            <m:t>𝒖</m:t>
                                          </m:r>
                                        </m:e>
                                        <m:sub>
                                          <m:r>
                                            <a:rPr lang="en-US" sz="96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en-US" sz="96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</m:nary>
                            </m:e>
                          </m:d>
                        </m:e>
                      </m:func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sz="12800" b="1" i="1" kern="0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800" b="1" i="1" kern="0" dirty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sz="12800" i="1" kern="0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2800" b="1" i="1" kern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12800" i="1" kern="0" dirty="0"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l-GR" sz="12800" i="1" kern="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800" b="1" i="1" kern="0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800" b="1" i="1" kern="0" dirty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2800" i="1" kern="0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1280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2800" i="1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sz="1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800" i="1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12800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sz="1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28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8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2800" i="1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1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800" b="1" i="1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sz="1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m:rPr>
                          <m:nor/>
                        </m:rPr>
                        <a:rPr lang="en-US" sz="12800" kern="0" dirty="0"/>
                        <m:t>, </m:t>
                      </m:r>
                      <m:r>
                        <a:rPr lang="en-US" sz="12800" b="0" i="1" kern="0" dirty="0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sz="12800" i="1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12800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br>
                  <a:rPr lang="en-US" sz="12800" kern="0" dirty="0"/>
                </a:br>
                <a:endParaRPr lang="en-US" sz="12800" kern="0" dirty="0"/>
              </a:p>
            </p:txBody>
          </p:sp>
        </mc:Choice>
        <mc:Fallback>
          <p:sp>
            <p:nvSpPr>
              <p:cNvPr id="2" name="Content Placeholder 8">
                <a:extLst>
                  <a:ext uri="{FF2B5EF4-FFF2-40B4-BE49-F238E27FC236}">
                    <a16:creationId xmlns:a16="http://schemas.microsoft.com/office/drawing/2014/main" id="{6E6060E8-B5C5-0420-72CF-C58EA010FB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19942" y="1050431"/>
                <a:ext cx="5533113" cy="4409904"/>
              </a:xfrm>
              <a:prstGeom prst="rect">
                <a:avLst/>
              </a:prstGeom>
              <a:blipFill>
                <a:blip r:embed="rId5"/>
                <a:stretch>
                  <a:fillRect l="-3855" t="-442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57C43EE-7041-FA65-DB63-6A15F90D68A8}"/>
                  </a:ext>
                </a:extLst>
              </p:cNvPr>
              <p:cNvSpPr txBox="1"/>
              <p:nvPr/>
            </p:nvSpPr>
            <p:spPr>
              <a:xfrm>
                <a:off x="133643" y="3889164"/>
                <a:ext cx="6096000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The </a:t>
                </a:r>
                <a:r>
                  <a:rPr lang="en-US" sz="2000" i="1" dirty="0"/>
                  <a:t>State </a:t>
                </a:r>
                <a:r>
                  <a:rPr lang="en-US" sz="2000" dirty="0"/>
                  <a:t>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dirty="0"/>
                  <a:t> enclose the relevant information to model the system’s behavior from stage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000" i="1" dirty="0"/>
                  <a:t> </a:t>
                </a:r>
                <a:r>
                  <a:rPr lang="en-US" sz="2000" dirty="0"/>
                  <a:t>onwards</a:t>
                </a:r>
                <a:r>
                  <a:rPr lang="en-US" sz="2000" i="1" dirty="0"/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57C43EE-7041-FA65-DB63-6A15F90D68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643" y="3889164"/>
                <a:ext cx="6096000" cy="1015663"/>
              </a:xfrm>
              <a:prstGeom prst="rect">
                <a:avLst/>
              </a:prstGeom>
              <a:blipFill>
                <a:blip r:embed="rId6"/>
                <a:stretch>
                  <a:fillRect l="-1100" t="-3593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A44DD93C-9CF5-C81F-2590-4F7C3B21DADC}"/>
              </a:ext>
            </a:extLst>
          </p:cNvPr>
          <p:cNvSpPr txBox="1"/>
          <p:nvPr/>
        </p:nvSpPr>
        <p:spPr>
          <a:xfrm>
            <a:off x="118234" y="4981780"/>
            <a:ext cx="68410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</a:rPr>
              <a:t>Are all sequential decision frameworks Markovian?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071F145-E12B-EC82-1EF7-74DDB3A59452}"/>
                  </a:ext>
                </a:extLst>
              </p:cNvPr>
              <p:cNvSpPr txBox="1"/>
              <p:nvPr/>
            </p:nvSpPr>
            <p:spPr>
              <a:xfrm>
                <a:off x="118234" y="5633303"/>
                <a:ext cx="12239132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If the Dynamics of some state: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b="0" i="1" strike="sngStrike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trike="sngStrike" smtClean="0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en-US" sz="2000" b="0" i="1" strike="sngStrike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 do not depend on the decisions, </a:t>
                </a:r>
                <a:br>
                  <a:rPr lang="en-US" sz="2000" dirty="0"/>
                </a:br>
                <a:r>
                  <a:rPr lang="en-US" sz="2000" dirty="0"/>
                  <a:t>we will call this an “</a:t>
                </a:r>
                <a:r>
                  <a:rPr lang="en-US" sz="2000" i="1" u="sng" dirty="0"/>
                  <a:t>exogenous </a:t>
                </a:r>
                <a:r>
                  <a:rPr lang="en-US" sz="2000" i="1" dirty="0"/>
                  <a:t>state variable”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071F145-E12B-EC82-1EF7-74DDB3A594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234" y="5633303"/>
                <a:ext cx="12239132" cy="707886"/>
              </a:xfrm>
              <a:prstGeom prst="rect">
                <a:avLst/>
              </a:prstGeom>
              <a:blipFill>
                <a:blip r:embed="rId7"/>
                <a:stretch>
                  <a:fillRect l="-498" t="-4310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1894776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B2BF7-F13F-1D6C-5160-73C6500EF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09B2C17-D298-7694-33AE-CAAD740EB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8702" y="25715"/>
            <a:ext cx="9312374" cy="692040"/>
          </a:xfrm>
        </p:spPr>
        <p:txBody>
          <a:bodyPr wrap="square" anchor="b">
            <a:normAutofit/>
          </a:bodyPr>
          <a:lstStyle/>
          <a:p>
            <a:r>
              <a:rPr lang="en-GB" dirty="0"/>
              <a:t>Markov Decision Process (MDP)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5FCBC9EE-88B0-F1DD-8054-DD10E448C228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334566" y="1052738"/>
                <a:ext cx="6405075" cy="2969743"/>
              </a:xfrm>
            </p:spPr>
            <p:txBody>
              <a:bodyPr wrap="square" anchor="t">
                <a:noAutofit/>
              </a:bodyPr>
              <a:lstStyle/>
              <a:p>
                <a:r>
                  <a:rPr lang="en-US" sz="2800" dirty="0"/>
                  <a:t>Stages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sz="2800" dirty="0"/>
              </a:p>
              <a:p>
                <a:r>
                  <a:rPr lang="en-US" sz="2800" dirty="0"/>
                  <a:t>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 …</m:t>
                        </m:r>
                      </m:e>
                    </m:d>
                  </m:oMath>
                </a14:m>
                <a:endParaRPr lang="en-US" sz="2800" dirty="0"/>
              </a:p>
              <a:p>
                <a:r>
                  <a:rPr lang="en-US" sz="2800" dirty="0"/>
                  <a:t>Decision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 …</m:t>
                        </m:r>
                      </m:e>
                    </m:d>
                  </m:oMath>
                </a14:m>
                <a:endParaRPr lang="en-US" sz="2800" b="0" dirty="0"/>
              </a:p>
              <a:p>
                <a:r>
                  <a:rPr lang="en-US" sz="2800" dirty="0"/>
                  <a:t>Dynamics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sz="2800" b="0" dirty="0"/>
              </a:p>
              <a:p>
                <a:r>
                  <a:rPr lang="en-US" sz="2800" dirty="0"/>
                  <a:t>Cost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5FCBC9EE-88B0-F1DD-8054-DD10E448C2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334566" y="1052738"/>
                <a:ext cx="6405075" cy="2969743"/>
              </a:xfrm>
              <a:blipFill>
                <a:blip r:embed="rId4"/>
                <a:stretch>
                  <a:fillRect l="-3425" t="-4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7AA016A-7193-5A0F-650F-558D277E492F}"/>
                  </a:ext>
                </a:extLst>
              </p:cNvPr>
              <p:cNvSpPr txBox="1"/>
              <p:nvPr/>
            </p:nvSpPr>
            <p:spPr>
              <a:xfrm>
                <a:off x="133643" y="3889164"/>
                <a:ext cx="6096000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The </a:t>
                </a:r>
                <a:r>
                  <a:rPr lang="en-US" sz="2000" i="1" dirty="0"/>
                  <a:t>State </a:t>
                </a:r>
                <a:r>
                  <a:rPr lang="en-US" sz="2000" dirty="0"/>
                  <a:t>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dirty="0"/>
                  <a:t> enclose the relevant information to model the system’s behavior from stage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000" i="1" dirty="0"/>
                  <a:t> </a:t>
                </a:r>
                <a:r>
                  <a:rPr lang="en-US" sz="2000" dirty="0"/>
                  <a:t>onwards</a:t>
                </a:r>
                <a:r>
                  <a:rPr lang="en-US" sz="2000" i="1" dirty="0"/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7AA016A-7193-5A0F-650F-558D277E49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643" y="3889164"/>
                <a:ext cx="6096000" cy="1015663"/>
              </a:xfrm>
              <a:prstGeom prst="rect">
                <a:avLst/>
              </a:prstGeom>
              <a:blipFill>
                <a:blip r:embed="rId6"/>
                <a:stretch>
                  <a:fillRect l="-1100" t="-3593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6A905398-53EC-1E93-3BBB-E2124FABADA6}"/>
              </a:ext>
            </a:extLst>
          </p:cNvPr>
          <p:cNvSpPr txBox="1"/>
          <p:nvPr/>
        </p:nvSpPr>
        <p:spPr>
          <a:xfrm>
            <a:off x="118234" y="4981780"/>
            <a:ext cx="68410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</a:rPr>
              <a:t>Are all sequential decision frameworks Markovian?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2A7C994-C8DA-1665-C272-1C4114168484}"/>
                  </a:ext>
                </a:extLst>
              </p:cNvPr>
              <p:cNvSpPr txBox="1"/>
              <p:nvPr/>
            </p:nvSpPr>
            <p:spPr>
              <a:xfrm>
                <a:off x="118234" y="5633303"/>
                <a:ext cx="12239132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If the Dynamics of some state: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b="0" i="1" strike="sngStrike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trike="sngStrike" smtClean="0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en-US" sz="2000" b="0" i="1" strike="sngStrike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 do not depend on the decisions, </a:t>
                </a:r>
                <a:br>
                  <a:rPr lang="en-US" sz="2000" dirty="0"/>
                </a:br>
                <a:r>
                  <a:rPr lang="en-US" sz="2000" dirty="0"/>
                  <a:t>we will call this an “</a:t>
                </a:r>
                <a:r>
                  <a:rPr lang="en-US" sz="2000" i="1" u="sng" dirty="0"/>
                  <a:t>exogenous </a:t>
                </a:r>
                <a:r>
                  <a:rPr lang="en-US" sz="2000" i="1" dirty="0"/>
                  <a:t>state variable”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2A7C994-C8DA-1665-C272-1C41141684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234" y="5633303"/>
                <a:ext cx="12239132" cy="707886"/>
              </a:xfrm>
              <a:prstGeom prst="rect">
                <a:avLst/>
              </a:prstGeom>
              <a:blipFill>
                <a:blip r:embed="rId7"/>
                <a:stretch>
                  <a:fillRect l="-498" t="-4310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F9D631F8-64B4-FA97-9874-F8316947861D}"/>
              </a:ext>
            </a:extLst>
          </p:cNvPr>
          <p:cNvSpPr txBox="1"/>
          <p:nvPr/>
        </p:nvSpPr>
        <p:spPr>
          <a:xfrm>
            <a:off x="9695606" y="1380885"/>
            <a:ext cx="21134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a.k.a. Control Law or Agent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8">
                <a:extLst>
                  <a:ext uri="{FF2B5EF4-FFF2-40B4-BE49-F238E27FC236}">
                    <a16:creationId xmlns:a16="http://schemas.microsoft.com/office/drawing/2014/main" id="{00B106D2-861A-B4ED-9D4A-98299E279357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6419942" y="1050431"/>
                <a:ext cx="5533113" cy="44099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>
                <a:lvl1pPr marL="198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14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6156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828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1026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1026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1026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1026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1026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FontTx/>
                  <a:buNone/>
                </a:pPr>
                <a:r>
                  <a:rPr lang="en-US" sz="11200" kern="0" dirty="0"/>
                  <a:t>Solution Concept:</a:t>
                </a:r>
              </a:p>
              <a:p>
                <a:pPr marL="0" indent="0">
                  <a:buFontTx/>
                  <a:buNone/>
                </a:pPr>
                <a:r>
                  <a:rPr lang="en-US" sz="11200" i="1" kern="0" dirty="0"/>
                  <a:t>Policy </a:t>
                </a:r>
                <a14:m>
                  <m:oMath xmlns:m="http://schemas.openxmlformats.org/officeDocument/2006/math">
                    <m:r>
                      <a:rPr lang="el-GR" sz="11200" b="0" i="1" kern="0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l-GR" sz="11200" b="0" i="1" kern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l-GR" sz="11200" i="1" kern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200" b="1" i="1" kern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200" b="1" i="1" kern="0" dirty="0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sz="11200" b="0" i="1" kern="0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1200" b="1" i="1" kern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sz="11200" b="0" i="1" kern="0" dirty="0" smtClea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l-GR" sz="11200" b="0" i="1" kern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1200" b="1" i="1" kern="0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200" b="1" i="1" kern="0" dirty="0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1200" b="0" i="1" kern="0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sz="11200" b="1" i="1" kern="0" dirty="0"/>
              </a:p>
              <a:p>
                <a:pPr marL="0" indent="0">
                  <a:buFontTx/>
                  <a:buNone/>
                </a:pPr>
                <a:endParaRPr lang="en-US" sz="11200" b="1" i="1" kern="0" dirty="0"/>
              </a:p>
              <a:p>
                <a:pPr marL="0" indent="0">
                  <a:buFontTx/>
                  <a:buNone/>
                </a:pPr>
                <a:r>
                  <a:rPr lang="en-US" sz="11200" i="1" kern="0" dirty="0"/>
                  <a:t>Optimal Policy: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2800" b="0" i="1" kern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2800" b="0" i="1" kern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2800" b="0" i="0" kern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l-GR" sz="12800" b="0" i="1" kern="0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2800" b="0" i="1" kern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12800" b="0" i="1" kern="0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2800" b="0" i="1" kern="0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12800" b="0" i="1" kern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800" b="0" i="1" kern="0" smtClean="0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sz="12800" b="0" i="1" kern="0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sz="12800" b="0" i="1" kern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800" b="1" i="1" kern="0" smtClean="0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sz="12800" b="0" i="1" kern="0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en-US" sz="12800" b="0" i="1" kern="0" smtClean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sSub>
                                        <m:sSubPr>
                                          <m:ctrlPr>
                                            <a:rPr lang="en-US" sz="12800" b="0" i="1" kern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800" b="1" i="1" kern="0" smtClean="0">
                                              <a:latin typeface="Cambria Math" panose="02040503050406030204" pitchFamily="18" charset="0"/>
                                            </a:rPr>
                                            <m:t>𝒖</m:t>
                                          </m:r>
                                        </m:e>
                                        <m:sub>
                                          <m:r>
                                            <a:rPr lang="en-US" sz="12800" b="0" i="1" kern="0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en-US" sz="12800" b="0" i="1" kern="0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  <m:r>
                                        <a:rPr lang="en-US" sz="12800" b="0" i="1" kern="0" smtClean="0">
                                          <a:latin typeface="Cambria Math" panose="02040503050406030204" pitchFamily="18" charset="0"/>
                                        </a:rPr>
                                        <m:t>~</m:t>
                                      </m:r>
                                      <m:r>
                                        <a:rPr lang="el-GR" sz="12800" b="0" i="1" kern="0" smtClean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12800" b="0" i="1" kern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96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  <m:r>
                                        <a:rPr lang="en-US" sz="96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sz="9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96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sz="96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en-US" sz="9600" i="1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sSub>
                                        <m:sSubPr>
                                          <m:ctrlPr>
                                            <a:rPr lang="en-US" sz="9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9600" b="1" i="1">
                                              <a:latin typeface="Cambria Math" panose="02040503050406030204" pitchFamily="18" charset="0"/>
                                            </a:rPr>
                                            <m:t>𝒖</m:t>
                                          </m:r>
                                        </m:e>
                                        <m:sub>
                                          <m:r>
                                            <a:rPr lang="en-US" sz="96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en-US" sz="96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</m:nary>
                            </m:e>
                          </m:d>
                        </m:e>
                      </m:func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sz="12800" b="1" i="1" kern="0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800" b="1" i="1" kern="0" dirty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sz="12800" i="1" kern="0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2800" b="1" i="1" kern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12800" i="1" kern="0" dirty="0"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l-GR" sz="12800" i="1" kern="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800" b="1" i="1" kern="0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800" b="1" i="1" kern="0" dirty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2800" i="1" kern="0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1280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2800" i="1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sz="1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800" i="1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12800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sz="1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28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8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2800" i="1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1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800" b="1" i="1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sz="1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m:rPr>
                          <m:nor/>
                        </m:rPr>
                        <a:rPr lang="en-US" sz="12800" kern="0" dirty="0"/>
                        <m:t>, </m:t>
                      </m:r>
                      <m:r>
                        <a:rPr lang="en-US" sz="12800" b="0" i="1" kern="0" dirty="0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sz="12800" i="1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12800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br>
                  <a:rPr lang="en-US" sz="12800" kern="0" dirty="0"/>
                </a:br>
                <a:endParaRPr lang="en-US" sz="12800" kern="0" dirty="0"/>
              </a:p>
            </p:txBody>
          </p:sp>
        </mc:Choice>
        <mc:Fallback>
          <p:sp>
            <p:nvSpPr>
              <p:cNvPr id="4" name="Content Placeholder 8">
                <a:extLst>
                  <a:ext uri="{FF2B5EF4-FFF2-40B4-BE49-F238E27FC236}">
                    <a16:creationId xmlns:a16="http://schemas.microsoft.com/office/drawing/2014/main" id="{00B106D2-861A-B4ED-9D4A-98299E279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19942" y="1050431"/>
                <a:ext cx="5533113" cy="4409904"/>
              </a:xfrm>
              <a:prstGeom prst="rect">
                <a:avLst/>
              </a:prstGeom>
              <a:blipFill>
                <a:blip r:embed="rId8"/>
                <a:stretch>
                  <a:fillRect l="-3855" t="-442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9247921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FE175-5D50-9E77-8E6F-91BACDACA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TextShape 1">
            <a:extLst>
              <a:ext uri="{FF2B5EF4-FFF2-40B4-BE49-F238E27FC236}">
                <a16:creationId xmlns:a16="http://schemas.microsoft.com/office/drawing/2014/main" id="{EF071028-292B-92C9-0547-50281435EC51}"/>
              </a:ext>
            </a:extLst>
          </p:cNvPr>
          <p:cNvSpPr txBox="1"/>
          <p:nvPr/>
        </p:nvSpPr>
        <p:spPr>
          <a:xfrm>
            <a:off x="1818360" y="76320"/>
            <a:ext cx="8772166" cy="6746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3000" b="1" spc="-1" dirty="0">
                <a:solidFill>
                  <a:srgbClr val="000000"/>
                </a:solidFill>
                <a:latin typeface="Arial"/>
              </a:rPr>
              <a:t>Defining an MDP out of verbal explanations</a:t>
            </a:r>
            <a:endParaRPr lang="fr-FR" sz="30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Shape 2">
            <a:extLst>
              <a:ext uri="{FF2B5EF4-FFF2-40B4-BE49-F238E27FC236}">
                <a16:creationId xmlns:a16="http://schemas.microsoft.com/office/drawing/2014/main" id="{27FCC123-2343-A8CA-22E8-93B86C902630}"/>
              </a:ext>
            </a:extLst>
          </p:cNvPr>
          <p:cNvSpPr txBox="1"/>
          <p:nvPr/>
        </p:nvSpPr>
        <p:spPr>
          <a:xfrm>
            <a:off x="10154206" y="6541200"/>
            <a:ext cx="324000" cy="31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fld id="{73988310-29CA-4543-938F-4307B4B069BB}" type="slidenum">
              <a:rPr lang="en-US" sz="530" b="1" spc="-1">
                <a:solidFill>
                  <a:srgbClr val="FFFFFF"/>
                </a:solidFill>
                <a:latin typeface="Arial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23</a:t>
            </a:fld>
            <a:endParaRPr lang="en-US" sz="530" spc="-1">
              <a:solidFill>
                <a:prstClr val="black"/>
              </a:solidFill>
              <a:latin typeface="Times New Roman"/>
            </a:endParaRPr>
          </a:p>
        </p:txBody>
      </p:sp>
      <p:sp>
        <p:nvSpPr>
          <p:cNvPr id="245" name="CustomShape 3">
            <a:extLst>
              <a:ext uri="{FF2B5EF4-FFF2-40B4-BE49-F238E27FC236}">
                <a16:creationId xmlns:a16="http://schemas.microsoft.com/office/drawing/2014/main" id="{4D833AAD-D07B-F33A-7AA5-D40A4D53518B}"/>
              </a:ext>
            </a:extLst>
          </p:cNvPr>
          <p:cNvSpPr/>
          <p:nvPr/>
        </p:nvSpPr>
        <p:spPr>
          <a:xfrm>
            <a:off x="2101366" y="1789200"/>
            <a:ext cx="1154880" cy="685440"/>
          </a:xfrm>
          <a:prstGeom prst="roundRect">
            <a:avLst>
              <a:gd name="adj" fmla="val 16667"/>
            </a:avLst>
          </a:prstGeom>
          <a:ln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400" spc="-1">
                <a:solidFill>
                  <a:srgbClr val="FFFFFF"/>
                </a:solidFill>
                <a:latin typeface="Arial"/>
              </a:rPr>
              <a:t>Define</a:t>
            </a:r>
            <a:endParaRPr lang="en-US" sz="2400" spc="-1">
              <a:solidFill>
                <a:prstClr val="black"/>
              </a:solidFill>
              <a:latin typeface="Arial"/>
            </a:endParaRPr>
          </a:p>
        </p:txBody>
      </p:sp>
      <p:sp>
        <p:nvSpPr>
          <p:cNvPr id="246" name="CustomShape 4">
            <a:extLst>
              <a:ext uri="{FF2B5EF4-FFF2-40B4-BE49-F238E27FC236}">
                <a16:creationId xmlns:a16="http://schemas.microsoft.com/office/drawing/2014/main" id="{B47FAB77-1389-6600-C34E-BFE4B23890C6}"/>
              </a:ext>
            </a:extLst>
          </p:cNvPr>
          <p:cNvSpPr/>
          <p:nvPr/>
        </p:nvSpPr>
        <p:spPr>
          <a:xfrm>
            <a:off x="5320126" y="1788120"/>
            <a:ext cx="1218960" cy="685440"/>
          </a:xfrm>
          <a:prstGeom prst="roundRect">
            <a:avLst>
              <a:gd name="adj" fmla="val 16667"/>
            </a:avLst>
          </a:prstGeom>
          <a:ln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400" spc="-1">
                <a:solidFill>
                  <a:srgbClr val="FFFFFF"/>
                </a:solidFill>
                <a:latin typeface="Arial"/>
              </a:rPr>
              <a:t>Design</a:t>
            </a:r>
            <a:endParaRPr lang="en-US" sz="2400" spc="-1">
              <a:solidFill>
                <a:prstClr val="black"/>
              </a:solidFill>
              <a:latin typeface="Arial"/>
            </a:endParaRPr>
          </a:p>
        </p:txBody>
      </p:sp>
      <p:sp>
        <p:nvSpPr>
          <p:cNvPr id="247" name="CustomShape 5">
            <a:extLst>
              <a:ext uri="{FF2B5EF4-FFF2-40B4-BE49-F238E27FC236}">
                <a16:creationId xmlns:a16="http://schemas.microsoft.com/office/drawing/2014/main" id="{21CFDFA2-9FCF-D395-8D87-C5B327BC575B}"/>
              </a:ext>
            </a:extLst>
          </p:cNvPr>
          <p:cNvSpPr/>
          <p:nvPr/>
        </p:nvSpPr>
        <p:spPr>
          <a:xfrm>
            <a:off x="8738326" y="1791360"/>
            <a:ext cx="1460880" cy="685440"/>
          </a:xfrm>
          <a:prstGeom prst="roundRect">
            <a:avLst>
              <a:gd name="adj" fmla="val 16667"/>
            </a:avLst>
          </a:prstGeom>
          <a:ln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400" spc="-1" dirty="0">
                <a:solidFill>
                  <a:srgbClr val="FFFFFF"/>
                </a:solidFill>
              </a:rPr>
              <a:t>Evaluate</a:t>
            </a:r>
            <a:endParaRPr lang="en-US" sz="2400" spc="-1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248" name="CustomShape 6">
            <a:extLst>
              <a:ext uri="{FF2B5EF4-FFF2-40B4-BE49-F238E27FC236}">
                <a16:creationId xmlns:a16="http://schemas.microsoft.com/office/drawing/2014/main" id="{13CC3930-B788-9968-B905-E168A0183F35}"/>
              </a:ext>
            </a:extLst>
          </p:cNvPr>
          <p:cNvSpPr/>
          <p:nvPr/>
        </p:nvSpPr>
        <p:spPr>
          <a:xfrm flipV="1">
            <a:off x="3653326" y="2130840"/>
            <a:ext cx="1196640" cy="108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240">
            <a:solidFill>
              <a:srgbClr val="00B050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800">
              <a:solidFill>
                <a:prstClr val="black"/>
              </a:solidFill>
              <a:latin typeface="Arial"/>
            </a:endParaRPr>
          </a:p>
        </p:txBody>
      </p:sp>
      <p:sp>
        <p:nvSpPr>
          <p:cNvPr id="249" name="CustomShape 7">
            <a:extLst>
              <a:ext uri="{FF2B5EF4-FFF2-40B4-BE49-F238E27FC236}">
                <a16:creationId xmlns:a16="http://schemas.microsoft.com/office/drawing/2014/main" id="{0E1A875E-26DF-6727-5129-4430A6990A39}"/>
              </a:ext>
            </a:extLst>
          </p:cNvPr>
          <p:cNvSpPr/>
          <p:nvPr/>
        </p:nvSpPr>
        <p:spPr>
          <a:xfrm flipV="1">
            <a:off x="7146046" y="2126520"/>
            <a:ext cx="1196640" cy="108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240">
            <a:solidFill>
              <a:srgbClr val="00B050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800">
              <a:solidFill>
                <a:prstClr val="black"/>
              </a:solidFill>
              <a:latin typeface="Arial"/>
            </a:endParaRPr>
          </a:p>
        </p:txBody>
      </p:sp>
      <p:sp>
        <p:nvSpPr>
          <p:cNvPr id="250" name="CustomShape 8">
            <a:extLst>
              <a:ext uri="{FF2B5EF4-FFF2-40B4-BE49-F238E27FC236}">
                <a16:creationId xmlns:a16="http://schemas.microsoft.com/office/drawing/2014/main" id="{412B774A-6296-CEDB-34AE-5126ADD1C418}"/>
              </a:ext>
            </a:extLst>
          </p:cNvPr>
          <p:cNvSpPr/>
          <p:nvPr/>
        </p:nvSpPr>
        <p:spPr>
          <a:xfrm>
            <a:off x="1890766" y="1750680"/>
            <a:ext cx="1571760" cy="830520"/>
          </a:xfrm>
          <a:prstGeom prst="roundRect">
            <a:avLst>
              <a:gd name="adj" fmla="val 16667"/>
            </a:avLst>
          </a:prstGeom>
          <a:noFill/>
          <a:ln w="57240">
            <a:solidFill>
              <a:srgbClr val="FF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800">
              <a:solidFill>
                <a:prstClr val="black"/>
              </a:solidFill>
              <a:latin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87A18A-CCFF-996D-8EE5-9FC29FB0E9E7}"/>
              </a:ext>
            </a:extLst>
          </p:cNvPr>
          <p:cNvSpPr txBox="1"/>
          <p:nvPr/>
        </p:nvSpPr>
        <p:spPr>
          <a:xfrm>
            <a:off x="1523206" y="128246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" fontAlgn="auto">
              <a:spcBef>
                <a:spcPts val="431"/>
              </a:spcBef>
              <a:spcAft>
                <a:spcPts val="0"/>
              </a:spcAft>
              <a:buClr>
                <a:srgbClr val="C00000"/>
              </a:buClr>
            </a:pPr>
            <a:r>
              <a:rPr lang="en-US" sz="1800" b="1" spc="-1" dirty="0">
                <a:solidFill>
                  <a:srgbClr val="00B050"/>
                </a:solidFill>
                <a:latin typeface="Arial"/>
              </a:rPr>
              <a:t>Markov Decision Process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D1ABB5-C074-C0AE-60F5-924A8B355B5D}"/>
              </a:ext>
            </a:extLst>
          </p:cNvPr>
          <p:cNvSpPr txBox="1"/>
          <p:nvPr/>
        </p:nvSpPr>
        <p:spPr>
          <a:xfrm>
            <a:off x="1818360" y="2814985"/>
            <a:ext cx="303160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" fontAlgn="auto">
              <a:spcBef>
                <a:spcPts val="431"/>
              </a:spcBef>
              <a:spcAft>
                <a:spcPts val="0"/>
              </a:spcAft>
              <a:buClr>
                <a:srgbClr val="C00000"/>
              </a:buClr>
            </a:pPr>
            <a:r>
              <a:rPr lang="en-US" sz="1800" spc="-1" dirty="0">
                <a:solidFill>
                  <a:prstClr val="black"/>
                </a:solidFill>
                <a:latin typeface="Arial"/>
              </a:rPr>
              <a:t>How do we extract this information from the stakeholder?</a:t>
            </a:r>
          </a:p>
        </p:txBody>
      </p:sp>
    </p:spTree>
    <p:extLst>
      <p:ext uri="{BB962C8B-B14F-4D97-AF65-F5344CB8AC3E}">
        <p14:creationId xmlns:p14="http://schemas.microsoft.com/office/powerpoint/2010/main" val="19949237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6852D-2DE1-854B-3C26-3B08826C3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TextShape 1">
            <a:extLst>
              <a:ext uri="{FF2B5EF4-FFF2-40B4-BE49-F238E27FC236}">
                <a16:creationId xmlns:a16="http://schemas.microsoft.com/office/drawing/2014/main" id="{CB176630-6188-0B8D-BCD8-DA9DB1E71C62}"/>
              </a:ext>
            </a:extLst>
          </p:cNvPr>
          <p:cNvSpPr txBox="1"/>
          <p:nvPr/>
        </p:nvSpPr>
        <p:spPr>
          <a:xfrm>
            <a:off x="1818360" y="76320"/>
            <a:ext cx="8772166" cy="6746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3000" b="1" spc="-1" dirty="0">
                <a:solidFill>
                  <a:srgbClr val="000000"/>
                </a:solidFill>
                <a:latin typeface="Arial"/>
              </a:rPr>
              <a:t>Defining an MDP out of verbal explanations</a:t>
            </a:r>
            <a:endParaRPr lang="fr-FR" sz="30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Shape 2">
            <a:extLst>
              <a:ext uri="{FF2B5EF4-FFF2-40B4-BE49-F238E27FC236}">
                <a16:creationId xmlns:a16="http://schemas.microsoft.com/office/drawing/2014/main" id="{97687801-F67D-1BC6-7DFB-D2944BBE08D2}"/>
              </a:ext>
            </a:extLst>
          </p:cNvPr>
          <p:cNvSpPr txBox="1"/>
          <p:nvPr/>
        </p:nvSpPr>
        <p:spPr>
          <a:xfrm>
            <a:off x="10154206" y="6541200"/>
            <a:ext cx="324000" cy="31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fld id="{73988310-29CA-4543-938F-4307B4B069BB}" type="slidenum">
              <a:rPr lang="en-US" sz="530" b="1" spc="-1">
                <a:solidFill>
                  <a:srgbClr val="FFFFFF"/>
                </a:solidFill>
                <a:latin typeface="Arial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24</a:t>
            </a:fld>
            <a:endParaRPr lang="en-US" sz="530" spc="-1">
              <a:solidFill>
                <a:prstClr val="black"/>
              </a:solidFill>
              <a:latin typeface="Times New Roman"/>
            </a:endParaRPr>
          </a:p>
        </p:txBody>
      </p:sp>
      <p:sp>
        <p:nvSpPr>
          <p:cNvPr id="245" name="CustomShape 3">
            <a:extLst>
              <a:ext uri="{FF2B5EF4-FFF2-40B4-BE49-F238E27FC236}">
                <a16:creationId xmlns:a16="http://schemas.microsoft.com/office/drawing/2014/main" id="{AB9205B0-9514-1D6B-013B-0261E1B989C1}"/>
              </a:ext>
            </a:extLst>
          </p:cNvPr>
          <p:cNvSpPr/>
          <p:nvPr/>
        </p:nvSpPr>
        <p:spPr>
          <a:xfrm>
            <a:off x="2101366" y="1789200"/>
            <a:ext cx="1154880" cy="685440"/>
          </a:xfrm>
          <a:prstGeom prst="roundRect">
            <a:avLst>
              <a:gd name="adj" fmla="val 16667"/>
            </a:avLst>
          </a:prstGeom>
          <a:ln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400" spc="-1">
                <a:solidFill>
                  <a:srgbClr val="FFFFFF"/>
                </a:solidFill>
                <a:latin typeface="Arial"/>
              </a:rPr>
              <a:t>Define</a:t>
            </a:r>
            <a:endParaRPr lang="en-US" sz="2400" spc="-1">
              <a:solidFill>
                <a:prstClr val="black"/>
              </a:solidFill>
              <a:latin typeface="Arial"/>
            </a:endParaRPr>
          </a:p>
        </p:txBody>
      </p:sp>
      <p:sp>
        <p:nvSpPr>
          <p:cNvPr id="246" name="CustomShape 4">
            <a:extLst>
              <a:ext uri="{FF2B5EF4-FFF2-40B4-BE49-F238E27FC236}">
                <a16:creationId xmlns:a16="http://schemas.microsoft.com/office/drawing/2014/main" id="{9DD2749F-853C-2624-2CE3-D7FA4E8FD181}"/>
              </a:ext>
            </a:extLst>
          </p:cNvPr>
          <p:cNvSpPr/>
          <p:nvPr/>
        </p:nvSpPr>
        <p:spPr>
          <a:xfrm>
            <a:off x="5320126" y="1788120"/>
            <a:ext cx="1218960" cy="685440"/>
          </a:xfrm>
          <a:prstGeom prst="roundRect">
            <a:avLst>
              <a:gd name="adj" fmla="val 16667"/>
            </a:avLst>
          </a:prstGeom>
          <a:ln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400" spc="-1">
                <a:solidFill>
                  <a:srgbClr val="FFFFFF"/>
                </a:solidFill>
                <a:latin typeface="Arial"/>
              </a:rPr>
              <a:t>Design</a:t>
            </a:r>
            <a:endParaRPr lang="en-US" sz="2400" spc="-1">
              <a:solidFill>
                <a:prstClr val="black"/>
              </a:solidFill>
              <a:latin typeface="Arial"/>
            </a:endParaRPr>
          </a:p>
        </p:txBody>
      </p:sp>
      <p:sp>
        <p:nvSpPr>
          <p:cNvPr id="247" name="CustomShape 5">
            <a:extLst>
              <a:ext uri="{FF2B5EF4-FFF2-40B4-BE49-F238E27FC236}">
                <a16:creationId xmlns:a16="http://schemas.microsoft.com/office/drawing/2014/main" id="{1572964D-7DCE-88C9-EF20-21641EDD0D57}"/>
              </a:ext>
            </a:extLst>
          </p:cNvPr>
          <p:cNvSpPr/>
          <p:nvPr/>
        </p:nvSpPr>
        <p:spPr>
          <a:xfrm>
            <a:off x="8738326" y="1791360"/>
            <a:ext cx="1460880" cy="685440"/>
          </a:xfrm>
          <a:prstGeom prst="roundRect">
            <a:avLst>
              <a:gd name="adj" fmla="val 16667"/>
            </a:avLst>
          </a:prstGeom>
          <a:ln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400" spc="-1" dirty="0">
                <a:solidFill>
                  <a:srgbClr val="FFFFFF"/>
                </a:solidFill>
              </a:rPr>
              <a:t>Evaluate</a:t>
            </a:r>
            <a:endParaRPr lang="en-US" sz="2400" spc="-1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248" name="CustomShape 6">
            <a:extLst>
              <a:ext uri="{FF2B5EF4-FFF2-40B4-BE49-F238E27FC236}">
                <a16:creationId xmlns:a16="http://schemas.microsoft.com/office/drawing/2014/main" id="{3D9E8E95-FB4A-4776-435A-275B0AD23B6A}"/>
              </a:ext>
            </a:extLst>
          </p:cNvPr>
          <p:cNvSpPr/>
          <p:nvPr/>
        </p:nvSpPr>
        <p:spPr>
          <a:xfrm flipV="1">
            <a:off x="3653326" y="2130840"/>
            <a:ext cx="1196640" cy="108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240">
            <a:solidFill>
              <a:srgbClr val="00B050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800">
              <a:solidFill>
                <a:prstClr val="black"/>
              </a:solidFill>
              <a:latin typeface="Arial"/>
            </a:endParaRPr>
          </a:p>
        </p:txBody>
      </p:sp>
      <p:sp>
        <p:nvSpPr>
          <p:cNvPr id="249" name="CustomShape 7">
            <a:extLst>
              <a:ext uri="{FF2B5EF4-FFF2-40B4-BE49-F238E27FC236}">
                <a16:creationId xmlns:a16="http://schemas.microsoft.com/office/drawing/2014/main" id="{28887F8C-7CF1-5F74-88A8-E39042A826B4}"/>
              </a:ext>
            </a:extLst>
          </p:cNvPr>
          <p:cNvSpPr/>
          <p:nvPr/>
        </p:nvSpPr>
        <p:spPr>
          <a:xfrm flipV="1">
            <a:off x="7146046" y="2126520"/>
            <a:ext cx="1196640" cy="108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240">
            <a:solidFill>
              <a:srgbClr val="00B050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800">
              <a:solidFill>
                <a:prstClr val="black"/>
              </a:solidFill>
              <a:latin typeface="Arial"/>
            </a:endParaRPr>
          </a:p>
        </p:txBody>
      </p:sp>
      <p:sp>
        <p:nvSpPr>
          <p:cNvPr id="250" name="CustomShape 8">
            <a:extLst>
              <a:ext uri="{FF2B5EF4-FFF2-40B4-BE49-F238E27FC236}">
                <a16:creationId xmlns:a16="http://schemas.microsoft.com/office/drawing/2014/main" id="{81F749C4-91F5-7269-8C83-1B20C8895005}"/>
              </a:ext>
            </a:extLst>
          </p:cNvPr>
          <p:cNvSpPr/>
          <p:nvPr/>
        </p:nvSpPr>
        <p:spPr>
          <a:xfrm>
            <a:off x="1890766" y="1750680"/>
            <a:ext cx="1571760" cy="830520"/>
          </a:xfrm>
          <a:prstGeom prst="roundRect">
            <a:avLst>
              <a:gd name="adj" fmla="val 16667"/>
            </a:avLst>
          </a:prstGeom>
          <a:noFill/>
          <a:ln w="57240">
            <a:solidFill>
              <a:srgbClr val="FF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800">
              <a:solidFill>
                <a:prstClr val="black"/>
              </a:solidFill>
              <a:latin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4D67D3-901C-AF82-F7EA-97FCA1964227}"/>
              </a:ext>
            </a:extLst>
          </p:cNvPr>
          <p:cNvSpPr txBox="1"/>
          <p:nvPr/>
        </p:nvSpPr>
        <p:spPr>
          <a:xfrm>
            <a:off x="1523206" y="128246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" fontAlgn="auto">
              <a:spcBef>
                <a:spcPts val="431"/>
              </a:spcBef>
              <a:spcAft>
                <a:spcPts val="0"/>
              </a:spcAft>
              <a:buClr>
                <a:srgbClr val="C00000"/>
              </a:buClr>
            </a:pPr>
            <a:r>
              <a:rPr lang="en-US" sz="1800" b="1" spc="-1" dirty="0">
                <a:solidFill>
                  <a:srgbClr val="00B050"/>
                </a:solidFill>
                <a:latin typeface="Arial"/>
              </a:rPr>
              <a:t>Markov Decision Process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01AA23-7DC3-BA14-F8B1-A20E3B6A017D}"/>
              </a:ext>
            </a:extLst>
          </p:cNvPr>
          <p:cNvSpPr txBox="1"/>
          <p:nvPr/>
        </p:nvSpPr>
        <p:spPr>
          <a:xfrm>
            <a:off x="1818360" y="2814985"/>
            <a:ext cx="3196726" cy="3344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080" indent="-342720" fontAlgn="auto">
              <a:spcBef>
                <a:spcPts val="431"/>
              </a:spcBef>
              <a:spcAft>
                <a:spcPts val="0"/>
              </a:spcAft>
              <a:buClr>
                <a:srgbClr val="C00000"/>
              </a:buClr>
              <a:buFont typeface="StarSymbol"/>
              <a:buAutoNum type="arabicPeriod"/>
            </a:pPr>
            <a:r>
              <a:rPr lang="en-US" sz="1800" spc="-1" dirty="0">
                <a:solidFill>
                  <a:prstClr val="black"/>
                </a:solidFill>
                <a:latin typeface="Arial"/>
              </a:rPr>
              <a:t>What is our performance metric?</a:t>
            </a:r>
          </a:p>
          <a:p>
            <a:pPr marL="343080" indent="-342720" fontAlgn="auto">
              <a:spcBef>
                <a:spcPts val="431"/>
              </a:spcBef>
              <a:spcAft>
                <a:spcPts val="0"/>
              </a:spcAft>
              <a:buClr>
                <a:srgbClr val="C00000"/>
              </a:buClr>
              <a:buFont typeface="StarSymbol"/>
              <a:buAutoNum type="arabicPeriod"/>
            </a:pPr>
            <a:r>
              <a:rPr lang="en-US" sz="1800" spc="-1" dirty="0">
                <a:solidFill>
                  <a:prstClr val="black"/>
                </a:solidFill>
                <a:latin typeface="Arial"/>
              </a:rPr>
              <a:t>What do we get to decide / control?</a:t>
            </a:r>
          </a:p>
          <a:p>
            <a:pPr marL="343080" indent="-342720" fontAlgn="auto">
              <a:spcBef>
                <a:spcPts val="431"/>
              </a:spcBef>
              <a:spcAft>
                <a:spcPts val="0"/>
              </a:spcAft>
              <a:buClr>
                <a:srgbClr val="C00000"/>
              </a:buClr>
              <a:buFont typeface="StarSymbol"/>
              <a:buAutoNum type="arabicPeriod"/>
            </a:pPr>
            <a:r>
              <a:rPr lang="en-US" sz="1800" spc="-1" dirty="0">
                <a:solidFill>
                  <a:prstClr val="black"/>
                </a:solidFill>
                <a:latin typeface="Arial"/>
              </a:rPr>
              <a:t>How often do we get/need to make a decision?</a:t>
            </a:r>
          </a:p>
          <a:p>
            <a:pPr marL="343080" indent="-342720" fontAlgn="auto">
              <a:spcBef>
                <a:spcPts val="431"/>
              </a:spcBef>
              <a:spcAft>
                <a:spcPts val="0"/>
              </a:spcAft>
              <a:buClr>
                <a:srgbClr val="C00000"/>
              </a:buClr>
              <a:buFont typeface="StarSymbol"/>
              <a:buAutoNum type="arabicPeriod"/>
            </a:pPr>
            <a:r>
              <a:rPr lang="en-US" sz="1800" spc="-1" dirty="0">
                <a:solidFill>
                  <a:prstClr val="black"/>
                </a:solidFill>
                <a:latin typeface="Arial"/>
              </a:rPr>
              <a:t>What are the sources of uncertainty/ What can be </a:t>
            </a:r>
            <a:r>
              <a:rPr lang="en-US" sz="1800" i="1" spc="-1" dirty="0">
                <a:solidFill>
                  <a:prstClr val="black"/>
                </a:solidFill>
                <a:latin typeface="Arial"/>
              </a:rPr>
              <a:t>observed*</a:t>
            </a:r>
            <a:r>
              <a:rPr lang="en-US" sz="1800" spc="-1" dirty="0">
                <a:solidFill>
                  <a:prstClr val="black"/>
                </a:solidFill>
                <a:latin typeface="Arial"/>
              </a:rPr>
              <a:t>?</a:t>
            </a:r>
          </a:p>
          <a:p>
            <a:pPr marL="343080" indent="-342720" fontAlgn="auto">
              <a:spcBef>
                <a:spcPts val="431"/>
              </a:spcBef>
              <a:spcAft>
                <a:spcPts val="0"/>
              </a:spcAft>
              <a:buClr>
                <a:srgbClr val="C00000"/>
              </a:buClr>
              <a:buFont typeface="StarSymbol"/>
              <a:buAutoNum type="arabicPeriod"/>
            </a:pPr>
            <a:r>
              <a:rPr lang="en-US" sz="1800" spc="-1" dirty="0">
                <a:solidFill>
                  <a:prstClr val="black"/>
                </a:solidFill>
                <a:latin typeface="Arial"/>
              </a:rPr>
              <a:t>How exactly are these connected?</a:t>
            </a:r>
          </a:p>
        </p:txBody>
      </p:sp>
    </p:spTree>
    <p:extLst>
      <p:ext uri="{BB962C8B-B14F-4D97-AF65-F5344CB8AC3E}">
        <p14:creationId xmlns:p14="http://schemas.microsoft.com/office/powerpoint/2010/main" val="31707953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24F48-11F1-E1EF-3E7F-DDFCC3ED3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TextShape 1">
            <a:extLst>
              <a:ext uri="{FF2B5EF4-FFF2-40B4-BE49-F238E27FC236}">
                <a16:creationId xmlns:a16="http://schemas.microsoft.com/office/drawing/2014/main" id="{7A04837C-EE93-FC62-2822-75DB7074D03F}"/>
              </a:ext>
            </a:extLst>
          </p:cNvPr>
          <p:cNvSpPr txBox="1"/>
          <p:nvPr/>
        </p:nvSpPr>
        <p:spPr>
          <a:xfrm>
            <a:off x="1818360" y="76320"/>
            <a:ext cx="8772166" cy="6746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3000" b="1" spc="-1" dirty="0">
                <a:solidFill>
                  <a:srgbClr val="000000"/>
                </a:solidFill>
                <a:latin typeface="Arial"/>
              </a:rPr>
              <a:t>Defining an MDP out of verbal explanations</a:t>
            </a:r>
            <a:endParaRPr lang="fr-FR" sz="30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Shape 2">
            <a:extLst>
              <a:ext uri="{FF2B5EF4-FFF2-40B4-BE49-F238E27FC236}">
                <a16:creationId xmlns:a16="http://schemas.microsoft.com/office/drawing/2014/main" id="{8CE1EEF4-C542-3367-0446-7D7ACD5186F4}"/>
              </a:ext>
            </a:extLst>
          </p:cNvPr>
          <p:cNvSpPr txBox="1"/>
          <p:nvPr/>
        </p:nvSpPr>
        <p:spPr>
          <a:xfrm>
            <a:off x="10154206" y="6541200"/>
            <a:ext cx="324000" cy="31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fld id="{73988310-29CA-4543-938F-4307B4B069BB}" type="slidenum">
              <a:rPr lang="en-US" sz="530" b="1" spc="-1">
                <a:solidFill>
                  <a:srgbClr val="FFFFFF"/>
                </a:solidFill>
                <a:latin typeface="Arial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25</a:t>
            </a:fld>
            <a:endParaRPr lang="en-US" sz="530" spc="-1">
              <a:solidFill>
                <a:prstClr val="black"/>
              </a:solidFill>
              <a:latin typeface="Times New Roman"/>
            </a:endParaRPr>
          </a:p>
        </p:txBody>
      </p:sp>
      <p:sp>
        <p:nvSpPr>
          <p:cNvPr id="245" name="CustomShape 3">
            <a:extLst>
              <a:ext uri="{FF2B5EF4-FFF2-40B4-BE49-F238E27FC236}">
                <a16:creationId xmlns:a16="http://schemas.microsoft.com/office/drawing/2014/main" id="{B004ABFC-0448-1EAD-4CEA-BC27E1A4386D}"/>
              </a:ext>
            </a:extLst>
          </p:cNvPr>
          <p:cNvSpPr/>
          <p:nvPr/>
        </p:nvSpPr>
        <p:spPr>
          <a:xfrm>
            <a:off x="2101366" y="1789200"/>
            <a:ext cx="1154880" cy="685440"/>
          </a:xfrm>
          <a:prstGeom prst="roundRect">
            <a:avLst>
              <a:gd name="adj" fmla="val 16667"/>
            </a:avLst>
          </a:prstGeom>
          <a:ln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400" spc="-1">
                <a:solidFill>
                  <a:srgbClr val="FFFFFF"/>
                </a:solidFill>
                <a:latin typeface="Arial"/>
              </a:rPr>
              <a:t>Define</a:t>
            </a:r>
            <a:endParaRPr lang="en-US" sz="2400" spc="-1">
              <a:solidFill>
                <a:prstClr val="black"/>
              </a:solidFill>
              <a:latin typeface="Arial"/>
            </a:endParaRPr>
          </a:p>
        </p:txBody>
      </p:sp>
      <p:sp>
        <p:nvSpPr>
          <p:cNvPr id="246" name="CustomShape 4">
            <a:extLst>
              <a:ext uri="{FF2B5EF4-FFF2-40B4-BE49-F238E27FC236}">
                <a16:creationId xmlns:a16="http://schemas.microsoft.com/office/drawing/2014/main" id="{360ECBB9-1603-DEC4-BEF7-7B96FBD8CCE2}"/>
              </a:ext>
            </a:extLst>
          </p:cNvPr>
          <p:cNvSpPr/>
          <p:nvPr/>
        </p:nvSpPr>
        <p:spPr>
          <a:xfrm>
            <a:off x="5320126" y="1788120"/>
            <a:ext cx="1218960" cy="685440"/>
          </a:xfrm>
          <a:prstGeom prst="roundRect">
            <a:avLst>
              <a:gd name="adj" fmla="val 16667"/>
            </a:avLst>
          </a:prstGeom>
          <a:ln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400" spc="-1">
                <a:solidFill>
                  <a:srgbClr val="FFFFFF"/>
                </a:solidFill>
                <a:latin typeface="Arial"/>
              </a:rPr>
              <a:t>Design</a:t>
            </a:r>
            <a:endParaRPr lang="en-US" sz="2400" spc="-1">
              <a:solidFill>
                <a:prstClr val="black"/>
              </a:solidFill>
              <a:latin typeface="Arial"/>
            </a:endParaRPr>
          </a:p>
        </p:txBody>
      </p:sp>
      <p:sp>
        <p:nvSpPr>
          <p:cNvPr id="247" name="CustomShape 5">
            <a:extLst>
              <a:ext uri="{FF2B5EF4-FFF2-40B4-BE49-F238E27FC236}">
                <a16:creationId xmlns:a16="http://schemas.microsoft.com/office/drawing/2014/main" id="{9173A517-85F1-F1C0-F434-57D940F98767}"/>
              </a:ext>
            </a:extLst>
          </p:cNvPr>
          <p:cNvSpPr/>
          <p:nvPr/>
        </p:nvSpPr>
        <p:spPr>
          <a:xfrm>
            <a:off x="8738326" y="1791360"/>
            <a:ext cx="1460880" cy="685440"/>
          </a:xfrm>
          <a:prstGeom prst="roundRect">
            <a:avLst>
              <a:gd name="adj" fmla="val 16667"/>
            </a:avLst>
          </a:prstGeom>
          <a:ln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400" spc="-1" dirty="0">
                <a:solidFill>
                  <a:srgbClr val="FFFFFF"/>
                </a:solidFill>
              </a:rPr>
              <a:t>Evaluate</a:t>
            </a:r>
            <a:endParaRPr lang="en-US" sz="2400" spc="-1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248" name="CustomShape 6">
            <a:extLst>
              <a:ext uri="{FF2B5EF4-FFF2-40B4-BE49-F238E27FC236}">
                <a16:creationId xmlns:a16="http://schemas.microsoft.com/office/drawing/2014/main" id="{93D63B2A-9902-98E9-B45D-AC4BF9477F6D}"/>
              </a:ext>
            </a:extLst>
          </p:cNvPr>
          <p:cNvSpPr/>
          <p:nvPr/>
        </p:nvSpPr>
        <p:spPr>
          <a:xfrm flipV="1">
            <a:off x="3653326" y="2130840"/>
            <a:ext cx="1196640" cy="108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240">
            <a:solidFill>
              <a:srgbClr val="00B050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800">
              <a:solidFill>
                <a:prstClr val="black"/>
              </a:solidFill>
              <a:latin typeface="Arial"/>
            </a:endParaRPr>
          </a:p>
        </p:txBody>
      </p:sp>
      <p:sp>
        <p:nvSpPr>
          <p:cNvPr id="249" name="CustomShape 7">
            <a:extLst>
              <a:ext uri="{FF2B5EF4-FFF2-40B4-BE49-F238E27FC236}">
                <a16:creationId xmlns:a16="http://schemas.microsoft.com/office/drawing/2014/main" id="{0BD9607C-7506-883A-4E1F-BB0671E4E5B5}"/>
              </a:ext>
            </a:extLst>
          </p:cNvPr>
          <p:cNvSpPr/>
          <p:nvPr/>
        </p:nvSpPr>
        <p:spPr>
          <a:xfrm flipV="1">
            <a:off x="7146046" y="2126520"/>
            <a:ext cx="1196640" cy="108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240">
            <a:solidFill>
              <a:srgbClr val="00B050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800">
              <a:solidFill>
                <a:prstClr val="black"/>
              </a:solidFill>
              <a:latin typeface="Arial"/>
            </a:endParaRPr>
          </a:p>
        </p:txBody>
      </p:sp>
      <p:sp>
        <p:nvSpPr>
          <p:cNvPr id="250" name="CustomShape 8">
            <a:extLst>
              <a:ext uri="{FF2B5EF4-FFF2-40B4-BE49-F238E27FC236}">
                <a16:creationId xmlns:a16="http://schemas.microsoft.com/office/drawing/2014/main" id="{31EE3209-71AB-08A8-DA59-E8600E8578DF}"/>
              </a:ext>
            </a:extLst>
          </p:cNvPr>
          <p:cNvSpPr/>
          <p:nvPr/>
        </p:nvSpPr>
        <p:spPr>
          <a:xfrm>
            <a:off x="1890766" y="1750680"/>
            <a:ext cx="1571760" cy="830520"/>
          </a:xfrm>
          <a:prstGeom prst="roundRect">
            <a:avLst>
              <a:gd name="adj" fmla="val 16667"/>
            </a:avLst>
          </a:prstGeom>
          <a:noFill/>
          <a:ln w="57240">
            <a:solidFill>
              <a:srgbClr val="FF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800">
              <a:solidFill>
                <a:prstClr val="black"/>
              </a:solidFill>
              <a:latin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FD39DB-AEA7-0A4E-1C58-4C4C13551C9C}"/>
              </a:ext>
            </a:extLst>
          </p:cNvPr>
          <p:cNvSpPr txBox="1"/>
          <p:nvPr/>
        </p:nvSpPr>
        <p:spPr>
          <a:xfrm>
            <a:off x="1523206" y="128246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" fontAlgn="auto">
              <a:spcBef>
                <a:spcPts val="431"/>
              </a:spcBef>
              <a:spcAft>
                <a:spcPts val="0"/>
              </a:spcAft>
              <a:buClr>
                <a:srgbClr val="C00000"/>
              </a:buClr>
            </a:pPr>
            <a:r>
              <a:rPr lang="en-US" sz="1800" b="1" spc="-1" dirty="0">
                <a:solidFill>
                  <a:srgbClr val="00B050"/>
                </a:solidFill>
                <a:latin typeface="Arial"/>
              </a:rPr>
              <a:t>Markov Decision Process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9DBCBB-67F9-5948-6131-5D10B15FD936}"/>
              </a:ext>
            </a:extLst>
          </p:cNvPr>
          <p:cNvSpPr txBox="1"/>
          <p:nvPr/>
        </p:nvSpPr>
        <p:spPr>
          <a:xfrm>
            <a:off x="1818360" y="2814985"/>
            <a:ext cx="3196726" cy="3344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080" indent="-342720" fontAlgn="auto">
              <a:spcBef>
                <a:spcPts val="431"/>
              </a:spcBef>
              <a:spcAft>
                <a:spcPts val="0"/>
              </a:spcAft>
              <a:buClr>
                <a:srgbClr val="C00000"/>
              </a:buClr>
              <a:buFont typeface="StarSymbol"/>
              <a:buAutoNum type="arabicPeriod"/>
            </a:pPr>
            <a:r>
              <a:rPr lang="en-US" sz="1800" spc="-1" dirty="0">
                <a:solidFill>
                  <a:prstClr val="black"/>
                </a:solidFill>
                <a:latin typeface="Arial"/>
              </a:rPr>
              <a:t>What is our performance metric?</a:t>
            </a:r>
          </a:p>
          <a:p>
            <a:pPr marL="343080" indent="-342720" fontAlgn="auto">
              <a:spcBef>
                <a:spcPts val="431"/>
              </a:spcBef>
              <a:spcAft>
                <a:spcPts val="0"/>
              </a:spcAft>
              <a:buClr>
                <a:srgbClr val="C00000"/>
              </a:buClr>
              <a:buFont typeface="StarSymbol"/>
              <a:buAutoNum type="arabicPeriod"/>
            </a:pPr>
            <a:r>
              <a:rPr lang="en-US" sz="1800" spc="-1" dirty="0">
                <a:solidFill>
                  <a:prstClr val="black"/>
                </a:solidFill>
                <a:latin typeface="Arial"/>
              </a:rPr>
              <a:t>What do we get to decide / control?</a:t>
            </a:r>
          </a:p>
          <a:p>
            <a:pPr marL="343080" indent="-342720" fontAlgn="auto">
              <a:spcBef>
                <a:spcPts val="431"/>
              </a:spcBef>
              <a:spcAft>
                <a:spcPts val="0"/>
              </a:spcAft>
              <a:buClr>
                <a:srgbClr val="C00000"/>
              </a:buClr>
              <a:buFont typeface="StarSymbol"/>
              <a:buAutoNum type="arabicPeriod"/>
            </a:pPr>
            <a:r>
              <a:rPr lang="en-US" sz="1800" spc="-1" dirty="0">
                <a:solidFill>
                  <a:prstClr val="black"/>
                </a:solidFill>
                <a:latin typeface="Arial"/>
              </a:rPr>
              <a:t>How often do we get/need to make a decision?</a:t>
            </a:r>
          </a:p>
          <a:p>
            <a:pPr marL="343080" indent="-342720" fontAlgn="auto">
              <a:spcBef>
                <a:spcPts val="431"/>
              </a:spcBef>
              <a:spcAft>
                <a:spcPts val="0"/>
              </a:spcAft>
              <a:buClr>
                <a:srgbClr val="C00000"/>
              </a:buClr>
              <a:buFont typeface="StarSymbol"/>
              <a:buAutoNum type="arabicPeriod"/>
            </a:pPr>
            <a:r>
              <a:rPr lang="en-US" sz="1800" spc="-1" dirty="0">
                <a:solidFill>
                  <a:prstClr val="black"/>
                </a:solidFill>
                <a:latin typeface="Arial"/>
              </a:rPr>
              <a:t>What are the sources of uncertainty/ What can be </a:t>
            </a:r>
            <a:r>
              <a:rPr lang="en-US" sz="1800" i="1" spc="-1" dirty="0">
                <a:solidFill>
                  <a:prstClr val="black"/>
                </a:solidFill>
                <a:latin typeface="Arial"/>
              </a:rPr>
              <a:t>observed*</a:t>
            </a:r>
            <a:r>
              <a:rPr lang="en-US" sz="1800" spc="-1" dirty="0">
                <a:solidFill>
                  <a:prstClr val="black"/>
                </a:solidFill>
                <a:latin typeface="Arial"/>
              </a:rPr>
              <a:t>?</a:t>
            </a:r>
          </a:p>
          <a:p>
            <a:pPr marL="343080" indent="-342720" fontAlgn="auto">
              <a:spcBef>
                <a:spcPts val="431"/>
              </a:spcBef>
              <a:spcAft>
                <a:spcPts val="0"/>
              </a:spcAft>
              <a:buClr>
                <a:srgbClr val="C00000"/>
              </a:buClr>
              <a:buFont typeface="StarSymbol"/>
              <a:buAutoNum type="arabicPeriod"/>
            </a:pPr>
            <a:r>
              <a:rPr lang="en-US" sz="1800" spc="-1" dirty="0">
                <a:solidFill>
                  <a:prstClr val="black"/>
                </a:solidFill>
                <a:latin typeface="Arial"/>
              </a:rPr>
              <a:t>How exactly are these connected?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616C85-95CF-4BA2-35BB-44CF690C92DB}"/>
              </a:ext>
            </a:extLst>
          </p:cNvPr>
          <p:cNvSpPr txBox="1"/>
          <p:nvPr/>
        </p:nvSpPr>
        <p:spPr>
          <a:xfrm>
            <a:off x="46534" y="2814985"/>
            <a:ext cx="1988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" fontAlgn="auto">
              <a:spcBef>
                <a:spcPts val="431"/>
              </a:spcBef>
              <a:spcAft>
                <a:spcPts val="0"/>
              </a:spcAft>
              <a:buClr>
                <a:srgbClr val="C00000"/>
              </a:buClr>
            </a:pPr>
            <a:r>
              <a:rPr lang="en-US" sz="1800" spc="-1" dirty="0">
                <a:solidFill>
                  <a:prstClr val="black"/>
                </a:solidFill>
                <a:latin typeface="Arial"/>
              </a:rPr>
              <a:t>Cost Function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1EE530-76D6-DF56-519B-0C9A6A5958A9}"/>
              </a:ext>
            </a:extLst>
          </p:cNvPr>
          <p:cNvSpPr txBox="1"/>
          <p:nvPr/>
        </p:nvSpPr>
        <p:spPr>
          <a:xfrm>
            <a:off x="77844" y="3418102"/>
            <a:ext cx="19882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" fontAlgn="auto">
              <a:spcBef>
                <a:spcPts val="431"/>
              </a:spcBef>
              <a:spcAft>
                <a:spcPts val="0"/>
              </a:spcAft>
              <a:buClr>
                <a:srgbClr val="C00000"/>
              </a:buClr>
            </a:pPr>
            <a:r>
              <a:rPr lang="en-US" sz="1800" spc="-1" dirty="0">
                <a:solidFill>
                  <a:prstClr val="black"/>
                </a:solidFill>
                <a:latin typeface="Arial"/>
              </a:rPr>
              <a:t>Actions </a:t>
            </a:r>
            <a:br>
              <a:rPr lang="en-US" sz="1800" spc="-1" dirty="0">
                <a:solidFill>
                  <a:prstClr val="black"/>
                </a:solidFill>
                <a:latin typeface="Arial"/>
              </a:rPr>
            </a:br>
            <a:r>
              <a:rPr lang="en-US" sz="1800" spc="-1" dirty="0">
                <a:solidFill>
                  <a:prstClr val="black"/>
                </a:solidFill>
                <a:latin typeface="Arial"/>
              </a:rPr>
              <a:t>(+ constraints)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78FF10-EE2A-BEA0-8FC7-22FF416BDFE4}"/>
              </a:ext>
            </a:extLst>
          </p:cNvPr>
          <p:cNvSpPr txBox="1"/>
          <p:nvPr/>
        </p:nvSpPr>
        <p:spPr>
          <a:xfrm>
            <a:off x="87985" y="4026044"/>
            <a:ext cx="16147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" fontAlgn="auto">
              <a:spcBef>
                <a:spcPts val="431"/>
              </a:spcBef>
              <a:spcAft>
                <a:spcPts val="0"/>
              </a:spcAft>
              <a:buClr>
                <a:srgbClr val="C00000"/>
              </a:buClr>
            </a:pPr>
            <a:r>
              <a:rPr lang="en-US" sz="1800" spc="-1" dirty="0">
                <a:solidFill>
                  <a:prstClr val="black"/>
                </a:solidFill>
                <a:latin typeface="Arial"/>
              </a:rPr>
              <a:t>Time granularity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63DE09-A831-CBFA-8874-8B8FB186DAC5}"/>
              </a:ext>
            </a:extLst>
          </p:cNvPr>
          <p:cNvSpPr txBox="1"/>
          <p:nvPr/>
        </p:nvSpPr>
        <p:spPr>
          <a:xfrm>
            <a:off x="77844" y="4672375"/>
            <a:ext cx="16147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" fontAlgn="auto">
              <a:spcBef>
                <a:spcPts val="431"/>
              </a:spcBef>
              <a:spcAft>
                <a:spcPts val="0"/>
              </a:spcAft>
              <a:buClr>
                <a:srgbClr val="C00000"/>
              </a:buClr>
            </a:pPr>
            <a:r>
              <a:rPr lang="en-US" sz="1800" spc="-1" dirty="0">
                <a:solidFill>
                  <a:prstClr val="black"/>
                </a:solidFill>
                <a:latin typeface="Arial"/>
              </a:rPr>
              <a:t>State Variables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91528A-EC39-2E46-20CC-E58EF3E0EA77}"/>
              </a:ext>
            </a:extLst>
          </p:cNvPr>
          <p:cNvSpPr txBox="1"/>
          <p:nvPr/>
        </p:nvSpPr>
        <p:spPr>
          <a:xfrm>
            <a:off x="87985" y="5445224"/>
            <a:ext cx="16147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" fontAlgn="auto">
              <a:spcBef>
                <a:spcPts val="431"/>
              </a:spcBef>
              <a:spcAft>
                <a:spcPts val="0"/>
              </a:spcAft>
              <a:buClr>
                <a:srgbClr val="C00000"/>
              </a:buClr>
            </a:pPr>
            <a:r>
              <a:rPr lang="en-US" sz="1800" spc="-1" dirty="0">
                <a:solidFill>
                  <a:prstClr val="black"/>
                </a:solidFill>
                <a:latin typeface="Arial"/>
              </a:rPr>
              <a:t>Dynamics</a:t>
            </a:r>
            <a:br>
              <a:rPr lang="en-US" sz="1800" spc="-1" dirty="0">
                <a:solidFill>
                  <a:prstClr val="black"/>
                </a:solidFill>
                <a:latin typeface="Arial"/>
              </a:rPr>
            </a:br>
            <a:r>
              <a:rPr lang="en-US" sz="1800" spc="-1" dirty="0">
                <a:solidFill>
                  <a:prstClr val="black"/>
                </a:solidFill>
                <a:latin typeface="Arial"/>
              </a:rPr>
              <a:t>(+constraints)</a:t>
            </a:r>
          </a:p>
        </p:txBody>
      </p:sp>
    </p:spTree>
    <p:extLst>
      <p:ext uri="{BB962C8B-B14F-4D97-AF65-F5344CB8AC3E}">
        <p14:creationId xmlns:p14="http://schemas.microsoft.com/office/powerpoint/2010/main" val="37176417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96DB8-57AD-1CF5-1873-83FFA5946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Shape 1">
            <a:extLst>
              <a:ext uri="{FF2B5EF4-FFF2-40B4-BE49-F238E27FC236}">
                <a16:creationId xmlns:a16="http://schemas.microsoft.com/office/drawing/2014/main" id="{F1863C25-EE6C-398F-0DF2-26FD82B78E83}"/>
              </a:ext>
            </a:extLst>
          </p:cNvPr>
          <p:cNvSpPr txBox="1"/>
          <p:nvPr/>
        </p:nvSpPr>
        <p:spPr>
          <a:xfrm>
            <a:off x="3358902" y="111196"/>
            <a:ext cx="8095028" cy="4848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000" b="1" spc="-1" dirty="0">
                <a:solidFill>
                  <a:srgbClr val="000000"/>
                </a:solidFill>
                <a:latin typeface="Arial"/>
              </a:rPr>
              <a:t>The </a:t>
            </a:r>
            <a:r>
              <a:rPr lang="fr-FR" sz="3000" b="1" i="1" spc="-1" dirty="0" err="1">
                <a:solidFill>
                  <a:srgbClr val="000000"/>
                </a:solidFill>
                <a:latin typeface="Arial"/>
              </a:rPr>
              <a:t>student’s</a:t>
            </a:r>
            <a:r>
              <a:rPr lang="fr-FR" sz="3000" b="1" i="1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sz="3000" b="1" spc="-1" dirty="0" err="1">
                <a:solidFill>
                  <a:srgbClr val="000000"/>
                </a:solidFill>
                <a:latin typeface="Arial"/>
              </a:rPr>
              <a:t>problem</a:t>
            </a:r>
            <a:endParaRPr lang="fr-FR" sz="3000" spc="-1" dirty="0">
              <a:solidFill>
                <a:srgbClr val="000000"/>
              </a:solidFill>
              <a:latin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Shape 2">
                <a:extLst>
                  <a:ext uri="{FF2B5EF4-FFF2-40B4-BE49-F238E27FC236}">
                    <a16:creationId xmlns:a16="http://schemas.microsoft.com/office/drawing/2014/main" id="{7CE2CF14-4067-AE68-0E78-80E622B03449}"/>
                  </a:ext>
                </a:extLst>
              </p:cNvPr>
              <p:cNvSpPr txBox="1"/>
              <p:nvPr/>
            </p:nvSpPr>
            <p:spPr>
              <a:xfrm>
                <a:off x="4147672" y="851292"/>
                <a:ext cx="4552464" cy="337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𝑚𝑖𝑛𝑖𝑚𝑖𝑧𝑒</m:t>
                      </m:r>
                      <m:d>
                        <m:dPr>
                          <m:begChr m:val="{"/>
                          <m:endChr m:val="}"/>
                          <m:ctrlP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sub>
                            <m:sup/>
                            <m:e>
                              <m:d>
                                <m:dPr>
                                  <m:ctrlPr>
                                    <a:rPr kumimoji="0" lang="en-US" sz="2000" b="0" i="1" u="none" strike="noStrike" kern="1200" cap="none" spc="-1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kumimoji="0" lang="en-US" sz="2000" b="0" i="1" u="none" strike="noStrike" kern="1200" cap="none" spc="-1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kumimoji="0" lang="en-US" sz="2000" b="0" i="0" u="none" strike="noStrike" kern="1200" cap="none" spc="-1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w</m:t>
                                  </m:r>
                                  <m:sSub>
                                    <m:sSubPr>
                                      <m:ctrlP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sz="2000" b="0" i="0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subject</m:t>
                      </m:r>
                      <m:r>
                        <a:rPr kumimoji="0" lang="en-US" sz="2000" b="0" i="0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0" lang="en-US" sz="2000" b="0" i="0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to</m:t>
                      </m:r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kumimoji="0" lang="en-US" sz="2000" b="0" i="1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≥ </m:t>
                      </m:r>
                      <m:r>
                        <m:rPr>
                          <m:sty m:val="p"/>
                        </m:rPr>
                        <a:rPr kumimoji="0" lang="en-US" sz="2000" b="0" i="0" u="none" strike="noStrike" kern="1200" cap="none" spc="-1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Target</m:t>
                      </m:r>
                      <m:r>
                        <a:rPr kumimoji="0" lang="en-US" sz="2000" b="0" i="0" u="none" strike="noStrike" kern="1200" cap="none" spc="-1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kumimoji="0" lang="en-US" sz="20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kumimoji="0" lang="en-US" sz="2000" b="0" i="1" u="none" strike="noStrike" kern="1200" cap="none" spc="-1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0" lang="en-US" sz="2000" b="0" i="1" u="none" strike="noStrike" kern="1200" cap="none" spc="-1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kumimoji="0" lang="en-US" sz="2000" b="0" i="1" u="none" strike="noStrike" kern="1200" cap="none" spc="-1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kumimoji="0" lang="en-US" sz="2000" b="0" i="1" u="none" strike="noStrike" kern="1200" cap="none" spc="-1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  <m:sup/>
                            <m:e>
                              <m:f>
                                <m:fPr>
                                  <m:ctrlPr>
                                    <a:rPr kumimoji="0" lang="en-US" sz="2000" b="0" i="1" u="none" strike="noStrike" kern="1200" cap="none" spc="-1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2000" b="0" i="1" u="none" strike="noStrike" kern="1200" cap="none" spc="-1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kumimoji="0" lang="en-US" sz="2000" b="0" i="1" u="none" strike="noStrike" kern="1200" cap="none" spc="-1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kumimoji="0" lang="en-US" sz="2000" b="0" i="1" u="none" strike="noStrike" kern="1200" cap="none" spc="-1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kumimoji="0" lang="en-US" sz="2000" b="0" i="1" u="none" strike="noStrike" kern="1200" cap="none" spc="-1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sSub>
                                    <m:sSubPr>
                                      <m:ctrlP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kumimoji="0" lang="en-US" sz="2000" b="0" i="1" u="none" strike="noStrike" kern="1200" cap="none" spc="-1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kumimoji="0" lang="en-US" sz="2000" b="0" i="1" u="none" strike="noStrike" kern="1200" cap="none" spc="-1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kumimoji="0" lang="en-US" sz="2000" b="0" i="0" u="none" strike="noStrike" kern="1200" cap="none" spc="-1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Effect</m:t>
                                      </m:r>
                                    </m:e>
                                    <m:sub>
                                      <m:r>
                                        <a:rPr kumimoji="0" lang="en-US" sz="2000" b="0" i="1" u="none" strike="noStrike" kern="1200" cap="none" spc="-1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kumimoji="0" lang="en-US" sz="2000" b="0" i="1" u="none" strike="noStrike" kern="1200" cap="none" spc="-1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kumimoji="0" lang="en-US" sz="2000" b="0" i="1" u="none" strike="noStrike" kern="1200" cap="none" spc="-1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kumimoji="0" lang="en-US" sz="2000" b="0" i="1" u="none" strike="noStrike" kern="1200" cap="none" spc="-1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kumimoji="0" lang="en-US" sz="2000" b="0" i="0" u="none" strike="noStrike" kern="1200" cap="none" spc="-1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Difficulty</m:t>
                                      </m:r>
                                    </m:e>
                                    <m:sub>
                                      <m:r>
                                        <a:rPr kumimoji="0" lang="en-US" sz="2000" b="0" i="1" u="none" strike="noStrike" kern="1200" cap="none" spc="-1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nary>
                        </m:e>
                      </m:nary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0" lang="en-US" sz="2000" b="0" i="0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weight</m:t>
                          </m:r>
                        </m:e>
                        <m:sub>
                          <m: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,</m:t>
                      </m:r>
                    </m:oMath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sz="2000" b="0" i="1" u="none" strike="noStrike" kern="1200" cap="none" spc="-1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kumimoji="0" lang="en-US" sz="2000" b="0" i="1" u="none" strike="noStrike" kern="1200" cap="none" spc="-1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kumimoji="0" lang="en-US" sz="2000" b="0" i="1" u="none" strike="noStrike" kern="1200" cap="none" spc="-1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+4</m:t>
                          </m:r>
                          <m:sSub>
                            <m:sSubPr>
                              <m:ctrlP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kumimoji="0" lang="en-US" sz="2000" b="0" i="1" u="none" strike="noStrike" kern="1200" cap="none" spc="-1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≤</m:t>
                          </m:r>
                        </m:e>
                      </m:nary>
                      <m:d>
                        <m:dPr>
                          <m:ctrlP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kumimoji="0" lang="en-US" sz="2000" b="0" i="1" u="none" strike="noStrike" kern="1200" cap="none" spc="-1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sz="2000" b="0" i="1" u="none" strike="noStrike" kern="1200" cap="none" spc="-1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kumimoji="0" lang="en-US" sz="2000" b="0" i="1" u="none" strike="noStrike" kern="1200" cap="none" spc="-1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kumimoji="0" lang="en-US" sz="2000" b="0" i="0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Hours</m:t>
                      </m:r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, ∀</m:t>
                      </m:r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𝑊</m:t>
                      </m:r>
                    </m:oMath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∉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kumimoji="0" lang="en-US" sz="2000" b="0" i="1" u="none" strike="noStrike" kern="1200" cap="none" spc="-1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US" sz="2000" b="0" i="1" u="none" strike="noStrike" kern="1200" cap="none" spc="-1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0" lang="en-US" sz="2000" b="0" i="0" u="none" strike="noStrike" kern="1200" cap="none" spc="-1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start</m:t>
                                  </m:r>
                                </m:e>
                                <m:sub>
                                  <m:r>
                                    <a:rPr kumimoji="0" lang="en-US" sz="2000" b="0" i="1" u="none" strike="noStrike" kern="1200" cap="none" spc="-1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kumimoji="0" lang="en-US" sz="2000" b="0" i="1" u="none" strike="noStrike" kern="1200" cap="none" spc="-1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sSub>
                                <m:sSubPr>
                                  <m:ctrlPr>
                                    <a:rPr kumimoji="0" lang="en-US" sz="2000" b="0" i="1" u="none" strike="noStrike" kern="1200" cap="none" spc="-1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0" lang="en-US" sz="2000" b="0" i="0" u="none" strike="noStrike" kern="1200" cap="none" spc="-1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end</m:t>
                                  </m:r>
                                </m:e>
                                <m:sub>
                                  <m:r>
                                    <a:rPr kumimoji="0" lang="en-US" sz="2000" b="0" i="1" u="none" strike="noStrike" kern="1200" cap="none" spc="-1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d>
                        </m:sub>
                        <m:sup/>
                        <m:e>
                          <m:sSub>
                            <m:sSubPr>
                              <m:ctrlPr>
                                <a:rPr kumimoji="0" lang="en-US" sz="2000" b="0" i="1" u="none" strike="noStrike" kern="1200" cap="none" spc="-1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sz="2000" b="0" i="1" u="none" strike="noStrike" kern="1200" cap="none" spc="-1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kumimoji="0" lang="en-US" sz="2000" b="0" i="1" u="none" strike="noStrike" kern="1200" cap="none" spc="-1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kumimoji="0" lang="en-US" sz="2000" b="0" i="1" u="none" strike="noStrike" kern="1200" cap="none" spc="-1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kumimoji="0" lang="en-US" sz="2000" b="0" i="1" u="none" strike="noStrike" kern="1200" cap="none" spc="-1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=0, </m:t>
                          </m:r>
                        </m:e>
                      </m:nary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     ∀</m:t>
                      </m:r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kumimoji="0" lang="en-US" sz="20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</a:endParaRPr>
              </a:p>
            </p:txBody>
          </p:sp>
        </mc:Choice>
        <mc:Fallback xmlns="">
          <p:sp>
            <p:nvSpPr>
              <p:cNvPr id="12" name="TextShape 2">
                <a:extLst>
                  <a:ext uri="{FF2B5EF4-FFF2-40B4-BE49-F238E27FC236}">
                    <a16:creationId xmlns:a16="http://schemas.microsoft.com/office/drawing/2014/main" id="{7CE2CF14-4067-AE68-0E78-80E622B034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7672" y="851292"/>
                <a:ext cx="4552464" cy="3379900"/>
              </a:xfrm>
              <a:prstGeom prst="rect">
                <a:avLst/>
              </a:prstGeom>
              <a:blipFill>
                <a:blip r:embed="rId2"/>
                <a:stretch>
                  <a:fillRect l="-2544" b="-884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4C5FB8F-6717-B396-4466-9DF5B50D5A44}"/>
                  </a:ext>
                </a:extLst>
              </p:cNvPr>
              <p:cNvSpPr txBox="1"/>
              <p:nvPr/>
            </p:nvSpPr>
            <p:spPr>
              <a:xfrm>
                <a:off x="4134235" y="4443971"/>
                <a:ext cx="5040087" cy="9110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𝜉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lit/>
                            </m:r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Hours</m:t>
                          </m:r>
                        </m:den>
                      </m:f>
                      <m:d>
                        <m:d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2000" i="1" spc="-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000" i="1" spc="-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sz="2000" i="1" spc="-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2000" i="1" spc="-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2000" i="1" spc="-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spc="-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000" i="1" spc="-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 i="1" spc="-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i="1" spc="-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sz="2000" i="1" spc="-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+4</m:t>
                              </m:r>
                              <m:sSub>
                                <m:sSubPr>
                                  <m:ctrlPr>
                                    <a:rPr lang="en-US" sz="2000" i="1" spc="-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spc="-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000" i="1" spc="-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l-GR" sz="2000" b="0" i="1" spc="-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∀</m:t>
                      </m:r>
                      <m:r>
                        <a:rPr lang="en-US" sz="2000" b="0" i="1" spc="-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4C5FB8F-6717-B396-4466-9DF5B50D5A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4235" y="4443971"/>
                <a:ext cx="5040087" cy="9110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757AD22-FC05-A3C2-574C-CF432AD69970}"/>
                  </a:ext>
                </a:extLst>
              </p:cNvPr>
              <p:cNvSpPr txBox="1"/>
              <p:nvPr/>
            </p:nvSpPr>
            <p:spPr>
              <a:xfrm>
                <a:off x="4159454" y="5255050"/>
                <a:ext cx="4572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initial fatigue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757AD22-FC05-A3C2-574C-CF432AD699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9454" y="5255050"/>
                <a:ext cx="4572000" cy="369332"/>
              </a:xfrm>
              <a:prstGeom prst="rect">
                <a:avLst/>
              </a:prstGeom>
              <a:blipFill>
                <a:blip r:embed="rId5"/>
                <a:stretch>
                  <a:fillRect t="-4918"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5DA1993-3E29-D954-6839-3359996E1763}"/>
                  </a:ext>
                </a:extLst>
              </p:cNvPr>
              <p:cNvSpPr txBox="1"/>
              <p:nvPr/>
            </p:nvSpPr>
            <p:spPr>
              <a:xfrm>
                <a:off x="79407" y="925461"/>
                <a:ext cx="3986405" cy="53796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Sets: </a:t>
                </a:r>
                <a:b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</a:b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Weeks</a:t>
                </a:r>
                <a:r>
                  <a:rPr kumimoji="0" lang="en-US" sz="1800" b="0" i="1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(index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)</a:t>
                </a:r>
                <a:r>
                  <a:rPr kumimoji="0" lang="en-US" sz="1800" b="0" i="1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, </a:t>
                </a:r>
                <a:br>
                  <a:rPr kumimoji="0" lang="en-US" sz="1800" b="0" i="1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</a:b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Tasks/Concepts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kumimoji="0" lang="en-US" sz="1800" b="0" i="1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 </a:t>
                </a: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(index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Variables: </a:t>
                </a:r>
                <a:r>
                  <a:rPr kumimoji="0" lang="en-US" sz="1800" b="0" i="1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Effort (hours)</a:t>
                </a:r>
                <a:r>
                  <a:rPr kumimoji="0" lang="en-US" sz="1800" b="0" i="1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kumimoji="0" lang="en-US" sz="1800" b="0" i="1" u="none" strike="noStrike" kern="120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</a:rPr>
                  <a:t>Grade</a:t>
                </a: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-1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kumimoji="0" lang="en-US" sz="1800" b="0" i="1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Attend classes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kumimoji="0" lang="en-US" sz="1800" b="0" i="1" u="none" strike="noStrike" kern="1200" cap="none" spc="-1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kumimoji="0" lang="en-US" sz="18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Fatigue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kumimoji="0" lang="en-US" sz="18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Stressed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-1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-1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kumimoji="0" lang="en-US" sz="1800" b="0" i="1" u="none" strike="noStrike" kern="1200" cap="none" spc="-1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kumimoji="0" lang="en-US" sz="1800" b="0" i="1" u="none" strike="noStrike" kern="1200" cap="none" spc="-1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kumimoji="0" lang="en-US" sz="1800" b="0" i="1" u="none" strike="noStrike" kern="1200" cap="none" spc="-1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US" sz="1800" b="0" i="1" u="none" strike="noStrike" kern="1200" cap="none" spc="-1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kumimoji="0" lang="en-US" sz="18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Parameters: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Target (for the grade)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-1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sz="1800" b="0" i="0" u="none" strike="noStrike" kern="1200" cap="none" spc="-1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Effect</m:t>
                        </m:r>
                      </m:e>
                      <m:sub>
                        <m:r>
                          <a:rPr kumimoji="0" lang="en-US" sz="1800" b="0" i="1" u="none" strike="noStrike" kern="1200" cap="none" spc="-1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0" lang="en-US" sz="1800" b="0" i="1" u="none" strike="noStrike" kern="1200" cap="none" spc="-1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0" lang="en-US" sz="1800" b="0" i="1" u="none" strike="noStrike" kern="1200" cap="none" spc="-1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 (of classes on grade)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-1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sz="1800" b="0" i="0" u="none" strike="noStrike" kern="1200" cap="none" spc="-1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Difficulty</m:t>
                        </m:r>
                      </m:e>
                      <m:sub>
                        <m:r>
                          <a:rPr kumimoji="0" lang="en-US" sz="1800" b="0" i="1" u="none" strike="noStrike" kern="1200" cap="none" spc="-1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 (of a concept)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-1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sz="1800" b="0" i="0" u="none" strike="noStrike" kern="1200" cap="none" spc="-1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weight</m:t>
                        </m:r>
                      </m:e>
                      <m:sub>
                        <m:r>
                          <a:rPr kumimoji="0" lang="en-US" sz="1800" b="0" i="1" u="none" strike="noStrike" kern="1200" cap="none" spc="-1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 (of concept to grade)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Hours (available per week)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l-GR" sz="1800" b="0" i="1" u="none" strike="noStrike" kern="1200" cap="none" spc="-1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𝜉</m:t>
                    </m:r>
                  </m:oMath>
                </a14:m>
                <a:r>
                  <a:rPr kumimoji="0" lang="el-GR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 </a:t>
                </a: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(Fatigue Accumulation factor)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Threshold (where fatigue </a:t>
                </a: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sym typeface="Wingdings" panose="05000000000000000000" pitchFamily="2" charset="2"/>
                  </a:rPr>
                  <a:t> stressed</a:t>
                </a: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5DA1993-3E29-D954-6839-3359996E17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07" y="925461"/>
                <a:ext cx="3986405" cy="5379678"/>
              </a:xfrm>
              <a:prstGeom prst="rect">
                <a:avLst/>
              </a:prstGeom>
              <a:blipFill>
                <a:blip r:embed="rId6"/>
                <a:stretch>
                  <a:fillRect l="-1223" t="-794" b="-9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BB016E74-9783-786A-AC2A-6522F8F51D74}"/>
              </a:ext>
            </a:extLst>
          </p:cNvPr>
          <p:cNvSpPr txBox="1"/>
          <p:nvPr/>
        </p:nvSpPr>
        <p:spPr>
          <a:xfrm rot="20904453">
            <a:off x="8816474" y="4959608"/>
            <a:ext cx="26870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Bradley Hand ITC" panose="03070402050302030203" pitchFamily="66" charset="0"/>
              </a:rPr>
              <a:t>Let’s simplify it so that we don’t carry too much luggage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17E6FC05-8DD6-63AE-20B8-50A46294E147}"/>
              </a:ext>
            </a:extLst>
          </p:cNvPr>
          <p:cNvSpPr/>
          <p:nvPr/>
        </p:nvSpPr>
        <p:spPr>
          <a:xfrm>
            <a:off x="11246910" y="5820287"/>
            <a:ext cx="864096" cy="484852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0806741-0A81-482D-451C-2B730F9B1479}"/>
                  </a:ext>
                </a:extLst>
              </p:cNvPr>
              <p:cNvSpPr txBox="1"/>
              <p:nvPr/>
            </p:nvSpPr>
            <p:spPr>
              <a:xfrm>
                <a:off x="4147672" y="5611100"/>
                <a:ext cx="4275300" cy="861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l-GR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l-GR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−1</m:t>
                    </m:r>
                    <m:r>
                      <a:rPr lang="en-U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2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0806741-0A81-482D-451C-2B730F9B14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7672" y="5611100"/>
                <a:ext cx="4275300" cy="861774"/>
              </a:xfrm>
              <a:prstGeom prst="rect">
                <a:avLst/>
              </a:prstGeom>
              <a:blipFill>
                <a:blip r:embed="rId7"/>
                <a:stretch>
                  <a:fillRect b="-77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67994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299C4-2FA6-B670-FC14-CB6E13FF2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Shape 1">
            <a:extLst>
              <a:ext uri="{FF2B5EF4-FFF2-40B4-BE49-F238E27FC236}">
                <a16:creationId xmlns:a16="http://schemas.microsoft.com/office/drawing/2014/main" id="{DE2ADB50-492F-9D50-0A46-6AFAD70270C1}"/>
              </a:ext>
            </a:extLst>
          </p:cNvPr>
          <p:cNvSpPr txBox="1"/>
          <p:nvPr/>
        </p:nvSpPr>
        <p:spPr>
          <a:xfrm>
            <a:off x="3358902" y="111196"/>
            <a:ext cx="8095028" cy="4848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000" b="1" spc="-1" dirty="0">
                <a:solidFill>
                  <a:srgbClr val="000000"/>
                </a:solidFill>
                <a:latin typeface="Arial"/>
              </a:rPr>
              <a:t>The </a:t>
            </a:r>
            <a:r>
              <a:rPr lang="fr-FR" sz="3000" b="1" spc="-1" dirty="0" err="1">
                <a:solidFill>
                  <a:srgbClr val="000000"/>
                </a:solidFill>
                <a:latin typeface="Arial"/>
              </a:rPr>
              <a:t>student’s</a:t>
            </a:r>
            <a:r>
              <a:rPr lang="fr-FR" sz="3000" b="1" i="1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sz="3000" b="1" spc="-1" dirty="0" err="1">
                <a:solidFill>
                  <a:srgbClr val="000000"/>
                </a:solidFill>
                <a:latin typeface="Arial"/>
              </a:rPr>
              <a:t>problem</a:t>
            </a:r>
            <a:r>
              <a:rPr lang="fr-FR" sz="3000" b="1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sz="3000" b="1" spc="-1" dirty="0" err="1">
                <a:solidFill>
                  <a:srgbClr val="000000"/>
                </a:solidFill>
                <a:latin typeface="Arial"/>
              </a:rPr>
              <a:t>simplified</a:t>
            </a:r>
            <a:endParaRPr lang="fr-FR" sz="3000" spc="-1" dirty="0">
              <a:solidFill>
                <a:srgbClr val="000000"/>
              </a:solidFill>
              <a:latin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Shape 2">
                <a:extLst>
                  <a:ext uri="{FF2B5EF4-FFF2-40B4-BE49-F238E27FC236}">
                    <a16:creationId xmlns:a16="http://schemas.microsoft.com/office/drawing/2014/main" id="{0DB1FEAF-16EE-6671-9E3A-411A48C8F213}"/>
                  </a:ext>
                </a:extLst>
              </p:cNvPr>
              <p:cNvSpPr txBox="1"/>
              <p:nvPr/>
            </p:nvSpPr>
            <p:spPr>
              <a:xfrm>
                <a:off x="4147672" y="851292"/>
                <a:ext cx="4552464" cy="32257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𝑚𝑖𝑛𝑖𝑚𝑖𝑧𝑒</m:t>
                      </m:r>
                      <m:d>
                        <m:dPr>
                          <m:begChr m:val="{"/>
                          <m:endChr m:val="}"/>
                          <m:ctrlP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sub>
                            <m:sup/>
                            <m:e>
                              <m:d>
                                <m:dPr>
                                  <m:ctrlPr>
                                    <a:rPr kumimoji="0" lang="en-US" sz="2000" b="0" i="1" u="none" strike="noStrike" kern="1200" cap="none" spc="-1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0" lang="en-US" sz="2000" b="0" i="1" u="none" strike="noStrike" kern="1200" cap="none" spc="-1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kumimoji="0" lang="en-US" sz="2000" b="0" i="1" u="none" strike="noStrike" kern="1200" cap="none" spc="-1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kumimoji="0" lang="en-US" sz="2000" b="0" i="0" u="none" strike="noStrike" kern="1200" cap="none" spc="-1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w</m:t>
                                  </m:r>
                                  <m:sSub>
                                    <m:sSubPr>
                                      <m:ctrlP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2000" b="0" i="1" u="none" strike="noStrike" kern="1200" cap="none" spc="-1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sz="2000" b="0" i="0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subject</m:t>
                      </m:r>
                      <m:r>
                        <a:rPr kumimoji="0" lang="en-US" sz="2000" b="0" i="0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0" lang="en-US" sz="2000" b="0" i="0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to</m:t>
                      </m:r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kumimoji="0" lang="en-US" sz="20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2000" i="1" spc="-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br>
                  <a:rPr kumimoji="0" lang="en-US" sz="2000" b="0" i="1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</a:br>
                <a:endParaRPr kumimoji="0" lang="en-US" sz="2000" b="0" i="1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000" b="0" i="1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0≤</m:t>
                      </m:r>
                      <m:sSub>
                        <m:sSubPr>
                          <m:ctrlPr>
                            <a:rPr kumimoji="0" lang="en-US" sz="2000" b="0" i="1" u="non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sz="2000" b="0" i="1" u="non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0" lang="en-US" sz="2000" b="0" i="1" u="non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0" lang="en-US" sz="2000" b="0" i="1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≤</m:t>
                      </m:r>
                      <m:r>
                        <m:rPr>
                          <m:sty m:val="p"/>
                        </m:rPr>
                        <a:rPr kumimoji="0" lang="en-US" sz="2000" b="0" i="0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Hours</m:t>
                      </m:r>
                      <m:r>
                        <a:rPr kumimoji="0" lang="en-US" sz="2000" b="0" i="0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0" lang="en-US" sz="2000" b="0" i="1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kumimoji="0" lang="en-US" sz="2000" b="0" i="1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kumimoji="0" lang="en-US" sz="2000" b="0" i="0" u="non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</a:endParaRPr>
              </a:p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2000" i="1">
                          <a:latin typeface="Cambria Math" panose="02040503050406030204" pitchFamily="18" charset="0"/>
                        </a:rPr>
                        <m:t>𝜉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lit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Hours</m:t>
                          </m:r>
                        </m:den>
                      </m:f>
                      <m:r>
                        <a:rPr lang="el-GR" sz="2000" i="1" spc="-1">
                          <a:latin typeface="Cambria Math" panose="02040503050406030204" pitchFamily="18" charset="0"/>
                        </a:rPr>
                        <m:t>, ∀</m:t>
                      </m:r>
                      <m:r>
                        <a:rPr lang="en-US" sz="2000" i="1" spc="-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2000" spc="-1" dirty="0"/>
              </a:p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1800" dirty="0"/>
                  <a:t>initial fatigue</a:t>
                </a:r>
                <a:endParaRPr lang="en-US" sz="2000" dirty="0"/>
              </a:p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 dirty="0"/>
              </a:p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</a:rPr>
                  <a:t> </a:t>
                </a:r>
              </a:p>
            </p:txBody>
          </p:sp>
        </mc:Choice>
        <mc:Fallback xmlns="">
          <p:sp>
            <p:nvSpPr>
              <p:cNvPr id="12" name="TextShape 2">
                <a:extLst>
                  <a:ext uri="{FF2B5EF4-FFF2-40B4-BE49-F238E27FC236}">
                    <a16:creationId xmlns:a16="http://schemas.microsoft.com/office/drawing/2014/main" id="{0DB1FEAF-16EE-6671-9E3A-411A48C8F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7672" y="851292"/>
                <a:ext cx="4552464" cy="3225780"/>
              </a:xfrm>
              <a:prstGeom prst="rect">
                <a:avLst/>
              </a:prstGeom>
              <a:blipFill>
                <a:blip r:embed="rId2"/>
                <a:stretch>
                  <a:fillRect l="-254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4ACD9A5-5F41-6BDE-42AA-87D3A181F23A}"/>
                  </a:ext>
                </a:extLst>
              </p:cNvPr>
              <p:cNvSpPr txBox="1"/>
              <p:nvPr/>
            </p:nvSpPr>
            <p:spPr>
              <a:xfrm>
                <a:off x="79407" y="925461"/>
                <a:ext cx="3986405" cy="53674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Sets: </a:t>
                </a:r>
                <a:b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</a:b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Weeks</a:t>
                </a:r>
                <a:r>
                  <a:rPr kumimoji="0" lang="en-US" sz="1800" b="0" i="1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(index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)</a:t>
                </a:r>
                <a:r>
                  <a:rPr kumimoji="0" lang="en-US" sz="1800" b="0" i="1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, </a:t>
                </a:r>
                <a:br>
                  <a:rPr kumimoji="0" lang="en-US" sz="1800" b="0" i="1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</a:br>
                <a:r>
                  <a:rPr kumimoji="0" lang="en-US" sz="1800" b="0" i="0" u="none" strike="sng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Tasks/Concepts </a:t>
                </a:r>
                <a14:m>
                  <m:oMath xmlns:m="http://schemas.openxmlformats.org/officeDocument/2006/math">
                    <m:r>
                      <a:rPr kumimoji="0" lang="en-US" sz="1800" b="0" i="1" u="none" strike="sngStrike" kern="120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kumimoji="0" lang="en-US" sz="1800" b="0" i="1" u="none" strike="sng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 </a:t>
                </a:r>
                <a:r>
                  <a:rPr kumimoji="0" lang="en-US" sz="1800" b="0" i="0" u="none" strike="sng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(index </a:t>
                </a:r>
                <a14:m>
                  <m:oMath xmlns:m="http://schemas.openxmlformats.org/officeDocument/2006/math">
                    <m:r>
                      <a:rPr kumimoji="0" lang="en-US" sz="1800" b="0" i="1" u="none" strike="sngStrike" kern="120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kumimoji="0" lang="en-US" sz="1800" b="0" i="0" u="none" strike="sng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Variables: </a:t>
                </a:r>
                <a:r>
                  <a:rPr kumimoji="0" lang="en-US" sz="1800" b="0" i="1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Effort (hours)</a:t>
                </a:r>
                <a:r>
                  <a:rPr kumimoji="0" lang="en-US" sz="1800" b="0" i="1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endParaRPr kumimoji="0" lang="en-US" sz="1800" b="0" i="1" u="none" strike="noStrike" kern="120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</a:rPr>
                  <a:t>Grade</a:t>
                </a: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kumimoji="0" lang="en-US" sz="1800" b="0" i="1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sng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Attend classes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sng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800" b="0" i="1" u="none" strike="sng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kumimoji="0" lang="en-US" sz="1800" b="0" i="1" u="none" strike="sng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kumimoji="0" lang="en-US" sz="1800" b="0" i="1" u="none" strike="sngStrike" kern="1200" cap="none" spc="-1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kumimoji="0" lang="en-US" sz="1800" b="0" i="1" u="none" strike="sng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US" sz="1800" b="0" i="1" u="none" strike="sng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kumimoji="0" lang="en-US" sz="1800" b="0" i="0" u="none" strike="sng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Fatigue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kumimoji="0" lang="en-US" sz="18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sng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Stressed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sngStrike" kern="1200" cap="none" spc="-1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800" b="0" i="1" u="none" strike="sngStrike" kern="1200" cap="none" spc="-1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kumimoji="0" lang="en-US" sz="1800" b="0" i="1" u="none" strike="sngStrike" kern="1200" cap="none" spc="-1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kumimoji="0" lang="en-US" sz="1800" b="0" i="1" u="none" strike="sngStrike" kern="1200" cap="none" spc="-1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kumimoji="0" lang="en-US" sz="1800" b="0" i="1" u="none" strike="sngStrike" kern="1200" cap="none" spc="-1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US" sz="1800" b="0" i="1" u="none" strike="sngStrike" kern="1200" cap="none" spc="-1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kumimoji="0" lang="en-US" sz="1800" b="0" i="0" u="none" strike="sng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Parameters: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sng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Target (for the grade)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sngStrike" kern="1200" cap="none" spc="-1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sz="1800" b="0" i="0" u="none" strike="sngStrike" kern="1200" cap="none" spc="-1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Effect</m:t>
                        </m:r>
                      </m:e>
                      <m:sub>
                        <m:r>
                          <a:rPr kumimoji="0" lang="en-US" sz="1800" b="0" i="1" u="none" strike="sngStrike" kern="1200" cap="none" spc="-1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0" lang="en-US" sz="1800" b="0" i="1" u="none" strike="sngStrike" kern="1200" cap="none" spc="-1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0" lang="en-US" sz="1800" b="0" i="1" u="none" strike="sngStrike" kern="1200" cap="none" spc="-1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kumimoji="0" lang="en-US" sz="1800" b="0" i="0" u="none" strike="sng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 (of classes on grade)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sngStrike" kern="1200" cap="none" spc="-1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sz="1800" b="0" i="0" u="none" strike="sngStrike" kern="1200" cap="none" spc="-1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Difficulty</m:t>
                        </m:r>
                      </m:e>
                      <m:sub>
                        <m:r>
                          <a:rPr kumimoji="0" lang="en-US" sz="1800" b="0" i="1" u="none" strike="sngStrike" kern="1200" cap="none" spc="-1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kumimoji="0" lang="en-US" sz="1800" b="0" i="0" u="none" strike="sng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 (of a concept)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sngStrike" kern="1200" cap="none" spc="-1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sz="1800" b="0" i="0" u="none" strike="sngStrike" kern="1200" cap="none" spc="-1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weight</m:t>
                        </m:r>
                      </m:e>
                      <m:sub>
                        <m:r>
                          <a:rPr kumimoji="0" lang="en-US" sz="1800" b="0" i="1" u="none" strike="sngStrike" kern="1200" cap="none" spc="-1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kumimoji="0" lang="en-US" sz="1800" b="0" i="0" u="none" strike="sng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 (of concept to grade)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Hours (available per week)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l-GR" sz="1800" b="0" i="1" u="none" strike="noStrike" kern="1200" cap="none" spc="-1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𝜉</m:t>
                    </m:r>
                  </m:oMath>
                </a14:m>
                <a:r>
                  <a:rPr kumimoji="0" lang="el-GR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 </a:t>
                </a: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(Fatigue Accumulation factor)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sng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Threshold (where fatigue </a:t>
                </a:r>
                <a:r>
                  <a:rPr kumimoji="0" lang="en-US" sz="1800" b="0" i="0" u="none" strike="sng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sym typeface="Wingdings" panose="05000000000000000000" pitchFamily="2" charset="2"/>
                  </a:rPr>
                  <a:t> stressed</a:t>
                </a:r>
                <a:r>
                  <a:rPr kumimoji="0" lang="en-US" sz="1800" b="0" i="0" u="none" strike="sng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4ACD9A5-5F41-6BDE-42AA-87D3A181F2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07" y="925461"/>
                <a:ext cx="3986405" cy="5367495"/>
              </a:xfrm>
              <a:prstGeom prst="rect">
                <a:avLst/>
              </a:prstGeom>
              <a:blipFill>
                <a:blip r:embed="rId3"/>
                <a:stretch>
                  <a:fillRect l="-1223" t="-795" b="-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19613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CEF35-A06F-A1F9-B956-07CBCA9BD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Shape 1">
            <a:extLst>
              <a:ext uri="{FF2B5EF4-FFF2-40B4-BE49-F238E27FC236}">
                <a16:creationId xmlns:a16="http://schemas.microsoft.com/office/drawing/2014/main" id="{137F347D-7209-B023-C20F-36B8424E8CDA}"/>
              </a:ext>
            </a:extLst>
          </p:cNvPr>
          <p:cNvSpPr txBox="1"/>
          <p:nvPr/>
        </p:nvSpPr>
        <p:spPr>
          <a:xfrm>
            <a:off x="3358902" y="111196"/>
            <a:ext cx="8095028" cy="4848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000" b="1" spc="-1" dirty="0">
                <a:solidFill>
                  <a:srgbClr val="000000"/>
                </a:solidFill>
                <a:latin typeface="Arial"/>
              </a:rPr>
              <a:t>The </a:t>
            </a:r>
            <a:r>
              <a:rPr lang="fr-FR" sz="3000" b="1" spc="-1" dirty="0" err="1">
                <a:solidFill>
                  <a:srgbClr val="000000"/>
                </a:solidFill>
                <a:latin typeface="Arial"/>
              </a:rPr>
              <a:t>student’s</a:t>
            </a:r>
            <a:r>
              <a:rPr lang="fr-FR" sz="3000" b="1" i="1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sz="3000" b="1" spc="-1" dirty="0" err="1">
                <a:solidFill>
                  <a:srgbClr val="000000"/>
                </a:solidFill>
                <a:latin typeface="Arial"/>
              </a:rPr>
              <a:t>problem</a:t>
            </a:r>
            <a:r>
              <a:rPr lang="fr-FR" sz="3000" b="1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sz="3000" b="1" spc="-1" dirty="0" err="1">
                <a:solidFill>
                  <a:srgbClr val="000000"/>
                </a:solidFill>
                <a:latin typeface="Arial"/>
              </a:rPr>
              <a:t>simplified</a:t>
            </a:r>
            <a:endParaRPr lang="fr-FR" sz="3000" spc="-1" dirty="0">
              <a:solidFill>
                <a:srgbClr val="000000"/>
              </a:solidFill>
              <a:latin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Shape 2">
                <a:extLst>
                  <a:ext uri="{FF2B5EF4-FFF2-40B4-BE49-F238E27FC236}">
                    <a16:creationId xmlns:a16="http://schemas.microsoft.com/office/drawing/2014/main" id="{797A0B04-822F-D7BA-7385-47B45E2D6DB0}"/>
                  </a:ext>
                </a:extLst>
              </p:cNvPr>
              <p:cNvSpPr txBox="1"/>
              <p:nvPr/>
            </p:nvSpPr>
            <p:spPr>
              <a:xfrm>
                <a:off x="4147672" y="851292"/>
                <a:ext cx="4552464" cy="32257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𝑚𝑖𝑛𝑖𝑚𝑖𝑧𝑒</m:t>
                      </m:r>
                      <m:d>
                        <m:dPr>
                          <m:begChr m:val="{"/>
                          <m:endChr m:val="}"/>
                          <m:ctrlP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sub>
                            <m:sup/>
                            <m:e>
                              <m:d>
                                <m:dPr>
                                  <m:ctrlPr>
                                    <a:rPr kumimoji="0" lang="en-US" sz="2000" b="0" i="1" u="none" strike="noStrike" kern="1200" cap="none" spc="-1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kumimoji="0" lang="en-US" sz="2000" b="0" i="1" u="none" strike="noStrike" kern="1200" cap="none" spc="-1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kumimoji="0" lang="en-US" sz="2000" b="0" i="0" u="none" strike="noStrike" kern="1200" cap="none" spc="-1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w</m:t>
                                  </m:r>
                                  <m:sSub>
                                    <m:sSubPr>
                                      <m:ctrlP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2000" b="0" i="1" u="none" strike="noStrike" kern="1200" cap="none" spc="-1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sz="2000" b="0" i="0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subject</m:t>
                      </m:r>
                      <m:r>
                        <a:rPr kumimoji="0" lang="en-US" sz="2000" b="0" i="0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0" lang="en-US" sz="2000" b="0" i="0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to</m:t>
                      </m:r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kumimoji="0" lang="en-US" sz="20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2000" i="1" spc="-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br>
                  <a:rPr kumimoji="0" lang="en-US" sz="2000" b="0" i="1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</a:br>
                <a:endParaRPr kumimoji="0" lang="en-US" sz="2000" b="0" i="1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000" b="0" i="1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0≤</m:t>
                      </m:r>
                      <m:sSub>
                        <m:sSubPr>
                          <m:ctrlPr>
                            <a:rPr kumimoji="0" lang="en-US" sz="2000" b="0" i="1" u="non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sz="2000" b="0" i="1" u="non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0" lang="en-US" sz="2000" b="0" i="1" u="non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0" lang="en-US" sz="2000" b="0" i="1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≤</m:t>
                      </m:r>
                      <m:r>
                        <m:rPr>
                          <m:sty m:val="p"/>
                        </m:rPr>
                        <a:rPr kumimoji="0" lang="en-US" sz="2000" b="0" i="0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Hours</m:t>
                      </m:r>
                      <m:r>
                        <a:rPr kumimoji="0" lang="en-US" sz="2000" b="0" i="0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0" lang="en-US" sz="2000" b="0" i="1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kumimoji="0" lang="en-US" sz="2000" b="0" i="1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kumimoji="0" lang="en-US" sz="2000" b="0" i="0" u="non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</a:endParaRPr>
              </a:p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2000" i="1">
                          <a:latin typeface="Cambria Math" panose="02040503050406030204" pitchFamily="18" charset="0"/>
                        </a:rPr>
                        <m:t>𝜉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lit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Hours</m:t>
                          </m:r>
                        </m:den>
                      </m:f>
                      <m:r>
                        <a:rPr lang="el-GR" sz="2000" i="1" spc="-1">
                          <a:latin typeface="Cambria Math" panose="02040503050406030204" pitchFamily="18" charset="0"/>
                        </a:rPr>
                        <m:t>, ∀</m:t>
                      </m:r>
                      <m:r>
                        <a:rPr lang="en-US" sz="2000" i="1" spc="-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2000" spc="-1" dirty="0"/>
              </a:p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1800" dirty="0"/>
                  <a:t>initial fatigue</a:t>
                </a:r>
                <a:endParaRPr lang="en-US" sz="2000" dirty="0"/>
              </a:p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 dirty="0"/>
              </a:p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</a:rPr>
                  <a:t> </a:t>
                </a:r>
              </a:p>
            </p:txBody>
          </p:sp>
        </mc:Choice>
        <mc:Fallback xmlns="">
          <p:sp>
            <p:nvSpPr>
              <p:cNvPr id="12" name="TextShape 2">
                <a:extLst>
                  <a:ext uri="{FF2B5EF4-FFF2-40B4-BE49-F238E27FC236}">
                    <a16:creationId xmlns:a16="http://schemas.microsoft.com/office/drawing/2014/main" id="{797A0B04-822F-D7BA-7385-47B45E2D6D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7672" y="851292"/>
                <a:ext cx="4552464" cy="3225780"/>
              </a:xfrm>
              <a:prstGeom prst="rect">
                <a:avLst/>
              </a:prstGeom>
              <a:blipFill>
                <a:blip r:embed="rId2"/>
                <a:stretch>
                  <a:fillRect l="-254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6EB5E52-F516-50C2-5944-13E83C88F7C5}"/>
                  </a:ext>
                </a:extLst>
              </p:cNvPr>
              <p:cNvSpPr txBox="1"/>
              <p:nvPr/>
            </p:nvSpPr>
            <p:spPr>
              <a:xfrm>
                <a:off x="79407" y="925461"/>
                <a:ext cx="3986405" cy="31393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Sets: </a:t>
                </a:r>
                <a:b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</a:b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Weeks</a:t>
                </a:r>
                <a:r>
                  <a:rPr kumimoji="0" lang="en-US" sz="1800" b="0" i="1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(index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)</a:t>
                </a:r>
                <a:r>
                  <a:rPr kumimoji="0" lang="en-US" sz="1800" b="0" i="1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, </a:t>
                </a:r>
                <a:br>
                  <a:rPr kumimoji="0" lang="en-US" sz="1800" b="0" i="1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</a:br>
                <a:endParaRPr kumimoji="0" lang="en-US" sz="1800" b="0" i="0" u="none" strike="noStrike" kern="120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Variables: </a:t>
                </a:r>
                <a:r>
                  <a:rPr kumimoji="0" lang="en-US" sz="1800" b="0" i="1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Effort (hours)</a:t>
                </a:r>
                <a:r>
                  <a:rPr kumimoji="0" lang="en-US" sz="1800" b="0" i="1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endParaRPr kumimoji="0" lang="en-US" sz="1800" b="0" i="1" u="none" strike="noStrike" kern="120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</a:rPr>
                  <a:t>Grade</a:t>
                </a: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kumimoji="0" lang="en-US" sz="1800" b="0" i="0" u="none" strike="sng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Fatigue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kumimoji="0" lang="en-US" sz="1800" b="0" i="0" u="none" strike="sng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Parameters: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Hours (available per week)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l-GR" sz="1800" b="0" i="1" u="none" strike="noStrike" kern="1200" cap="none" spc="-1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𝜉</m:t>
                    </m:r>
                  </m:oMath>
                </a14:m>
                <a:r>
                  <a:rPr kumimoji="0" lang="el-GR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 </a:t>
                </a: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(Fatigue Accumulation factor)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6EB5E52-F516-50C2-5944-13E83C88F7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07" y="925461"/>
                <a:ext cx="3986405" cy="3139321"/>
              </a:xfrm>
              <a:prstGeom prst="rect">
                <a:avLst/>
              </a:prstGeom>
              <a:blipFill>
                <a:blip r:embed="rId3"/>
                <a:stretch>
                  <a:fillRect l="-1223" t="-1359" b="-1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47753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B8F06-52E2-8EF8-3FC5-36ABBC199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Shape 1">
            <a:extLst>
              <a:ext uri="{FF2B5EF4-FFF2-40B4-BE49-F238E27FC236}">
                <a16:creationId xmlns:a16="http://schemas.microsoft.com/office/drawing/2014/main" id="{6E14F7AD-DA70-51DA-4EE8-7C6E7F3C4E48}"/>
              </a:ext>
            </a:extLst>
          </p:cNvPr>
          <p:cNvSpPr txBox="1"/>
          <p:nvPr/>
        </p:nvSpPr>
        <p:spPr>
          <a:xfrm>
            <a:off x="2047692" y="260648"/>
            <a:ext cx="8095028" cy="4848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000" b="1" spc="-1" dirty="0">
                <a:solidFill>
                  <a:srgbClr val="000000"/>
                </a:solidFill>
                <a:latin typeface="Arial"/>
              </a:rPr>
              <a:t>The </a:t>
            </a:r>
            <a:r>
              <a:rPr lang="fr-FR" sz="3000" b="1" spc="-1" dirty="0" err="1">
                <a:solidFill>
                  <a:srgbClr val="000000"/>
                </a:solidFill>
                <a:latin typeface="Arial"/>
              </a:rPr>
              <a:t>student’s</a:t>
            </a:r>
            <a:r>
              <a:rPr lang="fr-FR" sz="3000" b="1" i="1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sz="3000" b="1" spc="-1" dirty="0" err="1">
                <a:solidFill>
                  <a:srgbClr val="000000"/>
                </a:solidFill>
                <a:latin typeface="Arial"/>
              </a:rPr>
              <a:t>problem</a:t>
            </a:r>
            <a:r>
              <a:rPr lang="fr-FR" sz="3000" b="1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sz="3000" b="1" spc="-1" dirty="0" err="1">
                <a:solidFill>
                  <a:srgbClr val="000000"/>
                </a:solidFill>
                <a:latin typeface="Arial"/>
              </a:rPr>
              <a:t>under</a:t>
            </a:r>
            <a:r>
              <a:rPr lang="fr-FR" sz="3000" b="1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sz="3000" b="1" spc="-1" dirty="0" err="1">
                <a:solidFill>
                  <a:srgbClr val="000000"/>
                </a:solidFill>
                <a:latin typeface="Arial"/>
              </a:rPr>
              <a:t>uncertainty</a:t>
            </a:r>
            <a:endParaRPr lang="fr-FR" sz="3000" spc="-1" dirty="0">
              <a:solidFill>
                <a:srgbClr val="000000"/>
              </a:solidFill>
              <a:latin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Shape 2">
                <a:extLst>
                  <a:ext uri="{FF2B5EF4-FFF2-40B4-BE49-F238E27FC236}">
                    <a16:creationId xmlns:a16="http://schemas.microsoft.com/office/drawing/2014/main" id="{D647A4D2-DF73-F5C5-E9CE-A0CDA37D6F9E}"/>
                  </a:ext>
                </a:extLst>
              </p:cNvPr>
              <p:cNvSpPr txBox="1"/>
              <p:nvPr/>
            </p:nvSpPr>
            <p:spPr>
              <a:xfrm>
                <a:off x="4150990" y="836712"/>
                <a:ext cx="4552464" cy="32257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𝑚𝑖𝑛𝑖𝑚𝑖𝑧𝑒</m:t>
                      </m:r>
                      <m:d>
                        <m:dPr>
                          <m:begChr m:val="{"/>
                          <m:endChr m:val="}"/>
                          <m:ctrlP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sub>
                            <m:sup/>
                            <m:e>
                              <m:d>
                                <m:dPr>
                                  <m:ctrlPr>
                                    <a:rPr kumimoji="0" lang="en-US" sz="2000" b="0" i="1" u="none" strike="noStrike" kern="1200" cap="none" spc="-1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kumimoji="0" lang="en-US" sz="2000" b="0" i="1" u="none" strike="noStrike" kern="1200" cap="none" spc="-1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kumimoji="0" lang="en-US" sz="2000" b="0" i="0" u="none" strike="noStrike" kern="1200" cap="none" spc="-1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w</m:t>
                                  </m:r>
                                  <m:sSub>
                                    <m:sSubPr>
                                      <m:ctrlP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2000" b="0" i="1" u="none" strike="noStrike" kern="1200" cap="none" spc="-1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sz="2000" b="0" i="0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subject</m:t>
                      </m:r>
                      <m:r>
                        <a:rPr kumimoji="0" lang="en-US" sz="2000" b="0" i="0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0" lang="en-US" sz="2000" b="0" i="0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to</m:t>
                      </m:r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kumimoji="0" lang="en-US" sz="20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2000" i="1" spc="-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br>
                  <a:rPr kumimoji="0" lang="en-US" sz="2000" b="0" i="1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</a:br>
                <a:endParaRPr kumimoji="0" lang="en-US" sz="2000" b="0" i="1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000" b="0" i="1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0≤</m:t>
                      </m:r>
                      <m:sSub>
                        <m:sSubPr>
                          <m:ctrlPr>
                            <a:rPr kumimoji="0" lang="en-US" sz="2000" b="0" i="1" u="non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sz="2000" b="0" i="1" u="non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0" lang="en-US" sz="2000" b="0" i="1" u="non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0" lang="en-US" sz="2000" b="0" i="1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≤</m:t>
                      </m:r>
                      <m:r>
                        <m:rPr>
                          <m:sty m:val="p"/>
                        </m:rPr>
                        <a:rPr kumimoji="0" lang="en-US" sz="2000" b="0" i="0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Hours</m:t>
                      </m:r>
                      <m:r>
                        <a:rPr kumimoji="0" lang="en-US" sz="2000" b="0" i="0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0" lang="en-US" sz="2000" b="0" i="1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kumimoji="0" lang="en-US" sz="2000" b="0" i="1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kumimoji="0" lang="en-US" sz="2000" b="0" i="0" u="non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</a:endParaRPr>
              </a:p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lit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Hours</m:t>
                          </m:r>
                        </m:den>
                      </m:f>
                      <m:r>
                        <a:rPr lang="el-GR" sz="2000" i="1" spc="-1">
                          <a:latin typeface="Cambria Math" panose="02040503050406030204" pitchFamily="18" charset="0"/>
                        </a:rPr>
                        <m:t>, ∀</m:t>
                      </m:r>
                      <m:r>
                        <a:rPr lang="en-US" sz="2000" i="1" spc="-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2000" spc="-1" dirty="0"/>
              </a:p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1800" dirty="0"/>
                  <a:t>initial fatigue</a:t>
                </a:r>
                <a:endParaRPr lang="en-US" sz="2000" dirty="0"/>
              </a:p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 dirty="0"/>
              </a:p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</a:rPr>
                  <a:t> </a:t>
                </a:r>
              </a:p>
            </p:txBody>
          </p:sp>
        </mc:Choice>
        <mc:Fallback xmlns="">
          <p:sp>
            <p:nvSpPr>
              <p:cNvPr id="12" name="TextShape 2">
                <a:extLst>
                  <a:ext uri="{FF2B5EF4-FFF2-40B4-BE49-F238E27FC236}">
                    <a16:creationId xmlns:a16="http://schemas.microsoft.com/office/drawing/2014/main" id="{D647A4D2-DF73-F5C5-E9CE-A0CDA37D6F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0990" y="836712"/>
                <a:ext cx="4552464" cy="3225780"/>
              </a:xfrm>
              <a:prstGeom prst="rect">
                <a:avLst/>
              </a:prstGeom>
              <a:blipFill>
                <a:blip r:embed="rId2"/>
                <a:stretch>
                  <a:fillRect l="-267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7DBB703-1159-D265-53C5-58ABCC263A2B}"/>
                  </a:ext>
                </a:extLst>
              </p:cNvPr>
              <p:cNvSpPr txBox="1"/>
              <p:nvPr/>
            </p:nvSpPr>
            <p:spPr>
              <a:xfrm>
                <a:off x="79407" y="925461"/>
                <a:ext cx="3986405" cy="36933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Sets: </a:t>
                </a:r>
                <a:b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</a:b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Weeks</a:t>
                </a:r>
                <a:r>
                  <a:rPr kumimoji="0" lang="en-US" sz="1800" b="0" i="1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(index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-1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)</a:t>
                </a:r>
                <a:r>
                  <a:rPr kumimoji="0" lang="en-US" sz="1800" b="0" i="1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, </a:t>
                </a:r>
                <a:br>
                  <a:rPr kumimoji="0" lang="en-US" sz="1800" b="0" i="1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</a:br>
                <a:endParaRPr kumimoji="0" lang="en-US" sz="1800" b="0" i="0" u="none" strike="noStrike" kern="120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Variables: </a:t>
                </a:r>
                <a:r>
                  <a:rPr kumimoji="0" lang="en-US" sz="1800" b="0" i="1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Effort (hours)</a:t>
                </a:r>
                <a:r>
                  <a:rPr kumimoji="0" lang="en-US" sz="1800" b="0" i="1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endParaRPr kumimoji="0" lang="en-US" sz="1800" b="0" i="1" u="none" strike="noStrike" kern="120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</a:rPr>
                  <a:t>Grade</a:t>
                </a: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kumimoji="0" lang="en-US" sz="1800" b="0" i="0" u="none" strike="sng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Fatigue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kumimoji="0" lang="en-US" sz="1800" b="0" i="0" u="none" strike="sng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Parameters: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Hours (available per week)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800" spc="-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Uncertain Parameters: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l-GR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kumimoji="0" lang="el-GR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 </a:t>
                </a: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(Fatigue Accumulation factor)</a:t>
                </a:r>
                <a:endParaRPr kumimoji="0" lang="en-US" sz="18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7DBB703-1159-D265-53C5-58ABCC263A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07" y="925461"/>
                <a:ext cx="3986405" cy="3693319"/>
              </a:xfrm>
              <a:prstGeom prst="rect">
                <a:avLst/>
              </a:prstGeom>
              <a:blipFill>
                <a:blip r:embed="rId3"/>
                <a:stretch>
                  <a:fillRect l="-1223" t="-1155" b="-14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8831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7291E-6 4.07407E-6 L -0.33429 0.4263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721" y="213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BBECA-B73A-D4D4-A735-4475DF28C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5FA09B-FB56-41CC-F167-EBCEA26EFDC5}"/>
              </a:ext>
            </a:extLst>
          </p:cNvPr>
          <p:cNvSpPr txBox="1"/>
          <p:nvPr/>
        </p:nvSpPr>
        <p:spPr>
          <a:xfrm>
            <a:off x="145537" y="922335"/>
            <a:ext cx="63409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spc="-1" dirty="0">
                <a:solidFill>
                  <a:srgbClr val="000000"/>
                </a:solidFill>
                <a:latin typeface="Cambria Math" panose="02040503050406030204" pitchFamily="18" charset="0"/>
              </a:rPr>
              <a:t>Deterministic Optimization Problem</a:t>
            </a:r>
            <a:endParaRPr lang="en-US" sz="20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A446D03-91F8-5615-1352-2598E7B8B2C5}"/>
                  </a:ext>
                </a:extLst>
              </p:cNvPr>
              <p:cNvSpPr txBox="1"/>
              <p:nvPr/>
            </p:nvSpPr>
            <p:spPr>
              <a:xfrm>
                <a:off x="117485" y="1322445"/>
                <a:ext cx="4465548" cy="2031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Variables: </a:t>
                </a:r>
                <a:r>
                  <a:rPr kumimoji="0" lang="en-US" sz="1800" b="0" i="1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Effort (hours)</a:t>
                </a:r>
                <a:r>
                  <a:rPr kumimoji="0" lang="en-US" sz="1800" b="0" i="1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endParaRPr kumimoji="0" lang="en-US" sz="1800" b="0" i="1" u="none" strike="noStrike" kern="120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</a:rPr>
                  <a:t>Grade</a:t>
                </a: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kumimoji="0" lang="en-US" sz="1800" b="0" i="0" u="none" strike="sng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Fatigue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kumimoji="0" lang="en-US" sz="1800" b="0" i="0" u="none" strike="sng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Uncertain Parameters (</a:t>
                </a: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assumed known</a:t>
                </a: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):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l-GR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kumimoji="0" lang="el-GR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 </a:t>
                </a: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(Fatigue Accumulation factor)</a:t>
                </a:r>
                <a:endParaRPr kumimoji="0" lang="en-US" sz="18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A446D03-91F8-5615-1352-2598E7B8B2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85" y="1322445"/>
                <a:ext cx="4465548" cy="2031325"/>
              </a:xfrm>
              <a:prstGeom prst="rect">
                <a:avLst/>
              </a:prstGeom>
              <a:blipFill>
                <a:blip r:embed="rId2"/>
                <a:stretch>
                  <a:fillRect l="-1091" t="-2102" b="-3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Shape 2">
                <a:extLst>
                  <a:ext uri="{FF2B5EF4-FFF2-40B4-BE49-F238E27FC236}">
                    <a16:creationId xmlns:a16="http://schemas.microsoft.com/office/drawing/2014/main" id="{E28B82A1-FD96-505A-CDC5-B8808F1277DC}"/>
                  </a:ext>
                </a:extLst>
              </p:cNvPr>
              <p:cNvSpPr txBox="1"/>
              <p:nvPr/>
            </p:nvSpPr>
            <p:spPr>
              <a:xfrm>
                <a:off x="478582" y="3473640"/>
                <a:ext cx="4552464" cy="32257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𝑚𝑖𝑛𝑖𝑚𝑖𝑧𝑒</m:t>
                      </m:r>
                      <m:d>
                        <m:dPr>
                          <m:begChr m:val="{"/>
                          <m:endChr m:val="}"/>
                          <m:ctrlP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sub>
                            <m:sup/>
                            <m:e>
                              <m:d>
                                <m:dPr>
                                  <m:ctrlPr>
                                    <a:rPr kumimoji="0" lang="en-US" sz="2000" b="0" i="1" u="none" strike="noStrike" kern="1200" cap="none" spc="-1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kumimoji="0" lang="en-US" sz="2000" b="0" i="1" u="none" strike="noStrike" kern="1200" cap="none" spc="-1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kumimoji="0" lang="en-US" sz="2000" b="0" i="0" u="none" strike="noStrike" kern="1200" cap="none" spc="-1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w</m:t>
                                  </m:r>
                                  <m:sSub>
                                    <m:sSubPr>
                                      <m:ctrlP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2000" b="0" i="1" u="none" strike="noStrike" kern="1200" cap="none" spc="-1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sz="2000" b="0" i="0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subject</m:t>
                      </m:r>
                      <m:r>
                        <a:rPr kumimoji="0" lang="en-US" sz="2000" b="0" i="0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0" lang="en-US" sz="2000" b="0" i="0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to</m:t>
                      </m:r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kumimoji="0" lang="en-US" sz="20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2000" i="1" spc="-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br>
                  <a:rPr kumimoji="0" lang="en-US" sz="2000" b="0" i="1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</a:br>
                <a:endParaRPr kumimoji="0" lang="en-US" sz="2000" b="0" i="1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000" b="0" i="1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0≤</m:t>
                      </m:r>
                      <m:sSub>
                        <m:sSubPr>
                          <m:ctrlPr>
                            <a:rPr kumimoji="0" lang="en-US" sz="2000" b="0" i="1" u="non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sz="2000" b="0" i="1" u="non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0" lang="en-US" sz="2000" b="0" i="1" u="non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0" lang="en-US" sz="2000" b="0" i="1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≤</m:t>
                      </m:r>
                      <m:r>
                        <m:rPr>
                          <m:sty m:val="p"/>
                        </m:rPr>
                        <a:rPr kumimoji="0" lang="en-US" sz="2000" b="0" i="0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Hours</m:t>
                      </m:r>
                      <m:r>
                        <a:rPr kumimoji="0" lang="en-US" sz="2000" b="0" i="0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0" lang="en-US" sz="2000" b="0" i="1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kumimoji="0" lang="en-US" sz="2000" b="0" i="1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kumimoji="0" lang="en-US" sz="2000" b="0" i="0" u="non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</a:endParaRPr>
              </a:p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lit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Hours</m:t>
                          </m:r>
                        </m:den>
                      </m:f>
                      <m:r>
                        <a:rPr lang="el-GR" sz="2000" i="1" spc="-1">
                          <a:latin typeface="Cambria Math" panose="02040503050406030204" pitchFamily="18" charset="0"/>
                        </a:rPr>
                        <m:t>, ∀</m:t>
                      </m:r>
                      <m:r>
                        <a:rPr lang="en-US" sz="2000" i="1" spc="-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2000" spc="-1" dirty="0"/>
              </a:p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1800" dirty="0"/>
                  <a:t>initial fatigue</a:t>
                </a:r>
                <a:endParaRPr lang="en-US" sz="2000" dirty="0"/>
              </a:p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 dirty="0"/>
              </a:p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</a:rPr>
                  <a:t> </a:t>
                </a:r>
              </a:p>
            </p:txBody>
          </p:sp>
        </mc:Choice>
        <mc:Fallback xmlns="">
          <p:sp>
            <p:nvSpPr>
              <p:cNvPr id="7" name="TextShape 2">
                <a:extLst>
                  <a:ext uri="{FF2B5EF4-FFF2-40B4-BE49-F238E27FC236}">
                    <a16:creationId xmlns:a16="http://schemas.microsoft.com/office/drawing/2014/main" id="{E28B82A1-FD96-505A-CDC5-B8808F1277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82" y="3473640"/>
                <a:ext cx="4552464" cy="3225780"/>
              </a:xfrm>
              <a:prstGeom prst="rect">
                <a:avLst/>
              </a:prstGeom>
              <a:blipFill>
                <a:blip r:embed="rId3"/>
                <a:stretch>
                  <a:fillRect l="-268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Shape 1">
            <a:extLst>
              <a:ext uri="{FF2B5EF4-FFF2-40B4-BE49-F238E27FC236}">
                <a16:creationId xmlns:a16="http://schemas.microsoft.com/office/drawing/2014/main" id="{92918505-6970-308A-AE63-7F43912F67E2}"/>
              </a:ext>
            </a:extLst>
          </p:cNvPr>
          <p:cNvSpPr txBox="1"/>
          <p:nvPr/>
        </p:nvSpPr>
        <p:spPr>
          <a:xfrm>
            <a:off x="1270670" y="260648"/>
            <a:ext cx="10471064" cy="4848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000" b="1" spc="-1" dirty="0">
                <a:solidFill>
                  <a:srgbClr val="000000"/>
                </a:solidFill>
                <a:latin typeface="Arial"/>
              </a:rPr>
              <a:t>The </a:t>
            </a:r>
            <a:r>
              <a:rPr lang="fr-FR" sz="3000" b="1" spc="-1" dirty="0" err="1">
                <a:solidFill>
                  <a:srgbClr val="000000"/>
                </a:solidFill>
                <a:latin typeface="Arial"/>
              </a:rPr>
              <a:t>student’s</a:t>
            </a:r>
            <a:r>
              <a:rPr lang="fr-FR" sz="3000" b="1" i="1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sz="3000" b="1" spc="-1" dirty="0" err="1">
                <a:solidFill>
                  <a:srgbClr val="000000"/>
                </a:solidFill>
                <a:latin typeface="Arial"/>
              </a:rPr>
              <a:t>problem</a:t>
            </a:r>
            <a:r>
              <a:rPr lang="fr-FR" sz="3000" b="1" spc="-1" dirty="0">
                <a:solidFill>
                  <a:srgbClr val="000000"/>
                </a:solidFill>
                <a:latin typeface="Arial"/>
              </a:rPr>
              <a:t> as a </a:t>
            </a:r>
            <a:r>
              <a:rPr lang="fr-FR" sz="3000" b="1" spc="-1" dirty="0" err="1">
                <a:solidFill>
                  <a:srgbClr val="000000"/>
                </a:solidFill>
                <a:latin typeface="Arial"/>
              </a:rPr>
              <a:t>sequential</a:t>
            </a:r>
            <a:r>
              <a:rPr lang="fr-FR" sz="3000" b="1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sz="3000" b="1" spc="-1" dirty="0" err="1">
                <a:solidFill>
                  <a:srgbClr val="000000"/>
                </a:solidFill>
                <a:latin typeface="Arial"/>
              </a:rPr>
              <a:t>decision</a:t>
            </a:r>
            <a:r>
              <a:rPr lang="fr-FR" sz="3000" b="1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sz="3000" b="1" spc="-1" dirty="0" err="1">
                <a:solidFill>
                  <a:srgbClr val="000000"/>
                </a:solidFill>
                <a:latin typeface="Arial"/>
              </a:rPr>
              <a:t>problem</a:t>
            </a:r>
            <a:endParaRPr lang="fr-FR" sz="3000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351307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10CAC-4BA1-FE13-47D1-826D07719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0D5D0D-798C-CBE1-5484-17707451F78C}"/>
              </a:ext>
            </a:extLst>
          </p:cNvPr>
          <p:cNvSpPr txBox="1"/>
          <p:nvPr/>
        </p:nvSpPr>
        <p:spPr>
          <a:xfrm>
            <a:off x="145537" y="922335"/>
            <a:ext cx="63409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spc="-1" dirty="0">
                <a:solidFill>
                  <a:srgbClr val="000000"/>
                </a:solidFill>
                <a:latin typeface="Cambria Math" panose="02040503050406030204" pitchFamily="18" charset="0"/>
              </a:rPr>
              <a:t>Deterministic Optimization Problem</a:t>
            </a:r>
            <a:endParaRPr lang="en-US" sz="2000" b="1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89B40D-1C6A-518D-F7CF-D4A70D2D9DA3}"/>
              </a:ext>
            </a:extLst>
          </p:cNvPr>
          <p:cNvSpPr txBox="1"/>
          <p:nvPr/>
        </p:nvSpPr>
        <p:spPr>
          <a:xfrm>
            <a:off x="6514517" y="852681"/>
            <a:ext cx="63409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spc="-1" dirty="0">
                <a:solidFill>
                  <a:srgbClr val="000000"/>
                </a:solidFill>
                <a:latin typeface="Cambria Math" panose="02040503050406030204" pitchFamily="18" charset="0"/>
              </a:rPr>
              <a:t>Sequential Decision Problem</a:t>
            </a:r>
            <a:endParaRPr lang="en-US" sz="2000" b="1" u="sng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2938C24-109E-2856-6B9B-70592889DBC5}"/>
              </a:ext>
            </a:extLst>
          </p:cNvPr>
          <p:cNvCxnSpPr/>
          <p:nvPr/>
        </p:nvCxnSpPr>
        <p:spPr>
          <a:xfrm>
            <a:off x="4871070" y="1052736"/>
            <a:ext cx="0" cy="518010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AC9004D-8BE8-0B64-2B5D-6118B05100B4}"/>
                  </a:ext>
                </a:extLst>
              </p:cNvPr>
              <p:cNvSpPr txBox="1"/>
              <p:nvPr/>
            </p:nvSpPr>
            <p:spPr>
              <a:xfrm>
                <a:off x="117485" y="1322445"/>
                <a:ext cx="4465548" cy="2031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Variables: </a:t>
                </a:r>
                <a:r>
                  <a:rPr kumimoji="0" lang="en-US" sz="1800" b="0" i="1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Effort (hours)</a:t>
                </a:r>
                <a:r>
                  <a:rPr kumimoji="0" lang="en-US" sz="1800" b="0" i="1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endParaRPr kumimoji="0" lang="en-US" sz="1800" b="0" i="1" u="none" strike="noStrike" kern="120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</a:rPr>
                  <a:t>Grade</a:t>
                </a: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kumimoji="0" lang="en-US" sz="1800" b="0" i="0" u="none" strike="sng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Fatigue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kumimoji="0" lang="en-US" sz="1800" b="0" i="0" u="none" strike="sng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Uncertain Parameters (</a:t>
                </a: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assumed known</a:t>
                </a: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):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l-GR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kumimoji="0" lang="el-GR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 </a:t>
                </a: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(Fatigue Accumulation factor)</a:t>
                </a:r>
                <a:endParaRPr kumimoji="0" lang="en-US" sz="18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AC9004D-8BE8-0B64-2B5D-6118B05100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85" y="1322445"/>
                <a:ext cx="4465548" cy="2031325"/>
              </a:xfrm>
              <a:prstGeom prst="rect">
                <a:avLst/>
              </a:prstGeom>
              <a:blipFill>
                <a:blip r:embed="rId2"/>
                <a:stretch>
                  <a:fillRect l="-1091" t="-2102" b="-3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Shape 2">
                <a:extLst>
                  <a:ext uri="{FF2B5EF4-FFF2-40B4-BE49-F238E27FC236}">
                    <a16:creationId xmlns:a16="http://schemas.microsoft.com/office/drawing/2014/main" id="{55B3A44A-225A-2F5D-68DE-E0623A06078D}"/>
                  </a:ext>
                </a:extLst>
              </p:cNvPr>
              <p:cNvSpPr txBox="1"/>
              <p:nvPr/>
            </p:nvSpPr>
            <p:spPr>
              <a:xfrm>
                <a:off x="478582" y="3473640"/>
                <a:ext cx="4552464" cy="32257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𝑚𝑖𝑛𝑖𝑚𝑖𝑧𝑒</m:t>
                      </m:r>
                      <m:d>
                        <m:dPr>
                          <m:begChr m:val="{"/>
                          <m:endChr m:val="}"/>
                          <m:ctrlP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sub>
                            <m:sup/>
                            <m:e>
                              <m:d>
                                <m:dPr>
                                  <m:ctrlPr>
                                    <a:rPr kumimoji="0" lang="en-US" sz="2000" b="0" i="1" u="none" strike="noStrike" kern="1200" cap="none" spc="-1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kumimoji="0" lang="en-US" sz="2000" b="0" i="1" u="none" strike="noStrike" kern="1200" cap="none" spc="-1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kumimoji="0" lang="en-US" sz="2000" b="0" i="0" u="none" strike="noStrike" kern="1200" cap="none" spc="-1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w</m:t>
                                  </m:r>
                                  <m:sSub>
                                    <m:sSubPr>
                                      <m:ctrlP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2000" b="0" i="1" u="none" strike="noStrike" kern="1200" cap="none" spc="-1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sz="2000" b="0" i="0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subject</m:t>
                      </m:r>
                      <m:r>
                        <a:rPr kumimoji="0" lang="en-US" sz="2000" b="0" i="0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0" lang="en-US" sz="2000" b="0" i="0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to</m:t>
                      </m:r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kumimoji="0" lang="en-US" sz="20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2000" i="1" spc="-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br>
                  <a:rPr kumimoji="0" lang="en-US" sz="2000" b="0" i="1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</a:br>
                <a:endParaRPr kumimoji="0" lang="en-US" sz="2000" b="0" i="1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000" b="0" i="1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0≤</m:t>
                      </m:r>
                      <m:sSub>
                        <m:sSubPr>
                          <m:ctrlPr>
                            <a:rPr kumimoji="0" lang="en-US" sz="2000" b="0" i="1" u="non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sz="2000" b="0" i="1" u="non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0" lang="en-US" sz="2000" b="0" i="1" u="non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0" lang="en-US" sz="2000" b="0" i="1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≤</m:t>
                      </m:r>
                      <m:r>
                        <m:rPr>
                          <m:sty m:val="p"/>
                        </m:rPr>
                        <a:rPr kumimoji="0" lang="en-US" sz="2000" b="0" i="0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Hours</m:t>
                      </m:r>
                      <m:r>
                        <a:rPr kumimoji="0" lang="en-US" sz="2000" b="0" i="0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0" lang="en-US" sz="2000" b="0" i="1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kumimoji="0" lang="en-US" sz="2000" b="0" i="1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kumimoji="0" lang="en-US" sz="2000" b="0" i="0" u="non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</a:endParaRPr>
              </a:p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lit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Hours</m:t>
                          </m:r>
                        </m:den>
                      </m:f>
                      <m:r>
                        <a:rPr lang="el-GR" sz="2000" i="1" spc="-1">
                          <a:latin typeface="Cambria Math" panose="02040503050406030204" pitchFamily="18" charset="0"/>
                        </a:rPr>
                        <m:t>, ∀</m:t>
                      </m:r>
                      <m:r>
                        <a:rPr lang="en-US" sz="2000" i="1" spc="-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2000" spc="-1" dirty="0"/>
              </a:p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1800" dirty="0"/>
                  <a:t>initial fatigue</a:t>
                </a:r>
                <a:endParaRPr lang="en-US" sz="2000" dirty="0"/>
              </a:p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 dirty="0"/>
              </a:p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</a:rPr>
                  <a:t> </a:t>
                </a:r>
              </a:p>
            </p:txBody>
          </p:sp>
        </mc:Choice>
        <mc:Fallback xmlns="">
          <p:sp>
            <p:nvSpPr>
              <p:cNvPr id="7" name="TextShape 2">
                <a:extLst>
                  <a:ext uri="{FF2B5EF4-FFF2-40B4-BE49-F238E27FC236}">
                    <a16:creationId xmlns:a16="http://schemas.microsoft.com/office/drawing/2014/main" id="{55B3A44A-225A-2F5D-68DE-E0623A0607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82" y="3473640"/>
                <a:ext cx="4552464" cy="3225780"/>
              </a:xfrm>
              <a:prstGeom prst="rect">
                <a:avLst/>
              </a:prstGeom>
              <a:blipFill>
                <a:blip r:embed="rId3"/>
                <a:stretch>
                  <a:fillRect l="-268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61E23B56-5CF6-EE6B-4CE8-5CB075685A70}"/>
              </a:ext>
            </a:extLst>
          </p:cNvPr>
          <p:cNvSpPr txBox="1"/>
          <p:nvPr/>
        </p:nvSpPr>
        <p:spPr>
          <a:xfrm>
            <a:off x="5400809" y="1507602"/>
            <a:ext cx="634092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</a:rPr>
              <a:t>Cost:			</a:t>
            </a:r>
            <a:endParaRPr kumimoji="0" lang="en-US" sz="2400" b="0" i="1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 Math" panose="020405030504060302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spc="-1" dirty="0">
                <a:solidFill>
                  <a:prstClr val="black"/>
                </a:solidFill>
                <a:latin typeface="Cambria Math" panose="02040503050406030204" pitchFamily="18" charset="0"/>
              </a:rPr>
              <a:t>Actions:	</a:t>
            </a:r>
            <a:endParaRPr kumimoji="0" lang="en-US" sz="24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spc="-1" dirty="0">
                <a:solidFill>
                  <a:prstClr val="black"/>
                </a:solidFill>
                <a:latin typeface="Cambria Math" panose="02040503050406030204" pitchFamily="18" charset="0"/>
              </a:rPr>
              <a:t>States:		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spc="-1" dirty="0">
              <a:solidFill>
                <a:prstClr val="black"/>
              </a:solidFill>
              <a:latin typeface="Cambria Math" panose="02040503050406030204" pitchFamily="18" charset="0"/>
            </a:endParaRPr>
          </a:p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spc="-1" dirty="0">
                <a:solidFill>
                  <a:prstClr val="black"/>
                </a:solidFill>
                <a:latin typeface="Cambria Math" panose="02040503050406030204" pitchFamily="18" charset="0"/>
              </a:rPr>
              <a:t>Transition</a:t>
            </a:r>
            <a:br>
              <a:rPr lang="en-US" sz="2400" spc="-1" dirty="0">
                <a:solidFill>
                  <a:prstClr val="black"/>
                </a:solidFill>
                <a:latin typeface="Cambria Math" panose="02040503050406030204" pitchFamily="18" charset="0"/>
              </a:rPr>
            </a:br>
            <a:r>
              <a:rPr lang="en-US" sz="2400" spc="-1" dirty="0">
                <a:solidFill>
                  <a:prstClr val="black"/>
                </a:solidFill>
                <a:latin typeface="Cambria Math" panose="02040503050406030204" pitchFamily="18" charset="0"/>
              </a:rPr>
              <a:t>Dynamics: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8C8BDF8-5A91-0FD6-0E4E-816255173504}"/>
                  </a:ext>
                </a:extLst>
              </p:cNvPr>
              <p:cNvSpPr txBox="1"/>
              <p:nvPr/>
            </p:nvSpPr>
            <p:spPr>
              <a:xfrm>
                <a:off x="4964938" y="4581128"/>
                <a:ext cx="167460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i="1" spc="-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2000" i="1" spc="-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⋅|</m:t>
                          </m:r>
                          <m:sSub>
                            <m:sSubPr>
                              <m:ctrlPr>
                                <a:rPr lang="en-US" sz="2000" i="1" spc="-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pc="-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000" i="1" spc="-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000" i="1" spc="-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pc="-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sz="2000" i="1" spc="-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8C8BDF8-5A91-0FD6-0E4E-8162551735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4938" y="4581128"/>
                <a:ext cx="1674607" cy="400110"/>
              </a:xfrm>
              <a:prstGeom prst="rect">
                <a:avLst/>
              </a:prstGeom>
              <a:blipFill>
                <a:blip r:embed="rId4"/>
                <a:stretch>
                  <a:fillRect r="-14909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Shape 1">
            <a:extLst>
              <a:ext uri="{FF2B5EF4-FFF2-40B4-BE49-F238E27FC236}">
                <a16:creationId xmlns:a16="http://schemas.microsoft.com/office/drawing/2014/main" id="{B001FE47-3088-5AB8-AFD4-110C3D82242B}"/>
              </a:ext>
            </a:extLst>
          </p:cNvPr>
          <p:cNvSpPr txBox="1"/>
          <p:nvPr/>
        </p:nvSpPr>
        <p:spPr>
          <a:xfrm>
            <a:off x="1270670" y="260648"/>
            <a:ext cx="10471064" cy="4848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000" b="1" spc="-1" dirty="0">
                <a:solidFill>
                  <a:srgbClr val="000000"/>
                </a:solidFill>
                <a:latin typeface="Arial"/>
              </a:rPr>
              <a:t>The </a:t>
            </a:r>
            <a:r>
              <a:rPr lang="fr-FR" sz="3000" b="1" spc="-1" dirty="0" err="1">
                <a:solidFill>
                  <a:srgbClr val="000000"/>
                </a:solidFill>
                <a:latin typeface="Arial"/>
              </a:rPr>
              <a:t>student’s</a:t>
            </a:r>
            <a:r>
              <a:rPr lang="fr-FR" sz="3000" b="1" i="1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sz="3000" b="1" spc="-1" dirty="0" err="1">
                <a:solidFill>
                  <a:srgbClr val="000000"/>
                </a:solidFill>
                <a:latin typeface="Arial"/>
              </a:rPr>
              <a:t>problem</a:t>
            </a:r>
            <a:r>
              <a:rPr lang="fr-FR" sz="3000" b="1" spc="-1" dirty="0">
                <a:solidFill>
                  <a:srgbClr val="000000"/>
                </a:solidFill>
                <a:latin typeface="Arial"/>
              </a:rPr>
              <a:t> as a </a:t>
            </a:r>
            <a:r>
              <a:rPr lang="fr-FR" sz="3000" b="1" spc="-1" dirty="0" err="1">
                <a:solidFill>
                  <a:srgbClr val="000000"/>
                </a:solidFill>
                <a:latin typeface="Arial"/>
              </a:rPr>
              <a:t>sequential</a:t>
            </a:r>
            <a:r>
              <a:rPr lang="fr-FR" sz="3000" b="1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sz="3000" b="1" spc="-1" dirty="0" err="1">
                <a:solidFill>
                  <a:srgbClr val="000000"/>
                </a:solidFill>
                <a:latin typeface="Arial"/>
              </a:rPr>
              <a:t>decision</a:t>
            </a:r>
            <a:r>
              <a:rPr lang="fr-FR" sz="3000" b="1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sz="3000" b="1" spc="-1" dirty="0" err="1">
                <a:solidFill>
                  <a:srgbClr val="000000"/>
                </a:solidFill>
                <a:latin typeface="Arial"/>
              </a:rPr>
              <a:t>problem</a:t>
            </a:r>
            <a:endParaRPr lang="fr-FR" sz="3000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964107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8F4C0-9FE6-2884-3C61-7A09206FE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TextShape 3">
            <a:extLst>
              <a:ext uri="{FF2B5EF4-FFF2-40B4-BE49-F238E27FC236}">
                <a16:creationId xmlns:a16="http://schemas.microsoft.com/office/drawing/2014/main" id="{CC8B72CB-2BA7-A7FE-6464-DDA4F8673F98}"/>
              </a:ext>
            </a:extLst>
          </p:cNvPr>
          <p:cNvSpPr txBox="1"/>
          <p:nvPr/>
        </p:nvSpPr>
        <p:spPr>
          <a:xfrm>
            <a:off x="10154206" y="6541200"/>
            <a:ext cx="324000" cy="31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fld id="{2FB9A7C0-A375-4B14-A573-B65C749CF92E}" type="slidenum">
              <a:rPr lang="en-US" sz="530" b="1" spc="-1">
                <a:solidFill>
                  <a:srgbClr val="FFFFFF"/>
                </a:solidFill>
                <a:latin typeface="Arial"/>
              </a:rPr>
              <a:t>32</a:t>
            </a:fld>
            <a:endParaRPr lang="en-US" sz="530" spc="-1">
              <a:latin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A871A7-9883-407D-0E7D-E8A4F95AF60B}"/>
              </a:ext>
            </a:extLst>
          </p:cNvPr>
          <p:cNvSpPr txBox="1"/>
          <p:nvPr/>
        </p:nvSpPr>
        <p:spPr>
          <a:xfrm>
            <a:off x="145537" y="922335"/>
            <a:ext cx="63409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spc="-1" dirty="0">
                <a:solidFill>
                  <a:srgbClr val="000000"/>
                </a:solidFill>
                <a:latin typeface="Cambria Math" panose="02040503050406030204" pitchFamily="18" charset="0"/>
              </a:rPr>
              <a:t>Deterministic Optimization Problem</a:t>
            </a:r>
            <a:endParaRPr lang="en-US" sz="2000" b="1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5D980A-1AD3-7C56-B1BF-0A3527C4AC87}"/>
              </a:ext>
            </a:extLst>
          </p:cNvPr>
          <p:cNvSpPr txBox="1"/>
          <p:nvPr/>
        </p:nvSpPr>
        <p:spPr>
          <a:xfrm>
            <a:off x="6514517" y="852681"/>
            <a:ext cx="63409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spc="-1" dirty="0">
                <a:solidFill>
                  <a:srgbClr val="000000"/>
                </a:solidFill>
                <a:latin typeface="Cambria Math" panose="02040503050406030204" pitchFamily="18" charset="0"/>
              </a:rPr>
              <a:t>Sequential Decision Problem</a:t>
            </a:r>
            <a:endParaRPr lang="en-US" sz="2000" b="1" u="sng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92EE2C8-801E-3BC2-E7C2-12C2238A30F2}"/>
              </a:ext>
            </a:extLst>
          </p:cNvPr>
          <p:cNvCxnSpPr/>
          <p:nvPr/>
        </p:nvCxnSpPr>
        <p:spPr>
          <a:xfrm>
            <a:off x="4871070" y="1052736"/>
            <a:ext cx="0" cy="518010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1A52989-6A38-E9F3-8A71-76B990149A84}"/>
                  </a:ext>
                </a:extLst>
              </p:cNvPr>
              <p:cNvSpPr txBox="1"/>
              <p:nvPr/>
            </p:nvSpPr>
            <p:spPr>
              <a:xfrm>
                <a:off x="117485" y="1322445"/>
                <a:ext cx="4465548" cy="2031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Variables: </a:t>
                </a:r>
                <a:r>
                  <a:rPr kumimoji="0" lang="en-US" sz="1800" b="0" i="1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Effort (hours)</a:t>
                </a:r>
                <a:r>
                  <a:rPr kumimoji="0" lang="en-US" sz="1800" b="0" i="1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endParaRPr kumimoji="0" lang="en-US" sz="1800" b="0" i="1" u="none" strike="noStrike" kern="120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</a:rPr>
                  <a:t>Grade</a:t>
                </a: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kumimoji="0" lang="en-US" sz="1800" b="0" i="0" u="none" strike="sng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Fatigue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kumimoji="0" lang="en-US" sz="1800" b="0" i="0" u="none" strike="sng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Uncertain Parameters (</a:t>
                </a: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assumed known</a:t>
                </a: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):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l-GR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kumimoji="0" lang="el-GR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 </a:t>
                </a: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(Fatigue Accumulation factor)</a:t>
                </a:r>
                <a:endParaRPr kumimoji="0" lang="en-US" sz="18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1A52989-6A38-E9F3-8A71-76B990149A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85" y="1322445"/>
                <a:ext cx="4465548" cy="2031325"/>
              </a:xfrm>
              <a:prstGeom prst="rect">
                <a:avLst/>
              </a:prstGeom>
              <a:blipFill>
                <a:blip r:embed="rId2"/>
                <a:stretch>
                  <a:fillRect l="-1091" t="-2102" b="-3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Shape 2">
                <a:extLst>
                  <a:ext uri="{FF2B5EF4-FFF2-40B4-BE49-F238E27FC236}">
                    <a16:creationId xmlns:a16="http://schemas.microsoft.com/office/drawing/2014/main" id="{E6054ECF-59AA-9FC1-6AC0-DE1E21F0215F}"/>
                  </a:ext>
                </a:extLst>
              </p:cNvPr>
              <p:cNvSpPr txBox="1"/>
              <p:nvPr/>
            </p:nvSpPr>
            <p:spPr>
              <a:xfrm>
                <a:off x="478582" y="3473640"/>
                <a:ext cx="4552464" cy="32257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𝑚𝑖𝑛𝑖𝑚𝑖𝑧𝑒</m:t>
                      </m:r>
                      <m:d>
                        <m:dPr>
                          <m:begChr m:val="{"/>
                          <m:endChr m:val="}"/>
                          <m:ctrlP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sub>
                            <m:sup/>
                            <m:e>
                              <m:d>
                                <m:dPr>
                                  <m:ctrlPr>
                                    <a:rPr kumimoji="0" lang="en-US" sz="2000" b="0" i="1" u="none" strike="noStrike" kern="1200" cap="none" spc="-1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kumimoji="0" lang="en-US" sz="2000" b="0" i="1" u="none" strike="noStrike" kern="1200" cap="none" spc="-1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kumimoji="0" lang="en-US" sz="2000" b="0" i="1" u="none" strike="noStrike" kern="1200" cap="none" spc="-1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sSub>
                                    <m:sSubPr>
                                      <m:ctrlP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2000" b="0" i="1" u="none" strike="noStrike" kern="1200" cap="none" spc="-1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sz="2000" b="0" i="0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subject</m:t>
                      </m:r>
                      <m:r>
                        <a:rPr kumimoji="0" lang="en-US" sz="2000" b="0" i="0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0" lang="en-US" sz="2000" b="0" i="0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to</m:t>
                      </m:r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kumimoji="0" lang="en-US" sz="20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2000" i="1" spc="-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br>
                  <a:rPr kumimoji="0" lang="en-US" sz="2000" b="0" i="1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</a:br>
                <a:endParaRPr kumimoji="0" lang="en-US" sz="2000" b="0" i="1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000" b="0" i="1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0≤</m:t>
                      </m:r>
                      <m:sSub>
                        <m:sSubPr>
                          <m:ctrlPr>
                            <a:rPr kumimoji="0" lang="en-US" sz="2000" b="0" i="1" u="non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sz="2000" b="0" i="1" u="non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0" lang="en-US" sz="2000" b="0" i="1" u="non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0" lang="en-US" sz="2000" b="0" i="1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≤</m:t>
                      </m:r>
                      <m:r>
                        <m:rPr>
                          <m:sty m:val="p"/>
                        </m:rPr>
                        <a:rPr kumimoji="0" lang="en-US" sz="2000" b="0" i="0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Hours</m:t>
                      </m:r>
                      <m:r>
                        <a:rPr kumimoji="0" lang="en-US" sz="2000" b="0" i="0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0" lang="en-US" sz="2000" b="0" i="1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kumimoji="0" lang="en-US" sz="2000" b="0" i="1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kumimoji="0" lang="en-US" sz="2000" b="0" i="0" u="non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</a:endParaRPr>
              </a:p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lit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Hours</m:t>
                          </m:r>
                        </m:den>
                      </m:f>
                      <m:r>
                        <a:rPr lang="el-GR" sz="2000" i="1" spc="-1">
                          <a:latin typeface="Cambria Math" panose="02040503050406030204" pitchFamily="18" charset="0"/>
                        </a:rPr>
                        <m:t>, ∀</m:t>
                      </m:r>
                      <m:r>
                        <a:rPr lang="en-US" sz="2000" i="1" spc="-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2000" spc="-1" dirty="0"/>
              </a:p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1800" dirty="0"/>
                  <a:t>initial fatigue</a:t>
                </a:r>
                <a:endParaRPr lang="en-US" sz="2000" dirty="0"/>
              </a:p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 dirty="0"/>
              </a:p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</a:rPr>
                  <a:t> </a:t>
                </a:r>
              </a:p>
            </p:txBody>
          </p:sp>
        </mc:Choice>
        <mc:Fallback xmlns="">
          <p:sp>
            <p:nvSpPr>
              <p:cNvPr id="7" name="TextShape 2">
                <a:extLst>
                  <a:ext uri="{FF2B5EF4-FFF2-40B4-BE49-F238E27FC236}">
                    <a16:creationId xmlns:a16="http://schemas.microsoft.com/office/drawing/2014/main" id="{E6054ECF-59AA-9FC1-6AC0-DE1E21F021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82" y="3473640"/>
                <a:ext cx="4552464" cy="3225780"/>
              </a:xfrm>
              <a:prstGeom prst="rect">
                <a:avLst/>
              </a:prstGeom>
              <a:blipFill>
                <a:blip r:embed="rId3"/>
                <a:stretch>
                  <a:fillRect l="-268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910F1AF-B72B-865E-A00A-8858FC5A5B4D}"/>
                  </a:ext>
                </a:extLst>
              </p:cNvPr>
              <p:cNvSpPr txBox="1"/>
              <p:nvPr/>
            </p:nvSpPr>
            <p:spPr>
              <a:xfrm>
                <a:off x="5400809" y="1507602"/>
                <a:ext cx="6340925" cy="30469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sz="24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Cost:	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pc="-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c</m:t>
                    </m:r>
                    <m:d>
                      <m:dPr>
                        <m:ctrlP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2400" b="0" i="1" spc="-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 spc="-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2400" i="0" spc="-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w</m:t>
                    </m:r>
                    <m:sSub>
                      <m:sSubPr>
                        <m:ctrlP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kumimoji="0" lang="en-US" sz="2400" b="0" i="1" u="none" strike="noStrike" kern="120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Actions: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={</m:t>
                        </m:r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1" spc="-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endParaRPr kumimoji="0" lang="en-US" sz="24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States: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0" spc="-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sz="2400" spc="-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2400" spc="-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Transition</a:t>
                </a:r>
                <a:b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</a:br>
                <a: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Dynamics:	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910F1AF-B72B-865E-A00A-8858FC5A5B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809" y="1507602"/>
                <a:ext cx="6340925" cy="3046988"/>
              </a:xfrm>
              <a:prstGeom prst="rect">
                <a:avLst/>
              </a:prstGeom>
              <a:blipFill>
                <a:blip r:embed="rId4"/>
                <a:stretch>
                  <a:fillRect l="-1538" t="-1600" b="-3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F6A051B-9987-E644-3F22-4E479D1D098D}"/>
                  </a:ext>
                </a:extLst>
              </p:cNvPr>
              <p:cNvSpPr txBox="1"/>
              <p:nvPr/>
            </p:nvSpPr>
            <p:spPr>
              <a:xfrm>
                <a:off x="4964938" y="4581128"/>
                <a:ext cx="167460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i="1" spc="-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2000" i="1" spc="-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⋅|</m:t>
                          </m:r>
                          <m:sSub>
                            <m:sSubPr>
                              <m:ctrlPr>
                                <a:rPr lang="en-US" sz="2000" i="1" spc="-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pc="-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000" i="1" spc="-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000" i="1" spc="-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pc="-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sz="2000" i="1" spc="-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F6A051B-9987-E644-3F22-4E479D1D09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4938" y="4581128"/>
                <a:ext cx="1674607" cy="400110"/>
              </a:xfrm>
              <a:prstGeom prst="rect">
                <a:avLst/>
              </a:prstGeom>
              <a:blipFill>
                <a:blip r:embed="rId5"/>
                <a:stretch>
                  <a:fillRect r="-14909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E53E040-F80A-09F2-BFC3-08B77691563A}"/>
                  </a:ext>
                </a:extLst>
              </p:cNvPr>
              <p:cNvSpPr txBox="1"/>
              <p:nvPr/>
            </p:nvSpPr>
            <p:spPr>
              <a:xfrm>
                <a:off x="8183438" y="3554019"/>
                <a:ext cx="3384376" cy="11629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pc="-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lit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Hours</m:t>
                          </m:r>
                        </m:den>
                      </m:f>
                    </m:oMath>
                  </m:oMathPara>
                </a14:m>
                <a:endParaRPr lang="en-US" sz="2400" i="1" spc="-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pc="-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2400" b="0" i="1" spc="-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⋅| </m:t>
                          </m:r>
                          <m:sSub>
                            <m:sSubPr>
                              <m:ctrlPr>
                                <a:rPr lang="en-US" sz="2400" b="0" i="1" spc="-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2400" b="0" i="1" spc="-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n-US" sz="2400" b="0" i="1" spc="-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E53E040-F80A-09F2-BFC3-08B7769156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3438" y="3554019"/>
                <a:ext cx="3384376" cy="1162947"/>
              </a:xfrm>
              <a:prstGeom prst="rect">
                <a:avLst/>
              </a:prstGeom>
              <a:blipFill>
                <a:blip r:embed="rId6"/>
                <a:stretch>
                  <a:fillRect l="-1439" b="-73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E1FAE74-E81A-446B-658B-40DEFA18FD80}"/>
                  </a:ext>
                </a:extLst>
              </p:cNvPr>
              <p:cNvSpPr txBox="1"/>
              <p:nvPr/>
            </p:nvSpPr>
            <p:spPr>
              <a:xfrm>
                <a:off x="5400809" y="5520166"/>
                <a:ext cx="1674607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en-US" sz="2400" kern="0" dirty="0">
                    <a:latin typeface="+mn-lt"/>
                  </a:rPr>
                  <a:t>Policy </a:t>
                </a:r>
                <a14:m>
                  <m:oMath xmlns:m="http://schemas.openxmlformats.org/officeDocument/2006/math">
                    <m:r>
                      <a:rPr lang="el-GR" sz="2400" b="0" i="1" kern="0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l-GR" sz="2400" b="0" i="1" kern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l-GR" sz="2400" i="1" kern="0" dirty="0"/>
                  <a:t> </a:t>
                </a:r>
                <a:br>
                  <a:rPr lang="en-US" sz="2400" i="1" kern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kern="0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kern="0" dirty="0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sz="2400" b="0" i="1" kern="0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b="1" i="1" kern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2400" b="0" i="1" kern="0" dirty="0" smtClean="0"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l-GR" sz="2400" b="0" i="1" kern="0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1" i="1" kern="0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kern="0" dirty="0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400" b="0" i="1" kern="0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E1FAE74-E81A-446B-658B-40DEFA18F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809" y="5520166"/>
                <a:ext cx="1674607" cy="830997"/>
              </a:xfrm>
              <a:prstGeom prst="rect">
                <a:avLst/>
              </a:prstGeom>
              <a:blipFill>
                <a:blip r:embed="rId7"/>
                <a:stretch>
                  <a:fillRect l="-5818" t="-5147" b="-1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C19BADE-8140-34EB-6D68-349CE94842EA}"/>
                  </a:ext>
                </a:extLst>
              </p:cNvPr>
              <p:cNvSpPr txBox="1"/>
              <p:nvPr/>
            </p:nvSpPr>
            <p:spPr>
              <a:xfrm>
                <a:off x="8183438" y="5704831"/>
                <a:ext cx="216024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kern="0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kern="0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kern="0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b="1" i="1" kern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2400" b="0" i="1" kern="0" dirty="0" smtClean="0"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l-GR" sz="2400" b="0" i="1" kern="0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spc="-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spc="-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400" i="1" spc="-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4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400" i="1" spc="-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2400" i="1" spc="-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n-US" sz="2400" i="1" spc="-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C19BADE-8140-34EB-6D68-349CE94842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3438" y="5704831"/>
                <a:ext cx="2160240" cy="461665"/>
              </a:xfrm>
              <a:prstGeom prst="rect">
                <a:avLst/>
              </a:prstGeom>
              <a:blipFill>
                <a:blip r:embed="rId8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Shape 1">
            <a:extLst>
              <a:ext uri="{FF2B5EF4-FFF2-40B4-BE49-F238E27FC236}">
                <a16:creationId xmlns:a16="http://schemas.microsoft.com/office/drawing/2014/main" id="{D683CA03-9C09-5D43-440A-45DDE03643F7}"/>
              </a:ext>
            </a:extLst>
          </p:cNvPr>
          <p:cNvSpPr txBox="1"/>
          <p:nvPr/>
        </p:nvSpPr>
        <p:spPr>
          <a:xfrm>
            <a:off x="1270670" y="260648"/>
            <a:ext cx="10471064" cy="4848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000" b="1" spc="-1" dirty="0">
                <a:solidFill>
                  <a:srgbClr val="000000"/>
                </a:solidFill>
                <a:latin typeface="Arial"/>
              </a:rPr>
              <a:t>The </a:t>
            </a:r>
            <a:r>
              <a:rPr lang="fr-FR" sz="3000" b="1" spc="-1" dirty="0" err="1">
                <a:solidFill>
                  <a:srgbClr val="000000"/>
                </a:solidFill>
                <a:latin typeface="Arial"/>
              </a:rPr>
              <a:t>student’s</a:t>
            </a:r>
            <a:r>
              <a:rPr lang="fr-FR" sz="3000" b="1" i="1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sz="3000" b="1" spc="-1" dirty="0" err="1">
                <a:solidFill>
                  <a:srgbClr val="000000"/>
                </a:solidFill>
                <a:latin typeface="Arial"/>
              </a:rPr>
              <a:t>problem</a:t>
            </a:r>
            <a:r>
              <a:rPr lang="fr-FR" sz="3000" b="1" spc="-1" dirty="0">
                <a:solidFill>
                  <a:srgbClr val="000000"/>
                </a:solidFill>
                <a:latin typeface="Arial"/>
              </a:rPr>
              <a:t> as a </a:t>
            </a:r>
            <a:r>
              <a:rPr lang="fr-FR" sz="3000" b="1" spc="-1" dirty="0" err="1">
                <a:solidFill>
                  <a:srgbClr val="000000"/>
                </a:solidFill>
                <a:latin typeface="Arial"/>
              </a:rPr>
              <a:t>sequential</a:t>
            </a:r>
            <a:r>
              <a:rPr lang="fr-FR" sz="3000" b="1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sz="3000" b="1" spc="-1" dirty="0" err="1">
                <a:solidFill>
                  <a:srgbClr val="000000"/>
                </a:solidFill>
                <a:latin typeface="Arial"/>
              </a:rPr>
              <a:t>decision</a:t>
            </a:r>
            <a:r>
              <a:rPr lang="fr-FR" sz="3000" b="1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sz="3000" b="1" spc="-1" dirty="0" err="1">
                <a:solidFill>
                  <a:srgbClr val="000000"/>
                </a:solidFill>
                <a:latin typeface="Arial"/>
              </a:rPr>
              <a:t>problem</a:t>
            </a:r>
            <a:endParaRPr lang="fr-FR" sz="3000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766803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24566-698B-23C7-FF4B-A516D75C9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TextShape 3">
            <a:extLst>
              <a:ext uri="{FF2B5EF4-FFF2-40B4-BE49-F238E27FC236}">
                <a16:creationId xmlns:a16="http://schemas.microsoft.com/office/drawing/2014/main" id="{836D4B41-8ED8-824C-48CF-B4B78FDEEF2E}"/>
              </a:ext>
            </a:extLst>
          </p:cNvPr>
          <p:cNvSpPr txBox="1"/>
          <p:nvPr/>
        </p:nvSpPr>
        <p:spPr>
          <a:xfrm>
            <a:off x="10154206" y="6541200"/>
            <a:ext cx="324000" cy="31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fld id="{2FB9A7C0-A375-4B14-A573-B65C749CF92E}" type="slidenum">
              <a:rPr lang="en-US" sz="530" b="1" spc="-1">
                <a:solidFill>
                  <a:srgbClr val="FFFFFF"/>
                </a:solidFill>
                <a:latin typeface="Arial"/>
              </a:rPr>
              <a:t>33</a:t>
            </a:fld>
            <a:endParaRPr lang="en-US" sz="530" spc="-1">
              <a:latin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FA6FF5-AB40-C2F8-84BC-3C32C30815A0}"/>
              </a:ext>
            </a:extLst>
          </p:cNvPr>
          <p:cNvSpPr txBox="1"/>
          <p:nvPr/>
        </p:nvSpPr>
        <p:spPr>
          <a:xfrm>
            <a:off x="145537" y="922335"/>
            <a:ext cx="63409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spc="-1" dirty="0">
                <a:solidFill>
                  <a:srgbClr val="000000"/>
                </a:solidFill>
                <a:latin typeface="Cambria Math" panose="02040503050406030204" pitchFamily="18" charset="0"/>
              </a:rPr>
              <a:t>Deterministic Optimization Problem</a:t>
            </a:r>
            <a:endParaRPr lang="en-US" sz="2000" b="1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F07557-CC2D-4249-64FE-7809F4E1FE40}"/>
              </a:ext>
            </a:extLst>
          </p:cNvPr>
          <p:cNvSpPr txBox="1"/>
          <p:nvPr/>
        </p:nvSpPr>
        <p:spPr>
          <a:xfrm>
            <a:off x="6514517" y="852681"/>
            <a:ext cx="63409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spc="-1" dirty="0">
                <a:solidFill>
                  <a:srgbClr val="000000"/>
                </a:solidFill>
                <a:latin typeface="Cambria Math" panose="02040503050406030204" pitchFamily="18" charset="0"/>
              </a:rPr>
              <a:t>Sequential Decision Problem</a:t>
            </a:r>
            <a:endParaRPr lang="en-US" sz="2000" b="1" u="sng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D709660-07DA-C6F3-7BD5-9DCA39BE83BC}"/>
              </a:ext>
            </a:extLst>
          </p:cNvPr>
          <p:cNvCxnSpPr/>
          <p:nvPr/>
        </p:nvCxnSpPr>
        <p:spPr>
          <a:xfrm>
            <a:off x="4871070" y="1052736"/>
            <a:ext cx="0" cy="518010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B85F6EE-B79D-3B91-D711-6BB8B99F30D4}"/>
                  </a:ext>
                </a:extLst>
              </p:cNvPr>
              <p:cNvSpPr txBox="1"/>
              <p:nvPr/>
            </p:nvSpPr>
            <p:spPr>
              <a:xfrm>
                <a:off x="117485" y="1322445"/>
                <a:ext cx="4465548" cy="2031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Variables: </a:t>
                </a:r>
                <a:r>
                  <a:rPr kumimoji="0" lang="en-US" sz="1800" b="0" i="1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Effort (hours)</a:t>
                </a:r>
                <a:r>
                  <a:rPr kumimoji="0" lang="en-US" sz="1800" b="0" i="1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endParaRPr kumimoji="0" lang="en-US" sz="1800" b="0" i="1" u="none" strike="noStrike" kern="120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</a:rPr>
                  <a:t>Grade</a:t>
                </a: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kumimoji="0" lang="en-US" sz="1800" b="0" i="0" u="none" strike="sng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Fatigue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kumimoji="0" lang="en-US" sz="1800" b="0" i="0" u="none" strike="sng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Uncertain Parameters (</a:t>
                </a: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assumed known</a:t>
                </a: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):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l-GR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kumimoji="0" lang="el-GR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 </a:t>
                </a: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(Fatigue Accumulation factor)</a:t>
                </a:r>
                <a:endParaRPr kumimoji="0" lang="en-US" sz="18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B85F6EE-B79D-3B91-D711-6BB8B99F30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85" y="1322445"/>
                <a:ext cx="4465548" cy="2031325"/>
              </a:xfrm>
              <a:prstGeom prst="rect">
                <a:avLst/>
              </a:prstGeom>
              <a:blipFill>
                <a:blip r:embed="rId2"/>
                <a:stretch>
                  <a:fillRect l="-1091" t="-2102" b="-3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Shape 2">
                <a:extLst>
                  <a:ext uri="{FF2B5EF4-FFF2-40B4-BE49-F238E27FC236}">
                    <a16:creationId xmlns:a16="http://schemas.microsoft.com/office/drawing/2014/main" id="{60A657BA-7055-DF5F-A70D-E5E2A1743CFE}"/>
                  </a:ext>
                </a:extLst>
              </p:cNvPr>
              <p:cNvSpPr txBox="1"/>
              <p:nvPr/>
            </p:nvSpPr>
            <p:spPr>
              <a:xfrm>
                <a:off x="478582" y="3473640"/>
                <a:ext cx="4552464" cy="32257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𝑚𝑖𝑛𝑖𝑚𝑖𝑧𝑒</m:t>
                      </m:r>
                      <m:d>
                        <m:dPr>
                          <m:begChr m:val="{"/>
                          <m:endChr m:val="}"/>
                          <m:ctrlP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sub>
                            <m:sup/>
                            <m:e>
                              <m:d>
                                <m:dPr>
                                  <m:ctrlPr>
                                    <a:rPr kumimoji="0" lang="en-US" sz="2000" b="0" i="1" u="none" strike="noStrike" kern="1200" cap="none" spc="-1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kumimoji="0" lang="en-US" sz="2000" b="0" i="1" u="none" strike="noStrike" kern="1200" cap="none" spc="-1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kumimoji="0" lang="en-US" sz="2000" b="0" i="0" u="none" strike="noStrike" kern="1200" cap="none" spc="-1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w</m:t>
                                  </m:r>
                                  <m:sSub>
                                    <m:sSubPr>
                                      <m:ctrlP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2000" b="0" i="1" u="none" strike="noStrike" kern="1200" cap="none" spc="-1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sz="2000" b="0" i="0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subject</m:t>
                      </m:r>
                      <m:r>
                        <a:rPr kumimoji="0" lang="en-US" sz="2000" b="0" i="0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0" lang="en-US" sz="2000" b="0" i="0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to</m:t>
                      </m:r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kumimoji="0" lang="en-US" sz="20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2000" i="1" spc="-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br>
                  <a:rPr kumimoji="0" lang="en-US" sz="2000" b="0" i="1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</a:br>
                <a:endParaRPr kumimoji="0" lang="en-US" sz="2000" b="0" i="1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000" b="0" i="1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0≤</m:t>
                      </m:r>
                      <m:sSub>
                        <m:sSubPr>
                          <m:ctrlPr>
                            <a:rPr kumimoji="0" lang="en-US" sz="2000" b="0" i="1" u="non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sz="2000" b="0" i="1" u="non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0" lang="en-US" sz="2000" b="0" i="1" u="non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0" lang="en-US" sz="2000" b="0" i="1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≤</m:t>
                      </m:r>
                      <m:r>
                        <m:rPr>
                          <m:sty m:val="p"/>
                        </m:rPr>
                        <a:rPr kumimoji="0" lang="en-US" sz="2000" b="0" i="0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Hours</m:t>
                      </m:r>
                      <m:r>
                        <a:rPr kumimoji="0" lang="en-US" sz="2000" b="0" i="0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0" lang="en-US" sz="2000" b="0" i="1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kumimoji="0" lang="en-US" sz="2000" b="0" i="1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kumimoji="0" lang="en-US" sz="2000" b="0" i="0" u="non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</a:endParaRPr>
              </a:p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lit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Hours</m:t>
                          </m:r>
                        </m:den>
                      </m:f>
                      <m:r>
                        <a:rPr lang="el-GR" sz="2000" i="1" spc="-1">
                          <a:latin typeface="Cambria Math" panose="02040503050406030204" pitchFamily="18" charset="0"/>
                        </a:rPr>
                        <m:t>, ∀</m:t>
                      </m:r>
                      <m:r>
                        <a:rPr lang="en-US" sz="2000" i="1" spc="-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2000" spc="-1" dirty="0"/>
              </a:p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1800" dirty="0"/>
                  <a:t>initial fatigue</a:t>
                </a:r>
                <a:endParaRPr lang="en-US" sz="2000" dirty="0"/>
              </a:p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 dirty="0"/>
              </a:p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</a:rPr>
                  <a:t> </a:t>
                </a:r>
              </a:p>
            </p:txBody>
          </p:sp>
        </mc:Choice>
        <mc:Fallback xmlns="">
          <p:sp>
            <p:nvSpPr>
              <p:cNvPr id="7" name="TextShape 2">
                <a:extLst>
                  <a:ext uri="{FF2B5EF4-FFF2-40B4-BE49-F238E27FC236}">
                    <a16:creationId xmlns:a16="http://schemas.microsoft.com/office/drawing/2014/main" id="{60A657BA-7055-DF5F-A70D-E5E2A1743C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82" y="3473640"/>
                <a:ext cx="4552464" cy="3225780"/>
              </a:xfrm>
              <a:prstGeom prst="rect">
                <a:avLst/>
              </a:prstGeom>
              <a:blipFill>
                <a:blip r:embed="rId3"/>
                <a:stretch>
                  <a:fillRect l="-268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5A4C25D-829F-386B-F192-E88FFE70E875}"/>
                  </a:ext>
                </a:extLst>
              </p:cNvPr>
              <p:cNvSpPr txBox="1"/>
              <p:nvPr/>
            </p:nvSpPr>
            <p:spPr>
              <a:xfrm>
                <a:off x="5400809" y="1507602"/>
                <a:ext cx="6340925" cy="30469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sz="24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Cost:	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pc="-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c</m:t>
                    </m:r>
                    <m:d>
                      <m:dPr>
                        <m:ctrlP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2400" b="0" i="1" spc="-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 spc="-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2400" i="0" spc="-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w</m:t>
                    </m:r>
                    <m:sSub>
                      <m:sSubPr>
                        <m:ctrlP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kumimoji="0" lang="en-US" sz="2400" b="0" i="1" u="none" strike="noStrike" kern="120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Actions: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={</m:t>
                        </m:r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1" spc="-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endParaRPr kumimoji="0" lang="en-US" sz="24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States: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0" spc="-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sz="2400" spc="-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2400" spc="-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Transition</a:t>
                </a:r>
                <a:b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</a:br>
                <a: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Dynamics:	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5A4C25D-829F-386B-F192-E88FFE70E8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809" y="1507602"/>
                <a:ext cx="6340925" cy="3046988"/>
              </a:xfrm>
              <a:prstGeom prst="rect">
                <a:avLst/>
              </a:prstGeom>
              <a:blipFill>
                <a:blip r:embed="rId4"/>
                <a:stretch>
                  <a:fillRect l="-1538" t="-1600" b="-3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7E27097-C1D0-DDEB-F727-0332AF079164}"/>
                  </a:ext>
                </a:extLst>
              </p:cNvPr>
              <p:cNvSpPr txBox="1"/>
              <p:nvPr/>
            </p:nvSpPr>
            <p:spPr>
              <a:xfrm>
                <a:off x="4964938" y="4581128"/>
                <a:ext cx="167460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i="1" spc="-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2000" i="1" spc="-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⋅|</m:t>
                          </m:r>
                          <m:sSub>
                            <m:sSubPr>
                              <m:ctrlPr>
                                <a:rPr lang="en-US" sz="2000" i="1" spc="-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pc="-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000" i="1" spc="-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000" i="1" spc="-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pc="-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sz="2000" i="1" spc="-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7E27097-C1D0-DDEB-F727-0332AF0791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4938" y="4581128"/>
                <a:ext cx="1674607" cy="400110"/>
              </a:xfrm>
              <a:prstGeom prst="rect">
                <a:avLst/>
              </a:prstGeom>
              <a:blipFill>
                <a:blip r:embed="rId5"/>
                <a:stretch>
                  <a:fillRect r="-14909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289678E-66ED-F11A-A316-D81971FAAD64}"/>
                  </a:ext>
                </a:extLst>
              </p:cNvPr>
              <p:cNvSpPr txBox="1"/>
              <p:nvPr/>
            </p:nvSpPr>
            <p:spPr>
              <a:xfrm>
                <a:off x="8183438" y="3554019"/>
                <a:ext cx="3384376" cy="11629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pc="-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lit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Hours</m:t>
                          </m:r>
                        </m:den>
                      </m:f>
                    </m:oMath>
                  </m:oMathPara>
                </a14:m>
                <a:endParaRPr lang="en-US" sz="2400" i="1" spc="-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pc="-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2400" b="0" i="1" spc="-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⋅| </m:t>
                          </m:r>
                          <m:sSub>
                            <m:sSubPr>
                              <m:ctrlPr>
                                <a:rPr lang="en-US" sz="2400" b="0" i="1" spc="-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2400" b="0" i="1" spc="-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n-US" sz="2400" b="0" i="1" spc="-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289678E-66ED-F11A-A316-D81971FAAD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3438" y="3554019"/>
                <a:ext cx="3384376" cy="1162947"/>
              </a:xfrm>
              <a:prstGeom prst="rect">
                <a:avLst/>
              </a:prstGeom>
              <a:blipFill>
                <a:blip r:embed="rId6"/>
                <a:stretch>
                  <a:fillRect l="-1439" b="-73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Shape 1">
            <a:extLst>
              <a:ext uri="{FF2B5EF4-FFF2-40B4-BE49-F238E27FC236}">
                <a16:creationId xmlns:a16="http://schemas.microsoft.com/office/drawing/2014/main" id="{0B15672B-0B9D-EBAB-0056-6804B52E4FD7}"/>
              </a:ext>
            </a:extLst>
          </p:cNvPr>
          <p:cNvSpPr txBox="1"/>
          <p:nvPr/>
        </p:nvSpPr>
        <p:spPr>
          <a:xfrm>
            <a:off x="1270670" y="260648"/>
            <a:ext cx="10471064" cy="4848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000" b="1" spc="-1" dirty="0">
                <a:solidFill>
                  <a:srgbClr val="000000"/>
                </a:solidFill>
                <a:latin typeface="Arial"/>
              </a:rPr>
              <a:t>Exogenous vs Endogenous state variables</a:t>
            </a:r>
            <a:endParaRPr lang="fr-FR" sz="30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709547-3960-7288-DD29-2F474DE097C6}"/>
              </a:ext>
            </a:extLst>
          </p:cNvPr>
          <p:cNvSpPr txBox="1"/>
          <p:nvPr/>
        </p:nvSpPr>
        <p:spPr>
          <a:xfrm>
            <a:off x="10106963" y="2819595"/>
            <a:ext cx="219730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000" b="0" i="0" u="none" strike="noStrike" kern="1200" cap="none" spc="-1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mbria Math" panose="02040503050406030204" pitchFamily="18" charset="0"/>
              </a:rPr>
              <a:t>Endogenous or Exogenous?</a:t>
            </a:r>
            <a:endParaRPr lang="en-US" sz="2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14157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318FB-43DB-2DC6-047B-E7CB46F3D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TextShape 3">
            <a:extLst>
              <a:ext uri="{FF2B5EF4-FFF2-40B4-BE49-F238E27FC236}">
                <a16:creationId xmlns:a16="http://schemas.microsoft.com/office/drawing/2014/main" id="{434577CB-A71B-9D1B-5E89-FFB8C6E71D06}"/>
              </a:ext>
            </a:extLst>
          </p:cNvPr>
          <p:cNvSpPr txBox="1"/>
          <p:nvPr/>
        </p:nvSpPr>
        <p:spPr>
          <a:xfrm>
            <a:off x="10154206" y="6541200"/>
            <a:ext cx="324000" cy="31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fld id="{2FB9A7C0-A375-4B14-A573-B65C749CF92E}" type="slidenum">
              <a:rPr lang="en-US" sz="530" b="1" spc="-1">
                <a:solidFill>
                  <a:srgbClr val="FFFFFF"/>
                </a:solidFill>
                <a:latin typeface="Arial"/>
              </a:rPr>
              <a:t>34</a:t>
            </a:fld>
            <a:endParaRPr lang="en-US" sz="530" spc="-1">
              <a:latin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45F1DF-BEAB-D2D6-A781-03D770509089}"/>
              </a:ext>
            </a:extLst>
          </p:cNvPr>
          <p:cNvSpPr txBox="1"/>
          <p:nvPr/>
        </p:nvSpPr>
        <p:spPr>
          <a:xfrm>
            <a:off x="145537" y="922335"/>
            <a:ext cx="63409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spc="-1" dirty="0">
                <a:solidFill>
                  <a:srgbClr val="000000"/>
                </a:solidFill>
                <a:latin typeface="Cambria Math" panose="02040503050406030204" pitchFamily="18" charset="0"/>
              </a:rPr>
              <a:t>Deterministic Optimization Problem</a:t>
            </a:r>
            <a:endParaRPr lang="en-US" sz="2000" b="1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922A22-D7CC-4D42-F6F7-771FBA3EB777}"/>
              </a:ext>
            </a:extLst>
          </p:cNvPr>
          <p:cNvSpPr txBox="1"/>
          <p:nvPr/>
        </p:nvSpPr>
        <p:spPr>
          <a:xfrm>
            <a:off x="6514517" y="852681"/>
            <a:ext cx="63409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spc="-1" dirty="0">
                <a:solidFill>
                  <a:srgbClr val="000000"/>
                </a:solidFill>
                <a:latin typeface="Cambria Math" panose="02040503050406030204" pitchFamily="18" charset="0"/>
              </a:rPr>
              <a:t>Sequential Decision Problem</a:t>
            </a:r>
            <a:endParaRPr lang="en-US" sz="2000" b="1" u="sng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7D93F47-E439-26F0-83EA-40BBCCAFA6BA}"/>
              </a:ext>
            </a:extLst>
          </p:cNvPr>
          <p:cNvCxnSpPr/>
          <p:nvPr/>
        </p:nvCxnSpPr>
        <p:spPr>
          <a:xfrm>
            <a:off x="4871070" y="1052736"/>
            <a:ext cx="0" cy="518010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EC3B278-B460-C338-7C1D-0197B0D0D436}"/>
                  </a:ext>
                </a:extLst>
              </p:cNvPr>
              <p:cNvSpPr txBox="1"/>
              <p:nvPr/>
            </p:nvSpPr>
            <p:spPr>
              <a:xfrm>
                <a:off x="117485" y="1322445"/>
                <a:ext cx="4465548" cy="2031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Variables: </a:t>
                </a:r>
                <a:r>
                  <a:rPr kumimoji="0" lang="en-US" sz="1800" b="0" i="1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Effort (hours)</a:t>
                </a:r>
                <a:r>
                  <a:rPr kumimoji="0" lang="en-US" sz="1800" b="0" i="1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endParaRPr kumimoji="0" lang="en-US" sz="1800" b="0" i="1" u="none" strike="noStrike" kern="120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</a:rPr>
                  <a:t>Grade</a:t>
                </a: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kumimoji="0" lang="en-US" sz="1800" b="0" i="0" u="none" strike="sng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Fatigue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kumimoji="0" lang="en-US" sz="1800" b="0" i="0" u="none" strike="sng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Uncertain Parameters (</a:t>
                </a: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assumed known</a:t>
                </a: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):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l-GR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kumimoji="0" lang="el-GR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 </a:t>
                </a: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(Fatigue Accumulation factor)</a:t>
                </a:r>
                <a:endParaRPr kumimoji="0" lang="en-US" sz="18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EC3B278-B460-C338-7C1D-0197B0D0D4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85" y="1322445"/>
                <a:ext cx="4465548" cy="2031325"/>
              </a:xfrm>
              <a:prstGeom prst="rect">
                <a:avLst/>
              </a:prstGeom>
              <a:blipFill>
                <a:blip r:embed="rId2"/>
                <a:stretch>
                  <a:fillRect l="-1091" t="-2102" b="-3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Shape 2">
                <a:extLst>
                  <a:ext uri="{FF2B5EF4-FFF2-40B4-BE49-F238E27FC236}">
                    <a16:creationId xmlns:a16="http://schemas.microsoft.com/office/drawing/2014/main" id="{DDA6F41A-EC25-7F30-1BEA-284865882003}"/>
                  </a:ext>
                </a:extLst>
              </p:cNvPr>
              <p:cNvSpPr txBox="1"/>
              <p:nvPr/>
            </p:nvSpPr>
            <p:spPr>
              <a:xfrm>
                <a:off x="478582" y="3473640"/>
                <a:ext cx="4552464" cy="32257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𝑚𝑖𝑛𝑖𝑚𝑖𝑧𝑒</m:t>
                      </m:r>
                      <m:d>
                        <m:dPr>
                          <m:begChr m:val="{"/>
                          <m:endChr m:val="}"/>
                          <m:ctrlP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sub>
                            <m:sup/>
                            <m:e>
                              <m:d>
                                <m:dPr>
                                  <m:ctrlPr>
                                    <a:rPr kumimoji="0" lang="en-US" sz="2000" b="0" i="1" u="none" strike="noStrike" kern="1200" cap="none" spc="-1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kumimoji="0" lang="en-US" sz="2000" b="0" i="1" u="none" strike="noStrike" kern="1200" cap="none" spc="-1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kumimoji="0" lang="en-US" sz="2000" b="0" i="0" u="none" strike="noStrike" kern="1200" cap="none" spc="-1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w</m:t>
                                  </m:r>
                                  <m:sSub>
                                    <m:sSubPr>
                                      <m:ctrlP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2000" b="0" i="1" u="none" strike="noStrike" kern="1200" cap="none" spc="-1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sz="2000" b="0" i="0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subject</m:t>
                      </m:r>
                      <m:r>
                        <a:rPr kumimoji="0" lang="en-US" sz="2000" b="0" i="0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0" lang="en-US" sz="2000" b="0" i="0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to</m:t>
                      </m:r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kumimoji="0" lang="en-US" sz="20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2000" i="1" spc="-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br>
                  <a:rPr kumimoji="0" lang="en-US" sz="2000" b="0" i="1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</a:br>
                <a:endParaRPr kumimoji="0" lang="en-US" sz="2000" b="0" i="1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000" b="0" i="1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0≤</m:t>
                      </m:r>
                      <m:sSub>
                        <m:sSubPr>
                          <m:ctrlPr>
                            <a:rPr kumimoji="0" lang="en-US" sz="2000" b="0" i="1" u="non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sz="2000" b="0" i="1" u="non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0" lang="en-US" sz="2000" b="0" i="1" u="non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0" lang="en-US" sz="2000" b="0" i="1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≤</m:t>
                      </m:r>
                      <m:r>
                        <m:rPr>
                          <m:sty m:val="p"/>
                        </m:rPr>
                        <a:rPr kumimoji="0" lang="en-US" sz="2000" b="0" i="0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Hours</m:t>
                      </m:r>
                      <m:r>
                        <a:rPr kumimoji="0" lang="en-US" sz="2000" b="0" i="0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0" lang="en-US" sz="2000" b="0" i="1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kumimoji="0" lang="en-US" sz="2000" b="0" i="1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kumimoji="0" lang="en-US" sz="2000" b="0" i="0" u="non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</a:endParaRPr>
              </a:p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lit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Hours</m:t>
                          </m:r>
                        </m:den>
                      </m:f>
                      <m:r>
                        <a:rPr lang="el-GR" sz="2000" i="1" spc="-1">
                          <a:latin typeface="Cambria Math" panose="02040503050406030204" pitchFamily="18" charset="0"/>
                        </a:rPr>
                        <m:t>, ∀</m:t>
                      </m:r>
                      <m:r>
                        <a:rPr lang="en-US" sz="2000" i="1" spc="-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2000" spc="-1" dirty="0"/>
              </a:p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1800" dirty="0"/>
                  <a:t>initial fatigue</a:t>
                </a:r>
                <a:endParaRPr lang="en-US" sz="2000" dirty="0"/>
              </a:p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 dirty="0"/>
              </a:p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</a:rPr>
                  <a:t> </a:t>
                </a:r>
              </a:p>
            </p:txBody>
          </p:sp>
        </mc:Choice>
        <mc:Fallback xmlns="">
          <p:sp>
            <p:nvSpPr>
              <p:cNvPr id="7" name="TextShape 2">
                <a:extLst>
                  <a:ext uri="{FF2B5EF4-FFF2-40B4-BE49-F238E27FC236}">
                    <a16:creationId xmlns:a16="http://schemas.microsoft.com/office/drawing/2014/main" id="{DDA6F41A-EC25-7F30-1BEA-2848658820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82" y="3473640"/>
                <a:ext cx="4552464" cy="3225780"/>
              </a:xfrm>
              <a:prstGeom prst="rect">
                <a:avLst/>
              </a:prstGeom>
              <a:blipFill>
                <a:blip r:embed="rId3"/>
                <a:stretch>
                  <a:fillRect l="-268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72C63D8-E418-DA5E-0F53-FD7760D1E548}"/>
                  </a:ext>
                </a:extLst>
              </p:cNvPr>
              <p:cNvSpPr txBox="1"/>
              <p:nvPr/>
            </p:nvSpPr>
            <p:spPr>
              <a:xfrm>
                <a:off x="5400809" y="1507602"/>
                <a:ext cx="6340925" cy="30469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sz="24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Cost:	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pc="-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c</m:t>
                    </m:r>
                    <m:d>
                      <m:dPr>
                        <m:ctrlP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2400" b="0" i="1" spc="-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 spc="-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2400" i="0" spc="-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w</m:t>
                    </m:r>
                    <m:sSub>
                      <m:sSubPr>
                        <m:ctrlP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kumimoji="0" lang="en-US" sz="2400" b="0" i="1" u="none" strike="noStrike" kern="120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Actions: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={</m:t>
                        </m:r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1" spc="-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endParaRPr kumimoji="0" lang="en-US" sz="24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States: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0" spc="-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sz="2400" spc="-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2400" spc="-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Transition</a:t>
                </a:r>
                <a:b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</a:br>
                <a: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Dynamics:	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72C63D8-E418-DA5E-0F53-FD7760D1E5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809" y="1507602"/>
                <a:ext cx="6340925" cy="3046988"/>
              </a:xfrm>
              <a:prstGeom prst="rect">
                <a:avLst/>
              </a:prstGeom>
              <a:blipFill>
                <a:blip r:embed="rId4"/>
                <a:stretch>
                  <a:fillRect l="-1538" t="-1600" b="-3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748D195-9026-ED7D-2759-4C2D58C9F508}"/>
                  </a:ext>
                </a:extLst>
              </p:cNvPr>
              <p:cNvSpPr txBox="1"/>
              <p:nvPr/>
            </p:nvSpPr>
            <p:spPr>
              <a:xfrm>
                <a:off x="4964938" y="4581128"/>
                <a:ext cx="167460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i="1" spc="-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2000" i="1" spc="-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⋅|</m:t>
                          </m:r>
                          <m:sSub>
                            <m:sSubPr>
                              <m:ctrlPr>
                                <a:rPr lang="en-US" sz="2000" i="1" spc="-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pc="-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000" i="1" spc="-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000" i="1" spc="-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pc="-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sz="2000" i="1" spc="-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748D195-9026-ED7D-2759-4C2D58C9F5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4938" y="4581128"/>
                <a:ext cx="1674607" cy="400110"/>
              </a:xfrm>
              <a:prstGeom prst="rect">
                <a:avLst/>
              </a:prstGeom>
              <a:blipFill>
                <a:blip r:embed="rId5"/>
                <a:stretch>
                  <a:fillRect r="-14909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63C23D2-1D13-88FE-BBD0-8B86E9E44D51}"/>
                  </a:ext>
                </a:extLst>
              </p:cNvPr>
              <p:cNvSpPr txBox="1"/>
              <p:nvPr/>
            </p:nvSpPr>
            <p:spPr>
              <a:xfrm>
                <a:off x="8183438" y="3554019"/>
                <a:ext cx="3384376" cy="11629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pc="-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lit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Hours</m:t>
                          </m:r>
                        </m:den>
                      </m:f>
                    </m:oMath>
                  </m:oMathPara>
                </a14:m>
                <a:endParaRPr lang="en-US" sz="2400" i="1" spc="-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pc="-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2400" b="0" i="1" spc="-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⋅| </m:t>
                          </m:r>
                          <m:sSub>
                            <m:sSubPr>
                              <m:ctrlPr>
                                <a:rPr lang="en-US" sz="2400" b="0" i="1" spc="-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2400" b="0" i="1" spc="-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n-US" sz="2400" b="0" i="1" spc="-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63C23D2-1D13-88FE-BBD0-8B86E9E44D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3438" y="3554019"/>
                <a:ext cx="3384376" cy="1162947"/>
              </a:xfrm>
              <a:prstGeom prst="rect">
                <a:avLst/>
              </a:prstGeom>
              <a:blipFill>
                <a:blip r:embed="rId6"/>
                <a:stretch>
                  <a:fillRect l="-1439" b="-73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Shape 1">
            <a:extLst>
              <a:ext uri="{FF2B5EF4-FFF2-40B4-BE49-F238E27FC236}">
                <a16:creationId xmlns:a16="http://schemas.microsoft.com/office/drawing/2014/main" id="{779BE7DE-6EF0-2D10-781D-8F1C911F3A1F}"/>
              </a:ext>
            </a:extLst>
          </p:cNvPr>
          <p:cNvSpPr txBox="1"/>
          <p:nvPr/>
        </p:nvSpPr>
        <p:spPr>
          <a:xfrm>
            <a:off x="1270670" y="260648"/>
            <a:ext cx="10471064" cy="4848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000" b="1" spc="-1" dirty="0">
                <a:solidFill>
                  <a:srgbClr val="000000"/>
                </a:solidFill>
                <a:latin typeface="Arial"/>
              </a:rPr>
              <a:t>Exogenous vs Endogenous state variables</a:t>
            </a:r>
            <a:endParaRPr lang="fr-FR" sz="3000" spc="-1" dirty="0">
              <a:solidFill>
                <a:srgbClr val="000000"/>
              </a:solidFill>
              <a:latin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4F63EEF-0AC1-2778-88EB-33CE0B2F925D}"/>
                  </a:ext>
                </a:extLst>
              </p:cNvPr>
              <p:cNvSpPr txBox="1"/>
              <p:nvPr/>
            </p:nvSpPr>
            <p:spPr>
              <a:xfrm>
                <a:off x="5162371" y="5404955"/>
                <a:ext cx="6428014" cy="8546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 depends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, i.e.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𝐹</m:t>
                    </m:r>
                  </m:oMath>
                </a14:m>
                <a:r>
                  <a:rPr lang="en-US" dirty="0"/>
                  <a:t> evolves endogenously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l-G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2000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 does not depend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, i.e. </a:t>
                </a:r>
                <a14:m>
                  <m:oMath xmlns:m="http://schemas.openxmlformats.org/officeDocument/2006/math">
                    <m:r>
                      <a:rPr lang="el-GR" sz="20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𝜉</m:t>
                    </m:r>
                  </m:oMath>
                </a14:m>
                <a:r>
                  <a:rPr lang="el-GR" dirty="0"/>
                  <a:t> </a:t>
                </a:r>
                <a:r>
                  <a:rPr lang="en-US" dirty="0"/>
                  <a:t>evolves exogenously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4F63EEF-0AC1-2778-88EB-33CE0B2F92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2371" y="5404955"/>
                <a:ext cx="6428014" cy="854658"/>
              </a:xfrm>
              <a:prstGeom prst="rect">
                <a:avLst/>
              </a:prstGeom>
              <a:blipFill>
                <a:blip r:embed="rId7"/>
                <a:stretch>
                  <a:fillRect l="-474" b="-6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36865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C12DB-BE49-4F45-2BE0-BC2D6E0C6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TextShape 3">
            <a:extLst>
              <a:ext uri="{FF2B5EF4-FFF2-40B4-BE49-F238E27FC236}">
                <a16:creationId xmlns:a16="http://schemas.microsoft.com/office/drawing/2014/main" id="{F34F80CE-E64B-C154-24A8-EC800BE9B94C}"/>
              </a:ext>
            </a:extLst>
          </p:cNvPr>
          <p:cNvSpPr txBox="1"/>
          <p:nvPr/>
        </p:nvSpPr>
        <p:spPr>
          <a:xfrm>
            <a:off x="10154206" y="6541200"/>
            <a:ext cx="324000" cy="31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fld id="{2FB9A7C0-A375-4B14-A573-B65C749CF92E}" type="slidenum">
              <a:rPr lang="en-US" sz="530" b="1" spc="-1">
                <a:solidFill>
                  <a:srgbClr val="FFFFFF"/>
                </a:solidFill>
                <a:latin typeface="Arial"/>
              </a:rPr>
              <a:t>35</a:t>
            </a:fld>
            <a:endParaRPr lang="en-US" sz="530" spc="-1">
              <a:latin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0E736B-D686-5A17-2322-985DA73AA6A2}"/>
              </a:ext>
            </a:extLst>
          </p:cNvPr>
          <p:cNvSpPr txBox="1"/>
          <p:nvPr/>
        </p:nvSpPr>
        <p:spPr>
          <a:xfrm>
            <a:off x="145537" y="922335"/>
            <a:ext cx="63409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spc="-1" dirty="0">
                <a:solidFill>
                  <a:srgbClr val="000000"/>
                </a:solidFill>
                <a:latin typeface="Cambria Math" panose="02040503050406030204" pitchFamily="18" charset="0"/>
              </a:rPr>
              <a:t>Deterministic Optimization Problem</a:t>
            </a:r>
            <a:endParaRPr lang="en-US" sz="2000" b="1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B0EA11-74AD-A60E-68C8-C84C0596DFD8}"/>
              </a:ext>
            </a:extLst>
          </p:cNvPr>
          <p:cNvSpPr txBox="1"/>
          <p:nvPr/>
        </p:nvSpPr>
        <p:spPr>
          <a:xfrm>
            <a:off x="6514517" y="852681"/>
            <a:ext cx="63409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spc="-1" dirty="0">
                <a:solidFill>
                  <a:srgbClr val="000000"/>
                </a:solidFill>
                <a:latin typeface="Cambria Math" panose="02040503050406030204" pitchFamily="18" charset="0"/>
              </a:rPr>
              <a:t>Sequential Decision Problem</a:t>
            </a:r>
            <a:endParaRPr lang="en-US" sz="2000" b="1" u="sng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C4B4652-3321-2E97-0269-C16C47D04957}"/>
              </a:ext>
            </a:extLst>
          </p:cNvPr>
          <p:cNvCxnSpPr/>
          <p:nvPr/>
        </p:nvCxnSpPr>
        <p:spPr>
          <a:xfrm>
            <a:off x="4871070" y="1052736"/>
            <a:ext cx="0" cy="518010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17C4E5A-7630-1E32-B2AF-23938A73C7FF}"/>
                  </a:ext>
                </a:extLst>
              </p:cNvPr>
              <p:cNvSpPr txBox="1"/>
              <p:nvPr/>
            </p:nvSpPr>
            <p:spPr>
              <a:xfrm>
                <a:off x="117485" y="1322445"/>
                <a:ext cx="4465548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Variables: </a:t>
                </a:r>
                <a:r>
                  <a:rPr kumimoji="0" lang="en-US" sz="1800" b="0" i="1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Effort (hours)</a:t>
                </a:r>
                <a:r>
                  <a:rPr kumimoji="0" lang="en-US" sz="1800" b="0" i="1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endParaRPr kumimoji="0" lang="en-US" sz="1800" b="0" i="1" u="none" strike="noStrike" kern="120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</a:rPr>
                  <a:t>Grade</a:t>
                </a: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kumimoji="0" lang="en-US" sz="1800" b="0" i="0" u="none" strike="sng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Fatigue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kumimoji="0" lang="en-US" sz="1800" b="0" i="0" u="none" strike="sng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Stressed: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kumimoji="0" lang="en-US" sz="1800" b="0" i="0" u="none" strike="noStrike" kern="1200" cap="none" spc="-1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17C4E5A-7630-1E32-B2AF-23938A73C7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85" y="1322445"/>
                <a:ext cx="4465548" cy="1477328"/>
              </a:xfrm>
              <a:prstGeom prst="rect">
                <a:avLst/>
              </a:prstGeom>
              <a:blipFill>
                <a:blip r:embed="rId2"/>
                <a:stretch>
                  <a:fillRect l="-1091" t="-2893" b="-53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Shape 2">
                <a:extLst>
                  <a:ext uri="{FF2B5EF4-FFF2-40B4-BE49-F238E27FC236}">
                    <a16:creationId xmlns:a16="http://schemas.microsoft.com/office/drawing/2014/main" id="{B585B0E0-5E77-B00C-26BD-B55ED11E8564}"/>
                  </a:ext>
                </a:extLst>
              </p:cNvPr>
              <p:cNvSpPr txBox="1"/>
              <p:nvPr/>
            </p:nvSpPr>
            <p:spPr>
              <a:xfrm>
                <a:off x="345038" y="2941700"/>
                <a:ext cx="4552464" cy="27195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𝑚𝑖𝑛𝑖𝑚𝑖𝑧𝑒</m:t>
                      </m:r>
                      <m:d>
                        <m:dPr>
                          <m:begChr m:val="{"/>
                          <m:endChr m:val="}"/>
                          <m:ctrlP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sub>
                            <m:sup/>
                            <m:e>
                              <m:d>
                                <m:dPr>
                                  <m:ctrlPr>
                                    <a:rPr kumimoji="0" lang="en-US" sz="2000" b="0" i="1" u="none" strike="noStrike" kern="1200" cap="none" spc="-1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kumimoji="0" lang="en-US" sz="2000" b="0" i="1" u="none" strike="noStrike" kern="1200" cap="none" spc="-1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kumimoji="0" lang="en-US" sz="2000" b="0" i="0" u="none" strike="noStrike" kern="1200" cap="none" spc="-1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w</m:t>
                                  </m:r>
                                  <m:sSub>
                                    <m:sSubPr>
                                      <m:ctrlP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2000" b="0" i="1" u="none" strike="noStrike" kern="1200" cap="none" spc="-1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sz="2000" b="0" i="0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subject</m:t>
                      </m:r>
                      <m:r>
                        <a:rPr kumimoji="0" lang="en-US" sz="2000" b="0" i="0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0" lang="en-US" sz="2000" b="0" i="0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to</m:t>
                      </m:r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kumimoji="0" lang="en-US" sz="20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2000" i="1" spc="-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br>
                  <a:rPr kumimoji="0" lang="en-US" sz="2000" b="0" i="1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</a:br>
                <a:endParaRPr kumimoji="0" lang="en-US" sz="2000" b="0" i="1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000" b="0" i="1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0≤</m:t>
                      </m:r>
                      <m:sSub>
                        <m:sSubPr>
                          <m:ctrlPr>
                            <a:rPr kumimoji="0" lang="en-US" sz="2000" b="0" i="1" u="non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sz="2000" b="0" i="1" u="non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0" lang="en-US" sz="2000" b="0" i="1" u="non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0" lang="en-US" sz="2000" b="0" i="1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≤</m:t>
                      </m:r>
                      <m:r>
                        <m:rPr>
                          <m:sty m:val="p"/>
                        </m:rPr>
                        <a:rPr kumimoji="0" lang="en-US" sz="2000" b="0" i="0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Hours</m:t>
                      </m:r>
                      <m:r>
                        <a:rPr kumimoji="0" lang="en-US" sz="2000" b="0" i="0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0" lang="en-US" sz="2000" b="0" i="1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kumimoji="0" lang="en-US" sz="2000" b="0" i="1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kumimoji="0" lang="en-US" sz="2000" b="0" i="0" u="non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</a:endParaRPr>
              </a:p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lit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Hours</m:t>
                          </m:r>
                        </m:den>
                      </m:f>
                      <m:r>
                        <a:rPr lang="el-GR" sz="2000" i="1" spc="-1">
                          <a:latin typeface="Cambria Math" panose="02040503050406030204" pitchFamily="18" charset="0"/>
                        </a:rPr>
                        <m:t>, ∀</m:t>
                      </m:r>
                      <m:r>
                        <a:rPr lang="en-US" sz="2000" i="1" spc="-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2000" spc="-1" dirty="0"/>
              </a:p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1800" dirty="0"/>
                  <a:t>initial fatigue</a:t>
                </a:r>
                <a:endParaRPr lang="en-US" sz="2000" dirty="0"/>
              </a:p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</a:rPr>
                  <a:t> </a:t>
                </a:r>
              </a:p>
            </p:txBody>
          </p:sp>
        </mc:Choice>
        <mc:Fallback xmlns="">
          <p:sp>
            <p:nvSpPr>
              <p:cNvPr id="7" name="TextShape 2">
                <a:extLst>
                  <a:ext uri="{FF2B5EF4-FFF2-40B4-BE49-F238E27FC236}">
                    <a16:creationId xmlns:a16="http://schemas.microsoft.com/office/drawing/2014/main" id="{B585B0E0-5E77-B00C-26BD-B55ED11E85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038" y="2941700"/>
                <a:ext cx="4552464" cy="2719548"/>
              </a:xfrm>
              <a:prstGeom prst="rect">
                <a:avLst/>
              </a:prstGeom>
              <a:blipFill>
                <a:blip r:embed="rId3"/>
                <a:stretch>
                  <a:fillRect l="-2681" b="-89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17190DE-F324-857A-FFDB-70C9D3B0AB50}"/>
                  </a:ext>
                </a:extLst>
              </p:cNvPr>
              <p:cNvSpPr txBox="1"/>
              <p:nvPr/>
            </p:nvSpPr>
            <p:spPr>
              <a:xfrm>
                <a:off x="5400809" y="1507602"/>
                <a:ext cx="6340925" cy="30469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sz="24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Cost:	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pc="-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c</m:t>
                    </m:r>
                    <m:d>
                      <m:dPr>
                        <m:ctrlP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2400" b="0" i="1" spc="-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 spc="-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2400" i="0" spc="-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w</m:t>
                    </m:r>
                    <m:sSub>
                      <m:sSubPr>
                        <m:ctrlP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kumimoji="0" lang="en-US" sz="2400" b="0" i="1" u="none" strike="noStrike" kern="120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Actions: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={</m:t>
                        </m:r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1" spc="-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endParaRPr kumimoji="0" lang="en-US" sz="24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States: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0" spc="-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sz="2400" spc="-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2400" spc="-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Transition</a:t>
                </a:r>
                <a:b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</a:br>
                <a: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Dynamics:	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17190DE-F324-857A-FFDB-70C9D3B0AB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809" y="1507602"/>
                <a:ext cx="6340925" cy="3046988"/>
              </a:xfrm>
              <a:prstGeom prst="rect">
                <a:avLst/>
              </a:prstGeom>
              <a:blipFill>
                <a:blip r:embed="rId4"/>
                <a:stretch>
                  <a:fillRect l="-1538" t="-1600" b="-3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767D44A-78D2-B190-7FF0-3F586173CA4F}"/>
                  </a:ext>
                </a:extLst>
              </p:cNvPr>
              <p:cNvSpPr txBox="1"/>
              <p:nvPr/>
            </p:nvSpPr>
            <p:spPr>
              <a:xfrm>
                <a:off x="4964938" y="4581128"/>
                <a:ext cx="167460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i="1" spc="-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2000" i="1" spc="-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⋅|</m:t>
                          </m:r>
                          <m:sSub>
                            <m:sSubPr>
                              <m:ctrlPr>
                                <a:rPr lang="en-US" sz="2000" i="1" spc="-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pc="-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000" i="1" spc="-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000" i="1" spc="-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pc="-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sz="2000" i="1" spc="-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767D44A-78D2-B190-7FF0-3F586173CA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4938" y="4581128"/>
                <a:ext cx="1674607" cy="400110"/>
              </a:xfrm>
              <a:prstGeom prst="rect">
                <a:avLst/>
              </a:prstGeom>
              <a:blipFill>
                <a:blip r:embed="rId5"/>
                <a:stretch>
                  <a:fillRect r="-14909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C269BB3-BEA9-A401-C228-C32FBCE81D7A}"/>
                  </a:ext>
                </a:extLst>
              </p:cNvPr>
              <p:cNvSpPr txBox="1"/>
              <p:nvPr/>
            </p:nvSpPr>
            <p:spPr>
              <a:xfrm>
                <a:off x="5162371" y="5404955"/>
                <a:ext cx="6428014" cy="8546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 depends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, i.e.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𝐹</m:t>
                    </m:r>
                  </m:oMath>
                </a14:m>
                <a:r>
                  <a:rPr lang="en-US" dirty="0"/>
                  <a:t> evolves endogenously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l-G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2000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 does not depend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, i.e. </a:t>
                </a:r>
                <a14:m>
                  <m:oMath xmlns:m="http://schemas.openxmlformats.org/officeDocument/2006/math">
                    <m:r>
                      <a:rPr lang="el-GR" sz="20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𝜉</m:t>
                    </m:r>
                  </m:oMath>
                </a14:m>
                <a:r>
                  <a:rPr lang="el-GR" dirty="0"/>
                  <a:t> </a:t>
                </a:r>
                <a:r>
                  <a:rPr lang="en-US" dirty="0"/>
                  <a:t>evolves exogenously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C269BB3-BEA9-A401-C228-C32FBCE81D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2371" y="5404955"/>
                <a:ext cx="6428014" cy="854658"/>
              </a:xfrm>
              <a:prstGeom prst="rect">
                <a:avLst/>
              </a:prstGeom>
              <a:blipFill>
                <a:blip r:embed="rId6"/>
                <a:stretch>
                  <a:fillRect l="-474" b="-6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484B8F4-0391-3277-3DBA-4B1B1DB01266}"/>
                  </a:ext>
                </a:extLst>
              </p:cNvPr>
              <p:cNvSpPr txBox="1"/>
              <p:nvPr/>
            </p:nvSpPr>
            <p:spPr>
              <a:xfrm>
                <a:off x="8183438" y="3554019"/>
                <a:ext cx="3384376" cy="19016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pc="-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lit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Hours</m:t>
                          </m:r>
                        </m:den>
                      </m:f>
                    </m:oMath>
                  </m:oMathPara>
                </a14:m>
                <a:endParaRPr lang="en-US" sz="2400" i="1" spc="-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pc="-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2400" b="0" i="1" spc="-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⋅| </m:t>
                          </m:r>
                          <m:sSub>
                            <m:sSubPr>
                              <m:ctrlPr>
                                <a:rPr lang="en-US" sz="2400" b="0" i="1" spc="-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2400" b="0" i="1" spc="-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n-US" sz="2400" b="0" i="1" spc="-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400" dirty="0"/>
              </a:p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484B8F4-0391-3277-3DBA-4B1B1DB012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3438" y="3554019"/>
                <a:ext cx="3384376" cy="1901611"/>
              </a:xfrm>
              <a:prstGeom prst="rect">
                <a:avLst/>
              </a:prstGeom>
              <a:blipFill>
                <a:blip r:embed="rId7"/>
                <a:stretch>
                  <a:fillRect l="-1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Shape 1">
            <a:extLst>
              <a:ext uri="{FF2B5EF4-FFF2-40B4-BE49-F238E27FC236}">
                <a16:creationId xmlns:a16="http://schemas.microsoft.com/office/drawing/2014/main" id="{20476C2E-62E6-5A8B-0990-1DEE9D82CF5C}"/>
              </a:ext>
            </a:extLst>
          </p:cNvPr>
          <p:cNvSpPr txBox="1"/>
          <p:nvPr/>
        </p:nvSpPr>
        <p:spPr>
          <a:xfrm>
            <a:off x="2384381" y="283849"/>
            <a:ext cx="10471064" cy="4848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000" b="1" spc="-1" dirty="0">
                <a:solidFill>
                  <a:srgbClr val="000000"/>
                </a:solidFill>
                <a:latin typeface="Arial"/>
              </a:rPr>
              <a:t>The </a:t>
            </a:r>
            <a:r>
              <a:rPr lang="fr-FR" sz="3000" b="1" spc="-1" dirty="0" err="1">
                <a:solidFill>
                  <a:srgbClr val="000000"/>
                </a:solidFill>
                <a:latin typeface="Arial"/>
              </a:rPr>
              <a:t>student’s</a:t>
            </a:r>
            <a:r>
              <a:rPr lang="fr-FR" sz="3000" b="1" i="1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sz="3000" b="1" spc="-1" dirty="0" err="1">
                <a:solidFill>
                  <a:srgbClr val="000000"/>
                </a:solidFill>
                <a:latin typeface="Arial"/>
              </a:rPr>
              <a:t>problem</a:t>
            </a:r>
            <a:r>
              <a:rPr lang="fr-FR" sz="3000" b="1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sz="3000" b="1" spc="-1" dirty="0" err="1">
                <a:solidFill>
                  <a:srgbClr val="000000"/>
                </a:solidFill>
                <a:latin typeface="Arial"/>
              </a:rPr>
              <a:t>including</a:t>
            </a:r>
            <a:r>
              <a:rPr lang="fr-FR" sz="3000" b="1" spc="-1" dirty="0">
                <a:solidFill>
                  <a:srgbClr val="000000"/>
                </a:solidFill>
                <a:latin typeface="Arial"/>
              </a:rPr>
              <a:t> stress</a:t>
            </a:r>
            <a:endParaRPr lang="fr-FR" sz="3000" spc="-1" dirty="0">
              <a:solidFill>
                <a:srgbClr val="000000"/>
              </a:solidFill>
              <a:latin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ADFC8E0-223F-FE52-23F9-D8D30F501314}"/>
                  </a:ext>
                </a:extLst>
              </p:cNvPr>
              <p:cNvSpPr txBox="1"/>
              <p:nvPr/>
            </p:nvSpPr>
            <p:spPr>
              <a:xfrm>
                <a:off x="251791" y="5661248"/>
                <a:ext cx="4275300" cy="861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l-GR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m:rPr>
                        <m:sty m:val="p"/>
                      </m:rPr>
                      <a:rPr lang="en-US" sz="2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2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l-GR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−1</m:t>
                    </m:r>
                    <m:r>
                      <a:rPr lang="en-US" sz="2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20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ADFC8E0-223F-FE52-23F9-D8D30F501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791" y="5661248"/>
                <a:ext cx="4275300" cy="861774"/>
              </a:xfrm>
              <a:prstGeom prst="rect">
                <a:avLst/>
              </a:prstGeom>
              <a:blipFill>
                <a:blip r:embed="rId8"/>
                <a:stretch>
                  <a:fillRect b="-7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52DE9116-196D-E49A-3C0A-ADB308F36E18}"/>
              </a:ext>
            </a:extLst>
          </p:cNvPr>
          <p:cNvSpPr txBox="1"/>
          <p:nvPr/>
        </p:nvSpPr>
        <p:spPr>
          <a:xfrm>
            <a:off x="4897502" y="1176024"/>
            <a:ext cx="26758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000" b="0" i="0" u="none" strike="noStrike" kern="1200" cap="none" spc="-1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mbria Math" panose="02040503050406030204" pitchFamily="18" charset="0"/>
              </a:rPr>
              <a:t>What is “stressed”?</a:t>
            </a:r>
            <a:endParaRPr lang="en-US" sz="2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7376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F7B37-C7F4-E986-670A-D5F09B8DB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TextShape 3">
            <a:extLst>
              <a:ext uri="{FF2B5EF4-FFF2-40B4-BE49-F238E27FC236}">
                <a16:creationId xmlns:a16="http://schemas.microsoft.com/office/drawing/2014/main" id="{C2D353CF-C949-C41D-F87A-0C8CE34B56CF}"/>
              </a:ext>
            </a:extLst>
          </p:cNvPr>
          <p:cNvSpPr txBox="1"/>
          <p:nvPr/>
        </p:nvSpPr>
        <p:spPr>
          <a:xfrm>
            <a:off x="10154206" y="6541200"/>
            <a:ext cx="324000" cy="31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fld id="{2FB9A7C0-A375-4B14-A573-B65C749CF92E}" type="slidenum">
              <a:rPr lang="en-US" sz="530" b="1" spc="-1">
                <a:solidFill>
                  <a:srgbClr val="FFFFFF"/>
                </a:solidFill>
                <a:latin typeface="Arial"/>
              </a:rPr>
              <a:t>36</a:t>
            </a:fld>
            <a:endParaRPr lang="en-US" sz="530" spc="-1">
              <a:latin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E8C973-66EF-8C0E-5883-2DAE31C23826}"/>
              </a:ext>
            </a:extLst>
          </p:cNvPr>
          <p:cNvSpPr txBox="1"/>
          <p:nvPr/>
        </p:nvSpPr>
        <p:spPr>
          <a:xfrm>
            <a:off x="145537" y="922335"/>
            <a:ext cx="63409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spc="-1" dirty="0">
                <a:solidFill>
                  <a:srgbClr val="000000"/>
                </a:solidFill>
                <a:latin typeface="Cambria Math" panose="02040503050406030204" pitchFamily="18" charset="0"/>
              </a:rPr>
              <a:t>Deterministic Optimization Problem</a:t>
            </a:r>
            <a:endParaRPr lang="en-US" sz="2000" b="1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99FC47-D52E-C366-B6CD-76227B5BCA13}"/>
              </a:ext>
            </a:extLst>
          </p:cNvPr>
          <p:cNvSpPr txBox="1"/>
          <p:nvPr/>
        </p:nvSpPr>
        <p:spPr>
          <a:xfrm>
            <a:off x="6514517" y="852681"/>
            <a:ext cx="63409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spc="-1" dirty="0">
                <a:solidFill>
                  <a:srgbClr val="000000"/>
                </a:solidFill>
                <a:latin typeface="Cambria Math" panose="02040503050406030204" pitchFamily="18" charset="0"/>
              </a:rPr>
              <a:t>Sequential Decision Problem</a:t>
            </a:r>
            <a:endParaRPr lang="en-US" sz="2000" b="1" u="sng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0F8D1D0-C85D-3D2E-E4AC-EE9981D3420C}"/>
              </a:ext>
            </a:extLst>
          </p:cNvPr>
          <p:cNvCxnSpPr/>
          <p:nvPr/>
        </p:nvCxnSpPr>
        <p:spPr>
          <a:xfrm>
            <a:off x="4871070" y="1052736"/>
            <a:ext cx="0" cy="518010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88992C3-E1C8-A845-BFF1-DDC67E5007BE}"/>
                  </a:ext>
                </a:extLst>
              </p:cNvPr>
              <p:cNvSpPr txBox="1"/>
              <p:nvPr/>
            </p:nvSpPr>
            <p:spPr>
              <a:xfrm>
                <a:off x="117485" y="1322445"/>
                <a:ext cx="4465548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Variables: </a:t>
                </a:r>
                <a:r>
                  <a:rPr kumimoji="0" lang="en-US" sz="1800" b="0" i="1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Effort (hours)</a:t>
                </a:r>
                <a:r>
                  <a:rPr kumimoji="0" lang="en-US" sz="1800" b="0" i="1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endParaRPr kumimoji="0" lang="en-US" sz="1800" b="0" i="1" u="none" strike="noStrike" kern="120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</a:rPr>
                  <a:t>Grade</a:t>
                </a: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kumimoji="0" lang="en-US" sz="1800" b="0" i="0" u="none" strike="sng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Fatigue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kumimoji="0" lang="en-US" sz="1800" b="0" i="0" u="none" strike="sng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Stressed: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kumimoji="0" lang="en-US" sz="1800" b="0" i="0" u="none" strike="noStrike" kern="1200" cap="none" spc="-1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88992C3-E1C8-A845-BFF1-DDC67E5007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85" y="1322445"/>
                <a:ext cx="4465548" cy="1477328"/>
              </a:xfrm>
              <a:prstGeom prst="rect">
                <a:avLst/>
              </a:prstGeom>
              <a:blipFill>
                <a:blip r:embed="rId2"/>
                <a:stretch>
                  <a:fillRect l="-1091" t="-2893" b="-53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Shape 2">
                <a:extLst>
                  <a:ext uri="{FF2B5EF4-FFF2-40B4-BE49-F238E27FC236}">
                    <a16:creationId xmlns:a16="http://schemas.microsoft.com/office/drawing/2014/main" id="{97EC2A32-2A71-A328-9212-53631CE0998B}"/>
                  </a:ext>
                </a:extLst>
              </p:cNvPr>
              <p:cNvSpPr txBox="1"/>
              <p:nvPr/>
            </p:nvSpPr>
            <p:spPr>
              <a:xfrm>
                <a:off x="345038" y="2941700"/>
                <a:ext cx="4552464" cy="27195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𝑚𝑖𝑛𝑖𝑚𝑖𝑧𝑒</m:t>
                      </m:r>
                      <m:d>
                        <m:dPr>
                          <m:begChr m:val="{"/>
                          <m:endChr m:val="}"/>
                          <m:ctrlP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sub>
                            <m:sup/>
                            <m:e>
                              <m:d>
                                <m:dPr>
                                  <m:ctrlPr>
                                    <a:rPr kumimoji="0" lang="en-US" sz="2000" b="0" i="1" u="none" strike="noStrike" kern="1200" cap="none" spc="-1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kumimoji="0" lang="en-US" sz="2000" b="0" i="1" u="none" strike="noStrike" kern="1200" cap="none" spc="-1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kumimoji="0" lang="en-US" sz="2000" b="0" i="0" u="none" strike="noStrike" kern="1200" cap="none" spc="-1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w</m:t>
                                  </m:r>
                                  <m:sSub>
                                    <m:sSubPr>
                                      <m:ctrlP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2000" b="0" i="1" u="none" strike="noStrike" kern="1200" cap="none" spc="-1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sz="2000" b="0" i="0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subject</m:t>
                      </m:r>
                      <m:r>
                        <a:rPr kumimoji="0" lang="en-US" sz="2000" b="0" i="0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0" lang="en-US" sz="2000" b="0" i="0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to</m:t>
                      </m:r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kumimoji="0" lang="en-US" sz="20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2000" i="1" spc="-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br>
                  <a:rPr kumimoji="0" lang="en-US" sz="2000" b="0" i="1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</a:br>
                <a:endParaRPr kumimoji="0" lang="en-US" sz="2000" b="0" i="1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000" b="0" i="1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0≤</m:t>
                      </m:r>
                      <m:sSub>
                        <m:sSubPr>
                          <m:ctrlPr>
                            <a:rPr kumimoji="0" lang="en-US" sz="2000" b="0" i="1" u="non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sz="2000" b="0" i="1" u="non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0" lang="en-US" sz="2000" b="0" i="1" u="non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0" lang="en-US" sz="2000" b="0" i="1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≤</m:t>
                      </m:r>
                      <m:r>
                        <m:rPr>
                          <m:sty m:val="p"/>
                        </m:rPr>
                        <a:rPr kumimoji="0" lang="en-US" sz="2000" b="0" i="0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Hours</m:t>
                      </m:r>
                      <m:r>
                        <a:rPr kumimoji="0" lang="en-US" sz="2000" b="0" i="0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0" lang="en-US" sz="2000" b="0" i="1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kumimoji="0" lang="en-US" sz="2000" b="0" i="1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kumimoji="0" lang="en-US" sz="2000" b="0" i="0" u="non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</a:endParaRPr>
              </a:p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lit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Hours</m:t>
                          </m:r>
                        </m:den>
                      </m:f>
                      <m:r>
                        <a:rPr lang="el-GR" sz="2000" i="1" spc="-1">
                          <a:latin typeface="Cambria Math" panose="02040503050406030204" pitchFamily="18" charset="0"/>
                        </a:rPr>
                        <m:t>, ∀</m:t>
                      </m:r>
                      <m:r>
                        <a:rPr lang="en-US" sz="2000" i="1" spc="-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2000" spc="-1" dirty="0"/>
              </a:p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1800" dirty="0"/>
                  <a:t>initial fatigue</a:t>
                </a:r>
                <a:endParaRPr lang="en-US" sz="2000" dirty="0"/>
              </a:p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</a:rPr>
                  <a:t> </a:t>
                </a:r>
              </a:p>
            </p:txBody>
          </p:sp>
        </mc:Choice>
        <mc:Fallback xmlns="">
          <p:sp>
            <p:nvSpPr>
              <p:cNvPr id="7" name="TextShape 2">
                <a:extLst>
                  <a:ext uri="{FF2B5EF4-FFF2-40B4-BE49-F238E27FC236}">
                    <a16:creationId xmlns:a16="http://schemas.microsoft.com/office/drawing/2014/main" id="{97EC2A32-2A71-A328-9212-53631CE09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038" y="2941700"/>
                <a:ext cx="4552464" cy="2719548"/>
              </a:xfrm>
              <a:prstGeom prst="rect">
                <a:avLst/>
              </a:prstGeom>
              <a:blipFill>
                <a:blip r:embed="rId3"/>
                <a:stretch>
                  <a:fillRect l="-2681" b="-89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ADB4CC4-C7ED-7811-9524-1FDBC60992B1}"/>
                  </a:ext>
                </a:extLst>
              </p:cNvPr>
              <p:cNvSpPr txBox="1"/>
              <p:nvPr/>
            </p:nvSpPr>
            <p:spPr>
              <a:xfrm>
                <a:off x="5400809" y="1507602"/>
                <a:ext cx="6340925" cy="30469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sz="24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Cost:	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pc="-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c</m:t>
                    </m:r>
                    <m:d>
                      <m:dPr>
                        <m:ctrlP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2400" b="0" i="1" spc="-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 spc="-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2400" i="0" spc="-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w</m:t>
                    </m:r>
                    <m:sSub>
                      <m:sSubPr>
                        <m:ctrlP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kumimoji="0" lang="en-US" sz="2400" b="0" i="1" u="none" strike="noStrike" kern="120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Actions: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={</m:t>
                        </m:r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1" spc="-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endParaRPr kumimoji="0" lang="en-US" sz="24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States: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0" spc="-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pc="-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sz="2400" spc="-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2400" spc="-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Transition</a:t>
                </a:r>
                <a:b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</a:br>
                <a: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Dynamics:	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ADB4CC4-C7ED-7811-9524-1FDBC60992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809" y="1507602"/>
                <a:ext cx="6340925" cy="3046988"/>
              </a:xfrm>
              <a:prstGeom prst="rect">
                <a:avLst/>
              </a:prstGeom>
              <a:blipFill>
                <a:blip r:embed="rId4"/>
                <a:stretch>
                  <a:fillRect l="-1538" t="-1600" b="-3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DA9DD07-665D-8E96-AAF4-7AAA2E47F13E}"/>
                  </a:ext>
                </a:extLst>
              </p:cNvPr>
              <p:cNvSpPr txBox="1"/>
              <p:nvPr/>
            </p:nvSpPr>
            <p:spPr>
              <a:xfrm>
                <a:off x="4964938" y="4581128"/>
                <a:ext cx="167460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i="1" spc="-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2000" i="1" spc="-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⋅|</m:t>
                          </m:r>
                          <m:sSub>
                            <m:sSubPr>
                              <m:ctrlPr>
                                <a:rPr lang="en-US" sz="2000" i="1" spc="-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pc="-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000" i="1" spc="-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000" i="1" spc="-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pc="-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sz="2000" i="1" spc="-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DA9DD07-665D-8E96-AAF4-7AAA2E47F1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4938" y="4581128"/>
                <a:ext cx="1674607" cy="400110"/>
              </a:xfrm>
              <a:prstGeom prst="rect">
                <a:avLst/>
              </a:prstGeom>
              <a:blipFill>
                <a:blip r:embed="rId5"/>
                <a:stretch>
                  <a:fillRect r="-14909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31D1E69-8A44-F249-62F8-D19D685DF191}"/>
                  </a:ext>
                </a:extLst>
              </p:cNvPr>
              <p:cNvSpPr txBox="1"/>
              <p:nvPr/>
            </p:nvSpPr>
            <p:spPr>
              <a:xfrm>
                <a:off x="5162371" y="5404955"/>
                <a:ext cx="6428014" cy="8546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 depends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, i.e.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𝐹</m:t>
                    </m:r>
                  </m:oMath>
                </a14:m>
                <a:r>
                  <a:rPr lang="en-US" dirty="0"/>
                  <a:t> evolves endogenously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l-G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2000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 does not depend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, i.e. </a:t>
                </a:r>
                <a14:m>
                  <m:oMath xmlns:m="http://schemas.openxmlformats.org/officeDocument/2006/math">
                    <m:r>
                      <a:rPr lang="el-GR" sz="20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𝜉</m:t>
                    </m:r>
                  </m:oMath>
                </a14:m>
                <a:r>
                  <a:rPr lang="el-GR" dirty="0"/>
                  <a:t> </a:t>
                </a:r>
                <a:r>
                  <a:rPr lang="en-US" dirty="0"/>
                  <a:t>evolves exogenously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31D1E69-8A44-F249-62F8-D19D685DF1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2371" y="5404955"/>
                <a:ext cx="6428014" cy="854658"/>
              </a:xfrm>
              <a:prstGeom prst="rect">
                <a:avLst/>
              </a:prstGeom>
              <a:blipFill>
                <a:blip r:embed="rId6"/>
                <a:stretch>
                  <a:fillRect l="-474" b="-6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5A126B7-7954-5985-4568-A5C1B3B97E1E}"/>
                  </a:ext>
                </a:extLst>
              </p:cNvPr>
              <p:cNvSpPr txBox="1"/>
              <p:nvPr/>
            </p:nvSpPr>
            <p:spPr>
              <a:xfrm>
                <a:off x="8183438" y="3554019"/>
                <a:ext cx="3384376" cy="19016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pc="-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lit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Hours</m:t>
                          </m:r>
                        </m:den>
                      </m:f>
                    </m:oMath>
                  </m:oMathPara>
                </a14:m>
                <a:endParaRPr lang="en-US" sz="2400" i="1" spc="-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pc="-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2400" b="0" i="1" spc="-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⋅| </m:t>
                          </m:r>
                          <m:sSub>
                            <m:sSubPr>
                              <m:ctrlPr>
                                <a:rPr lang="en-US" sz="2400" b="0" i="1" spc="-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2400" b="0" i="1" spc="-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n-US" sz="2400" b="0" i="1" spc="-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400" dirty="0"/>
              </a:p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5A126B7-7954-5985-4568-A5C1B3B97E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3438" y="3554019"/>
                <a:ext cx="3384376" cy="1901611"/>
              </a:xfrm>
              <a:prstGeom prst="rect">
                <a:avLst/>
              </a:prstGeom>
              <a:blipFill>
                <a:blip r:embed="rId7"/>
                <a:stretch>
                  <a:fillRect l="-1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Shape 1">
            <a:extLst>
              <a:ext uri="{FF2B5EF4-FFF2-40B4-BE49-F238E27FC236}">
                <a16:creationId xmlns:a16="http://schemas.microsoft.com/office/drawing/2014/main" id="{01343457-2C46-97BB-127F-CC33A761E0F2}"/>
              </a:ext>
            </a:extLst>
          </p:cNvPr>
          <p:cNvSpPr txBox="1"/>
          <p:nvPr/>
        </p:nvSpPr>
        <p:spPr>
          <a:xfrm>
            <a:off x="2384381" y="283849"/>
            <a:ext cx="10471064" cy="4848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000" b="1" spc="-1" dirty="0">
                <a:solidFill>
                  <a:srgbClr val="000000"/>
                </a:solidFill>
                <a:latin typeface="Arial"/>
              </a:rPr>
              <a:t>The </a:t>
            </a:r>
            <a:r>
              <a:rPr lang="fr-FR" sz="3000" b="1" spc="-1" dirty="0" err="1">
                <a:solidFill>
                  <a:srgbClr val="000000"/>
                </a:solidFill>
                <a:latin typeface="Arial"/>
              </a:rPr>
              <a:t>student’s</a:t>
            </a:r>
            <a:r>
              <a:rPr lang="fr-FR" sz="3000" b="1" i="1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sz="3000" b="1" spc="-1" dirty="0" err="1">
                <a:solidFill>
                  <a:srgbClr val="000000"/>
                </a:solidFill>
                <a:latin typeface="Arial"/>
              </a:rPr>
              <a:t>problem</a:t>
            </a:r>
            <a:r>
              <a:rPr lang="fr-FR" sz="3000" b="1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sz="3000" b="1" spc="-1" dirty="0" err="1">
                <a:solidFill>
                  <a:srgbClr val="000000"/>
                </a:solidFill>
                <a:latin typeface="Arial"/>
              </a:rPr>
              <a:t>including</a:t>
            </a:r>
            <a:r>
              <a:rPr lang="fr-FR" sz="3000" b="1" spc="-1" dirty="0">
                <a:solidFill>
                  <a:srgbClr val="000000"/>
                </a:solidFill>
                <a:latin typeface="Arial"/>
              </a:rPr>
              <a:t> stress</a:t>
            </a:r>
            <a:endParaRPr lang="fr-FR" sz="30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2958A7-6EBC-8F09-817D-23A2EA2BA48B}"/>
              </a:ext>
            </a:extLst>
          </p:cNvPr>
          <p:cNvSpPr txBox="1"/>
          <p:nvPr/>
        </p:nvSpPr>
        <p:spPr>
          <a:xfrm>
            <a:off x="4897502" y="1176024"/>
            <a:ext cx="26758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000" b="0" i="0" u="none" strike="noStrike" kern="1200" cap="none" spc="-1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mbria Math" panose="02040503050406030204" pitchFamily="18" charset="0"/>
              </a:rPr>
              <a:t>What is “stressed”?</a:t>
            </a:r>
            <a:endParaRPr lang="en-US" sz="2000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06B7509-3BE9-534B-9C56-BF344A450BF6}"/>
                  </a:ext>
                </a:extLst>
              </p:cNvPr>
              <p:cNvSpPr txBox="1"/>
              <p:nvPr/>
            </p:nvSpPr>
            <p:spPr>
              <a:xfrm>
                <a:off x="251791" y="5661248"/>
                <a:ext cx="4275300" cy="861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l-GR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m:rPr>
                        <m:sty m:val="p"/>
                      </m:rPr>
                      <a:rPr lang="en-US" sz="2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2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l-GR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−1</m:t>
                    </m:r>
                    <m:r>
                      <a:rPr lang="en-US" sz="2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20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06B7509-3BE9-534B-9C56-BF344A450B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791" y="5661248"/>
                <a:ext cx="4275300" cy="861774"/>
              </a:xfrm>
              <a:prstGeom prst="rect">
                <a:avLst/>
              </a:prstGeom>
              <a:blipFill>
                <a:blip r:embed="rId8"/>
                <a:stretch>
                  <a:fillRect b="-7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873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C937D-D4D8-2864-E84E-9458C6022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TextShape 3">
            <a:extLst>
              <a:ext uri="{FF2B5EF4-FFF2-40B4-BE49-F238E27FC236}">
                <a16:creationId xmlns:a16="http://schemas.microsoft.com/office/drawing/2014/main" id="{DD4F55EF-DE4B-9854-F72C-E3F19BB343D5}"/>
              </a:ext>
            </a:extLst>
          </p:cNvPr>
          <p:cNvSpPr txBox="1"/>
          <p:nvPr/>
        </p:nvSpPr>
        <p:spPr>
          <a:xfrm>
            <a:off x="10154206" y="6541200"/>
            <a:ext cx="324000" cy="31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fld id="{2FB9A7C0-A375-4B14-A573-B65C749CF92E}" type="slidenum">
              <a:rPr lang="en-US" sz="530" b="1" spc="-1">
                <a:solidFill>
                  <a:srgbClr val="FFFFFF"/>
                </a:solidFill>
                <a:latin typeface="Arial"/>
              </a:rPr>
              <a:t>37</a:t>
            </a:fld>
            <a:endParaRPr lang="en-US" sz="530" spc="-1">
              <a:latin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8C4C2E-27F3-0961-7DA7-9988118625E3}"/>
              </a:ext>
            </a:extLst>
          </p:cNvPr>
          <p:cNvSpPr txBox="1"/>
          <p:nvPr/>
        </p:nvSpPr>
        <p:spPr>
          <a:xfrm>
            <a:off x="145537" y="922335"/>
            <a:ext cx="63409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spc="-1" dirty="0">
                <a:solidFill>
                  <a:srgbClr val="000000"/>
                </a:solidFill>
                <a:latin typeface="Cambria Math" panose="02040503050406030204" pitchFamily="18" charset="0"/>
              </a:rPr>
              <a:t>Deterministic Optimization Problem</a:t>
            </a:r>
            <a:endParaRPr lang="en-US" sz="2000" b="1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54AFD0-D1B3-B7EF-01A0-EA5B60F553B6}"/>
              </a:ext>
            </a:extLst>
          </p:cNvPr>
          <p:cNvSpPr txBox="1"/>
          <p:nvPr/>
        </p:nvSpPr>
        <p:spPr>
          <a:xfrm>
            <a:off x="6514517" y="852681"/>
            <a:ext cx="63409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spc="-1" dirty="0">
                <a:solidFill>
                  <a:srgbClr val="000000"/>
                </a:solidFill>
                <a:latin typeface="Cambria Math" panose="02040503050406030204" pitchFamily="18" charset="0"/>
              </a:rPr>
              <a:t>Sequential Decision Problem</a:t>
            </a:r>
            <a:endParaRPr lang="en-US" sz="2000" b="1" u="sng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FBD984-14E7-0110-FA52-EAD7646F822C}"/>
              </a:ext>
            </a:extLst>
          </p:cNvPr>
          <p:cNvCxnSpPr/>
          <p:nvPr/>
        </p:nvCxnSpPr>
        <p:spPr>
          <a:xfrm>
            <a:off x="4871070" y="1052736"/>
            <a:ext cx="0" cy="518010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07E98D6-585A-2F20-5998-17B308DFEC48}"/>
                  </a:ext>
                </a:extLst>
              </p:cNvPr>
              <p:cNvSpPr txBox="1"/>
              <p:nvPr/>
            </p:nvSpPr>
            <p:spPr>
              <a:xfrm>
                <a:off x="117485" y="1322445"/>
                <a:ext cx="4465548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Variables: </a:t>
                </a:r>
                <a:r>
                  <a:rPr kumimoji="0" lang="en-US" sz="1800" b="0" i="1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Effort (hours)</a:t>
                </a:r>
                <a:r>
                  <a:rPr kumimoji="0" lang="en-US" sz="1800" b="0" i="1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endParaRPr kumimoji="0" lang="en-US" sz="1800" b="0" i="1" u="none" strike="noStrike" kern="120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</a:rPr>
                  <a:t>Grade</a:t>
                </a: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kumimoji="0" lang="en-US" sz="1800" b="0" i="0" u="none" strike="sng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Fatigue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kumimoji="0" lang="en-US" sz="1800" b="0" i="0" u="none" strike="sng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Stressed: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kumimoji="0" lang="en-US" sz="1800" b="0" i="0" u="none" strike="noStrike" kern="1200" cap="none" spc="-1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07E98D6-585A-2F20-5998-17B308DFEC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85" y="1322445"/>
                <a:ext cx="4465548" cy="1477328"/>
              </a:xfrm>
              <a:prstGeom prst="rect">
                <a:avLst/>
              </a:prstGeom>
              <a:blipFill>
                <a:blip r:embed="rId2"/>
                <a:stretch>
                  <a:fillRect l="-1091" t="-2893" b="-53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Shape 2">
                <a:extLst>
                  <a:ext uri="{FF2B5EF4-FFF2-40B4-BE49-F238E27FC236}">
                    <a16:creationId xmlns:a16="http://schemas.microsoft.com/office/drawing/2014/main" id="{4A908038-4F46-D822-693C-61F06F624E70}"/>
                  </a:ext>
                </a:extLst>
              </p:cNvPr>
              <p:cNvSpPr txBox="1"/>
              <p:nvPr/>
            </p:nvSpPr>
            <p:spPr>
              <a:xfrm>
                <a:off x="345038" y="2941700"/>
                <a:ext cx="4552464" cy="27195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𝑚𝑖𝑛𝑖𝑚𝑖𝑧𝑒</m:t>
                      </m:r>
                      <m:d>
                        <m:dPr>
                          <m:begChr m:val="{"/>
                          <m:endChr m:val="}"/>
                          <m:ctrlP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sub>
                            <m:sup/>
                            <m:e>
                              <m:d>
                                <m:dPr>
                                  <m:ctrlPr>
                                    <a:rPr kumimoji="0" lang="en-US" sz="2000" b="0" i="1" u="none" strike="noStrike" kern="1200" cap="none" spc="-1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kumimoji="0" lang="en-US" sz="2000" b="0" i="1" u="none" strike="noStrike" kern="1200" cap="none" spc="-1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kumimoji="0" lang="en-US" sz="2000" b="0" i="0" u="none" strike="noStrike" kern="1200" cap="none" spc="-1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w</m:t>
                                  </m:r>
                                  <m:sSub>
                                    <m:sSubPr>
                                      <m:ctrlP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2000" b="0" i="1" u="none" strike="noStrike" kern="1200" cap="none" spc="-1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sz="2000" b="0" i="0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subject</m:t>
                      </m:r>
                      <m:r>
                        <a:rPr kumimoji="0" lang="en-US" sz="2000" b="0" i="0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0" lang="en-US" sz="2000" b="0" i="0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to</m:t>
                      </m:r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kumimoji="0" lang="en-US" sz="20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2000" i="1" spc="-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br>
                  <a:rPr kumimoji="0" lang="en-US" sz="2000" b="0" i="1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</a:br>
                <a:endParaRPr kumimoji="0" lang="en-US" sz="2000" b="0" i="1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000" b="0" i="1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0≤</m:t>
                      </m:r>
                      <m:sSub>
                        <m:sSubPr>
                          <m:ctrlPr>
                            <a:rPr kumimoji="0" lang="en-US" sz="2000" b="0" i="1" u="non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sz="2000" b="0" i="1" u="non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0" lang="en-US" sz="2000" b="0" i="1" u="non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0" lang="en-US" sz="2000" b="0" i="1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≤</m:t>
                      </m:r>
                      <m:r>
                        <m:rPr>
                          <m:sty m:val="p"/>
                        </m:rPr>
                        <a:rPr kumimoji="0" lang="en-US" sz="2000" b="0" i="0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Hours</m:t>
                      </m:r>
                      <m:r>
                        <a:rPr kumimoji="0" lang="en-US" sz="2000" b="0" i="0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0" lang="en-US" sz="2000" b="0" i="1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kumimoji="0" lang="en-US" sz="2000" b="0" i="1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kumimoji="0" lang="en-US" sz="2000" b="0" i="0" u="non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</a:endParaRPr>
              </a:p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lit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Hours</m:t>
                          </m:r>
                        </m:den>
                      </m:f>
                      <m:r>
                        <a:rPr lang="el-GR" sz="2000" i="1" spc="-1">
                          <a:latin typeface="Cambria Math" panose="02040503050406030204" pitchFamily="18" charset="0"/>
                        </a:rPr>
                        <m:t>, ∀</m:t>
                      </m:r>
                      <m:r>
                        <a:rPr lang="en-US" sz="2000" i="1" spc="-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2000" spc="-1" dirty="0"/>
              </a:p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1800" dirty="0"/>
                  <a:t>initial fatigue</a:t>
                </a:r>
                <a:endParaRPr lang="en-US" sz="2000" dirty="0"/>
              </a:p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</a:rPr>
                  <a:t> </a:t>
                </a:r>
              </a:p>
            </p:txBody>
          </p:sp>
        </mc:Choice>
        <mc:Fallback xmlns="">
          <p:sp>
            <p:nvSpPr>
              <p:cNvPr id="7" name="TextShape 2">
                <a:extLst>
                  <a:ext uri="{FF2B5EF4-FFF2-40B4-BE49-F238E27FC236}">
                    <a16:creationId xmlns:a16="http://schemas.microsoft.com/office/drawing/2014/main" id="{4A908038-4F46-D822-693C-61F06F624E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038" y="2941700"/>
                <a:ext cx="4552464" cy="2719548"/>
              </a:xfrm>
              <a:prstGeom prst="rect">
                <a:avLst/>
              </a:prstGeom>
              <a:blipFill>
                <a:blip r:embed="rId3"/>
                <a:stretch>
                  <a:fillRect l="-2681" b="-89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E7E22D6-587D-15B5-65A3-D8E6D99E7628}"/>
                  </a:ext>
                </a:extLst>
              </p:cNvPr>
              <p:cNvSpPr txBox="1"/>
              <p:nvPr/>
            </p:nvSpPr>
            <p:spPr>
              <a:xfrm>
                <a:off x="5400809" y="1507602"/>
                <a:ext cx="6340925" cy="30469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sz="24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Cost:	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pc="-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c</m:t>
                    </m:r>
                    <m:d>
                      <m:dPr>
                        <m:ctrlP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2400" b="0" i="1" spc="-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 spc="-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2400" i="0" spc="-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w</m:t>
                    </m:r>
                    <m:sSub>
                      <m:sSubPr>
                        <m:ctrlP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kumimoji="0" lang="en-US" sz="2400" b="0" i="1" u="none" strike="noStrike" kern="120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Actions: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={</m:t>
                        </m:r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1" spc="-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endParaRPr kumimoji="0" lang="en-US" sz="24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States: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0" spc="-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sz="2400" spc="-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2400" spc="-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Transition</a:t>
                </a:r>
                <a:b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</a:br>
                <a: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Dynamics:	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E7E22D6-587D-15B5-65A3-D8E6D99E76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809" y="1507602"/>
                <a:ext cx="6340925" cy="3046988"/>
              </a:xfrm>
              <a:prstGeom prst="rect">
                <a:avLst/>
              </a:prstGeom>
              <a:blipFill>
                <a:blip r:embed="rId4"/>
                <a:stretch>
                  <a:fillRect l="-1538" t="-1600" b="-3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39BFE17-F242-D4A3-251F-FA990B1B1A17}"/>
                  </a:ext>
                </a:extLst>
              </p:cNvPr>
              <p:cNvSpPr txBox="1"/>
              <p:nvPr/>
            </p:nvSpPr>
            <p:spPr>
              <a:xfrm>
                <a:off x="4964938" y="4581128"/>
                <a:ext cx="167460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i="1" spc="-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2000" i="1" spc="-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⋅|</m:t>
                          </m:r>
                          <m:sSub>
                            <m:sSubPr>
                              <m:ctrlPr>
                                <a:rPr lang="en-US" sz="2000" i="1" spc="-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pc="-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000" i="1" spc="-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000" i="1" spc="-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pc="-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sz="2000" i="1" spc="-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39BFE17-F242-D4A3-251F-FA990B1B1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4938" y="4581128"/>
                <a:ext cx="1674607" cy="400110"/>
              </a:xfrm>
              <a:prstGeom prst="rect">
                <a:avLst/>
              </a:prstGeom>
              <a:blipFill>
                <a:blip r:embed="rId5"/>
                <a:stretch>
                  <a:fillRect r="-14909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3294761-F1C6-AA9F-BF42-953C7E673837}"/>
                  </a:ext>
                </a:extLst>
              </p:cNvPr>
              <p:cNvSpPr txBox="1"/>
              <p:nvPr/>
            </p:nvSpPr>
            <p:spPr>
              <a:xfrm>
                <a:off x="5162371" y="5404955"/>
                <a:ext cx="6428014" cy="8546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 depends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, i.e.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𝐹</m:t>
                    </m:r>
                  </m:oMath>
                </a14:m>
                <a:r>
                  <a:rPr lang="en-US" dirty="0"/>
                  <a:t> evolves endogenously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l-G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2000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 does not depend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, i.e. </a:t>
                </a:r>
                <a14:m>
                  <m:oMath xmlns:m="http://schemas.openxmlformats.org/officeDocument/2006/math">
                    <m:r>
                      <a:rPr lang="el-GR" sz="20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𝜉</m:t>
                    </m:r>
                  </m:oMath>
                </a14:m>
                <a:r>
                  <a:rPr lang="el-GR" dirty="0"/>
                  <a:t> </a:t>
                </a:r>
                <a:r>
                  <a:rPr lang="en-US" dirty="0"/>
                  <a:t>evolves exogenously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3294761-F1C6-AA9F-BF42-953C7E6738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2371" y="5404955"/>
                <a:ext cx="6428014" cy="854658"/>
              </a:xfrm>
              <a:prstGeom prst="rect">
                <a:avLst/>
              </a:prstGeom>
              <a:blipFill>
                <a:blip r:embed="rId6"/>
                <a:stretch>
                  <a:fillRect l="-474" b="-6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A231296-17B8-B747-79DA-274892723623}"/>
                  </a:ext>
                </a:extLst>
              </p:cNvPr>
              <p:cNvSpPr txBox="1"/>
              <p:nvPr/>
            </p:nvSpPr>
            <p:spPr>
              <a:xfrm>
                <a:off x="8183438" y="3554019"/>
                <a:ext cx="3384376" cy="19016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pc="-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lit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Hours</m:t>
                          </m:r>
                        </m:den>
                      </m:f>
                    </m:oMath>
                  </m:oMathPara>
                </a14:m>
                <a:endParaRPr lang="en-US" sz="2400" i="1" spc="-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pc="-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2400" b="0" i="1" spc="-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⋅| </m:t>
                          </m:r>
                          <m:sSub>
                            <m:sSubPr>
                              <m:ctrlPr>
                                <a:rPr lang="en-US" sz="2400" b="0" i="1" spc="-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2400" b="0" i="1" spc="-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n-US" sz="2400" b="0" i="1" spc="-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400" dirty="0"/>
              </a:p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A231296-17B8-B747-79DA-2748927236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3438" y="3554019"/>
                <a:ext cx="3384376" cy="1901611"/>
              </a:xfrm>
              <a:prstGeom prst="rect">
                <a:avLst/>
              </a:prstGeom>
              <a:blipFill>
                <a:blip r:embed="rId7"/>
                <a:stretch>
                  <a:fillRect l="-1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Shape 1">
            <a:extLst>
              <a:ext uri="{FF2B5EF4-FFF2-40B4-BE49-F238E27FC236}">
                <a16:creationId xmlns:a16="http://schemas.microsoft.com/office/drawing/2014/main" id="{CE4F51E0-7AA9-7F48-F6B7-4F38B7CDF46F}"/>
              </a:ext>
            </a:extLst>
          </p:cNvPr>
          <p:cNvSpPr txBox="1"/>
          <p:nvPr/>
        </p:nvSpPr>
        <p:spPr>
          <a:xfrm>
            <a:off x="2384381" y="283849"/>
            <a:ext cx="10471064" cy="4848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000" b="1" spc="-1" dirty="0">
                <a:solidFill>
                  <a:srgbClr val="000000"/>
                </a:solidFill>
                <a:latin typeface="Arial"/>
              </a:rPr>
              <a:t>The </a:t>
            </a:r>
            <a:r>
              <a:rPr lang="fr-FR" sz="3000" b="1" spc="-1" dirty="0" err="1">
                <a:solidFill>
                  <a:srgbClr val="000000"/>
                </a:solidFill>
                <a:latin typeface="Arial"/>
              </a:rPr>
              <a:t>student’s</a:t>
            </a:r>
            <a:r>
              <a:rPr lang="fr-FR" sz="3000" b="1" i="1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sz="3000" b="1" spc="-1" dirty="0" err="1">
                <a:solidFill>
                  <a:srgbClr val="000000"/>
                </a:solidFill>
                <a:latin typeface="Arial"/>
              </a:rPr>
              <a:t>problem</a:t>
            </a:r>
            <a:r>
              <a:rPr lang="fr-FR" sz="3000" b="1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sz="3000" b="1" spc="-1" dirty="0" err="1">
                <a:solidFill>
                  <a:srgbClr val="000000"/>
                </a:solidFill>
                <a:latin typeface="Arial"/>
              </a:rPr>
              <a:t>including</a:t>
            </a:r>
            <a:r>
              <a:rPr lang="fr-FR" sz="3000" b="1" spc="-1" dirty="0">
                <a:solidFill>
                  <a:srgbClr val="000000"/>
                </a:solidFill>
                <a:latin typeface="Arial"/>
              </a:rPr>
              <a:t> stress</a:t>
            </a:r>
            <a:endParaRPr lang="fr-FR" sz="30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D06C43-4EC1-D14F-979D-3172296C1361}"/>
              </a:ext>
            </a:extLst>
          </p:cNvPr>
          <p:cNvSpPr txBox="1"/>
          <p:nvPr/>
        </p:nvSpPr>
        <p:spPr>
          <a:xfrm>
            <a:off x="10255998" y="2283545"/>
            <a:ext cx="148573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000" b="0" i="0" u="none" strike="noStrike" kern="1200" cap="none" spc="-1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mbria Math" panose="02040503050406030204" pitchFamily="18" charset="0"/>
              </a:rPr>
              <a:t>Is this formulation complete?</a:t>
            </a:r>
            <a:endParaRPr lang="en-US" sz="2000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0A5569B-65CA-A265-CF04-8EBD74B276B3}"/>
                  </a:ext>
                </a:extLst>
              </p:cNvPr>
              <p:cNvSpPr txBox="1"/>
              <p:nvPr/>
            </p:nvSpPr>
            <p:spPr>
              <a:xfrm>
                <a:off x="251791" y="5661248"/>
                <a:ext cx="4275300" cy="861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l-GR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m:rPr>
                        <m:sty m:val="p"/>
                      </m:rPr>
                      <a:rPr lang="en-US" sz="2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2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l-GR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−1</m:t>
                    </m:r>
                    <m:r>
                      <a:rPr lang="en-US" sz="2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20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0A5569B-65CA-A265-CF04-8EBD74B276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791" y="5661248"/>
                <a:ext cx="4275300" cy="861774"/>
              </a:xfrm>
              <a:prstGeom prst="rect">
                <a:avLst/>
              </a:prstGeom>
              <a:blipFill>
                <a:blip r:embed="rId8"/>
                <a:stretch>
                  <a:fillRect b="-7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50525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E3F9C-596E-1105-60AB-3A43E7011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TextShape 3">
            <a:extLst>
              <a:ext uri="{FF2B5EF4-FFF2-40B4-BE49-F238E27FC236}">
                <a16:creationId xmlns:a16="http://schemas.microsoft.com/office/drawing/2014/main" id="{EFA9DD68-7942-3A18-4970-4B9385DD76F8}"/>
              </a:ext>
            </a:extLst>
          </p:cNvPr>
          <p:cNvSpPr txBox="1"/>
          <p:nvPr/>
        </p:nvSpPr>
        <p:spPr>
          <a:xfrm>
            <a:off x="10154206" y="6541200"/>
            <a:ext cx="324000" cy="31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fld id="{2FB9A7C0-A375-4B14-A573-B65C749CF92E}" type="slidenum">
              <a:rPr lang="en-US" sz="530" b="1" spc="-1">
                <a:solidFill>
                  <a:srgbClr val="FFFFFF"/>
                </a:solidFill>
                <a:latin typeface="Arial"/>
              </a:rPr>
              <a:t>38</a:t>
            </a:fld>
            <a:endParaRPr lang="en-US" sz="530" spc="-1">
              <a:latin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5C0110-AD81-293B-EE0B-6D459DC1F9AA}"/>
              </a:ext>
            </a:extLst>
          </p:cNvPr>
          <p:cNvSpPr txBox="1"/>
          <p:nvPr/>
        </p:nvSpPr>
        <p:spPr>
          <a:xfrm>
            <a:off x="145537" y="922335"/>
            <a:ext cx="63409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spc="-1" dirty="0">
                <a:solidFill>
                  <a:srgbClr val="000000"/>
                </a:solidFill>
                <a:latin typeface="Cambria Math" panose="02040503050406030204" pitchFamily="18" charset="0"/>
              </a:rPr>
              <a:t>Deterministic Optimization Problem</a:t>
            </a:r>
            <a:endParaRPr lang="en-US" sz="2000" b="1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890EE7-B214-C186-8F66-08ED804CF33B}"/>
              </a:ext>
            </a:extLst>
          </p:cNvPr>
          <p:cNvSpPr txBox="1"/>
          <p:nvPr/>
        </p:nvSpPr>
        <p:spPr>
          <a:xfrm>
            <a:off x="6514517" y="852681"/>
            <a:ext cx="63409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spc="-1" dirty="0">
                <a:solidFill>
                  <a:srgbClr val="000000"/>
                </a:solidFill>
                <a:latin typeface="Cambria Math" panose="02040503050406030204" pitchFamily="18" charset="0"/>
              </a:rPr>
              <a:t>Sequential Decision Problem</a:t>
            </a:r>
            <a:endParaRPr lang="en-US" sz="2000" b="1" u="sng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66A077E-5743-5790-BB04-CEE6664B977B}"/>
              </a:ext>
            </a:extLst>
          </p:cNvPr>
          <p:cNvCxnSpPr/>
          <p:nvPr/>
        </p:nvCxnSpPr>
        <p:spPr>
          <a:xfrm>
            <a:off x="4871070" y="1052736"/>
            <a:ext cx="0" cy="518010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D5942BF-1321-0E75-BE12-F3C174842B86}"/>
                  </a:ext>
                </a:extLst>
              </p:cNvPr>
              <p:cNvSpPr txBox="1"/>
              <p:nvPr/>
            </p:nvSpPr>
            <p:spPr>
              <a:xfrm>
                <a:off x="117485" y="1322445"/>
                <a:ext cx="4465548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Variables: </a:t>
                </a:r>
                <a:r>
                  <a:rPr kumimoji="0" lang="en-US" sz="1800" b="0" i="1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Effort (hours)</a:t>
                </a:r>
                <a:r>
                  <a:rPr kumimoji="0" lang="en-US" sz="1800" b="0" i="1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endParaRPr kumimoji="0" lang="en-US" sz="1800" b="0" i="1" u="none" strike="noStrike" kern="120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</a:rPr>
                  <a:t>Grade</a:t>
                </a: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kumimoji="0" lang="en-US" sz="1800" b="0" i="0" u="none" strike="sng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Fatigue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kumimoji="0" lang="en-US" sz="1800" b="0" i="0" u="none" strike="sng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Stressed: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kumimoji="0" lang="en-US" sz="1800" b="0" i="0" u="none" strike="noStrike" kern="1200" cap="none" spc="-1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D5942BF-1321-0E75-BE12-F3C174842B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85" y="1322445"/>
                <a:ext cx="4465548" cy="1477328"/>
              </a:xfrm>
              <a:prstGeom prst="rect">
                <a:avLst/>
              </a:prstGeom>
              <a:blipFill>
                <a:blip r:embed="rId2"/>
                <a:stretch>
                  <a:fillRect l="-1091" t="-2893" b="-53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Shape 2">
                <a:extLst>
                  <a:ext uri="{FF2B5EF4-FFF2-40B4-BE49-F238E27FC236}">
                    <a16:creationId xmlns:a16="http://schemas.microsoft.com/office/drawing/2014/main" id="{14E2F501-3314-B504-A002-65CD10E4B3B6}"/>
                  </a:ext>
                </a:extLst>
              </p:cNvPr>
              <p:cNvSpPr txBox="1"/>
              <p:nvPr/>
            </p:nvSpPr>
            <p:spPr>
              <a:xfrm>
                <a:off x="345038" y="2941700"/>
                <a:ext cx="4552464" cy="27195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𝑚𝑖𝑛𝑖𝑚𝑖𝑧𝑒</m:t>
                      </m:r>
                      <m:d>
                        <m:dPr>
                          <m:begChr m:val="{"/>
                          <m:endChr m:val="}"/>
                          <m:ctrlP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sub>
                            <m:sup/>
                            <m:e>
                              <m:d>
                                <m:dPr>
                                  <m:ctrlPr>
                                    <a:rPr kumimoji="0" lang="en-US" sz="2000" b="0" i="1" u="none" strike="noStrike" kern="1200" cap="none" spc="-1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kumimoji="0" lang="en-US" sz="2000" b="0" i="1" u="none" strike="noStrike" kern="1200" cap="none" spc="-1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kumimoji="0" lang="en-US" sz="2000" b="0" i="0" u="none" strike="noStrike" kern="1200" cap="none" spc="-1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w</m:t>
                                  </m:r>
                                  <m:sSub>
                                    <m:sSubPr>
                                      <m:ctrlP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2000" b="0" i="1" u="none" strike="noStrike" kern="1200" cap="none" spc="-1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sz="2000" b="0" i="0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subject</m:t>
                      </m:r>
                      <m:r>
                        <a:rPr kumimoji="0" lang="en-US" sz="2000" b="0" i="0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0" lang="en-US" sz="2000" b="0" i="0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to</m:t>
                      </m:r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kumimoji="0" lang="en-US" sz="20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2000" i="1" spc="-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br>
                  <a:rPr kumimoji="0" lang="en-US" sz="2000" b="0" i="1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</a:br>
                <a:endParaRPr kumimoji="0" lang="en-US" sz="2000" b="0" i="1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000" b="0" i="1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0≤</m:t>
                      </m:r>
                      <m:sSub>
                        <m:sSubPr>
                          <m:ctrlPr>
                            <a:rPr kumimoji="0" lang="en-US" sz="2000" b="0" i="1" u="non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sz="2000" b="0" i="1" u="non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0" lang="en-US" sz="2000" b="0" i="1" u="non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0" lang="en-US" sz="2000" b="0" i="1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≤</m:t>
                      </m:r>
                      <m:r>
                        <m:rPr>
                          <m:sty m:val="p"/>
                        </m:rPr>
                        <a:rPr kumimoji="0" lang="en-US" sz="2000" b="0" i="0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Hours</m:t>
                      </m:r>
                      <m:r>
                        <a:rPr kumimoji="0" lang="en-US" sz="2000" b="0" i="0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0" lang="en-US" sz="2000" b="0" i="1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kumimoji="0" lang="en-US" sz="2000" b="0" i="1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kumimoji="0" lang="en-US" sz="2000" b="0" i="0" u="non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</a:endParaRPr>
              </a:p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lit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Hours</m:t>
                          </m:r>
                        </m:den>
                      </m:f>
                      <m:r>
                        <a:rPr lang="el-GR" sz="2000" i="1" spc="-1">
                          <a:latin typeface="Cambria Math" panose="02040503050406030204" pitchFamily="18" charset="0"/>
                        </a:rPr>
                        <m:t>, ∀</m:t>
                      </m:r>
                      <m:r>
                        <a:rPr lang="en-US" sz="2000" i="1" spc="-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2000" spc="-1" dirty="0"/>
              </a:p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1800" dirty="0"/>
                  <a:t>initial fatigue</a:t>
                </a:r>
                <a:endParaRPr lang="en-US" sz="2000" dirty="0"/>
              </a:p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</a:rPr>
                  <a:t> </a:t>
                </a:r>
              </a:p>
            </p:txBody>
          </p:sp>
        </mc:Choice>
        <mc:Fallback xmlns="">
          <p:sp>
            <p:nvSpPr>
              <p:cNvPr id="7" name="TextShape 2">
                <a:extLst>
                  <a:ext uri="{FF2B5EF4-FFF2-40B4-BE49-F238E27FC236}">
                    <a16:creationId xmlns:a16="http://schemas.microsoft.com/office/drawing/2014/main" id="{14E2F501-3314-B504-A002-65CD10E4B3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038" y="2941700"/>
                <a:ext cx="4552464" cy="2719548"/>
              </a:xfrm>
              <a:prstGeom prst="rect">
                <a:avLst/>
              </a:prstGeom>
              <a:blipFill>
                <a:blip r:embed="rId3"/>
                <a:stretch>
                  <a:fillRect l="-2681" b="-89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9ECDD8F-68F2-583E-7BB7-2B4821F6EA73}"/>
                  </a:ext>
                </a:extLst>
              </p:cNvPr>
              <p:cNvSpPr txBox="1"/>
              <p:nvPr/>
            </p:nvSpPr>
            <p:spPr>
              <a:xfrm>
                <a:off x="5400809" y="1507602"/>
                <a:ext cx="6340925" cy="30469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sz="24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Cost:	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pc="-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c</m:t>
                    </m:r>
                    <m:d>
                      <m:dPr>
                        <m:ctrlP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2400" b="0" i="1" spc="-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 spc="-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2400" i="0" spc="-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w</m:t>
                    </m:r>
                    <m:sSub>
                      <m:sSubPr>
                        <m:ctrlP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kumimoji="0" lang="en-US" sz="2400" b="0" i="1" u="none" strike="noStrike" kern="120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Actions: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={</m:t>
                        </m:r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1" spc="-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endParaRPr kumimoji="0" lang="en-US" sz="24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States: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0" spc="-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b="0" i="1" spc="-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pc="-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sz="2400" spc="-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2400" spc="-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Transition</a:t>
                </a:r>
                <a:b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</a:br>
                <a: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Dynamics:	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9ECDD8F-68F2-583E-7BB7-2B4821F6EA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809" y="1507602"/>
                <a:ext cx="6340925" cy="3046988"/>
              </a:xfrm>
              <a:prstGeom prst="rect">
                <a:avLst/>
              </a:prstGeom>
              <a:blipFill>
                <a:blip r:embed="rId4"/>
                <a:stretch>
                  <a:fillRect l="-1538" t="-1600" b="-3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25E0850-7EF2-CCED-8EB4-39D4568D37A6}"/>
                  </a:ext>
                </a:extLst>
              </p:cNvPr>
              <p:cNvSpPr txBox="1"/>
              <p:nvPr/>
            </p:nvSpPr>
            <p:spPr>
              <a:xfrm>
                <a:off x="4964938" y="4581128"/>
                <a:ext cx="167460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i="1" spc="-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2000" i="1" spc="-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⋅|</m:t>
                          </m:r>
                          <m:sSub>
                            <m:sSubPr>
                              <m:ctrlPr>
                                <a:rPr lang="en-US" sz="2000" i="1" spc="-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pc="-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000" i="1" spc="-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000" i="1" spc="-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pc="-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sz="2000" i="1" spc="-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25E0850-7EF2-CCED-8EB4-39D4568D37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4938" y="4581128"/>
                <a:ext cx="1674607" cy="400110"/>
              </a:xfrm>
              <a:prstGeom prst="rect">
                <a:avLst/>
              </a:prstGeom>
              <a:blipFill>
                <a:blip r:embed="rId5"/>
                <a:stretch>
                  <a:fillRect r="-14909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0458129-D548-5B3A-17A6-D71513D8B20E}"/>
                  </a:ext>
                </a:extLst>
              </p:cNvPr>
              <p:cNvSpPr txBox="1"/>
              <p:nvPr/>
            </p:nvSpPr>
            <p:spPr>
              <a:xfrm>
                <a:off x="5162371" y="5404955"/>
                <a:ext cx="6428014" cy="8546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 depends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, i.e.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𝐹</m:t>
                    </m:r>
                  </m:oMath>
                </a14:m>
                <a:r>
                  <a:rPr lang="en-US" dirty="0"/>
                  <a:t> evolves endogenously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l-G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2000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 does not depend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, i.e. </a:t>
                </a:r>
                <a14:m>
                  <m:oMath xmlns:m="http://schemas.openxmlformats.org/officeDocument/2006/math">
                    <m:r>
                      <a:rPr lang="el-GR" sz="20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𝜉</m:t>
                    </m:r>
                  </m:oMath>
                </a14:m>
                <a:r>
                  <a:rPr lang="el-GR" dirty="0"/>
                  <a:t> </a:t>
                </a:r>
                <a:r>
                  <a:rPr lang="en-US" dirty="0"/>
                  <a:t>evolves exogenously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0458129-D548-5B3A-17A6-D71513D8B2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2371" y="5404955"/>
                <a:ext cx="6428014" cy="854658"/>
              </a:xfrm>
              <a:prstGeom prst="rect">
                <a:avLst/>
              </a:prstGeom>
              <a:blipFill>
                <a:blip r:embed="rId6"/>
                <a:stretch>
                  <a:fillRect l="-474" b="-6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6012B3D-9E73-29B0-49D6-B840CDF8AEFC}"/>
                  </a:ext>
                </a:extLst>
              </p:cNvPr>
              <p:cNvSpPr txBox="1"/>
              <p:nvPr/>
            </p:nvSpPr>
            <p:spPr>
              <a:xfrm>
                <a:off x="8183438" y="3554019"/>
                <a:ext cx="3384376" cy="23560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pc="-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lit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Hours</m:t>
                          </m:r>
                        </m:den>
                      </m:f>
                    </m:oMath>
                  </m:oMathPara>
                </a14:m>
                <a:endParaRPr lang="en-US" sz="2400" i="1" spc="-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pc="-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2400" b="0" i="1" spc="-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⋅| </m:t>
                          </m:r>
                          <m:sSub>
                            <m:sSubPr>
                              <m:ctrlPr>
                                <a:rPr lang="en-US" sz="2400" b="0" i="1" spc="-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2400" b="0" i="1" spc="-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n-US" sz="2400" b="0" i="1" spc="-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1, 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l-G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400" i="1" spc="-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spc="-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2400" i="1" spc="-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400" i="1" spc="-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sz="2400" i="1" spc="-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l-GR" sz="2400" i="1" spc="-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e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l-G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l-G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400" i="1" spc="-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spc="-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2400" i="1" spc="-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400" i="1" spc="-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sz="2400" i="1" spc="-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l-GR" sz="2400" i="1" spc="-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/>
              </a:p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6012B3D-9E73-29B0-49D6-B840CDF8AE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3438" y="3554019"/>
                <a:ext cx="3384376" cy="2356094"/>
              </a:xfrm>
              <a:prstGeom prst="rect">
                <a:avLst/>
              </a:prstGeom>
              <a:blipFill>
                <a:blip r:embed="rId7"/>
                <a:stretch>
                  <a:fillRect l="-1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Shape 1">
            <a:extLst>
              <a:ext uri="{FF2B5EF4-FFF2-40B4-BE49-F238E27FC236}">
                <a16:creationId xmlns:a16="http://schemas.microsoft.com/office/drawing/2014/main" id="{79BC9A87-C53A-6101-E3B9-C46ABAC3ADC7}"/>
              </a:ext>
            </a:extLst>
          </p:cNvPr>
          <p:cNvSpPr txBox="1"/>
          <p:nvPr/>
        </p:nvSpPr>
        <p:spPr>
          <a:xfrm>
            <a:off x="2384381" y="283849"/>
            <a:ext cx="10471064" cy="4848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000" b="1" spc="-1" dirty="0">
                <a:solidFill>
                  <a:srgbClr val="000000"/>
                </a:solidFill>
                <a:latin typeface="Arial"/>
              </a:rPr>
              <a:t>The </a:t>
            </a:r>
            <a:r>
              <a:rPr lang="fr-FR" sz="3000" b="1" spc="-1" dirty="0" err="1">
                <a:solidFill>
                  <a:srgbClr val="000000"/>
                </a:solidFill>
                <a:latin typeface="Arial"/>
              </a:rPr>
              <a:t>student’s</a:t>
            </a:r>
            <a:r>
              <a:rPr lang="fr-FR" sz="3000" b="1" i="1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sz="3000" b="1" spc="-1" dirty="0" err="1">
                <a:solidFill>
                  <a:srgbClr val="000000"/>
                </a:solidFill>
                <a:latin typeface="Arial"/>
              </a:rPr>
              <a:t>problem</a:t>
            </a:r>
            <a:r>
              <a:rPr lang="fr-FR" sz="3000" b="1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sz="3000" b="1" spc="-1" dirty="0" err="1">
                <a:solidFill>
                  <a:srgbClr val="000000"/>
                </a:solidFill>
                <a:latin typeface="Arial"/>
              </a:rPr>
              <a:t>including</a:t>
            </a:r>
            <a:r>
              <a:rPr lang="fr-FR" sz="3000" b="1" spc="-1" dirty="0">
                <a:solidFill>
                  <a:srgbClr val="000000"/>
                </a:solidFill>
                <a:latin typeface="Arial"/>
              </a:rPr>
              <a:t> stress</a:t>
            </a:r>
            <a:endParaRPr lang="fr-FR" sz="30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2CC7BB-D72F-A1FA-16EF-91C47C119ECB}"/>
              </a:ext>
            </a:extLst>
          </p:cNvPr>
          <p:cNvSpPr txBox="1"/>
          <p:nvPr/>
        </p:nvSpPr>
        <p:spPr>
          <a:xfrm rot="774025">
            <a:off x="9521603" y="2146763"/>
            <a:ext cx="26870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Bradley Hand ITC" panose="03070402050302030203" pitchFamily="66" charset="0"/>
              </a:rPr>
              <a:t>I must specify the dynamics for every state variable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E04E12F-91F8-E4BB-A3C3-B34022B0F5DB}"/>
                  </a:ext>
                </a:extLst>
              </p:cNvPr>
              <p:cNvSpPr txBox="1"/>
              <p:nvPr/>
            </p:nvSpPr>
            <p:spPr>
              <a:xfrm>
                <a:off x="251791" y="5661248"/>
                <a:ext cx="4275300" cy="861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l-GR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m:rPr>
                        <m:sty m:val="p"/>
                      </m:rPr>
                      <a:rPr lang="en-US" sz="2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2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l-GR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−1</m:t>
                    </m:r>
                    <m:r>
                      <a:rPr lang="en-US" sz="2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20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E04E12F-91F8-E4BB-A3C3-B34022B0F5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791" y="5661248"/>
                <a:ext cx="4275300" cy="861774"/>
              </a:xfrm>
              <a:prstGeom prst="rect">
                <a:avLst/>
              </a:prstGeom>
              <a:blipFill>
                <a:blip r:embed="rId8"/>
                <a:stretch>
                  <a:fillRect b="-7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12206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E2EE9-1F23-AF59-C8CE-1255B7646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TextShape 3">
            <a:extLst>
              <a:ext uri="{FF2B5EF4-FFF2-40B4-BE49-F238E27FC236}">
                <a16:creationId xmlns:a16="http://schemas.microsoft.com/office/drawing/2014/main" id="{4EA3B188-1665-B5C0-F054-593B4E3D42D8}"/>
              </a:ext>
            </a:extLst>
          </p:cNvPr>
          <p:cNvSpPr txBox="1"/>
          <p:nvPr/>
        </p:nvSpPr>
        <p:spPr>
          <a:xfrm>
            <a:off x="10154206" y="6541200"/>
            <a:ext cx="324000" cy="31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fld id="{2FB9A7C0-A375-4B14-A573-B65C749CF92E}" type="slidenum">
              <a:rPr lang="en-US" sz="530" b="1" spc="-1">
                <a:solidFill>
                  <a:srgbClr val="FFFFFF"/>
                </a:solidFill>
                <a:latin typeface="Arial"/>
              </a:rPr>
              <a:t>39</a:t>
            </a:fld>
            <a:endParaRPr lang="en-US" sz="530" spc="-1">
              <a:latin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DB5FF3-3EAF-2FC8-4CA2-B18972E16FD9}"/>
              </a:ext>
            </a:extLst>
          </p:cNvPr>
          <p:cNvSpPr txBox="1"/>
          <p:nvPr/>
        </p:nvSpPr>
        <p:spPr>
          <a:xfrm>
            <a:off x="145537" y="922335"/>
            <a:ext cx="63409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spc="-1" dirty="0">
                <a:solidFill>
                  <a:srgbClr val="000000"/>
                </a:solidFill>
                <a:latin typeface="Cambria Math" panose="02040503050406030204" pitchFamily="18" charset="0"/>
              </a:rPr>
              <a:t>Deterministic Optimization Problem</a:t>
            </a:r>
            <a:endParaRPr lang="en-US" sz="2000" b="1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E27271-7BB0-3D65-53D1-CEBD003C773E}"/>
              </a:ext>
            </a:extLst>
          </p:cNvPr>
          <p:cNvSpPr txBox="1"/>
          <p:nvPr/>
        </p:nvSpPr>
        <p:spPr>
          <a:xfrm>
            <a:off x="6514517" y="852681"/>
            <a:ext cx="63409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spc="-1" dirty="0">
                <a:solidFill>
                  <a:srgbClr val="000000"/>
                </a:solidFill>
                <a:latin typeface="Cambria Math" panose="02040503050406030204" pitchFamily="18" charset="0"/>
              </a:rPr>
              <a:t>Sequential Decision Problem</a:t>
            </a:r>
            <a:endParaRPr lang="en-US" sz="2000" b="1" u="sng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63C0E2D-C4C1-C615-E96A-E1C023F92394}"/>
              </a:ext>
            </a:extLst>
          </p:cNvPr>
          <p:cNvCxnSpPr/>
          <p:nvPr/>
        </p:nvCxnSpPr>
        <p:spPr>
          <a:xfrm>
            <a:off x="4871070" y="1052736"/>
            <a:ext cx="0" cy="518010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4CA59E6-1ACB-ED8B-34DF-F1367A841E77}"/>
                  </a:ext>
                </a:extLst>
              </p:cNvPr>
              <p:cNvSpPr txBox="1"/>
              <p:nvPr/>
            </p:nvSpPr>
            <p:spPr>
              <a:xfrm>
                <a:off x="117485" y="1322445"/>
                <a:ext cx="4465548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Variables: </a:t>
                </a:r>
                <a:r>
                  <a:rPr kumimoji="0" lang="en-US" sz="1800" b="0" i="1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Effort (hours)</a:t>
                </a:r>
                <a:r>
                  <a:rPr kumimoji="0" lang="en-US" sz="1800" b="0" i="1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endParaRPr kumimoji="0" lang="en-US" sz="1800" b="0" i="1" u="none" strike="noStrike" kern="120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</a:rPr>
                  <a:t>Grade</a:t>
                </a: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kumimoji="0" lang="en-US" sz="1800" b="0" i="0" u="none" strike="sng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Fatigue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kumimoji="0" lang="en-US" sz="1800" b="0" i="0" u="none" strike="sng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Stressed: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kumimoji="0" lang="en-US" sz="1800" b="0" i="0" u="none" strike="noStrike" kern="1200" cap="none" spc="-1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4CA59E6-1ACB-ED8B-34DF-F1367A841E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85" y="1322445"/>
                <a:ext cx="4465548" cy="1477328"/>
              </a:xfrm>
              <a:prstGeom prst="rect">
                <a:avLst/>
              </a:prstGeom>
              <a:blipFill>
                <a:blip r:embed="rId2"/>
                <a:stretch>
                  <a:fillRect l="-1091" t="-2893" b="-53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Shape 2">
                <a:extLst>
                  <a:ext uri="{FF2B5EF4-FFF2-40B4-BE49-F238E27FC236}">
                    <a16:creationId xmlns:a16="http://schemas.microsoft.com/office/drawing/2014/main" id="{8442F00F-8E02-787B-50CE-4A1D6850BBCC}"/>
                  </a:ext>
                </a:extLst>
              </p:cNvPr>
              <p:cNvSpPr txBox="1"/>
              <p:nvPr/>
            </p:nvSpPr>
            <p:spPr>
              <a:xfrm>
                <a:off x="345038" y="2941700"/>
                <a:ext cx="4552464" cy="27195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𝑚𝑖𝑛𝑖𝑚𝑖𝑧𝑒</m:t>
                      </m:r>
                      <m:d>
                        <m:dPr>
                          <m:begChr m:val="{"/>
                          <m:endChr m:val="}"/>
                          <m:ctrlP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sub>
                            <m:sup/>
                            <m:e>
                              <m:d>
                                <m:dPr>
                                  <m:ctrlPr>
                                    <a:rPr kumimoji="0" lang="en-US" sz="2000" b="0" i="1" u="none" strike="noStrike" kern="1200" cap="none" spc="-1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kumimoji="0" lang="en-US" sz="2000" b="0" i="1" u="none" strike="noStrike" kern="1200" cap="none" spc="-1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kumimoji="0" lang="en-US" sz="2000" b="0" i="0" u="none" strike="noStrike" kern="1200" cap="none" spc="-1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w</m:t>
                                  </m:r>
                                  <m:sSub>
                                    <m:sSubPr>
                                      <m:ctrlP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2000" b="0" i="1" u="none" strike="noStrike" kern="1200" cap="none" spc="-1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sz="2000" b="0" i="0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subject</m:t>
                      </m:r>
                      <m:r>
                        <a:rPr kumimoji="0" lang="en-US" sz="2000" b="0" i="0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0" lang="en-US" sz="2000" b="0" i="0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to</m:t>
                      </m:r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kumimoji="0" lang="en-US" sz="20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2000" i="1" spc="-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br>
                  <a:rPr kumimoji="0" lang="en-US" sz="2000" b="0" i="1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</a:br>
                <a:endParaRPr kumimoji="0" lang="en-US" sz="2000" b="0" i="1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000" b="0" i="1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0≤</m:t>
                      </m:r>
                      <m:sSub>
                        <m:sSubPr>
                          <m:ctrlPr>
                            <a:rPr kumimoji="0" lang="en-US" sz="2000" b="0" i="1" u="non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sz="2000" b="0" i="1" u="non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0" lang="en-US" sz="2000" b="0" i="1" u="non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0" lang="en-US" sz="2000" b="0" i="1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≤</m:t>
                      </m:r>
                      <m:r>
                        <m:rPr>
                          <m:sty m:val="p"/>
                        </m:rPr>
                        <a:rPr kumimoji="0" lang="en-US" sz="2000" b="0" i="0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Hours</m:t>
                      </m:r>
                      <m:r>
                        <a:rPr kumimoji="0" lang="en-US" sz="2000" b="0" i="0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0" lang="en-US" sz="2000" b="0" i="1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kumimoji="0" lang="en-US" sz="2000" b="0" i="1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kumimoji="0" lang="en-US" sz="2000" b="0" i="0" u="non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</a:endParaRPr>
              </a:p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lit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Hours</m:t>
                          </m:r>
                        </m:den>
                      </m:f>
                      <m:r>
                        <a:rPr lang="el-GR" sz="2000" i="1" spc="-1">
                          <a:latin typeface="Cambria Math" panose="02040503050406030204" pitchFamily="18" charset="0"/>
                        </a:rPr>
                        <m:t>, ∀</m:t>
                      </m:r>
                      <m:r>
                        <a:rPr lang="en-US" sz="2000" i="1" spc="-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2000" spc="-1" dirty="0"/>
              </a:p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1800" dirty="0"/>
                  <a:t>initial fatigue</a:t>
                </a:r>
                <a:endParaRPr lang="en-US" sz="2000" dirty="0"/>
              </a:p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</a:rPr>
                  <a:t> </a:t>
                </a:r>
              </a:p>
            </p:txBody>
          </p:sp>
        </mc:Choice>
        <mc:Fallback xmlns="">
          <p:sp>
            <p:nvSpPr>
              <p:cNvPr id="7" name="TextShape 2">
                <a:extLst>
                  <a:ext uri="{FF2B5EF4-FFF2-40B4-BE49-F238E27FC236}">
                    <a16:creationId xmlns:a16="http://schemas.microsoft.com/office/drawing/2014/main" id="{8442F00F-8E02-787B-50CE-4A1D6850B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038" y="2941700"/>
                <a:ext cx="4552464" cy="2719548"/>
              </a:xfrm>
              <a:prstGeom prst="rect">
                <a:avLst/>
              </a:prstGeom>
              <a:blipFill>
                <a:blip r:embed="rId3"/>
                <a:stretch>
                  <a:fillRect l="-2681" b="-89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9FB0CBD-1C2F-6181-7582-D61695A2DE65}"/>
                  </a:ext>
                </a:extLst>
              </p:cNvPr>
              <p:cNvSpPr txBox="1"/>
              <p:nvPr/>
            </p:nvSpPr>
            <p:spPr>
              <a:xfrm>
                <a:off x="5400809" y="1507602"/>
                <a:ext cx="6340925" cy="30469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sz="24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Cost:	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pc="-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c</m:t>
                    </m:r>
                    <m:d>
                      <m:dPr>
                        <m:ctrlP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2400" b="0" i="1" spc="-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 spc="-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2400" i="0" spc="-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w</m:t>
                    </m:r>
                    <m:sSub>
                      <m:sSubPr>
                        <m:ctrlP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kumimoji="0" lang="en-US" sz="2400" b="0" i="1" u="none" strike="noStrike" kern="120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Actions: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={</m:t>
                        </m:r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1" spc="-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endParaRPr kumimoji="0" lang="en-US" sz="24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States: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0" spc="-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b="0" i="1" spc="-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pc="-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sz="2400" spc="-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2400" spc="-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Transition</a:t>
                </a:r>
                <a:b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</a:br>
                <a: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Dynamics:	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9FB0CBD-1C2F-6181-7582-D61695A2DE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809" y="1507602"/>
                <a:ext cx="6340925" cy="3046988"/>
              </a:xfrm>
              <a:prstGeom prst="rect">
                <a:avLst/>
              </a:prstGeom>
              <a:blipFill>
                <a:blip r:embed="rId4"/>
                <a:stretch>
                  <a:fillRect l="-1538" t="-1600" b="-3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EBB0E4A-6245-4B53-F7D0-AC7E96DBBB85}"/>
                  </a:ext>
                </a:extLst>
              </p:cNvPr>
              <p:cNvSpPr txBox="1"/>
              <p:nvPr/>
            </p:nvSpPr>
            <p:spPr>
              <a:xfrm>
                <a:off x="4964938" y="4581128"/>
                <a:ext cx="167460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i="1" spc="-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2000" i="1" spc="-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⋅|</m:t>
                          </m:r>
                          <m:sSub>
                            <m:sSubPr>
                              <m:ctrlPr>
                                <a:rPr lang="en-US" sz="2000" i="1" spc="-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pc="-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000" i="1" spc="-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000" i="1" spc="-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pc="-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sz="2000" i="1" spc="-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EBB0E4A-6245-4B53-F7D0-AC7E96DBBB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4938" y="4581128"/>
                <a:ext cx="1674607" cy="400110"/>
              </a:xfrm>
              <a:prstGeom prst="rect">
                <a:avLst/>
              </a:prstGeom>
              <a:blipFill>
                <a:blip r:embed="rId5"/>
                <a:stretch>
                  <a:fillRect r="-14909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E21B696-0285-D238-0087-EF7FDECB84CA}"/>
                  </a:ext>
                </a:extLst>
              </p:cNvPr>
              <p:cNvSpPr txBox="1"/>
              <p:nvPr/>
            </p:nvSpPr>
            <p:spPr>
              <a:xfrm>
                <a:off x="5162371" y="5404955"/>
                <a:ext cx="6428014" cy="8546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 depends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, i.e.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𝐹</m:t>
                    </m:r>
                  </m:oMath>
                </a14:m>
                <a:r>
                  <a:rPr lang="en-US" dirty="0"/>
                  <a:t> evolves endogenously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l-G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2000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 does not depend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, i.e. </a:t>
                </a:r>
                <a14:m>
                  <m:oMath xmlns:m="http://schemas.openxmlformats.org/officeDocument/2006/math">
                    <m:r>
                      <a:rPr lang="el-GR" sz="20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𝜉</m:t>
                    </m:r>
                  </m:oMath>
                </a14:m>
                <a:r>
                  <a:rPr lang="el-GR" dirty="0"/>
                  <a:t> </a:t>
                </a:r>
                <a:r>
                  <a:rPr lang="en-US" dirty="0"/>
                  <a:t>evolves exogenously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E21B696-0285-D238-0087-EF7FDECB84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2371" y="5404955"/>
                <a:ext cx="6428014" cy="854658"/>
              </a:xfrm>
              <a:prstGeom prst="rect">
                <a:avLst/>
              </a:prstGeom>
              <a:blipFill>
                <a:blip r:embed="rId6"/>
                <a:stretch>
                  <a:fillRect l="-474" b="-6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B67ED04-AD37-5D8B-6DD7-52A82DDEBA72}"/>
                  </a:ext>
                </a:extLst>
              </p:cNvPr>
              <p:cNvSpPr txBox="1"/>
              <p:nvPr/>
            </p:nvSpPr>
            <p:spPr>
              <a:xfrm>
                <a:off x="8183438" y="3554019"/>
                <a:ext cx="3384376" cy="23560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pc="-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lit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Hours</m:t>
                          </m:r>
                        </m:den>
                      </m:f>
                    </m:oMath>
                  </m:oMathPara>
                </a14:m>
                <a:endParaRPr lang="en-US" sz="2400" i="1" spc="-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pc="-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2400" b="0" i="1" spc="-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⋅| </m:t>
                          </m:r>
                          <m:sSub>
                            <m:sSubPr>
                              <m:ctrlPr>
                                <a:rPr lang="en-US" sz="2400" b="0" i="1" spc="-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2400" b="0" i="1" spc="-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n-US" sz="2400" b="0" i="1" spc="-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1, 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l-G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400" i="1" spc="-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spc="-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2400" i="1" spc="-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400" i="1" spc="-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sz="2400" i="1" spc="-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l-GR" sz="2400" i="1" spc="-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e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l-G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l-G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400" i="1" spc="-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spc="-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2400" i="1" spc="-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400" i="1" spc="-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sz="2400" i="1" spc="-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l-GR" sz="2400" i="1" spc="-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/>
              </a:p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B67ED04-AD37-5D8B-6DD7-52A82DDEBA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3438" y="3554019"/>
                <a:ext cx="3384376" cy="2356094"/>
              </a:xfrm>
              <a:prstGeom prst="rect">
                <a:avLst/>
              </a:prstGeom>
              <a:blipFill>
                <a:blip r:embed="rId7"/>
                <a:stretch>
                  <a:fillRect l="-1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Shape 1">
            <a:extLst>
              <a:ext uri="{FF2B5EF4-FFF2-40B4-BE49-F238E27FC236}">
                <a16:creationId xmlns:a16="http://schemas.microsoft.com/office/drawing/2014/main" id="{82B281C0-0BEA-989F-DB37-D2666D57EA27}"/>
              </a:ext>
            </a:extLst>
          </p:cNvPr>
          <p:cNvSpPr txBox="1"/>
          <p:nvPr/>
        </p:nvSpPr>
        <p:spPr>
          <a:xfrm>
            <a:off x="2384381" y="283849"/>
            <a:ext cx="10471064" cy="4848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000" b="1" spc="-1" dirty="0">
                <a:solidFill>
                  <a:srgbClr val="000000"/>
                </a:solidFill>
                <a:latin typeface="Arial"/>
              </a:rPr>
              <a:t>The </a:t>
            </a:r>
            <a:r>
              <a:rPr lang="fr-FR" sz="3000" b="1" spc="-1" dirty="0" err="1">
                <a:solidFill>
                  <a:srgbClr val="000000"/>
                </a:solidFill>
                <a:latin typeface="Arial"/>
              </a:rPr>
              <a:t>student’s</a:t>
            </a:r>
            <a:r>
              <a:rPr lang="fr-FR" sz="3000" b="1" i="1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sz="3000" b="1" spc="-1" dirty="0" err="1">
                <a:solidFill>
                  <a:srgbClr val="000000"/>
                </a:solidFill>
                <a:latin typeface="Arial"/>
              </a:rPr>
              <a:t>problem</a:t>
            </a:r>
            <a:r>
              <a:rPr lang="fr-FR" sz="3000" b="1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sz="3000" b="1" spc="-1" dirty="0" err="1">
                <a:solidFill>
                  <a:srgbClr val="000000"/>
                </a:solidFill>
                <a:latin typeface="Arial"/>
              </a:rPr>
              <a:t>including</a:t>
            </a:r>
            <a:r>
              <a:rPr lang="fr-FR" sz="3000" b="1" spc="-1" dirty="0">
                <a:solidFill>
                  <a:srgbClr val="000000"/>
                </a:solidFill>
                <a:latin typeface="Arial"/>
              </a:rPr>
              <a:t> stress</a:t>
            </a:r>
            <a:endParaRPr lang="fr-FR" sz="3000" spc="-1" dirty="0">
              <a:solidFill>
                <a:srgbClr val="000000"/>
              </a:solidFill>
              <a:latin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6413B38-182C-29F2-F1B2-AC5D46423302}"/>
                  </a:ext>
                </a:extLst>
              </p:cNvPr>
              <p:cNvSpPr txBox="1"/>
              <p:nvPr/>
            </p:nvSpPr>
            <p:spPr>
              <a:xfrm>
                <a:off x="9983638" y="2103157"/>
                <a:ext cx="208929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0" lang="en-US" sz="2000" b="0" i="0" u="none" strike="noStrike" kern="1200" cap="none" spc="-1" normalizeH="0" baseline="0" noProof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-1" normalizeH="0" baseline="0" noProof="0" dirty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2000" b="0" i="1" u="none" strike="noStrike" kern="1200" cap="none" spc="-1" normalizeH="0" baseline="0" noProof="0" dirty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kumimoji="0" lang="en-US" sz="2000" b="0" i="1" u="none" strike="noStrike" kern="1200" cap="none" spc="-1" normalizeH="0" baseline="0" noProof="0" dirty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kumimoji="0" lang="en-US" sz="2000" b="0" i="0" u="none" strike="noStrike" kern="1200" cap="none" spc="-1" normalizeH="0" baseline="0" noProof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 endogenous or exogenous?</a:t>
                </a:r>
                <a:endParaRPr lang="en-US" sz="20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6413B38-182C-29F2-F1B2-AC5D464233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3638" y="2103157"/>
                <a:ext cx="2089290" cy="707886"/>
              </a:xfrm>
              <a:prstGeom prst="rect">
                <a:avLst/>
              </a:prstGeom>
              <a:blipFill>
                <a:blip r:embed="rId9"/>
                <a:stretch>
                  <a:fillRect l="-3216" t="-4310" r="-1754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31F6590B-ACB5-2FD9-0FAB-57BC3BF5EE5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03720" y="72937"/>
            <a:ext cx="1422534" cy="14453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6351AF4-C7E6-6226-C2A7-897D73DBAF25}"/>
                  </a:ext>
                </a:extLst>
              </p:cNvPr>
              <p:cNvSpPr txBox="1"/>
              <p:nvPr/>
            </p:nvSpPr>
            <p:spPr>
              <a:xfrm>
                <a:off x="251791" y="5661248"/>
                <a:ext cx="4275300" cy="861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l-GR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m:rPr>
                        <m:sty m:val="p"/>
                      </m:rPr>
                      <a:rPr lang="en-US" sz="2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2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l-GR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−1</m:t>
                    </m:r>
                    <m:r>
                      <a:rPr lang="en-US" sz="2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20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6351AF4-C7E6-6226-C2A7-897D73DBAF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791" y="5661248"/>
                <a:ext cx="4275300" cy="861774"/>
              </a:xfrm>
              <a:prstGeom prst="rect">
                <a:avLst/>
              </a:prstGeom>
              <a:blipFill>
                <a:blip r:embed="rId11"/>
                <a:stretch>
                  <a:fillRect b="-7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53986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290BE-1B3A-F022-0CF0-9A8CD9DB1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TextShape 3">
            <a:extLst>
              <a:ext uri="{FF2B5EF4-FFF2-40B4-BE49-F238E27FC236}">
                <a16:creationId xmlns:a16="http://schemas.microsoft.com/office/drawing/2014/main" id="{FA7B4490-C94B-705D-BED2-4043193DE336}"/>
              </a:ext>
            </a:extLst>
          </p:cNvPr>
          <p:cNvSpPr txBox="1"/>
          <p:nvPr/>
        </p:nvSpPr>
        <p:spPr>
          <a:xfrm>
            <a:off x="10154206" y="6541200"/>
            <a:ext cx="324000" cy="31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fld id="{2FB9A7C0-A375-4B14-A573-B65C749CF92E}" type="slidenum">
              <a:rPr lang="en-US" sz="530" b="1" spc="-1">
                <a:solidFill>
                  <a:srgbClr val="FFFFFF"/>
                </a:solidFill>
                <a:latin typeface="Arial"/>
              </a:rPr>
              <a:t>40</a:t>
            </a:fld>
            <a:endParaRPr lang="en-US" sz="530" spc="-1">
              <a:latin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48EF46-ED07-616D-167B-8E2752B75A9C}"/>
              </a:ext>
            </a:extLst>
          </p:cNvPr>
          <p:cNvSpPr txBox="1"/>
          <p:nvPr/>
        </p:nvSpPr>
        <p:spPr>
          <a:xfrm>
            <a:off x="145537" y="922335"/>
            <a:ext cx="63409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spc="-1" dirty="0">
                <a:solidFill>
                  <a:srgbClr val="000000"/>
                </a:solidFill>
                <a:latin typeface="Cambria Math" panose="02040503050406030204" pitchFamily="18" charset="0"/>
              </a:rPr>
              <a:t>Deterministic Optimization Problem</a:t>
            </a:r>
            <a:endParaRPr lang="en-US" sz="2000" b="1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9531D7-6CEC-DE21-9EAC-158708C45249}"/>
              </a:ext>
            </a:extLst>
          </p:cNvPr>
          <p:cNvSpPr txBox="1"/>
          <p:nvPr/>
        </p:nvSpPr>
        <p:spPr>
          <a:xfrm>
            <a:off x="6514517" y="852681"/>
            <a:ext cx="63409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spc="-1" dirty="0">
                <a:solidFill>
                  <a:srgbClr val="000000"/>
                </a:solidFill>
                <a:latin typeface="Cambria Math" panose="02040503050406030204" pitchFamily="18" charset="0"/>
              </a:rPr>
              <a:t>Sequential Decision Problem</a:t>
            </a:r>
            <a:endParaRPr lang="en-US" sz="2000" b="1" u="sng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0030E59-6860-AB22-B6C1-E2C00AB4D876}"/>
              </a:ext>
            </a:extLst>
          </p:cNvPr>
          <p:cNvCxnSpPr/>
          <p:nvPr/>
        </p:nvCxnSpPr>
        <p:spPr>
          <a:xfrm>
            <a:off x="4871070" y="1052736"/>
            <a:ext cx="0" cy="518010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C13663D-970A-48AE-492D-4BBDBD902F02}"/>
                  </a:ext>
                </a:extLst>
              </p:cNvPr>
              <p:cNvSpPr txBox="1"/>
              <p:nvPr/>
            </p:nvSpPr>
            <p:spPr>
              <a:xfrm>
                <a:off x="117485" y="1322445"/>
                <a:ext cx="4465548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Variables: </a:t>
                </a:r>
                <a:r>
                  <a:rPr kumimoji="0" lang="en-US" sz="1800" b="0" i="1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Effort (hours)</a:t>
                </a:r>
                <a:r>
                  <a:rPr kumimoji="0" lang="en-US" sz="1800" b="0" i="1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endParaRPr kumimoji="0" lang="en-US" sz="1800" b="0" i="1" u="none" strike="noStrike" kern="120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</a:rPr>
                  <a:t>Grade</a:t>
                </a: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kumimoji="0" lang="en-US" sz="1800" b="0" i="0" u="none" strike="sng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Fatigue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kumimoji="0" lang="en-US" sz="1800" b="0" i="0" u="none" strike="sng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Stressed: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kumimoji="0" lang="en-US" sz="1800" b="0" i="1" u="none" strike="noStrike" kern="1200" cap="none" spc="-1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kumimoji="0" lang="en-US" sz="1800" b="0" i="0" u="none" strike="noStrike" kern="1200" cap="none" spc="-1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C13663D-970A-48AE-492D-4BBDBD902F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85" y="1322445"/>
                <a:ext cx="4465548" cy="1477328"/>
              </a:xfrm>
              <a:prstGeom prst="rect">
                <a:avLst/>
              </a:prstGeom>
              <a:blipFill>
                <a:blip r:embed="rId2"/>
                <a:stretch>
                  <a:fillRect l="-1091" t="-2893" b="-53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Shape 2">
                <a:extLst>
                  <a:ext uri="{FF2B5EF4-FFF2-40B4-BE49-F238E27FC236}">
                    <a16:creationId xmlns:a16="http://schemas.microsoft.com/office/drawing/2014/main" id="{DEB5E2AD-B6AA-C20B-85AD-807DE2222D09}"/>
                  </a:ext>
                </a:extLst>
              </p:cNvPr>
              <p:cNvSpPr txBox="1"/>
              <p:nvPr/>
            </p:nvSpPr>
            <p:spPr>
              <a:xfrm>
                <a:off x="345038" y="2941700"/>
                <a:ext cx="4552464" cy="27195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𝑚𝑖𝑛𝑖𝑚𝑖𝑧𝑒</m:t>
                      </m:r>
                      <m:d>
                        <m:dPr>
                          <m:begChr m:val="{"/>
                          <m:endChr m:val="}"/>
                          <m:ctrlP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kumimoji="0" lang="en-US" sz="2000" b="0" i="1" u="none" strike="noStrike" kern="1200" cap="none" spc="-1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sub>
                            <m:sup/>
                            <m:e>
                              <m:d>
                                <m:dPr>
                                  <m:ctrlPr>
                                    <a:rPr kumimoji="0" lang="en-US" sz="2000" b="0" i="1" u="none" strike="noStrike" kern="1200" cap="none" spc="-1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kumimoji="0" lang="en-US" sz="2000" b="0" i="1" u="none" strike="noStrike" kern="1200" cap="none" spc="-1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kumimoji="0" lang="en-US" sz="2000" b="0" i="0" u="none" strike="noStrike" kern="1200" cap="none" spc="-1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w</m:t>
                                  </m:r>
                                  <m:sSub>
                                    <m:sSubPr>
                                      <m:ctrlP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2000" b="0" i="1" u="none" strike="noStrike" kern="1200" cap="none" spc="-1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kumimoji="0" lang="en-US" sz="2000" b="0" i="1" u="none" strike="noStrike" kern="1200" cap="none" spc="-1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sz="2000" b="0" i="0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subject</m:t>
                      </m:r>
                      <m:r>
                        <a:rPr kumimoji="0" lang="en-US" sz="2000" b="0" i="0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0" lang="en-US" sz="2000" b="0" i="0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to</m:t>
                      </m:r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kumimoji="0" lang="en-US" sz="20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kumimoji="0" lang="en-US" sz="2000" b="0" i="1" u="none" strike="noStrik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2000" i="1" spc="-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0" lang="en-US" sz="2000" b="0" i="1" u="none" strike="noStrik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br>
                  <a:rPr kumimoji="0" lang="en-US" sz="2000" b="0" i="1" u="none" strike="noStrik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</a:br>
                <a:endParaRPr kumimoji="0" lang="en-US" sz="2000" b="0" i="1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000" b="0" i="1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0≤</m:t>
                      </m:r>
                      <m:sSub>
                        <m:sSubPr>
                          <m:ctrlPr>
                            <a:rPr kumimoji="0" lang="en-US" sz="2000" b="0" i="1" u="non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sz="2000" b="0" i="1" u="non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0" lang="en-US" sz="2000" b="0" i="1" u="none" kern="1200" cap="none" spc="-1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0" lang="en-US" sz="2000" b="0" i="1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≤</m:t>
                      </m:r>
                      <m:r>
                        <m:rPr>
                          <m:sty m:val="p"/>
                        </m:rPr>
                        <a:rPr kumimoji="0" lang="en-US" sz="2000" b="0" i="0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Hours</m:t>
                      </m:r>
                      <m:r>
                        <a:rPr kumimoji="0" lang="en-US" sz="2000" b="0" i="0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0" lang="en-US" sz="2000" b="0" i="1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kumimoji="0" lang="en-US" sz="2000" b="0" i="1" u="none" kern="1200" cap="none" spc="-1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kumimoji="0" lang="en-US" sz="2000" b="0" i="0" u="non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</a:endParaRPr>
              </a:p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lit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Hours</m:t>
                          </m:r>
                        </m:den>
                      </m:f>
                      <m:r>
                        <a:rPr lang="el-GR" sz="2000" i="1" spc="-1">
                          <a:latin typeface="Cambria Math" panose="02040503050406030204" pitchFamily="18" charset="0"/>
                        </a:rPr>
                        <m:t>, ∀</m:t>
                      </m:r>
                      <m:r>
                        <a:rPr lang="en-US" sz="2000" i="1" spc="-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2000" spc="-1" dirty="0"/>
              </a:p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1800" dirty="0"/>
                  <a:t>initial fatigue</a:t>
                </a:r>
                <a:endParaRPr lang="en-US" sz="2000" dirty="0"/>
              </a:p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kern="1200" cap="none" spc="-1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</a:rPr>
                  <a:t> </a:t>
                </a:r>
              </a:p>
            </p:txBody>
          </p:sp>
        </mc:Choice>
        <mc:Fallback xmlns="">
          <p:sp>
            <p:nvSpPr>
              <p:cNvPr id="7" name="TextShape 2">
                <a:extLst>
                  <a:ext uri="{FF2B5EF4-FFF2-40B4-BE49-F238E27FC236}">
                    <a16:creationId xmlns:a16="http://schemas.microsoft.com/office/drawing/2014/main" id="{DEB5E2AD-B6AA-C20B-85AD-807DE2222D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038" y="2941700"/>
                <a:ext cx="4552464" cy="2719548"/>
              </a:xfrm>
              <a:prstGeom prst="rect">
                <a:avLst/>
              </a:prstGeom>
              <a:blipFill>
                <a:blip r:embed="rId3"/>
                <a:stretch>
                  <a:fillRect l="-2681" b="-89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521F59F-7194-FEE4-A562-CAFE2ACF2BA1}"/>
                  </a:ext>
                </a:extLst>
              </p:cNvPr>
              <p:cNvSpPr txBox="1"/>
              <p:nvPr/>
            </p:nvSpPr>
            <p:spPr>
              <a:xfrm>
                <a:off x="5400809" y="1507602"/>
                <a:ext cx="6340925" cy="30469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sz="24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Cost:	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pc="-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c</m:t>
                    </m:r>
                    <m:d>
                      <m:dPr>
                        <m:ctrlP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2400" b="0" i="1" spc="-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 spc="-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2400" i="0" spc="-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w</m:t>
                    </m:r>
                    <m:sSub>
                      <m:sSubPr>
                        <m:ctrlP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kumimoji="0" lang="en-US" sz="2400" b="0" i="1" u="none" strike="noStrike" kern="120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Actions: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={</m:t>
                        </m:r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1" spc="-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endParaRPr kumimoji="0" lang="en-US" sz="24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States: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0" spc="-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b="0" i="1" spc="-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pc="-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sz="2400" spc="-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2400" spc="-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Transition</a:t>
                </a:r>
                <a:b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</a:br>
                <a: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Dynamics:	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521F59F-7194-FEE4-A562-CAFE2ACF2B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809" y="1507602"/>
                <a:ext cx="6340925" cy="3046988"/>
              </a:xfrm>
              <a:prstGeom prst="rect">
                <a:avLst/>
              </a:prstGeom>
              <a:blipFill>
                <a:blip r:embed="rId4"/>
                <a:stretch>
                  <a:fillRect l="-1538" t="-1600" b="-3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F35CE8B-0CE3-F5BB-0DDA-67BD9FD60FCF}"/>
                  </a:ext>
                </a:extLst>
              </p:cNvPr>
              <p:cNvSpPr txBox="1"/>
              <p:nvPr/>
            </p:nvSpPr>
            <p:spPr>
              <a:xfrm>
                <a:off x="4964938" y="4581128"/>
                <a:ext cx="167460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i="1" spc="-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2000" i="1" spc="-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⋅|</m:t>
                          </m:r>
                          <m:sSub>
                            <m:sSubPr>
                              <m:ctrlPr>
                                <a:rPr lang="en-US" sz="2000" i="1" spc="-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pc="-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000" i="1" spc="-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i="1" spc="-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000" i="1" spc="-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pc="-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sz="2000" i="1" spc="-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F35CE8B-0CE3-F5BB-0DDA-67BD9FD60F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4938" y="4581128"/>
                <a:ext cx="1674607" cy="400110"/>
              </a:xfrm>
              <a:prstGeom prst="rect">
                <a:avLst/>
              </a:prstGeom>
              <a:blipFill>
                <a:blip r:embed="rId5"/>
                <a:stretch>
                  <a:fillRect r="-14909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05CDB61-91B8-2A5F-3763-98444199984E}"/>
                  </a:ext>
                </a:extLst>
              </p:cNvPr>
              <p:cNvSpPr txBox="1"/>
              <p:nvPr/>
            </p:nvSpPr>
            <p:spPr>
              <a:xfrm>
                <a:off x="5162373" y="5462169"/>
                <a:ext cx="6776249" cy="9469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en-US" dirty="0"/>
                  <a:t>depends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, which depends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:br>
                  <a:rPr lang="en-US" dirty="0"/>
                </a:br>
                <a:r>
                  <a:rPr lang="en-US" dirty="0"/>
                  <a:t>i.e. not only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i="1" dirty="0"/>
                  <a:t>, </a:t>
                </a:r>
                <a:br>
                  <a:rPr lang="en-US" i="1" dirty="0"/>
                </a:br>
                <a:r>
                  <a:rPr lang="en-US" dirty="0"/>
                  <a:t>i.e</a:t>
                </a:r>
                <a:r>
                  <a:rPr lang="en-US" i="1" dirty="0"/>
                  <a:t>. endogenous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05CDB61-91B8-2A5F-3763-9844419998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2373" y="5462169"/>
                <a:ext cx="6776249" cy="946991"/>
              </a:xfrm>
              <a:prstGeom prst="rect">
                <a:avLst/>
              </a:prstGeom>
              <a:blipFill>
                <a:blip r:embed="rId6"/>
                <a:stretch>
                  <a:fillRect l="-540" b="-77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8DACA8A-D5AC-FEAA-7148-1AAA3C11257E}"/>
                  </a:ext>
                </a:extLst>
              </p:cNvPr>
              <p:cNvSpPr txBox="1"/>
              <p:nvPr/>
            </p:nvSpPr>
            <p:spPr>
              <a:xfrm>
                <a:off x="8183438" y="3554019"/>
                <a:ext cx="3384376" cy="23560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pc="-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lit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Hours</m:t>
                          </m:r>
                        </m:den>
                      </m:f>
                    </m:oMath>
                  </m:oMathPara>
                </a14:m>
                <a:endParaRPr lang="en-US" sz="2400" i="1" spc="-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pc="-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2400" b="0" i="1" spc="-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⋅| </m:t>
                          </m:r>
                          <m:sSub>
                            <m:sSubPr>
                              <m:ctrlPr>
                                <a:rPr lang="en-US" sz="2400" b="0" i="1" spc="-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2400" b="0" i="1" spc="-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n-US" sz="2400" b="0" i="1" spc="-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1, 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l-G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400" i="1" spc="-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spc="-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2400" i="1" spc="-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400" i="1" spc="-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sz="2400" i="1" spc="-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l-GR" sz="2400" i="1" spc="-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e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l-G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l-G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400" i="1" spc="-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spc="-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2400" i="1" spc="-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400" i="1" spc="-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sz="2400" i="1" spc="-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l-GR" sz="2400" i="1" spc="-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/>
              </a:p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8DACA8A-D5AC-FEAA-7148-1AAA3C1125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3438" y="3554019"/>
                <a:ext cx="3384376" cy="2356094"/>
              </a:xfrm>
              <a:prstGeom prst="rect">
                <a:avLst/>
              </a:prstGeom>
              <a:blipFill>
                <a:blip r:embed="rId7"/>
                <a:stretch>
                  <a:fillRect l="-1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Shape 1">
            <a:extLst>
              <a:ext uri="{FF2B5EF4-FFF2-40B4-BE49-F238E27FC236}">
                <a16:creationId xmlns:a16="http://schemas.microsoft.com/office/drawing/2014/main" id="{B3328421-D4C1-4723-4A48-BD40DAA92508}"/>
              </a:ext>
            </a:extLst>
          </p:cNvPr>
          <p:cNvSpPr txBox="1"/>
          <p:nvPr/>
        </p:nvSpPr>
        <p:spPr>
          <a:xfrm>
            <a:off x="2384381" y="283849"/>
            <a:ext cx="10471064" cy="4848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000" b="1" spc="-1" dirty="0">
                <a:solidFill>
                  <a:srgbClr val="000000"/>
                </a:solidFill>
                <a:latin typeface="Arial"/>
              </a:rPr>
              <a:t>The </a:t>
            </a:r>
            <a:r>
              <a:rPr lang="fr-FR" sz="3000" b="1" spc="-1" dirty="0" err="1">
                <a:solidFill>
                  <a:srgbClr val="000000"/>
                </a:solidFill>
                <a:latin typeface="Arial"/>
              </a:rPr>
              <a:t>student’s</a:t>
            </a:r>
            <a:r>
              <a:rPr lang="fr-FR" sz="3000" b="1" i="1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sz="3000" b="1" spc="-1" dirty="0" err="1">
                <a:solidFill>
                  <a:srgbClr val="000000"/>
                </a:solidFill>
                <a:latin typeface="Arial"/>
              </a:rPr>
              <a:t>problem</a:t>
            </a:r>
            <a:r>
              <a:rPr lang="fr-FR" sz="3000" b="1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sz="3000" b="1" spc="-1" dirty="0" err="1">
                <a:solidFill>
                  <a:srgbClr val="000000"/>
                </a:solidFill>
                <a:latin typeface="Arial"/>
              </a:rPr>
              <a:t>including</a:t>
            </a:r>
            <a:r>
              <a:rPr lang="fr-FR" sz="3000" b="1" spc="-1" dirty="0">
                <a:solidFill>
                  <a:srgbClr val="000000"/>
                </a:solidFill>
                <a:latin typeface="Arial"/>
              </a:rPr>
              <a:t> stress</a:t>
            </a:r>
            <a:endParaRPr lang="fr-FR" sz="3000" spc="-1" dirty="0">
              <a:solidFill>
                <a:srgbClr val="000000"/>
              </a:solidFill>
              <a:latin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E1420EC-0ED4-9D21-B5E3-E164D9F46177}"/>
                  </a:ext>
                </a:extLst>
              </p:cNvPr>
              <p:cNvSpPr txBox="1"/>
              <p:nvPr/>
            </p:nvSpPr>
            <p:spPr>
              <a:xfrm>
                <a:off x="9983638" y="2103157"/>
                <a:ext cx="208929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0" lang="en-US" sz="2000" b="0" i="0" u="none" strike="noStrike" kern="1200" cap="none" spc="-1" normalizeH="0" baseline="0" noProof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-1" normalizeH="0" baseline="0" noProof="0" dirty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2000" b="0" i="1" u="none" strike="noStrike" kern="1200" cap="none" spc="-1" normalizeH="0" baseline="0" noProof="0" dirty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kumimoji="0" lang="en-US" sz="2000" b="0" i="1" u="none" strike="noStrike" kern="1200" cap="none" spc="-1" normalizeH="0" baseline="0" noProof="0" dirty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kumimoji="0" lang="en-US" sz="2000" b="0" i="0" u="none" strike="noStrike" kern="1200" cap="none" spc="-1" normalizeH="0" baseline="0" noProof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 endogenous or exogenous?</a:t>
                </a:r>
                <a:endParaRPr lang="en-US" sz="20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E1420EC-0ED4-9D21-B5E3-E164D9F461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3638" y="2103157"/>
                <a:ext cx="2089290" cy="707886"/>
              </a:xfrm>
              <a:prstGeom prst="rect">
                <a:avLst/>
              </a:prstGeom>
              <a:blipFill>
                <a:blip r:embed="rId9"/>
                <a:stretch>
                  <a:fillRect l="-3216" t="-4310" r="-1754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A75B14F4-122A-98C0-09F5-E5A0DF6CE7E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03720" y="72937"/>
            <a:ext cx="1422534" cy="14453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F366427-5DC6-E90B-4B41-43A527865311}"/>
                  </a:ext>
                </a:extLst>
              </p:cNvPr>
              <p:cNvSpPr txBox="1"/>
              <p:nvPr/>
            </p:nvSpPr>
            <p:spPr>
              <a:xfrm>
                <a:off x="251791" y="5661248"/>
                <a:ext cx="4275300" cy="861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l-GR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m:rPr>
                        <m:sty m:val="p"/>
                      </m:rPr>
                      <a:rPr lang="en-US" sz="2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2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l-GR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−1</m:t>
                    </m:r>
                    <m:r>
                      <a:rPr lang="en-US" sz="2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20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F366427-5DC6-E90B-4B41-43A5278653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791" y="5661248"/>
                <a:ext cx="4275300" cy="861774"/>
              </a:xfrm>
              <a:prstGeom prst="rect">
                <a:avLst/>
              </a:prstGeom>
              <a:blipFill>
                <a:blip r:embed="rId11"/>
                <a:stretch>
                  <a:fillRect b="-7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9084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D0D19-43C9-36B4-E131-911A997D4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AE558C7-C4DD-8DB9-A507-2628FCD5B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2958" y="44624"/>
            <a:ext cx="7992888" cy="620032"/>
          </a:xfrm>
        </p:spPr>
        <p:txBody>
          <a:bodyPr wrap="square" anchor="b">
            <a:normAutofit/>
          </a:bodyPr>
          <a:lstStyle/>
          <a:p>
            <a:r>
              <a:rPr lang="en-GB" sz="3600" dirty="0"/>
              <a:t>The Lead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156EE18-F491-BCDD-2E2D-43A75C6CD564}"/>
                  </a:ext>
                </a:extLst>
              </p:cNvPr>
              <p:cNvSpPr txBox="1"/>
              <p:nvPr/>
            </p:nvSpPr>
            <p:spPr>
              <a:xfrm>
                <a:off x="2965001" y="658859"/>
                <a:ext cx="9161283" cy="58339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You are responsible for the hourly decisions of an energy hub, comprising: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An industrial plant with known power demand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 wind turbine that generates electricity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𝑤𝑖𝑛𝑑</m:t>
                        </m:r>
                      </m:sup>
                    </m:sSubSup>
                  </m:oMath>
                </a14:m>
                <a:r>
                  <a:rPr lang="en-US" dirty="0"/>
                  <a:t>, which is uncertain and depends on the wind 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 dirty="0"/>
                  <a:t>, based on a stochastic process that is given to you.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An </a:t>
                </a:r>
                <a:r>
                  <a:rPr lang="en-US" dirty="0" err="1"/>
                  <a:t>electrolyzer</a:t>
                </a:r>
                <a:r>
                  <a:rPr lang="en-US" dirty="0"/>
                  <a:t> that turns electricity into hydrogen (up to an amount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acc>
                  </m:oMath>
                </a14:m>
                <a:r>
                  <a:rPr lang="en-US" dirty="0"/>
                  <a:t> per hour). The conversion is linear with a conversion rate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 hydrogen storage tank of capacity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en-US" dirty="0"/>
                  <a:t>. When an amount of hydrogen is produced at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, it becomes stored and available in the tank from the </a:t>
                </a:r>
                <a:r>
                  <a:rPr lang="en-US" u="sng" dirty="0"/>
                  <a:t>next</a:t>
                </a:r>
                <a:r>
                  <a:rPr lang="en-US" dirty="0"/>
                  <a:t> hour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 Hydrogen-to-Power unit that can convert stored hydrogen back to electricity (up to an amount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</m:acc>
                  </m:oMath>
                </a14:m>
                <a:r>
                  <a:rPr lang="en-US" dirty="0"/>
                  <a:t> per hour). The conversion is linear with a conversion rate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pPr algn="just"/>
                <a:r>
                  <a:rPr lang="en-US" dirty="0"/>
                  <a:t>The hub can also draw power from the main grid at a price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𝑔𝑟𝑖𝑑</m:t>
                        </m:r>
                      </m:sup>
                    </m:sSubSup>
                  </m:oMath>
                </a14:m>
                <a:r>
                  <a:rPr lang="en-US" dirty="0"/>
                  <a:t>. The price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is uncertain and depends on the price at </a:t>
                </a:r>
                <a:r>
                  <a:rPr lang="en-US" dirty="0" err="1"/>
                  <a:t>at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 dirty="0"/>
                  <a:t>, and it is also correlated to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𝑤𝑖𝑛𝑑</m:t>
                        </m:r>
                      </m:sup>
                    </m:sSubSup>
                  </m:oMath>
                </a14:m>
                <a:r>
                  <a:rPr lang="en-US" dirty="0"/>
                  <a:t>. This stochastic process is given to you. The hub cannot inject power into the grid; any excess power is just wasted. </a:t>
                </a:r>
              </a:p>
              <a:p>
                <a:pPr algn="just"/>
                <a:r>
                  <a:rPr lang="en-US" dirty="0"/>
                  <a:t>The </a:t>
                </a:r>
                <a:r>
                  <a:rPr lang="en-US" dirty="0" err="1"/>
                  <a:t>electrolyzer</a:t>
                </a:r>
                <a:r>
                  <a:rPr lang="en-US" dirty="0"/>
                  <a:t> can be ON or OFF. When OFF, it cannot turn electricity into hydrogen. If it is activated (or deactivated)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, it goes ON (respectively, OFF)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. For every hour that the </a:t>
                </a:r>
                <a:r>
                  <a:rPr lang="en-US" dirty="0" err="1"/>
                  <a:t>electrolyzer</a:t>
                </a:r>
                <a:r>
                  <a:rPr lang="en-US" dirty="0"/>
                  <a:t> is ON, it bears a fixed operational cost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elzr</m:t>
                        </m:r>
                      </m:sup>
                    </m:sSup>
                  </m:oMath>
                </a14:m>
                <a:r>
                  <a:rPr lang="en-US" dirty="0"/>
                  <a:t>. Your objective is to serve the power demand of the industrial plant at the minimum possible cost.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06747B9-5B55-E176-CF5C-43E2609524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5001" y="658859"/>
                <a:ext cx="9161283" cy="5833905"/>
              </a:xfrm>
              <a:prstGeom prst="rect">
                <a:avLst/>
              </a:prstGeom>
              <a:blipFill>
                <a:blip r:embed="rId5"/>
                <a:stretch>
                  <a:fillRect l="-333" t="-313" r="-3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A diagram of energy sources&#10;&#10;AI-generated content may be incorrect.">
            <a:extLst>
              <a:ext uri="{FF2B5EF4-FFF2-40B4-BE49-F238E27FC236}">
                <a16:creationId xmlns:a16="http://schemas.microsoft.com/office/drawing/2014/main" id="{B2C4226D-0CA0-74EF-CBF1-E333CEABE6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020" y="1347346"/>
            <a:ext cx="2811842" cy="2146072"/>
          </a:xfrm>
          <a:prstGeom prst="rect">
            <a:avLst/>
          </a:prstGeom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6334544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A70EE-7D17-CEB6-D5AC-F3A37D125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0D45A2B-3CE9-09AD-6903-5DC01F829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4686" y="44624"/>
            <a:ext cx="10441160" cy="620032"/>
          </a:xfrm>
        </p:spPr>
        <p:txBody>
          <a:bodyPr wrap="square" anchor="b">
            <a:noAutofit/>
          </a:bodyPr>
          <a:lstStyle/>
          <a:p>
            <a:r>
              <a:rPr lang="en-GB" sz="2800" dirty="0"/>
              <a:t>The Lead Example: Deterministic Optimization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0CC88A-86EE-2876-BF4D-7F864F6909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1350" y="836712"/>
            <a:ext cx="4254719" cy="11049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9FC3D8D-832A-F3BC-57B3-E167188553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5366" y="1878569"/>
            <a:ext cx="3744416" cy="46330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8E1DD9A-7B99-CBF7-2846-ADE9183C55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362" y="1052736"/>
            <a:ext cx="4726529" cy="5263395"/>
          </a:xfrm>
          <a:prstGeom prst="rect">
            <a:avLst/>
          </a:prstGeom>
        </p:spPr>
      </p:pic>
      <p:pic>
        <p:nvPicPr>
          <p:cNvPr id="8" name="Picture 7" descr="A diagram of energy sources&#10;&#10;AI-generated content may be incorrect.">
            <a:extLst>
              <a:ext uri="{FF2B5EF4-FFF2-40B4-BE49-F238E27FC236}">
                <a16:creationId xmlns:a16="http://schemas.microsoft.com/office/drawing/2014/main" id="{0CD9B135-15CF-7AFA-292B-47B88920AB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4823" y="908720"/>
            <a:ext cx="2304256" cy="1758669"/>
          </a:xfrm>
          <a:prstGeom prst="rect">
            <a:avLst/>
          </a:prstGeom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9955288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FAEE7-673F-BF0B-4F7A-69A617BCA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extShape 1">
            <a:extLst>
              <a:ext uri="{FF2B5EF4-FFF2-40B4-BE49-F238E27FC236}">
                <a16:creationId xmlns:a16="http://schemas.microsoft.com/office/drawing/2014/main" id="{51D29CB5-CF29-1881-27E8-CBF950F7B00C}"/>
              </a:ext>
            </a:extLst>
          </p:cNvPr>
          <p:cNvSpPr txBox="1"/>
          <p:nvPr/>
        </p:nvSpPr>
        <p:spPr>
          <a:xfrm>
            <a:off x="3610930" y="2852936"/>
            <a:ext cx="4968552" cy="7920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ＭＳ Ｐゴシック" pitchFamily="-80" charset="-128"/>
              </a:rPr>
              <a:t>Agent vs Environment</a:t>
            </a:r>
            <a:endParaRPr kumimoji="0" lang="fr-FR" sz="36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 pitchFamily="-80" charset="-128"/>
            </a:endParaRPr>
          </a:p>
        </p:txBody>
      </p:sp>
      <p:sp>
        <p:nvSpPr>
          <p:cNvPr id="187" name="TextShape 3">
            <a:extLst>
              <a:ext uri="{FF2B5EF4-FFF2-40B4-BE49-F238E27FC236}">
                <a16:creationId xmlns:a16="http://schemas.microsoft.com/office/drawing/2014/main" id="{CD2745E3-EFB5-21E8-AA20-E8850784379E}"/>
              </a:ext>
            </a:extLst>
          </p:cNvPr>
          <p:cNvSpPr txBox="1"/>
          <p:nvPr/>
        </p:nvSpPr>
        <p:spPr>
          <a:xfrm>
            <a:off x="10154206" y="6541200"/>
            <a:ext cx="324000" cy="31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F0260D1-715F-4A85-9441-F9F0D6C48798}" type="slidenum">
              <a:rPr kumimoji="0" lang="en-US" sz="53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ＭＳ Ｐゴシック" pitchFamily="-80" charset="-128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53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536587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1FF82-6DAD-72C1-7D61-B08EF7CE1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TextShape 1">
            <a:extLst>
              <a:ext uri="{FF2B5EF4-FFF2-40B4-BE49-F238E27FC236}">
                <a16:creationId xmlns:a16="http://schemas.microsoft.com/office/drawing/2014/main" id="{0EC95815-11B6-7949-00E3-96A5E544F6F6}"/>
              </a:ext>
            </a:extLst>
          </p:cNvPr>
          <p:cNvSpPr txBox="1"/>
          <p:nvPr/>
        </p:nvSpPr>
        <p:spPr>
          <a:xfrm>
            <a:off x="1818360" y="76320"/>
            <a:ext cx="8772166" cy="6746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pitchFamily="-80" charset="-128"/>
              </a:rPr>
              <a:t>Back to the Big Picture</a:t>
            </a:r>
            <a:endParaRPr kumimoji="0" lang="fr-FR" sz="30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 pitchFamily="-80" charset="-128"/>
            </a:endParaRPr>
          </a:p>
        </p:txBody>
      </p:sp>
      <p:sp>
        <p:nvSpPr>
          <p:cNvPr id="244" name="TextShape 2">
            <a:extLst>
              <a:ext uri="{FF2B5EF4-FFF2-40B4-BE49-F238E27FC236}">
                <a16:creationId xmlns:a16="http://schemas.microsoft.com/office/drawing/2014/main" id="{17133743-BDA5-8180-E978-9399386AF04A}"/>
              </a:ext>
            </a:extLst>
          </p:cNvPr>
          <p:cNvSpPr txBox="1"/>
          <p:nvPr/>
        </p:nvSpPr>
        <p:spPr>
          <a:xfrm>
            <a:off x="10154206" y="6541200"/>
            <a:ext cx="324000" cy="31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988310-29CA-4543-938F-4307B4B069BB}" type="slidenum">
              <a:rPr kumimoji="0" lang="en-US" sz="53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ＭＳ Ｐゴシック" pitchFamily="-80" charset="-128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53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ＭＳ Ｐゴシック" pitchFamily="-80" charset="-128"/>
            </a:endParaRPr>
          </a:p>
        </p:txBody>
      </p:sp>
      <p:sp>
        <p:nvSpPr>
          <p:cNvPr id="245" name="CustomShape 3">
            <a:extLst>
              <a:ext uri="{FF2B5EF4-FFF2-40B4-BE49-F238E27FC236}">
                <a16:creationId xmlns:a16="http://schemas.microsoft.com/office/drawing/2014/main" id="{07B22A39-03ED-11B3-5117-D6FD83CDFF24}"/>
              </a:ext>
            </a:extLst>
          </p:cNvPr>
          <p:cNvSpPr/>
          <p:nvPr/>
        </p:nvSpPr>
        <p:spPr>
          <a:xfrm>
            <a:off x="2101366" y="1789200"/>
            <a:ext cx="1154880" cy="685440"/>
          </a:xfrm>
          <a:prstGeom prst="roundRect">
            <a:avLst>
              <a:gd name="adj" fmla="val 16667"/>
            </a:avLst>
          </a:prstGeom>
          <a:ln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rPr>
              <a:t>Define</a:t>
            </a:r>
            <a:endParaRPr kumimoji="0" lang="en-US" sz="24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246" name="CustomShape 4">
            <a:extLst>
              <a:ext uri="{FF2B5EF4-FFF2-40B4-BE49-F238E27FC236}">
                <a16:creationId xmlns:a16="http://schemas.microsoft.com/office/drawing/2014/main" id="{169AC2F9-6D56-D0BC-98B8-3FF62FE9E0C3}"/>
              </a:ext>
            </a:extLst>
          </p:cNvPr>
          <p:cNvSpPr/>
          <p:nvPr/>
        </p:nvSpPr>
        <p:spPr>
          <a:xfrm>
            <a:off x="5320126" y="1788120"/>
            <a:ext cx="1218960" cy="685440"/>
          </a:xfrm>
          <a:prstGeom prst="roundRect">
            <a:avLst>
              <a:gd name="adj" fmla="val 16667"/>
            </a:avLst>
          </a:prstGeom>
          <a:ln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rPr>
              <a:t>Design</a:t>
            </a:r>
            <a:endParaRPr kumimoji="0" lang="en-US" sz="24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247" name="CustomShape 5">
            <a:extLst>
              <a:ext uri="{FF2B5EF4-FFF2-40B4-BE49-F238E27FC236}">
                <a16:creationId xmlns:a16="http://schemas.microsoft.com/office/drawing/2014/main" id="{2E4FDF86-AFAD-1D8E-9EC7-01F09F3803B8}"/>
              </a:ext>
            </a:extLst>
          </p:cNvPr>
          <p:cNvSpPr/>
          <p:nvPr/>
        </p:nvSpPr>
        <p:spPr>
          <a:xfrm>
            <a:off x="8738326" y="1791360"/>
            <a:ext cx="1460880" cy="685440"/>
          </a:xfrm>
          <a:prstGeom prst="roundRect">
            <a:avLst>
              <a:gd name="adj" fmla="val 16667"/>
            </a:avLst>
          </a:prstGeom>
          <a:ln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rPr>
              <a:t>Evaluate</a:t>
            </a:r>
            <a:endParaRPr kumimoji="0" lang="en-US" sz="24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248" name="CustomShape 6">
            <a:extLst>
              <a:ext uri="{FF2B5EF4-FFF2-40B4-BE49-F238E27FC236}">
                <a16:creationId xmlns:a16="http://schemas.microsoft.com/office/drawing/2014/main" id="{9F3E9AB2-3068-9322-1BC2-E6833BF22C63}"/>
              </a:ext>
            </a:extLst>
          </p:cNvPr>
          <p:cNvSpPr/>
          <p:nvPr/>
        </p:nvSpPr>
        <p:spPr>
          <a:xfrm flipV="1">
            <a:off x="3653326" y="2130840"/>
            <a:ext cx="1196640" cy="108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240">
            <a:solidFill>
              <a:srgbClr val="00B050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249" name="CustomShape 7">
            <a:extLst>
              <a:ext uri="{FF2B5EF4-FFF2-40B4-BE49-F238E27FC236}">
                <a16:creationId xmlns:a16="http://schemas.microsoft.com/office/drawing/2014/main" id="{17A5BD8E-6F18-04EA-F6F0-6148DFF23179}"/>
              </a:ext>
            </a:extLst>
          </p:cNvPr>
          <p:cNvSpPr/>
          <p:nvPr/>
        </p:nvSpPr>
        <p:spPr>
          <a:xfrm flipV="1">
            <a:off x="7146046" y="2126520"/>
            <a:ext cx="1196640" cy="108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240">
            <a:solidFill>
              <a:srgbClr val="00B050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30050A7E-5B60-7C2D-84AE-3D1B45C4838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2889" y="2780928"/>
                <a:ext cx="4097077" cy="2812087"/>
              </a:xfrm>
              <a:prstGeom prst="rect">
                <a:avLst/>
              </a:prstGeom>
            </p:spPr>
            <p:txBody>
              <a:bodyPr wrap="square" anchor="t">
                <a:noAutofit/>
              </a:bodyPr>
              <a:lstStyle>
                <a:lvl1pPr marL="198000" indent="-197640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Clr>
                    <a:srgbClr val="000000"/>
                  </a:buClr>
                  <a:buFont typeface="Symbol" charset="2"/>
                  <a:buChar char="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Aft>
                    <a:spcPts val="0"/>
                  </a:spcAft>
                </a:pPr>
                <a:r>
                  <a:rPr lang="en-US" sz="2400" dirty="0"/>
                  <a:t>Stages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sz="2400" dirty="0"/>
              </a:p>
              <a:p>
                <a:pPr fontAlgn="auto">
                  <a:spcAft>
                    <a:spcPts val="0"/>
                  </a:spcAft>
                </a:pPr>
                <a:r>
                  <a:rPr lang="en-US" sz="2400" dirty="0"/>
                  <a:t>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, …</m:t>
                        </m:r>
                      </m:e>
                    </m:d>
                  </m:oMath>
                </a14:m>
                <a:endParaRPr lang="en-US" sz="2400" dirty="0"/>
              </a:p>
              <a:p>
                <a:pPr fontAlgn="auto">
                  <a:spcAft>
                    <a:spcPts val="0"/>
                  </a:spcAft>
                </a:pPr>
                <a:r>
                  <a:rPr lang="en-US" sz="2400" dirty="0"/>
                  <a:t>Decision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…</m:t>
                        </m:r>
                      </m:e>
                    </m:d>
                  </m:oMath>
                </a14:m>
                <a:endParaRPr lang="en-US" sz="2400" dirty="0"/>
              </a:p>
              <a:p>
                <a:pPr fontAlgn="auto">
                  <a:spcAft>
                    <a:spcPts val="0"/>
                  </a:spcAft>
                </a:pPr>
                <a:r>
                  <a:rPr lang="en-US" sz="2400" dirty="0"/>
                  <a:t>Dynamics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sz="2400" dirty="0"/>
              </a:p>
              <a:p>
                <a:pPr fontAlgn="auto">
                  <a:spcAft>
                    <a:spcPts val="0"/>
                  </a:spcAft>
                </a:pPr>
                <a:r>
                  <a:rPr lang="en-US" sz="2400" dirty="0"/>
                  <a:t>Cost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30050A7E-5B60-7C2D-84AE-3D1B45C483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889" y="2780928"/>
                <a:ext cx="4097077" cy="2812087"/>
              </a:xfrm>
              <a:prstGeom prst="rect">
                <a:avLst/>
              </a:prstGeom>
              <a:blipFill>
                <a:blip r:embed="rId3"/>
                <a:stretch>
                  <a:fillRect l="-2381" t="-1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7A656FB0-E7FF-08E3-A042-3F9BF28E2584}"/>
              </a:ext>
            </a:extLst>
          </p:cNvPr>
          <p:cNvSpPr txBox="1"/>
          <p:nvPr/>
        </p:nvSpPr>
        <p:spPr>
          <a:xfrm>
            <a:off x="2206774" y="1220971"/>
            <a:ext cx="753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+mn-lt"/>
              </a:rP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5643277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90A78-87A7-F720-872B-208EC9EF2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TextShape 1">
            <a:extLst>
              <a:ext uri="{FF2B5EF4-FFF2-40B4-BE49-F238E27FC236}">
                <a16:creationId xmlns:a16="http://schemas.microsoft.com/office/drawing/2014/main" id="{FA925468-10D3-95F4-52A9-82D12BAC1C51}"/>
              </a:ext>
            </a:extLst>
          </p:cNvPr>
          <p:cNvSpPr txBox="1"/>
          <p:nvPr/>
        </p:nvSpPr>
        <p:spPr>
          <a:xfrm>
            <a:off x="1818360" y="76320"/>
            <a:ext cx="8772166" cy="6746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pitchFamily="-80" charset="-128"/>
              </a:rPr>
              <a:t>Back to the Big Picture</a:t>
            </a:r>
            <a:endParaRPr kumimoji="0" lang="fr-FR" sz="30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 pitchFamily="-80" charset="-128"/>
            </a:endParaRPr>
          </a:p>
        </p:txBody>
      </p:sp>
      <p:sp>
        <p:nvSpPr>
          <p:cNvPr id="244" name="TextShape 2">
            <a:extLst>
              <a:ext uri="{FF2B5EF4-FFF2-40B4-BE49-F238E27FC236}">
                <a16:creationId xmlns:a16="http://schemas.microsoft.com/office/drawing/2014/main" id="{D88905F1-227C-F2B8-ABB9-4ACCFAB7D378}"/>
              </a:ext>
            </a:extLst>
          </p:cNvPr>
          <p:cNvSpPr txBox="1"/>
          <p:nvPr/>
        </p:nvSpPr>
        <p:spPr>
          <a:xfrm>
            <a:off x="10154206" y="6541200"/>
            <a:ext cx="324000" cy="31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988310-29CA-4543-938F-4307B4B069BB}" type="slidenum">
              <a:rPr kumimoji="0" lang="en-US" sz="53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ＭＳ Ｐゴシック" pitchFamily="-80" charset="-128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53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ＭＳ Ｐゴシック" pitchFamily="-80" charset="-128"/>
            </a:endParaRPr>
          </a:p>
        </p:txBody>
      </p:sp>
      <p:sp>
        <p:nvSpPr>
          <p:cNvPr id="245" name="CustomShape 3">
            <a:extLst>
              <a:ext uri="{FF2B5EF4-FFF2-40B4-BE49-F238E27FC236}">
                <a16:creationId xmlns:a16="http://schemas.microsoft.com/office/drawing/2014/main" id="{95E0316D-4FFF-920B-2278-6AC979F83196}"/>
              </a:ext>
            </a:extLst>
          </p:cNvPr>
          <p:cNvSpPr/>
          <p:nvPr/>
        </p:nvSpPr>
        <p:spPr>
          <a:xfrm>
            <a:off x="2101366" y="1789200"/>
            <a:ext cx="1154880" cy="685440"/>
          </a:xfrm>
          <a:prstGeom prst="roundRect">
            <a:avLst>
              <a:gd name="adj" fmla="val 16667"/>
            </a:avLst>
          </a:prstGeom>
          <a:ln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rPr>
              <a:t>Define</a:t>
            </a:r>
            <a:endParaRPr kumimoji="0" lang="en-US" sz="24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246" name="CustomShape 4">
            <a:extLst>
              <a:ext uri="{FF2B5EF4-FFF2-40B4-BE49-F238E27FC236}">
                <a16:creationId xmlns:a16="http://schemas.microsoft.com/office/drawing/2014/main" id="{675B59AA-CA56-571B-8CBA-C46A4D37A6FC}"/>
              </a:ext>
            </a:extLst>
          </p:cNvPr>
          <p:cNvSpPr/>
          <p:nvPr/>
        </p:nvSpPr>
        <p:spPr>
          <a:xfrm>
            <a:off x="5320126" y="1788120"/>
            <a:ext cx="1218960" cy="685440"/>
          </a:xfrm>
          <a:prstGeom prst="roundRect">
            <a:avLst>
              <a:gd name="adj" fmla="val 16667"/>
            </a:avLst>
          </a:prstGeom>
          <a:ln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rPr>
              <a:t>Design</a:t>
            </a:r>
            <a:endParaRPr kumimoji="0" lang="en-US" sz="24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247" name="CustomShape 5">
            <a:extLst>
              <a:ext uri="{FF2B5EF4-FFF2-40B4-BE49-F238E27FC236}">
                <a16:creationId xmlns:a16="http://schemas.microsoft.com/office/drawing/2014/main" id="{2F17DB38-9157-6774-4236-79E3AF303D04}"/>
              </a:ext>
            </a:extLst>
          </p:cNvPr>
          <p:cNvSpPr/>
          <p:nvPr/>
        </p:nvSpPr>
        <p:spPr>
          <a:xfrm>
            <a:off x="8738326" y="1791360"/>
            <a:ext cx="1460880" cy="685440"/>
          </a:xfrm>
          <a:prstGeom prst="roundRect">
            <a:avLst>
              <a:gd name="adj" fmla="val 16667"/>
            </a:avLst>
          </a:prstGeom>
          <a:ln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rPr>
              <a:t>Evaluate</a:t>
            </a:r>
            <a:endParaRPr kumimoji="0" lang="en-US" sz="24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248" name="CustomShape 6">
            <a:extLst>
              <a:ext uri="{FF2B5EF4-FFF2-40B4-BE49-F238E27FC236}">
                <a16:creationId xmlns:a16="http://schemas.microsoft.com/office/drawing/2014/main" id="{F967F03C-366C-0ED7-57E1-AD54E673CC2D}"/>
              </a:ext>
            </a:extLst>
          </p:cNvPr>
          <p:cNvSpPr/>
          <p:nvPr/>
        </p:nvSpPr>
        <p:spPr>
          <a:xfrm flipV="1">
            <a:off x="3653326" y="2130840"/>
            <a:ext cx="1196640" cy="108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240">
            <a:solidFill>
              <a:srgbClr val="00B050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249" name="CustomShape 7">
            <a:extLst>
              <a:ext uri="{FF2B5EF4-FFF2-40B4-BE49-F238E27FC236}">
                <a16:creationId xmlns:a16="http://schemas.microsoft.com/office/drawing/2014/main" id="{9188F4CC-8B46-5D9B-BC71-BABC2CA13E7F}"/>
              </a:ext>
            </a:extLst>
          </p:cNvPr>
          <p:cNvSpPr/>
          <p:nvPr/>
        </p:nvSpPr>
        <p:spPr>
          <a:xfrm flipV="1">
            <a:off x="7146046" y="2126520"/>
            <a:ext cx="1196640" cy="108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240">
            <a:solidFill>
              <a:srgbClr val="00B050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4237FFF0-4945-D2F6-BE9F-F41A064BB5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2889" y="2780928"/>
                <a:ext cx="4097077" cy="2812087"/>
              </a:xfrm>
              <a:prstGeom prst="rect">
                <a:avLst/>
              </a:prstGeom>
            </p:spPr>
            <p:txBody>
              <a:bodyPr wrap="square" anchor="t">
                <a:noAutofit/>
              </a:bodyPr>
              <a:lstStyle>
                <a:lvl1pPr marL="198000" indent="-197640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Clr>
                    <a:srgbClr val="000000"/>
                  </a:buClr>
                  <a:buFont typeface="Symbol" charset="2"/>
                  <a:buChar char="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Aft>
                    <a:spcPts val="0"/>
                  </a:spcAft>
                </a:pPr>
                <a:r>
                  <a:rPr lang="en-US" sz="2400" dirty="0"/>
                  <a:t>Stages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sz="2400" dirty="0"/>
              </a:p>
              <a:p>
                <a:pPr fontAlgn="auto">
                  <a:spcAft>
                    <a:spcPts val="0"/>
                  </a:spcAft>
                </a:pPr>
                <a:r>
                  <a:rPr lang="en-US" sz="2400" dirty="0"/>
                  <a:t>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, …</m:t>
                        </m:r>
                      </m:e>
                    </m:d>
                  </m:oMath>
                </a14:m>
                <a:endParaRPr lang="en-US" sz="2400" dirty="0"/>
              </a:p>
              <a:p>
                <a:pPr fontAlgn="auto">
                  <a:spcAft>
                    <a:spcPts val="0"/>
                  </a:spcAft>
                </a:pPr>
                <a:r>
                  <a:rPr lang="en-US" sz="2400" dirty="0"/>
                  <a:t>Decision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…</m:t>
                        </m:r>
                      </m:e>
                    </m:d>
                  </m:oMath>
                </a14:m>
                <a:endParaRPr lang="en-US" sz="2400" dirty="0"/>
              </a:p>
              <a:p>
                <a:pPr fontAlgn="auto">
                  <a:spcAft>
                    <a:spcPts val="0"/>
                  </a:spcAft>
                </a:pPr>
                <a:r>
                  <a:rPr lang="en-US" sz="2400" dirty="0"/>
                  <a:t>Dynamics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sz="2400" dirty="0"/>
              </a:p>
              <a:p>
                <a:pPr fontAlgn="auto">
                  <a:spcAft>
                    <a:spcPts val="0"/>
                  </a:spcAft>
                </a:pPr>
                <a:r>
                  <a:rPr lang="en-US" sz="2400" dirty="0"/>
                  <a:t>Cost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4237FFF0-4945-D2F6-BE9F-F41A064BB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889" y="2780928"/>
                <a:ext cx="4097077" cy="2812087"/>
              </a:xfrm>
              <a:prstGeom prst="rect">
                <a:avLst/>
              </a:prstGeom>
              <a:blipFill>
                <a:blip r:embed="rId3"/>
                <a:stretch>
                  <a:fillRect l="-2381" t="-1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D817D4B-E232-272D-79E4-938FF6F1C688}"/>
                  </a:ext>
                </a:extLst>
              </p:cNvPr>
              <p:cNvSpPr txBox="1"/>
              <p:nvPr/>
            </p:nvSpPr>
            <p:spPr>
              <a:xfrm>
                <a:off x="4931049" y="2815082"/>
                <a:ext cx="2546788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en-US" sz="2400" kern="0" dirty="0">
                    <a:latin typeface="+mn-lt"/>
                  </a:rPr>
                  <a:t>Policy </a:t>
                </a:r>
                <a14:m>
                  <m:oMath xmlns:m="http://schemas.openxmlformats.org/officeDocument/2006/math">
                    <m:r>
                      <a:rPr lang="el-GR" sz="2400" b="0" i="1" kern="0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l-GR" sz="2400" b="0" i="1" kern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l-GR" sz="2400" i="1" kern="0" dirty="0"/>
                  <a:t> </a:t>
                </a:r>
                <a:br>
                  <a:rPr lang="en-US" sz="2400" i="1" kern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kern="0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kern="0" dirty="0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sz="2400" b="0" i="1" kern="0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b="1" i="1" kern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2400" b="0" i="1" kern="0" dirty="0" smtClean="0"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l-GR" sz="2400" b="0" i="1" kern="0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1" i="1" kern="0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kern="0" dirty="0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400" b="0" i="1" kern="0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D817D4B-E232-272D-79E4-938FF6F1C6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1049" y="2815082"/>
                <a:ext cx="2546788" cy="830997"/>
              </a:xfrm>
              <a:prstGeom prst="rect">
                <a:avLst/>
              </a:prstGeom>
              <a:blipFill>
                <a:blip r:embed="rId4"/>
                <a:stretch>
                  <a:fillRect l="-3828" t="-5147" b="-1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28EB5169-93F3-F69F-2742-8387FA9CE3D1}"/>
              </a:ext>
            </a:extLst>
          </p:cNvPr>
          <p:cNvSpPr txBox="1"/>
          <p:nvPr/>
        </p:nvSpPr>
        <p:spPr>
          <a:xfrm>
            <a:off x="2206774" y="1220971"/>
            <a:ext cx="753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+mn-lt"/>
              </a:rPr>
              <a:t>MDP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07D426-9727-EE07-6B2B-607EE599DDE5}"/>
              </a:ext>
            </a:extLst>
          </p:cNvPr>
          <p:cNvSpPr txBox="1"/>
          <p:nvPr/>
        </p:nvSpPr>
        <p:spPr>
          <a:xfrm>
            <a:off x="5455486" y="1220971"/>
            <a:ext cx="8508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+mn-lt"/>
              </a:rPr>
              <a:t>Agent</a:t>
            </a:r>
          </a:p>
        </p:txBody>
      </p:sp>
    </p:spTree>
    <p:extLst>
      <p:ext uri="{BB962C8B-B14F-4D97-AF65-F5344CB8AC3E}">
        <p14:creationId xmlns:p14="http://schemas.microsoft.com/office/powerpoint/2010/main" val="12049867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7A965-B0B3-A615-15E5-EF555B774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TextShape 1">
            <a:extLst>
              <a:ext uri="{FF2B5EF4-FFF2-40B4-BE49-F238E27FC236}">
                <a16:creationId xmlns:a16="http://schemas.microsoft.com/office/drawing/2014/main" id="{97E04753-8962-6F67-2611-2B0F4108DB4C}"/>
              </a:ext>
            </a:extLst>
          </p:cNvPr>
          <p:cNvSpPr txBox="1"/>
          <p:nvPr/>
        </p:nvSpPr>
        <p:spPr>
          <a:xfrm>
            <a:off x="1818360" y="76320"/>
            <a:ext cx="8772166" cy="6746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pitchFamily="-80" charset="-128"/>
              </a:rPr>
              <a:t>Back to the Big Picture</a:t>
            </a:r>
            <a:endParaRPr kumimoji="0" lang="fr-FR" sz="30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 pitchFamily="-80" charset="-128"/>
            </a:endParaRPr>
          </a:p>
        </p:txBody>
      </p:sp>
      <p:sp>
        <p:nvSpPr>
          <p:cNvPr id="244" name="TextShape 2">
            <a:extLst>
              <a:ext uri="{FF2B5EF4-FFF2-40B4-BE49-F238E27FC236}">
                <a16:creationId xmlns:a16="http://schemas.microsoft.com/office/drawing/2014/main" id="{33B1DF09-58BF-D3C6-2205-1FBDFAE14189}"/>
              </a:ext>
            </a:extLst>
          </p:cNvPr>
          <p:cNvSpPr txBox="1"/>
          <p:nvPr/>
        </p:nvSpPr>
        <p:spPr>
          <a:xfrm>
            <a:off x="10154206" y="6541200"/>
            <a:ext cx="324000" cy="31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988310-29CA-4543-938F-4307B4B069BB}" type="slidenum">
              <a:rPr kumimoji="0" lang="en-US" sz="53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ＭＳ Ｐゴシック" pitchFamily="-80" charset="-128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53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ＭＳ Ｐゴシック" pitchFamily="-80" charset="-128"/>
            </a:endParaRPr>
          </a:p>
        </p:txBody>
      </p:sp>
      <p:sp>
        <p:nvSpPr>
          <p:cNvPr id="245" name="CustomShape 3">
            <a:extLst>
              <a:ext uri="{FF2B5EF4-FFF2-40B4-BE49-F238E27FC236}">
                <a16:creationId xmlns:a16="http://schemas.microsoft.com/office/drawing/2014/main" id="{8A2BC4AB-876D-FB9A-0A04-A7B17F7F96C4}"/>
              </a:ext>
            </a:extLst>
          </p:cNvPr>
          <p:cNvSpPr/>
          <p:nvPr/>
        </p:nvSpPr>
        <p:spPr>
          <a:xfrm>
            <a:off x="2101366" y="1789200"/>
            <a:ext cx="1154880" cy="685440"/>
          </a:xfrm>
          <a:prstGeom prst="roundRect">
            <a:avLst>
              <a:gd name="adj" fmla="val 16667"/>
            </a:avLst>
          </a:prstGeom>
          <a:ln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rPr>
              <a:t>Define</a:t>
            </a:r>
            <a:endParaRPr kumimoji="0" lang="en-US" sz="24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246" name="CustomShape 4">
            <a:extLst>
              <a:ext uri="{FF2B5EF4-FFF2-40B4-BE49-F238E27FC236}">
                <a16:creationId xmlns:a16="http://schemas.microsoft.com/office/drawing/2014/main" id="{A62A88CB-D638-E757-8AF3-795E60E7C8AB}"/>
              </a:ext>
            </a:extLst>
          </p:cNvPr>
          <p:cNvSpPr/>
          <p:nvPr/>
        </p:nvSpPr>
        <p:spPr>
          <a:xfrm>
            <a:off x="5320126" y="1788120"/>
            <a:ext cx="1218960" cy="685440"/>
          </a:xfrm>
          <a:prstGeom prst="roundRect">
            <a:avLst>
              <a:gd name="adj" fmla="val 16667"/>
            </a:avLst>
          </a:prstGeom>
          <a:ln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rPr>
              <a:t>Design</a:t>
            </a:r>
            <a:endParaRPr kumimoji="0" lang="en-US" sz="24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247" name="CustomShape 5">
            <a:extLst>
              <a:ext uri="{FF2B5EF4-FFF2-40B4-BE49-F238E27FC236}">
                <a16:creationId xmlns:a16="http://schemas.microsoft.com/office/drawing/2014/main" id="{D9AD5F1C-A176-F23C-E51F-4EAE4D886A0C}"/>
              </a:ext>
            </a:extLst>
          </p:cNvPr>
          <p:cNvSpPr/>
          <p:nvPr/>
        </p:nvSpPr>
        <p:spPr>
          <a:xfrm>
            <a:off x="8738326" y="1791360"/>
            <a:ext cx="1460880" cy="685440"/>
          </a:xfrm>
          <a:prstGeom prst="roundRect">
            <a:avLst>
              <a:gd name="adj" fmla="val 16667"/>
            </a:avLst>
          </a:prstGeom>
          <a:ln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rPr>
              <a:t>Evaluate</a:t>
            </a:r>
            <a:endParaRPr kumimoji="0" lang="en-US" sz="24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248" name="CustomShape 6">
            <a:extLst>
              <a:ext uri="{FF2B5EF4-FFF2-40B4-BE49-F238E27FC236}">
                <a16:creationId xmlns:a16="http://schemas.microsoft.com/office/drawing/2014/main" id="{CE01E419-1308-2C42-6F17-544AADEA51A5}"/>
              </a:ext>
            </a:extLst>
          </p:cNvPr>
          <p:cNvSpPr/>
          <p:nvPr/>
        </p:nvSpPr>
        <p:spPr>
          <a:xfrm flipV="1">
            <a:off x="3653326" y="2130840"/>
            <a:ext cx="1196640" cy="108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240">
            <a:solidFill>
              <a:srgbClr val="00B050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249" name="CustomShape 7">
            <a:extLst>
              <a:ext uri="{FF2B5EF4-FFF2-40B4-BE49-F238E27FC236}">
                <a16:creationId xmlns:a16="http://schemas.microsoft.com/office/drawing/2014/main" id="{EE86654E-891A-3B60-4839-E13BFA0FC0FB}"/>
              </a:ext>
            </a:extLst>
          </p:cNvPr>
          <p:cNvSpPr/>
          <p:nvPr/>
        </p:nvSpPr>
        <p:spPr>
          <a:xfrm flipV="1">
            <a:off x="7146046" y="2126520"/>
            <a:ext cx="1196640" cy="108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240">
            <a:solidFill>
              <a:srgbClr val="00B050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237F246C-D49F-4DE8-F0CE-C97E6455CD2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2889" y="2780928"/>
                <a:ext cx="4097077" cy="2812087"/>
              </a:xfrm>
              <a:prstGeom prst="rect">
                <a:avLst/>
              </a:prstGeom>
            </p:spPr>
            <p:txBody>
              <a:bodyPr wrap="square" anchor="t">
                <a:noAutofit/>
              </a:bodyPr>
              <a:lstStyle>
                <a:lvl1pPr marL="198000" indent="-197640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Clr>
                    <a:srgbClr val="000000"/>
                  </a:buClr>
                  <a:buFont typeface="Symbol" charset="2"/>
                  <a:buChar char="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Aft>
                    <a:spcPts val="0"/>
                  </a:spcAft>
                </a:pPr>
                <a:r>
                  <a:rPr lang="en-US" sz="2400" dirty="0"/>
                  <a:t>Stages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sz="2400" dirty="0"/>
              </a:p>
              <a:p>
                <a:pPr fontAlgn="auto">
                  <a:spcAft>
                    <a:spcPts val="0"/>
                  </a:spcAft>
                </a:pPr>
                <a:r>
                  <a:rPr lang="en-US" sz="2400" dirty="0"/>
                  <a:t>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, …</m:t>
                        </m:r>
                      </m:e>
                    </m:d>
                  </m:oMath>
                </a14:m>
                <a:endParaRPr lang="en-US" sz="2400" dirty="0"/>
              </a:p>
              <a:p>
                <a:pPr fontAlgn="auto">
                  <a:spcAft>
                    <a:spcPts val="0"/>
                  </a:spcAft>
                </a:pPr>
                <a:r>
                  <a:rPr lang="en-US" sz="2400" dirty="0"/>
                  <a:t>Decision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…</m:t>
                        </m:r>
                      </m:e>
                    </m:d>
                  </m:oMath>
                </a14:m>
                <a:endParaRPr lang="en-US" sz="2400" dirty="0"/>
              </a:p>
              <a:p>
                <a:pPr fontAlgn="auto">
                  <a:spcAft>
                    <a:spcPts val="0"/>
                  </a:spcAft>
                </a:pPr>
                <a:r>
                  <a:rPr lang="en-US" sz="2400" dirty="0"/>
                  <a:t>Dynamics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sz="2400" dirty="0"/>
              </a:p>
              <a:p>
                <a:pPr fontAlgn="auto">
                  <a:spcAft>
                    <a:spcPts val="0"/>
                  </a:spcAft>
                </a:pPr>
                <a:r>
                  <a:rPr lang="en-US" sz="2400" dirty="0"/>
                  <a:t>Cost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237F246C-D49F-4DE8-F0CE-C97E6455CD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889" y="2780928"/>
                <a:ext cx="4097077" cy="2812087"/>
              </a:xfrm>
              <a:prstGeom prst="rect">
                <a:avLst/>
              </a:prstGeom>
              <a:blipFill>
                <a:blip r:embed="rId3"/>
                <a:stretch>
                  <a:fillRect l="-2381" t="-1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A92317B-D460-0D84-D08A-C4E39678B5AA}"/>
                  </a:ext>
                </a:extLst>
              </p:cNvPr>
              <p:cNvSpPr txBox="1"/>
              <p:nvPr/>
            </p:nvSpPr>
            <p:spPr>
              <a:xfrm>
                <a:off x="4931049" y="2815082"/>
                <a:ext cx="2546788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en-US" sz="2400" kern="0" dirty="0">
                    <a:latin typeface="+mn-lt"/>
                  </a:rPr>
                  <a:t>Policy </a:t>
                </a:r>
                <a14:m>
                  <m:oMath xmlns:m="http://schemas.openxmlformats.org/officeDocument/2006/math">
                    <m:r>
                      <a:rPr lang="el-GR" sz="2400" b="0" i="1" kern="0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l-GR" sz="2400" b="0" i="1" kern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l-GR" sz="2400" i="1" kern="0" dirty="0"/>
                  <a:t> </a:t>
                </a:r>
                <a:br>
                  <a:rPr lang="en-US" sz="2400" i="1" kern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kern="0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kern="0" dirty="0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sz="2400" b="0" i="1" kern="0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b="1" i="1" kern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2400" b="0" i="1" kern="0" dirty="0" smtClean="0"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l-GR" sz="2400" b="0" i="1" kern="0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1" i="1" kern="0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kern="0" dirty="0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400" b="0" i="1" kern="0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A92317B-D460-0D84-D08A-C4E39678B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1049" y="2815082"/>
                <a:ext cx="2546788" cy="830997"/>
              </a:xfrm>
              <a:prstGeom prst="rect">
                <a:avLst/>
              </a:prstGeom>
              <a:blipFill>
                <a:blip r:embed="rId4"/>
                <a:stretch>
                  <a:fillRect l="-3828" t="-5147" b="-1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FFF4C28-D214-6A61-3621-139D5A031923}"/>
                  </a:ext>
                </a:extLst>
              </p:cNvPr>
              <p:cNvSpPr txBox="1"/>
              <p:nvPr/>
            </p:nvSpPr>
            <p:spPr>
              <a:xfrm>
                <a:off x="8039422" y="2852936"/>
                <a:ext cx="3600400" cy="33891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sz="2400" b="0" kern="0" dirty="0">
                    <a:latin typeface="+mn-lt"/>
                  </a:rPr>
                  <a:t>Evaluate the “Value” of a policy, i.e. </a:t>
                </a:r>
                <a:r>
                  <a:rPr lang="en-US" sz="2400" kern="0" dirty="0">
                    <a:latin typeface="+mn-lt"/>
                  </a:rPr>
                  <a:t>the</a:t>
                </a:r>
                <a:r>
                  <a:rPr lang="en-US" sz="2400" b="0" kern="0" dirty="0">
                    <a:latin typeface="+mn-lt"/>
                  </a:rPr>
                  <a:t> expected cost when the policy is applied to the system: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kern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kern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l-GR" sz="2400" b="0" i="1" kern="0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r>
                        <a:rPr lang="el-GR" sz="2400" b="0" i="1" kern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i="1" ker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 ker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i="1" ker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ker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400" i="1" ker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 ker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400" i="1" ker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400" i="1" kern="0">
                                  <a:latin typeface="Cambria Math" panose="02040503050406030204" pitchFamily="18" charset="0"/>
                                </a:rPr>
                                <m:t>~</m:t>
                              </m:r>
                              <m:r>
                                <a:rPr lang="el-GR" sz="2400" i="1" ker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 ker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br>
                  <a:rPr lang="en-US" sz="2400" i="1" dirty="0">
                    <a:latin typeface="Cambria Math" panose="02040503050406030204" pitchFamily="18" charset="0"/>
                  </a:rPr>
                </a:br>
                <a:endParaRPr lang="el-GR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400" kern="0" dirty="0">
                    <a:latin typeface="+mn-lt"/>
                  </a:rPr>
                  <a:t>where</a:t>
                </a:r>
                <a14:m>
                  <m:oMath xmlns:m="http://schemas.openxmlformats.org/officeDocument/2006/math">
                    <m:r>
                      <a:rPr lang="en-US" sz="2400" b="1" i="1" kern="0" dirty="0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sz="2400" b="1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kern="0" dirty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sz="2400" i="1" kern="0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1" i="1" kern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sz="2400" i="1" kern="0" dirty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l-GR" sz="2400" i="1" kern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1" i="1" kern="0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kern="0" dirty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400" i="1" kern="0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240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br>
                  <a:rPr lang="en-US" sz="240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m:rPr>
                          <m:nor/>
                        </m:rPr>
                        <a:rPr lang="en-US" sz="2400" kern="0" dirty="0"/>
                        <m:t>, </m:t>
                      </m:r>
                      <m:r>
                        <a:rPr lang="en-US" sz="2400" b="0" i="1" kern="0" dirty="0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br>
                  <a:rPr lang="en-US" sz="2400" kern="0" dirty="0"/>
                </a:br>
                <a:endParaRPr lang="en-US" sz="2400" kern="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FFF4C28-D214-6A61-3621-139D5A0319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9422" y="2852936"/>
                <a:ext cx="3600400" cy="3389198"/>
              </a:xfrm>
              <a:prstGeom prst="rect">
                <a:avLst/>
              </a:prstGeom>
              <a:blipFill>
                <a:blip r:embed="rId5"/>
                <a:stretch>
                  <a:fillRect l="-2712" t="-1259" r="-3220" b="-19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88F94ED6-2F4F-9CF3-343B-6870E6762B2E}"/>
              </a:ext>
            </a:extLst>
          </p:cNvPr>
          <p:cNvSpPr txBox="1"/>
          <p:nvPr/>
        </p:nvSpPr>
        <p:spPr>
          <a:xfrm>
            <a:off x="2206774" y="1220971"/>
            <a:ext cx="753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+mn-lt"/>
              </a:rPr>
              <a:t>MDP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AE677D-5C5C-72F8-A219-57ECEB017129}"/>
              </a:ext>
            </a:extLst>
          </p:cNvPr>
          <p:cNvSpPr txBox="1"/>
          <p:nvPr/>
        </p:nvSpPr>
        <p:spPr>
          <a:xfrm>
            <a:off x="5455486" y="1220971"/>
            <a:ext cx="8508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+mn-lt"/>
              </a:rPr>
              <a:t>Agent</a:t>
            </a:r>
          </a:p>
        </p:txBody>
      </p:sp>
    </p:spTree>
    <p:extLst>
      <p:ext uri="{BB962C8B-B14F-4D97-AF65-F5344CB8AC3E}">
        <p14:creationId xmlns:p14="http://schemas.microsoft.com/office/powerpoint/2010/main" val="398091889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40C47-D033-6F41-E1E5-4E231D793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TextShape 1">
            <a:extLst>
              <a:ext uri="{FF2B5EF4-FFF2-40B4-BE49-F238E27FC236}">
                <a16:creationId xmlns:a16="http://schemas.microsoft.com/office/drawing/2014/main" id="{56770464-E124-619A-8DB4-ADE0A7A32AD0}"/>
              </a:ext>
            </a:extLst>
          </p:cNvPr>
          <p:cNvSpPr txBox="1"/>
          <p:nvPr/>
        </p:nvSpPr>
        <p:spPr>
          <a:xfrm>
            <a:off x="1818360" y="76320"/>
            <a:ext cx="8772166" cy="6746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pitchFamily="-80" charset="-128"/>
              </a:rPr>
              <a:t>Back to the Big Picture</a:t>
            </a:r>
            <a:endParaRPr kumimoji="0" lang="fr-FR" sz="30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 pitchFamily="-80" charset="-128"/>
            </a:endParaRPr>
          </a:p>
        </p:txBody>
      </p:sp>
      <p:sp>
        <p:nvSpPr>
          <p:cNvPr id="244" name="TextShape 2">
            <a:extLst>
              <a:ext uri="{FF2B5EF4-FFF2-40B4-BE49-F238E27FC236}">
                <a16:creationId xmlns:a16="http://schemas.microsoft.com/office/drawing/2014/main" id="{66BCE5F2-ED59-9E4A-5CF9-28CBF3C4D89B}"/>
              </a:ext>
            </a:extLst>
          </p:cNvPr>
          <p:cNvSpPr txBox="1"/>
          <p:nvPr/>
        </p:nvSpPr>
        <p:spPr>
          <a:xfrm>
            <a:off x="10154206" y="6541200"/>
            <a:ext cx="324000" cy="31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988310-29CA-4543-938F-4307B4B069BB}" type="slidenum">
              <a:rPr kumimoji="0" lang="en-US" sz="53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ＭＳ Ｐゴシック" pitchFamily="-80" charset="-128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53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ＭＳ Ｐゴシック" pitchFamily="-80" charset="-128"/>
            </a:endParaRPr>
          </a:p>
        </p:txBody>
      </p:sp>
      <p:sp>
        <p:nvSpPr>
          <p:cNvPr id="245" name="CustomShape 3">
            <a:extLst>
              <a:ext uri="{FF2B5EF4-FFF2-40B4-BE49-F238E27FC236}">
                <a16:creationId xmlns:a16="http://schemas.microsoft.com/office/drawing/2014/main" id="{B2233D5F-EBC4-97B6-88A1-8347C807E376}"/>
              </a:ext>
            </a:extLst>
          </p:cNvPr>
          <p:cNvSpPr/>
          <p:nvPr/>
        </p:nvSpPr>
        <p:spPr>
          <a:xfrm>
            <a:off x="2101366" y="1789200"/>
            <a:ext cx="1154880" cy="685440"/>
          </a:xfrm>
          <a:prstGeom prst="roundRect">
            <a:avLst>
              <a:gd name="adj" fmla="val 16667"/>
            </a:avLst>
          </a:prstGeom>
          <a:ln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rPr>
              <a:t>Define</a:t>
            </a:r>
            <a:endParaRPr kumimoji="0" lang="en-US" sz="24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246" name="CustomShape 4">
            <a:extLst>
              <a:ext uri="{FF2B5EF4-FFF2-40B4-BE49-F238E27FC236}">
                <a16:creationId xmlns:a16="http://schemas.microsoft.com/office/drawing/2014/main" id="{21EB4174-A729-B01D-E43E-EF5179F01E5E}"/>
              </a:ext>
            </a:extLst>
          </p:cNvPr>
          <p:cNvSpPr/>
          <p:nvPr/>
        </p:nvSpPr>
        <p:spPr>
          <a:xfrm>
            <a:off x="5320126" y="1788120"/>
            <a:ext cx="1218960" cy="685440"/>
          </a:xfrm>
          <a:prstGeom prst="roundRect">
            <a:avLst>
              <a:gd name="adj" fmla="val 16667"/>
            </a:avLst>
          </a:prstGeom>
          <a:ln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rPr>
              <a:t>Design</a:t>
            </a:r>
            <a:endParaRPr kumimoji="0" lang="en-US" sz="24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247" name="CustomShape 5">
            <a:extLst>
              <a:ext uri="{FF2B5EF4-FFF2-40B4-BE49-F238E27FC236}">
                <a16:creationId xmlns:a16="http://schemas.microsoft.com/office/drawing/2014/main" id="{C8815074-6BC8-906F-307D-A73A43DDE3F0}"/>
              </a:ext>
            </a:extLst>
          </p:cNvPr>
          <p:cNvSpPr/>
          <p:nvPr/>
        </p:nvSpPr>
        <p:spPr>
          <a:xfrm>
            <a:off x="8738326" y="1791360"/>
            <a:ext cx="1460880" cy="685440"/>
          </a:xfrm>
          <a:prstGeom prst="roundRect">
            <a:avLst>
              <a:gd name="adj" fmla="val 16667"/>
            </a:avLst>
          </a:prstGeom>
          <a:ln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rPr>
              <a:t>Evaluate</a:t>
            </a:r>
            <a:endParaRPr kumimoji="0" lang="en-US" sz="24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248" name="CustomShape 6">
            <a:extLst>
              <a:ext uri="{FF2B5EF4-FFF2-40B4-BE49-F238E27FC236}">
                <a16:creationId xmlns:a16="http://schemas.microsoft.com/office/drawing/2014/main" id="{075D7B0E-14F9-5AFA-CF43-63E87BBBFDD8}"/>
              </a:ext>
            </a:extLst>
          </p:cNvPr>
          <p:cNvSpPr/>
          <p:nvPr/>
        </p:nvSpPr>
        <p:spPr>
          <a:xfrm flipV="1">
            <a:off x="3653326" y="2130840"/>
            <a:ext cx="1196640" cy="108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240">
            <a:solidFill>
              <a:srgbClr val="00B050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249" name="CustomShape 7">
            <a:extLst>
              <a:ext uri="{FF2B5EF4-FFF2-40B4-BE49-F238E27FC236}">
                <a16:creationId xmlns:a16="http://schemas.microsoft.com/office/drawing/2014/main" id="{75FE3A24-73C4-C7F7-2388-8B3088AF1CD2}"/>
              </a:ext>
            </a:extLst>
          </p:cNvPr>
          <p:cNvSpPr/>
          <p:nvPr/>
        </p:nvSpPr>
        <p:spPr>
          <a:xfrm flipV="1">
            <a:off x="7146046" y="2126520"/>
            <a:ext cx="1196640" cy="108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240">
            <a:solidFill>
              <a:srgbClr val="00B050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75ABF254-A2B2-21AC-5C7C-7DF6FCBEAE8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2889" y="2780928"/>
                <a:ext cx="4097077" cy="2812087"/>
              </a:xfrm>
              <a:prstGeom prst="rect">
                <a:avLst/>
              </a:prstGeom>
            </p:spPr>
            <p:txBody>
              <a:bodyPr wrap="square" anchor="t">
                <a:noAutofit/>
              </a:bodyPr>
              <a:lstStyle>
                <a:lvl1pPr marL="198000" indent="-197640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Clr>
                    <a:srgbClr val="000000"/>
                  </a:buClr>
                  <a:buFont typeface="Symbol" charset="2"/>
                  <a:buChar char="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Aft>
                    <a:spcPts val="0"/>
                  </a:spcAft>
                </a:pPr>
                <a:r>
                  <a:rPr lang="en-US" sz="2400" dirty="0"/>
                  <a:t>Stages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sz="2400" dirty="0"/>
              </a:p>
              <a:p>
                <a:pPr fontAlgn="auto">
                  <a:spcAft>
                    <a:spcPts val="0"/>
                  </a:spcAft>
                </a:pPr>
                <a:r>
                  <a:rPr lang="en-US" sz="2400" dirty="0"/>
                  <a:t>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, …</m:t>
                        </m:r>
                      </m:e>
                    </m:d>
                  </m:oMath>
                </a14:m>
                <a:endParaRPr lang="en-US" sz="2400" dirty="0"/>
              </a:p>
              <a:p>
                <a:pPr fontAlgn="auto">
                  <a:spcAft>
                    <a:spcPts val="0"/>
                  </a:spcAft>
                </a:pPr>
                <a:r>
                  <a:rPr lang="en-US" sz="2400" dirty="0"/>
                  <a:t>Decision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…</m:t>
                        </m:r>
                      </m:e>
                    </m:d>
                  </m:oMath>
                </a14:m>
                <a:endParaRPr lang="en-US" sz="2400" dirty="0"/>
              </a:p>
              <a:p>
                <a:pPr fontAlgn="auto">
                  <a:spcAft>
                    <a:spcPts val="0"/>
                  </a:spcAft>
                </a:pPr>
                <a:r>
                  <a:rPr lang="en-US" sz="2400" dirty="0"/>
                  <a:t>Dynamics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sz="2400" dirty="0"/>
              </a:p>
              <a:p>
                <a:pPr fontAlgn="auto">
                  <a:spcAft>
                    <a:spcPts val="0"/>
                  </a:spcAft>
                </a:pPr>
                <a:r>
                  <a:rPr lang="en-US" sz="2400" dirty="0"/>
                  <a:t>Cost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75ABF254-A2B2-21AC-5C7C-7DF6FCBEA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889" y="2780928"/>
                <a:ext cx="4097077" cy="2812087"/>
              </a:xfrm>
              <a:prstGeom prst="rect">
                <a:avLst/>
              </a:prstGeom>
              <a:blipFill>
                <a:blip r:embed="rId3"/>
                <a:stretch>
                  <a:fillRect l="-2381" t="-1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D042C9F-ECDA-EE9C-1DBA-710781482E2D}"/>
                  </a:ext>
                </a:extLst>
              </p:cNvPr>
              <p:cNvSpPr txBox="1"/>
              <p:nvPr/>
            </p:nvSpPr>
            <p:spPr>
              <a:xfrm>
                <a:off x="4931049" y="2815082"/>
                <a:ext cx="2546788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en-US" sz="2400" kern="0" dirty="0">
                    <a:latin typeface="+mn-lt"/>
                  </a:rPr>
                  <a:t>Policy </a:t>
                </a:r>
                <a14:m>
                  <m:oMath xmlns:m="http://schemas.openxmlformats.org/officeDocument/2006/math">
                    <m:r>
                      <a:rPr lang="el-GR" sz="2400" b="0" i="1" kern="0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l-GR" sz="2400" b="0" i="1" kern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l-GR" sz="2400" i="1" kern="0" dirty="0"/>
                  <a:t> </a:t>
                </a:r>
                <a:br>
                  <a:rPr lang="en-US" sz="2400" i="1" kern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kern="0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kern="0" dirty="0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sz="2400" b="0" i="1" kern="0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b="1" i="1" kern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2400" b="0" i="1" kern="0" dirty="0" smtClean="0"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l-GR" sz="2400" b="0" i="1" kern="0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1" i="1" kern="0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kern="0" dirty="0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400" b="0" i="1" kern="0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D042C9F-ECDA-EE9C-1DBA-710781482E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1049" y="2815082"/>
                <a:ext cx="2546788" cy="830997"/>
              </a:xfrm>
              <a:prstGeom prst="rect">
                <a:avLst/>
              </a:prstGeom>
              <a:blipFill>
                <a:blip r:embed="rId4"/>
                <a:stretch>
                  <a:fillRect l="-3828" t="-5147" b="-1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F44F6CD-7672-86E0-8815-8EBB95BE3AC4}"/>
                  </a:ext>
                </a:extLst>
              </p:cNvPr>
              <p:cNvSpPr txBox="1"/>
              <p:nvPr/>
            </p:nvSpPr>
            <p:spPr>
              <a:xfrm>
                <a:off x="8039422" y="2852936"/>
                <a:ext cx="3600400" cy="33891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sz="2400" b="0" kern="0" dirty="0">
                    <a:latin typeface="+mn-lt"/>
                  </a:rPr>
                  <a:t>Evaluate the “Value” of a policy, i.e. </a:t>
                </a:r>
                <a:r>
                  <a:rPr lang="en-US" sz="2400" kern="0" dirty="0">
                    <a:latin typeface="+mn-lt"/>
                  </a:rPr>
                  <a:t>the</a:t>
                </a:r>
                <a:r>
                  <a:rPr lang="en-US" sz="2400" b="0" kern="0" dirty="0">
                    <a:latin typeface="+mn-lt"/>
                  </a:rPr>
                  <a:t> expected cost when the policy is applied to the system: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kern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kern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l-GR" sz="2400" b="0" i="1" kern="0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r>
                        <a:rPr lang="el-GR" sz="2400" b="0" i="1" kern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i="1" ker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 ker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i="1" ker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ker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400" i="1" ker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 ker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400" i="1" ker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400" i="1" kern="0">
                                  <a:latin typeface="Cambria Math" panose="02040503050406030204" pitchFamily="18" charset="0"/>
                                </a:rPr>
                                <m:t>~</m:t>
                              </m:r>
                              <m:r>
                                <a:rPr lang="el-GR" sz="2400" i="1" ker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 ker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br>
                  <a:rPr lang="en-US" sz="2400" i="1" dirty="0">
                    <a:latin typeface="Cambria Math" panose="02040503050406030204" pitchFamily="18" charset="0"/>
                  </a:rPr>
                </a:br>
                <a:endParaRPr lang="el-GR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400" kern="0" dirty="0">
                    <a:latin typeface="+mn-lt"/>
                  </a:rPr>
                  <a:t>where</a:t>
                </a:r>
                <a14:m>
                  <m:oMath xmlns:m="http://schemas.openxmlformats.org/officeDocument/2006/math">
                    <m:r>
                      <a:rPr lang="en-US" sz="2400" b="1" i="1" kern="0" dirty="0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sz="2400" b="1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kern="0" dirty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sz="2400" i="1" kern="0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1" i="1" kern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sz="2400" i="1" kern="0" dirty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l-GR" sz="2400" i="1" kern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1" i="1" kern="0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kern="0" dirty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400" i="1" kern="0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240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br>
                  <a:rPr lang="en-US" sz="240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m:rPr>
                          <m:nor/>
                        </m:rPr>
                        <a:rPr lang="en-US" sz="2400" kern="0" dirty="0"/>
                        <m:t>, </m:t>
                      </m:r>
                      <m:r>
                        <a:rPr lang="en-US" sz="2400" b="0" i="1" kern="0" dirty="0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br>
                  <a:rPr lang="en-US" sz="2400" kern="0" dirty="0"/>
                </a:br>
                <a:endParaRPr lang="en-US" sz="2400" kern="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F44F6CD-7672-86E0-8815-8EBB95BE3A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9422" y="2852936"/>
                <a:ext cx="3600400" cy="3389198"/>
              </a:xfrm>
              <a:prstGeom prst="rect">
                <a:avLst/>
              </a:prstGeom>
              <a:blipFill>
                <a:blip r:embed="rId5"/>
                <a:stretch>
                  <a:fillRect l="-2712" t="-1259" r="-3220" b="-19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B07E9955-0FFD-3143-0247-12E187B73180}"/>
              </a:ext>
            </a:extLst>
          </p:cNvPr>
          <p:cNvSpPr txBox="1"/>
          <p:nvPr/>
        </p:nvSpPr>
        <p:spPr>
          <a:xfrm>
            <a:off x="2206774" y="1220971"/>
            <a:ext cx="753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+mn-lt"/>
              </a:rPr>
              <a:t>MDP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87FB2A-B724-5156-745D-378CAB402795}"/>
              </a:ext>
            </a:extLst>
          </p:cNvPr>
          <p:cNvSpPr txBox="1"/>
          <p:nvPr/>
        </p:nvSpPr>
        <p:spPr>
          <a:xfrm>
            <a:off x="5455486" y="1220971"/>
            <a:ext cx="8508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+mn-lt"/>
              </a:rPr>
              <a:t>Agent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850A75-9713-AB9B-BA8C-F2F2452DCF07}"/>
              </a:ext>
            </a:extLst>
          </p:cNvPr>
          <p:cNvSpPr txBox="1"/>
          <p:nvPr/>
        </p:nvSpPr>
        <p:spPr>
          <a:xfrm>
            <a:off x="8687494" y="1226475"/>
            <a:ext cx="17407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+mn-lt"/>
              </a:rPr>
              <a:t>Environment</a:t>
            </a:r>
          </a:p>
        </p:txBody>
      </p:sp>
    </p:spTree>
    <p:extLst>
      <p:ext uri="{BB962C8B-B14F-4D97-AF65-F5344CB8AC3E}">
        <p14:creationId xmlns:p14="http://schemas.microsoft.com/office/powerpoint/2010/main" val="226761923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F6789-2F07-945C-DB47-CDE6642DC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EE99BE-A303-57D5-5654-915BDEF3C14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09711" y="2132856"/>
            <a:ext cx="4140137" cy="2315395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D24DFC9F-836B-CF19-C396-AC3C814AC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6654" y="205970"/>
            <a:ext cx="9312374" cy="589241"/>
          </a:xfrm>
        </p:spPr>
        <p:txBody>
          <a:bodyPr wrap="square" anchor="b">
            <a:normAutofit/>
          </a:bodyPr>
          <a:lstStyle/>
          <a:p>
            <a:r>
              <a:rPr lang="en-GB" dirty="0"/>
              <a:t>Agent vs Environment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DCB081-ADE4-B312-12B1-7F17965403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450" y="6541200"/>
            <a:ext cx="432600" cy="316800"/>
          </a:xfrm>
        </p:spPr>
        <p:txBody>
          <a:bodyPr anchor="ctr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3EA872-A674-449B-A120-B97244F8E91D}" type="slidenum">
              <a:rPr kumimoji="0" lang="en-GB" sz="7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ＭＳ Ｐゴシック" pitchFamily="-80" charset="-128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GB" sz="7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ＭＳ Ｐゴシック" pitchFamily="-80" charset="-128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8D4513D-E30A-4A67-2850-D452495A4426}"/>
                  </a:ext>
                </a:extLst>
              </p:cNvPr>
              <p:cNvSpPr txBox="1"/>
              <p:nvPr/>
            </p:nvSpPr>
            <p:spPr>
              <a:xfrm>
                <a:off x="1558702" y="1102452"/>
                <a:ext cx="7321502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800" kern="0" dirty="0"/>
                  <a:t>The agent implements a policy</a:t>
                </a:r>
                <a:r>
                  <a:rPr lang="en-US" sz="1800" i="1" kern="0" dirty="0"/>
                  <a:t> </a:t>
                </a:r>
                <a14:m>
                  <m:oMath xmlns:m="http://schemas.openxmlformats.org/officeDocument/2006/math">
                    <m:r>
                      <a:rPr lang="el-GR" sz="1800" b="0" i="1" kern="0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l-GR" sz="1800" b="0" i="1" kern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l-GR" sz="1800" i="1" kern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kern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kern="0" dirty="0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sz="1800" b="0" i="1" kern="0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00" b="1" i="1" kern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sz="1800" b="0" i="1" kern="0" dirty="0" smtClea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l-GR" sz="1800" b="0" i="1" kern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1" i="1" kern="0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 kern="0" dirty="0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800" b="0" i="1" kern="0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br>
                  <a:rPr lang="en-US" sz="1800" dirty="0"/>
                </a:br>
                <a:r>
                  <a:rPr lang="en-US" sz="1800" dirty="0"/>
                  <a:t>i.e. receives the state as input and provides the action/decision as output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8D4513D-E30A-4A67-2850-D452495A44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8702" y="1102452"/>
                <a:ext cx="7321502" cy="923330"/>
              </a:xfrm>
              <a:prstGeom prst="rect">
                <a:avLst/>
              </a:prstGeom>
              <a:blipFill>
                <a:blip r:embed="rId5"/>
                <a:stretch>
                  <a:fillRect t="-3974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13760E8-089E-CC0B-E7E3-7CE8BAF5E549}"/>
              </a:ext>
            </a:extLst>
          </p:cNvPr>
          <p:cNvSpPr txBox="1"/>
          <p:nvPr/>
        </p:nvSpPr>
        <p:spPr>
          <a:xfrm>
            <a:off x="1558702" y="4653136"/>
            <a:ext cx="73215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kern="0" dirty="0"/>
              <a:t>The environment is a simulator of the real system</a:t>
            </a:r>
            <a:br>
              <a:rPr lang="en-US" sz="1800" kern="0" dirty="0"/>
            </a:br>
            <a:r>
              <a:rPr lang="en-US" sz="1800" dirty="0"/>
              <a:t>i.e. the agent’s action is applied to it (input) and it returns the next state and the reward (output).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59209590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7DF85-C2D7-AF8E-C8CE-128987745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8F1E908-F52F-7E72-378D-5C27C4D56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6654" y="205970"/>
            <a:ext cx="9312374" cy="589241"/>
          </a:xfrm>
        </p:spPr>
        <p:txBody>
          <a:bodyPr wrap="square" anchor="b">
            <a:normAutofit/>
          </a:bodyPr>
          <a:lstStyle/>
          <a:p>
            <a:r>
              <a:rPr lang="en-GB" dirty="0"/>
              <a:t>Agent vs Environment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149F7B-3DC5-029C-1347-B59ED54285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450" y="6541200"/>
            <a:ext cx="432600" cy="316800"/>
          </a:xfrm>
        </p:spPr>
        <p:txBody>
          <a:bodyPr anchor="ctr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3EA872-A674-449B-A120-B97244F8E91D}" type="slidenum">
              <a:rPr kumimoji="0" lang="en-GB" sz="7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ＭＳ Ｐゴシック" pitchFamily="-80" charset="-128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GB" sz="7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ＭＳ Ｐゴシック" pitchFamily="-80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2368165-40DA-1C75-96E7-4DE3B57DC0DD}"/>
                  </a:ext>
                </a:extLst>
              </p:cNvPr>
              <p:cNvSpPr txBox="1"/>
              <p:nvPr/>
            </p:nvSpPr>
            <p:spPr>
              <a:xfrm>
                <a:off x="1558702" y="1102452"/>
                <a:ext cx="7321502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800" kern="0" dirty="0"/>
                  <a:t>The agent implements a policy</a:t>
                </a:r>
                <a:r>
                  <a:rPr lang="en-US" sz="1800" i="1" kern="0" dirty="0"/>
                  <a:t> </a:t>
                </a:r>
                <a14:m>
                  <m:oMath xmlns:m="http://schemas.openxmlformats.org/officeDocument/2006/math">
                    <m:r>
                      <a:rPr lang="el-GR" sz="1800" b="0" i="1" kern="0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l-GR" sz="1800" b="0" i="1" kern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l-GR" sz="1800" i="1" kern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kern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kern="0" dirty="0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sz="1800" b="0" i="1" kern="0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00" b="1" i="1" kern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sz="1800" b="0" i="1" kern="0" dirty="0" smtClea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l-GR" sz="1800" b="0" i="1" kern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1" i="1" kern="0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 kern="0" dirty="0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800" b="0" i="1" kern="0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br>
                  <a:rPr lang="en-US" sz="1800" dirty="0"/>
                </a:br>
                <a:r>
                  <a:rPr lang="en-US" sz="1800" dirty="0"/>
                  <a:t>i.e. receives the state as input and provides the action/decision as output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2368165-40DA-1C75-96E7-4DE3B57DC0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8702" y="1102452"/>
                <a:ext cx="7321502" cy="923330"/>
              </a:xfrm>
              <a:prstGeom prst="rect">
                <a:avLst/>
              </a:prstGeom>
              <a:blipFill>
                <a:blip r:embed="rId5"/>
                <a:stretch>
                  <a:fillRect t="-3974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A06B10ED-AA9F-1C3B-02C3-02F288D00D1F}"/>
              </a:ext>
            </a:extLst>
          </p:cNvPr>
          <p:cNvSpPr txBox="1"/>
          <p:nvPr/>
        </p:nvSpPr>
        <p:spPr>
          <a:xfrm>
            <a:off x="1558702" y="4653136"/>
            <a:ext cx="73215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kern="0" dirty="0"/>
              <a:t>The environment is a simulator of the real system</a:t>
            </a:r>
            <a:br>
              <a:rPr lang="en-US" sz="1800" kern="0" dirty="0"/>
            </a:br>
            <a:r>
              <a:rPr lang="en-US" sz="1800" dirty="0"/>
              <a:t>i.e. the agent’s action is applied to it (input) and it returns the next state and the reward (output).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CD145A-6D06-BF20-9123-EA7F9A0F01C8}"/>
              </a:ext>
            </a:extLst>
          </p:cNvPr>
          <p:cNvSpPr txBox="1"/>
          <p:nvPr/>
        </p:nvSpPr>
        <p:spPr>
          <a:xfrm>
            <a:off x="7679382" y="2420888"/>
            <a:ext cx="415315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kern="0" dirty="0"/>
              <a:t>The agent may internally </a:t>
            </a:r>
            <a:r>
              <a:rPr lang="en-US" sz="1800" i="1" kern="0" dirty="0"/>
              <a:t>model</a:t>
            </a:r>
            <a:r>
              <a:rPr lang="en-US" sz="1800" kern="0" dirty="0"/>
              <a:t> the environment (namely, the state dynamics) to account for the future. But it does not have perfect foresight over the future.</a:t>
            </a:r>
            <a:endParaRPr lang="en-US" sz="18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8856731-56B9-FE8D-2937-57C675694F7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09711" y="2132856"/>
            <a:ext cx="4140137" cy="2315395"/>
          </a:xfrm>
          <a:prstGeom prst="rect">
            <a:avLst/>
          </a:prstGeom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66106528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73AF8-9054-D751-8AC5-B53CF6B37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7161DDB-1200-9DB3-6A84-10363A5972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6590" y="3018646"/>
            <a:ext cx="4137245" cy="2315395"/>
          </a:xfrm>
          <a:prstGeom prst="rect">
            <a:avLst/>
          </a:prstGeom>
        </p:spPr>
      </p:pic>
      <p:sp>
        <p:nvSpPr>
          <p:cNvPr id="277" name="TextShape 1">
            <a:extLst>
              <a:ext uri="{FF2B5EF4-FFF2-40B4-BE49-F238E27FC236}">
                <a16:creationId xmlns:a16="http://schemas.microsoft.com/office/drawing/2014/main" id="{D542B136-E585-D6B1-AB61-81BDDE029973}"/>
              </a:ext>
            </a:extLst>
          </p:cNvPr>
          <p:cNvSpPr txBox="1"/>
          <p:nvPr/>
        </p:nvSpPr>
        <p:spPr>
          <a:xfrm>
            <a:off x="3790950" y="176376"/>
            <a:ext cx="8399462" cy="58832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fr-FR" sz="3000" b="1" i="1" spc="-1" dirty="0">
                <a:solidFill>
                  <a:srgbClr val="000000"/>
                </a:solidFill>
                <a:latin typeface="Arial"/>
              </a:rPr>
              <a:t>The</a:t>
            </a:r>
            <a:r>
              <a:rPr lang="en-US" sz="3000" b="1" i="1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sz="3000" b="1" i="1" spc="-1" dirty="0" err="1">
                <a:solidFill>
                  <a:srgbClr val="000000"/>
                </a:solidFill>
                <a:latin typeface="Arial"/>
              </a:rPr>
              <a:t>student’s</a:t>
            </a:r>
            <a:r>
              <a:rPr lang="fr-FR" sz="3000" b="1" i="1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sz="3000" b="1" spc="-1" dirty="0" err="1">
                <a:solidFill>
                  <a:srgbClr val="000000"/>
                </a:solidFill>
                <a:latin typeface="Arial"/>
              </a:rPr>
              <a:t>problem</a:t>
            </a:r>
            <a:endParaRPr lang="fr-FR" sz="3000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C0FC87C-F8E7-4391-0289-C3E356CAD88A}"/>
              </a:ext>
            </a:extLst>
          </p:cNvPr>
          <p:cNvCxnSpPr/>
          <p:nvPr/>
        </p:nvCxnSpPr>
        <p:spPr>
          <a:xfrm>
            <a:off x="5748772" y="1037720"/>
            <a:ext cx="0" cy="518010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9FB7D0C-68C2-A667-3CB6-BA4B1E8BDA8C}"/>
                  </a:ext>
                </a:extLst>
              </p:cNvPr>
              <p:cNvSpPr txBox="1"/>
              <p:nvPr/>
            </p:nvSpPr>
            <p:spPr>
              <a:xfrm>
                <a:off x="6090964" y="1037720"/>
                <a:ext cx="6340925" cy="30469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sz="24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Cost:	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pc="-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c</m:t>
                    </m:r>
                    <m:d>
                      <m:dPr>
                        <m:ctrlP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2400" b="0" i="1" spc="-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 spc="-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i="1" spc="-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sSub>
                      <m:sSubPr>
                        <m:ctrlP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kumimoji="0" lang="en-US" sz="2400" b="0" i="1" u="none" strike="noStrike" kern="120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Actions: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={</m:t>
                        </m:r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1" spc="-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endParaRPr kumimoji="0" lang="en-US" sz="24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States: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0" spc="-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sz="2400" spc="-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2400" spc="-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Transition</a:t>
                </a:r>
                <a:b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</a:br>
                <a: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Dynamics:	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9FB7D0C-68C2-A667-3CB6-BA4B1E8BDA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0964" y="1037720"/>
                <a:ext cx="6340925" cy="3046988"/>
              </a:xfrm>
              <a:prstGeom prst="rect">
                <a:avLst/>
              </a:prstGeom>
              <a:blipFill>
                <a:blip r:embed="rId3"/>
                <a:stretch>
                  <a:fillRect l="-1442" t="-1600" b="-3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AB5BEEE-6BEC-91B6-05D1-403488D007EE}"/>
                  </a:ext>
                </a:extLst>
              </p:cNvPr>
              <p:cNvSpPr txBox="1"/>
              <p:nvPr/>
            </p:nvSpPr>
            <p:spPr>
              <a:xfrm>
                <a:off x="8873593" y="3084137"/>
                <a:ext cx="3384376" cy="11629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pc="-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lit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Hours</m:t>
                          </m:r>
                        </m:den>
                      </m:f>
                    </m:oMath>
                  </m:oMathPara>
                </a14:m>
                <a:endParaRPr lang="en-US" sz="2400" i="1" spc="-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pc="-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2400" b="0" i="1" spc="-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⋅| </m:t>
                          </m:r>
                          <m:sSub>
                            <m:sSubPr>
                              <m:ctrlPr>
                                <a:rPr lang="en-US" sz="2400" b="0" i="1" spc="-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2400" b="0" i="1" spc="-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n-US" sz="2400" b="0" i="1" spc="-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AB5BEEE-6BEC-91B6-05D1-403488D007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3593" y="3084137"/>
                <a:ext cx="3384376" cy="1162947"/>
              </a:xfrm>
              <a:prstGeom prst="rect">
                <a:avLst/>
              </a:prstGeom>
              <a:blipFill>
                <a:blip r:embed="rId4"/>
                <a:stretch>
                  <a:fillRect l="-1622" b="-73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247069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0DB60-6916-2C34-3F2A-F7AD817C5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22709B-EE49-58CF-F5E5-E1915CDEC7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2404" y="3089386"/>
            <a:ext cx="4137245" cy="2315395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66D49B7-74EC-5808-E8DC-1B6E937CB29C}"/>
              </a:ext>
            </a:extLst>
          </p:cNvPr>
          <p:cNvSpPr/>
          <p:nvPr/>
        </p:nvSpPr>
        <p:spPr>
          <a:xfrm>
            <a:off x="8699673" y="2420888"/>
            <a:ext cx="2004046" cy="707566"/>
          </a:xfrm>
          <a:prstGeom prst="roundRect">
            <a:avLst/>
          </a:prstGeom>
          <a:solidFill>
            <a:srgbClr val="FFFF4B">
              <a:alpha val="76863"/>
            </a:srgbClr>
          </a:solidFill>
          <a:ln>
            <a:solidFill>
              <a:srgbClr val="0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06BC09-3CC5-64AC-884C-26B0FC814767}"/>
              </a:ext>
            </a:extLst>
          </p:cNvPr>
          <p:cNvSpPr/>
          <p:nvPr/>
        </p:nvSpPr>
        <p:spPr>
          <a:xfrm>
            <a:off x="7785" y="2773021"/>
            <a:ext cx="2236866" cy="355433"/>
          </a:xfrm>
          <a:prstGeom prst="roundRect">
            <a:avLst/>
          </a:prstGeom>
          <a:solidFill>
            <a:srgbClr val="FFFF4B">
              <a:alpha val="76863"/>
            </a:srgbClr>
          </a:solidFill>
          <a:ln>
            <a:solidFill>
              <a:srgbClr val="0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7" name="TextShape 1">
            <a:extLst>
              <a:ext uri="{FF2B5EF4-FFF2-40B4-BE49-F238E27FC236}">
                <a16:creationId xmlns:a16="http://schemas.microsoft.com/office/drawing/2014/main" id="{1E68BC52-A957-6BB6-0773-696FBD56C91A}"/>
              </a:ext>
            </a:extLst>
          </p:cNvPr>
          <p:cNvSpPr txBox="1"/>
          <p:nvPr/>
        </p:nvSpPr>
        <p:spPr>
          <a:xfrm>
            <a:off x="3790950" y="176376"/>
            <a:ext cx="8399462" cy="58832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fr-FR" sz="3000" b="1" i="1" spc="-1" dirty="0">
                <a:solidFill>
                  <a:srgbClr val="000000"/>
                </a:solidFill>
                <a:latin typeface="Arial"/>
              </a:rPr>
              <a:t>The</a:t>
            </a:r>
            <a:r>
              <a:rPr lang="en-US" sz="3000" b="1" i="1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sz="3000" b="1" i="1" spc="-1" dirty="0" err="1">
                <a:solidFill>
                  <a:srgbClr val="000000"/>
                </a:solidFill>
                <a:latin typeface="Arial"/>
              </a:rPr>
              <a:t>student’s</a:t>
            </a:r>
            <a:r>
              <a:rPr lang="fr-FR" sz="3000" b="1" i="1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sz="3000" b="1" spc="-1" dirty="0" err="1">
                <a:solidFill>
                  <a:srgbClr val="000000"/>
                </a:solidFill>
                <a:latin typeface="Arial"/>
              </a:rPr>
              <a:t>problem</a:t>
            </a:r>
            <a:endParaRPr lang="fr-FR" sz="30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Shape 3">
            <a:extLst>
              <a:ext uri="{FF2B5EF4-FFF2-40B4-BE49-F238E27FC236}">
                <a16:creationId xmlns:a16="http://schemas.microsoft.com/office/drawing/2014/main" id="{9BCEFC76-8FFE-884A-DEB9-97F3616DD6D1}"/>
              </a:ext>
            </a:extLst>
          </p:cNvPr>
          <p:cNvSpPr txBox="1"/>
          <p:nvPr/>
        </p:nvSpPr>
        <p:spPr>
          <a:xfrm>
            <a:off x="10154206" y="6541200"/>
            <a:ext cx="324000" cy="31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fld id="{2FB9A7C0-A375-4B14-A573-B65C749CF92E}" type="slidenum">
              <a:rPr lang="en-US" sz="530" b="1" spc="-1">
                <a:solidFill>
                  <a:srgbClr val="FFFFFF"/>
                </a:solidFill>
                <a:latin typeface="Arial"/>
              </a:rPr>
              <a:t>51</a:t>
            </a:fld>
            <a:endParaRPr lang="en-US" sz="530" spc="-1">
              <a:latin typeface="Times New Roman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383088-E44C-25AB-D051-BABFB74833F0}"/>
              </a:ext>
            </a:extLst>
          </p:cNvPr>
          <p:cNvSpPr txBox="1"/>
          <p:nvPr/>
        </p:nvSpPr>
        <p:spPr>
          <a:xfrm>
            <a:off x="-32400" y="2773021"/>
            <a:ext cx="27432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spc="-1" dirty="0">
                <a:solidFill>
                  <a:prstClr val="black"/>
                </a:solidFill>
                <a:latin typeface="Arial"/>
              </a:rPr>
              <a:t>You observe your state</a:t>
            </a:r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0984484-1DC0-84EA-433E-9F1E90426516}"/>
              </a:ext>
            </a:extLst>
          </p:cNvPr>
          <p:cNvCxnSpPr/>
          <p:nvPr/>
        </p:nvCxnSpPr>
        <p:spPr>
          <a:xfrm>
            <a:off x="5748772" y="1037720"/>
            <a:ext cx="0" cy="518010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32B6EA8-692E-5A8D-27F2-632286754BAB}"/>
                  </a:ext>
                </a:extLst>
              </p:cNvPr>
              <p:cNvSpPr txBox="1"/>
              <p:nvPr/>
            </p:nvSpPr>
            <p:spPr>
              <a:xfrm>
                <a:off x="6090964" y="1037720"/>
                <a:ext cx="6340925" cy="30469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sz="24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Cost:	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pc="-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c</m:t>
                    </m:r>
                    <m:d>
                      <m:dPr>
                        <m:ctrlP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2400" b="0" i="1" spc="-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 spc="-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i="1" spc="-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sSub>
                      <m:sSubPr>
                        <m:ctrlP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kumimoji="0" lang="en-US" sz="2400" b="0" i="1" u="none" strike="noStrike" kern="120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Actions: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={</m:t>
                        </m:r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1" spc="-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endParaRPr kumimoji="0" lang="en-US" sz="24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States: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0" spc="-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sz="2400" spc="-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2400" spc="-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Transition</a:t>
                </a:r>
                <a:b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</a:br>
                <a: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Dynamics:	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32B6EA8-692E-5A8D-27F2-632286754B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0964" y="1037720"/>
                <a:ext cx="6340925" cy="3046988"/>
              </a:xfrm>
              <a:prstGeom prst="rect">
                <a:avLst/>
              </a:prstGeom>
              <a:blipFill>
                <a:blip r:embed="rId3"/>
                <a:stretch>
                  <a:fillRect l="-1442" t="-1600" b="-3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0583100-1265-BB16-6712-D2440923AD52}"/>
                  </a:ext>
                </a:extLst>
              </p:cNvPr>
              <p:cNvSpPr txBox="1"/>
              <p:nvPr/>
            </p:nvSpPr>
            <p:spPr>
              <a:xfrm>
                <a:off x="8873593" y="3084137"/>
                <a:ext cx="3384376" cy="11629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pc="-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lit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Hours</m:t>
                          </m:r>
                        </m:den>
                      </m:f>
                    </m:oMath>
                  </m:oMathPara>
                </a14:m>
                <a:endParaRPr lang="en-US" sz="2400" i="1" spc="-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pc="-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2400" b="0" i="1" spc="-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⋅| </m:t>
                          </m:r>
                          <m:sSub>
                            <m:sSubPr>
                              <m:ctrlPr>
                                <a:rPr lang="en-US" sz="2400" b="0" i="1" spc="-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2400" b="0" i="1" spc="-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n-US" sz="2400" b="0" i="1" spc="-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0583100-1265-BB16-6712-D2440923AD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3593" y="3084137"/>
                <a:ext cx="3384376" cy="1162947"/>
              </a:xfrm>
              <a:prstGeom prst="rect">
                <a:avLst/>
              </a:prstGeom>
              <a:blipFill>
                <a:blip r:embed="rId4"/>
                <a:stretch>
                  <a:fillRect l="-1622" b="-73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228270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FA0BD-32A7-B813-38E5-D12C04399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75985CB-4F07-4D9B-7732-E43A1FC0867A}"/>
              </a:ext>
            </a:extLst>
          </p:cNvPr>
          <p:cNvSpPr/>
          <p:nvPr/>
        </p:nvSpPr>
        <p:spPr>
          <a:xfrm>
            <a:off x="8786716" y="899551"/>
            <a:ext cx="2853106" cy="729249"/>
          </a:xfrm>
          <a:prstGeom prst="roundRect">
            <a:avLst/>
          </a:prstGeom>
          <a:solidFill>
            <a:srgbClr val="FFFF4B">
              <a:alpha val="76863"/>
            </a:srgbClr>
          </a:solidFill>
          <a:ln>
            <a:solidFill>
              <a:srgbClr val="0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E745811-0390-3D18-4C83-DF88FA33B530}"/>
              </a:ext>
            </a:extLst>
          </p:cNvPr>
          <p:cNvSpPr/>
          <p:nvPr/>
        </p:nvSpPr>
        <p:spPr>
          <a:xfrm>
            <a:off x="8531401" y="3048056"/>
            <a:ext cx="3384353" cy="1309667"/>
          </a:xfrm>
          <a:prstGeom prst="roundRect">
            <a:avLst/>
          </a:prstGeom>
          <a:solidFill>
            <a:srgbClr val="FFFF4B">
              <a:alpha val="76863"/>
            </a:srgbClr>
          </a:solidFill>
          <a:ln>
            <a:solidFill>
              <a:srgbClr val="0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833069E-0659-1E2A-023C-E9AF6B09EF7E}"/>
              </a:ext>
            </a:extLst>
          </p:cNvPr>
          <p:cNvSpPr/>
          <p:nvPr/>
        </p:nvSpPr>
        <p:spPr>
          <a:xfrm>
            <a:off x="1624351" y="1037720"/>
            <a:ext cx="2454627" cy="1599192"/>
          </a:xfrm>
          <a:prstGeom prst="roundRect">
            <a:avLst/>
          </a:prstGeom>
          <a:solidFill>
            <a:srgbClr val="FFFF4B">
              <a:alpha val="76863"/>
            </a:srgbClr>
          </a:solidFill>
          <a:ln>
            <a:solidFill>
              <a:srgbClr val="0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7" name="TextShape 1">
            <a:extLst>
              <a:ext uri="{FF2B5EF4-FFF2-40B4-BE49-F238E27FC236}">
                <a16:creationId xmlns:a16="http://schemas.microsoft.com/office/drawing/2014/main" id="{65342318-AA3D-939C-A1EC-FA4FE809DC59}"/>
              </a:ext>
            </a:extLst>
          </p:cNvPr>
          <p:cNvSpPr txBox="1"/>
          <p:nvPr/>
        </p:nvSpPr>
        <p:spPr>
          <a:xfrm>
            <a:off x="3790950" y="176376"/>
            <a:ext cx="8399462" cy="58832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fr-FR" sz="3000" b="1" i="1" spc="-1" dirty="0">
                <a:solidFill>
                  <a:srgbClr val="000000"/>
                </a:solidFill>
                <a:latin typeface="Arial"/>
              </a:rPr>
              <a:t>The</a:t>
            </a:r>
            <a:r>
              <a:rPr lang="en-US" sz="3000" b="1" i="1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sz="3000" b="1" i="1" spc="-1" dirty="0" err="1">
                <a:solidFill>
                  <a:srgbClr val="000000"/>
                </a:solidFill>
                <a:latin typeface="Arial"/>
              </a:rPr>
              <a:t>student’s</a:t>
            </a:r>
            <a:r>
              <a:rPr lang="fr-FR" sz="3000" b="1" i="1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sz="3000" b="1" spc="-1" dirty="0" err="1">
                <a:solidFill>
                  <a:srgbClr val="000000"/>
                </a:solidFill>
                <a:latin typeface="Arial"/>
              </a:rPr>
              <a:t>problem</a:t>
            </a:r>
            <a:endParaRPr lang="fr-FR" sz="30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Shape 3">
            <a:extLst>
              <a:ext uri="{FF2B5EF4-FFF2-40B4-BE49-F238E27FC236}">
                <a16:creationId xmlns:a16="http://schemas.microsoft.com/office/drawing/2014/main" id="{74A301D8-6C27-D1EB-210C-3988ABC7075C}"/>
              </a:ext>
            </a:extLst>
          </p:cNvPr>
          <p:cNvSpPr txBox="1"/>
          <p:nvPr/>
        </p:nvSpPr>
        <p:spPr>
          <a:xfrm>
            <a:off x="10154206" y="6541200"/>
            <a:ext cx="324000" cy="31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fld id="{2FB9A7C0-A375-4B14-A573-B65C749CF92E}" type="slidenum">
              <a:rPr lang="en-US" sz="530" b="1" spc="-1">
                <a:solidFill>
                  <a:srgbClr val="FFFFFF"/>
                </a:solidFill>
                <a:latin typeface="Arial"/>
              </a:rPr>
              <a:t>52</a:t>
            </a:fld>
            <a:endParaRPr lang="en-US" sz="530" spc="-1">
              <a:latin typeface="Times New Roman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B7EF4C-06E8-CFAE-BC96-F3AE6400A47C}"/>
              </a:ext>
            </a:extLst>
          </p:cNvPr>
          <p:cNvSpPr txBox="1"/>
          <p:nvPr/>
        </p:nvSpPr>
        <p:spPr>
          <a:xfrm>
            <a:off x="-32400" y="2773021"/>
            <a:ext cx="27432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spc="-1" dirty="0">
                <a:solidFill>
                  <a:prstClr val="black"/>
                </a:solidFill>
                <a:latin typeface="Arial"/>
              </a:rPr>
              <a:t>You observe your state</a:t>
            </a:r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E7F33F9-EA3D-1A96-C607-32FEE99B5546}"/>
              </a:ext>
            </a:extLst>
          </p:cNvPr>
          <p:cNvCxnSpPr/>
          <p:nvPr/>
        </p:nvCxnSpPr>
        <p:spPr>
          <a:xfrm>
            <a:off x="5748772" y="1037720"/>
            <a:ext cx="0" cy="518010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5A0AFB7-D13B-7496-91F9-3D18F00F9883}"/>
              </a:ext>
            </a:extLst>
          </p:cNvPr>
          <p:cNvSpPr txBox="1"/>
          <p:nvPr/>
        </p:nvSpPr>
        <p:spPr>
          <a:xfrm>
            <a:off x="1690765" y="1028678"/>
            <a:ext cx="227141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spc="-1" dirty="0">
                <a:solidFill>
                  <a:prstClr val="black"/>
                </a:solidFill>
                <a:latin typeface="Arial"/>
              </a:rPr>
              <a:t>You reason about how your action will affect your reward </a:t>
            </a:r>
            <a:r>
              <a:rPr lang="en-US" sz="1600" i="1" spc="-1" dirty="0">
                <a:solidFill>
                  <a:prstClr val="black"/>
                </a:solidFill>
                <a:latin typeface="Arial"/>
              </a:rPr>
              <a:t>and </a:t>
            </a:r>
            <a:r>
              <a:rPr lang="en-US" sz="1600" spc="-1" dirty="0">
                <a:solidFill>
                  <a:prstClr val="black"/>
                </a:solidFill>
                <a:latin typeface="Arial"/>
              </a:rPr>
              <a:t>perhaps also how it </a:t>
            </a:r>
            <a:r>
              <a:rPr lang="en-US" sz="1600" spc="-1" dirty="0">
                <a:solidFill>
                  <a:srgbClr val="C00000"/>
                </a:solidFill>
                <a:latin typeface="Arial"/>
              </a:rPr>
              <a:t>may</a:t>
            </a:r>
            <a:r>
              <a:rPr lang="en-US" sz="1600" spc="-1" dirty="0">
                <a:solidFill>
                  <a:prstClr val="black"/>
                </a:solidFill>
                <a:latin typeface="Arial"/>
              </a:rPr>
              <a:t> affect your next state and beyond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0CE86B8-DABA-C7A6-7DAA-699B2C88E012}"/>
                  </a:ext>
                </a:extLst>
              </p:cNvPr>
              <p:cNvSpPr txBox="1"/>
              <p:nvPr/>
            </p:nvSpPr>
            <p:spPr>
              <a:xfrm>
                <a:off x="6090964" y="1037720"/>
                <a:ext cx="6340925" cy="30469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sz="24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Cost:	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pc="-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c</m:t>
                    </m:r>
                    <m:d>
                      <m:dPr>
                        <m:ctrlP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2400" b="0" i="1" spc="-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 spc="-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i="1" spc="-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sSub>
                      <m:sSubPr>
                        <m:ctrlP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kumimoji="0" lang="en-US" sz="2400" b="0" i="1" u="none" strike="noStrike" kern="120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Actions: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={</m:t>
                        </m:r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1" spc="-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endParaRPr kumimoji="0" lang="en-US" sz="24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States: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0" spc="-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sz="2400" spc="-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2400" spc="-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Transition</a:t>
                </a:r>
                <a:b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</a:br>
                <a: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Dynamics:	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0CE86B8-DABA-C7A6-7DAA-699B2C88E0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0964" y="1037720"/>
                <a:ext cx="6340925" cy="3046988"/>
              </a:xfrm>
              <a:prstGeom prst="rect">
                <a:avLst/>
              </a:prstGeom>
              <a:blipFill>
                <a:blip r:embed="rId3"/>
                <a:stretch>
                  <a:fillRect l="-1442" t="-1600" b="-3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66BD38D-953A-A7D5-9613-589A0589DED3}"/>
                  </a:ext>
                </a:extLst>
              </p:cNvPr>
              <p:cNvSpPr txBox="1"/>
              <p:nvPr/>
            </p:nvSpPr>
            <p:spPr>
              <a:xfrm>
                <a:off x="8873593" y="3084137"/>
                <a:ext cx="3384376" cy="11629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pc="-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lit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Hours</m:t>
                          </m:r>
                        </m:den>
                      </m:f>
                    </m:oMath>
                  </m:oMathPara>
                </a14:m>
                <a:endParaRPr lang="en-US" sz="2400" i="1" spc="-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pc="-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2400" b="0" i="1" spc="-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⋅| </m:t>
                          </m:r>
                          <m:sSub>
                            <m:sSubPr>
                              <m:ctrlPr>
                                <a:rPr lang="en-US" sz="2400" b="0" i="1" spc="-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2400" b="0" i="1" spc="-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n-US" sz="2400" b="0" i="1" spc="-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66BD38D-953A-A7D5-9613-589A0589DE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3593" y="3084137"/>
                <a:ext cx="3384376" cy="1162947"/>
              </a:xfrm>
              <a:prstGeom prst="rect">
                <a:avLst/>
              </a:prstGeom>
              <a:blipFill>
                <a:blip r:embed="rId4"/>
                <a:stretch>
                  <a:fillRect l="-1622" b="-73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DA7AF790-CD5D-DCC4-7351-5B8F3E4425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2404" y="3089386"/>
            <a:ext cx="4137245" cy="231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55062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5FDBD-7145-8454-35F9-121916216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9ED01A0-AC49-AAB9-3A0D-701CBBD909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2404" y="3089386"/>
            <a:ext cx="4137245" cy="2315395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06B7FEF-D705-A801-AF7A-E4B6A6FF37D6}"/>
              </a:ext>
            </a:extLst>
          </p:cNvPr>
          <p:cNvSpPr/>
          <p:nvPr/>
        </p:nvSpPr>
        <p:spPr>
          <a:xfrm>
            <a:off x="8687494" y="1772815"/>
            <a:ext cx="2088232" cy="576065"/>
          </a:xfrm>
          <a:prstGeom prst="roundRect">
            <a:avLst/>
          </a:prstGeom>
          <a:solidFill>
            <a:srgbClr val="FFFF4B">
              <a:alpha val="76863"/>
            </a:srgbClr>
          </a:solidFill>
          <a:ln>
            <a:solidFill>
              <a:srgbClr val="0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5C295AD-B3E5-D2AC-D4F2-230D74BE8D5F}"/>
              </a:ext>
            </a:extLst>
          </p:cNvPr>
          <p:cNvSpPr/>
          <p:nvPr/>
        </p:nvSpPr>
        <p:spPr>
          <a:xfrm>
            <a:off x="3010105" y="2660538"/>
            <a:ext cx="2162192" cy="451037"/>
          </a:xfrm>
          <a:prstGeom prst="roundRect">
            <a:avLst/>
          </a:prstGeom>
          <a:solidFill>
            <a:srgbClr val="FFFF4B">
              <a:alpha val="76863"/>
            </a:srgbClr>
          </a:solidFill>
          <a:ln>
            <a:solidFill>
              <a:srgbClr val="0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7" name="TextShape 1">
            <a:extLst>
              <a:ext uri="{FF2B5EF4-FFF2-40B4-BE49-F238E27FC236}">
                <a16:creationId xmlns:a16="http://schemas.microsoft.com/office/drawing/2014/main" id="{55CCFB31-A7EF-86CA-4CB5-F8EF99517052}"/>
              </a:ext>
            </a:extLst>
          </p:cNvPr>
          <p:cNvSpPr txBox="1"/>
          <p:nvPr/>
        </p:nvSpPr>
        <p:spPr>
          <a:xfrm>
            <a:off x="3790950" y="176376"/>
            <a:ext cx="8399462" cy="58832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fr-FR" sz="3000" b="1" i="1" spc="-1" dirty="0">
                <a:solidFill>
                  <a:srgbClr val="000000"/>
                </a:solidFill>
                <a:latin typeface="Arial"/>
              </a:rPr>
              <a:t>The</a:t>
            </a:r>
            <a:r>
              <a:rPr lang="en-US" sz="3000" b="1" i="1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sz="3000" b="1" i="1" spc="-1" dirty="0" err="1">
                <a:solidFill>
                  <a:srgbClr val="000000"/>
                </a:solidFill>
                <a:latin typeface="Arial"/>
              </a:rPr>
              <a:t>student’s</a:t>
            </a:r>
            <a:r>
              <a:rPr lang="fr-FR" sz="3000" b="1" i="1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sz="3000" b="1" spc="-1" dirty="0" err="1">
                <a:solidFill>
                  <a:srgbClr val="000000"/>
                </a:solidFill>
                <a:latin typeface="Arial"/>
              </a:rPr>
              <a:t>problem</a:t>
            </a:r>
            <a:endParaRPr lang="fr-FR" sz="30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Shape 3">
            <a:extLst>
              <a:ext uri="{FF2B5EF4-FFF2-40B4-BE49-F238E27FC236}">
                <a16:creationId xmlns:a16="http://schemas.microsoft.com/office/drawing/2014/main" id="{8E28C576-EF56-8E71-AA4F-D5AD8F10E5BD}"/>
              </a:ext>
            </a:extLst>
          </p:cNvPr>
          <p:cNvSpPr txBox="1"/>
          <p:nvPr/>
        </p:nvSpPr>
        <p:spPr>
          <a:xfrm>
            <a:off x="10154206" y="6541200"/>
            <a:ext cx="324000" cy="31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fld id="{2FB9A7C0-A375-4B14-A573-B65C749CF92E}" type="slidenum">
              <a:rPr lang="en-US" sz="530" b="1" spc="-1">
                <a:solidFill>
                  <a:srgbClr val="FFFFFF"/>
                </a:solidFill>
                <a:latin typeface="Arial"/>
              </a:rPr>
              <a:t>53</a:t>
            </a:fld>
            <a:endParaRPr lang="en-US" sz="530" spc="-1">
              <a:latin typeface="Times New Roman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5766FB-D287-3993-D0CC-A9520FE48959}"/>
              </a:ext>
            </a:extLst>
          </p:cNvPr>
          <p:cNvSpPr txBox="1"/>
          <p:nvPr/>
        </p:nvSpPr>
        <p:spPr>
          <a:xfrm>
            <a:off x="-32400" y="2773021"/>
            <a:ext cx="27432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spc="-1" dirty="0">
                <a:solidFill>
                  <a:prstClr val="black"/>
                </a:solidFill>
                <a:latin typeface="Arial"/>
              </a:rPr>
              <a:t>You observe your state</a:t>
            </a:r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6F59758-7629-0811-ACD5-87FB082EE48F}"/>
              </a:ext>
            </a:extLst>
          </p:cNvPr>
          <p:cNvCxnSpPr/>
          <p:nvPr/>
        </p:nvCxnSpPr>
        <p:spPr>
          <a:xfrm>
            <a:off x="5748772" y="1037720"/>
            <a:ext cx="0" cy="518010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C79B83C-CCCF-DFB3-6F87-FA537B70FE2C}"/>
              </a:ext>
            </a:extLst>
          </p:cNvPr>
          <p:cNvSpPr txBox="1"/>
          <p:nvPr/>
        </p:nvSpPr>
        <p:spPr>
          <a:xfrm>
            <a:off x="1690765" y="1028678"/>
            <a:ext cx="227141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spc="-1" dirty="0">
                <a:solidFill>
                  <a:prstClr val="black"/>
                </a:solidFill>
                <a:latin typeface="Arial"/>
              </a:rPr>
              <a:t>You reason about how your action will affect your reward </a:t>
            </a:r>
            <a:r>
              <a:rPr lang="en-US" sz="1600" i="1" spc="-1" dirty="0">
                <a:solidFill>
                  <a:prstClr val="black"/>
                </a:solidFill>
                <a:latin typeface="Arial"/>
              </a:rPr>
              <a:t>and </a:t>
            </a:r>
            <a:r>
              <a:rPr lang="en-US" sz="1600" spc="-1" dirty="0">
                <a:solidFill>
                  <a:prstClr val="black"/>
                </a:solidFill>
                <a:latin typeface="Arial"/>
              </a:rPr>
              <a:t>perhaps also how it </a:t>
            </a:r>
            <a:r>
              <a:rPr lang="en-US" sz="1600" spc="-1" dirty="0">
                <a:solidFill>
                  <a:srgbClr val="C00000"/>
                </a:solidFill>
                <a:latin typeface="Arial"/>
              </a:rPr>
              <a:t>may</a:t>
            </a:r>
            <a:r>
              <a:rPr lang="en-US" sz="1600" spc="-1" dirty="0">
                <a:solidFill>
                  <a:prstClr val="black"/>
                </a:solidFill>
                <a:latin typeface="Arial"/>
              </a:rPr>
              <a:t> affect your next state and beyond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85E1443-0CBD-5385-BE0A-0643CDBA5109}"/>
                  </a:ext>
                </a:extLst>
              </p:cNvPr>
              <p:cNvSpPr txBox="1"/>
              <p:nvPr/>
            </p:nvSpPr>
            <p:spPr>
              <a:xfrm>
                <a:off x="6090964" y="1037720"/>
                <a:ext cx="6340925" cy="30469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sz="24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Cost:	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pc="-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c</m:t>
                    </m:r>
                    <m:d>
                      <m:dPr>
                        <m:ctrlP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2400" b="0" i="1" spc="-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 spc="-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i="1" spc="-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sSub>
                      <m:sSubPr>
                        <m:ctrlP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kumimoji="0" lang="en-US" sz="2400" b="0" i="1" u="none" strike="noStrike" kern="120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Actions: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={</m:t>
                        </m:r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1" spc="-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endParaRPr kumimoji="0" lang="en-US" sz="24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States: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0" spc="-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sz="2400" spc="-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2400" spc="-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Transition</a:t>
                </a:r>
                <a:b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</a:br>
                <a: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Dynamics:	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85E1443-0CBD-5385-BE0A-0643CDBA51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0964" y="1037720"/>
                <a:ext cx="6340925" cy="3046988"/>
              </a:xfrm>
              <a:prstGeom prst="rect">
                <a:avLst/>
              </a:prstGeom>
              <a:blipFill>
                <a:blip r:embed="rId3"/>
                <a:stretch>
                  <a:fillRect l="-1442" t="-1600" b="-3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79691F8-D9DA-D553-5226-27D208062C7C}"/>
                  </a:ext>
                </a:extLst>
              </p:cNvPr>
              <p:cNvSpPr txBox="1"/>
              <p:nvPr/>
            </p:nvSpPr>
            <p:spPr>
              <a:xfrm>
                <a:off x="8873593" y="3084137"/>
                <a:ext cx="3384376" cy="11629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pc="-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lit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Hours</m:t>
                          </m:r>
                        </m:den>
                      </m:f>
                    </m:oMath>
                  </m:oMathPara>
                </a14:m>
                <a:endParaRPr lang="en-US" sz="2400" i="1" spc="-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pc="-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2400" b="0" i="1" spc="-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⋅| </m:t>
                          </m:r>
                          <m:sSub>
                            <m:sSubPr>
                              <m:ctrlPr>
                                <a:rPr lang="en-US" sz="2400" b="0" i="1" spc="-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2400" b="0" i="1" spc="-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n-US" sz="2400" b="0" i="1" spc="-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79691F8-D9DA-D553-5226-27D208062C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3593" y="3084137"/>
                <a:ext cx="3384376" cy="1162947"/>
              </a:xfrm>
              <a:prstGeom prst="rect">
                <a:avLst/>
              </a:prstGeom>
              <a:blipFill>
                <a:blip r:embed="rId4"/>
                <a:stretch>
                  <a:fillRect l="-1622" b="-73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CAC167D8-81A0-6663-97A8-79622FA1CF64}"/>
              </a:ext>
            </a:extLst>
          </p:cNvPr>
          <p:cNvSpPr txBox="1"/>
          <p:nvPr/>
        </p:nvSpPr>
        <p:spPr>
          <a:xfrm>
            <a:off x="3072638" y="2778460"/>
            <a:ext cx="20100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spc="-1" dirty="0">
                <a:solidFill>
                  <a:prstClr val="black"/>
                </a:solidFill>
                <a:latin typeface="Arial"/>
              </a:rPr>
              <a:t>You apply an action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76199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BE922-B36B-4391-9E89-8F5901D84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2D38DCB-65F1-1582-5BF5-C9A4EB94B8C9}"/>
                  </a:ext>
                </a:extLst>
              </p:cNvPr>
              <p:cNvSpPr txBox="1"/>
              <p:nvPr/>
            </p:nvSpPr>
            <p:spPr>
              <a:xfrm>
                <a:off x="6090964" y="1037720"/>
                <a:ext cx="6340925" cy="30469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sz="24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Cost:	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pc="-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c</m:t>
                    </m:r>
                    <m:d>
                      <m:dPr>
                        <m:ctrlP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2400" b="0" i="1" spc="-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 spc="-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i="1" spc="-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sSub>
                      <m:sSubPr>
                        <m:ctrlP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kumimoji="0" lang="en-US" sz="2400" b="0" i="1" u="none" strike="noStrike" kern="120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Actions: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={</m:t>
                        </m:r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1" spc="-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endParaRPr kumimoji="0" lang="en-US" sz="24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States: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0" spc="-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sz="2400" spc="-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2400" spc="-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Transition</a:t>
                </a:r>
                <a:b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</a:br>
                <a: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Dynamics:	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2D38DCB-65F1-1582-5BF5-C9A4EB94B8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0964" y="1037720"/>
                <a:ext cx="6340925" cy="3046988"/>
              </a:xfrm>
              <a:prstGeom prst="rect">
                <a:avLst/>
              </a:prstGeom>
              <a:blipFill>
                <a:blip r:embed="rId2"/>
                <a:stretch>
                  <a:fillRect l="-1442" t="-1600" b="-3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824E180-3CF7-2403-69B3-76C2DFB9A695}"/>
              </a:ext>
            </a:extLst>
          </p:cNvPr>
          <p:cNvSpPr/>
          <p:nvPr/>
        </p:nvSpPr>
        <p:spPr>
          <a:xfrm>
            <a:off x="8699672" y="3025419"/>
            <a:ext cx="3156167" cy="1411693"/>
          </a:xfrm>
          <a:prstGeom prst="roundRect">
            <a:avLst/>
          </a:prstGeom>
          <a:solidFill>
            <a:srgbClr val="FFFF4B">
              <a:alpha val="76863"/>
            </a:srgbClr>
          </a:solidFill>
          <a:ln>
            <a:solidFill>
              <a:srgbClr val="0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D3A125D-1EAD-801C-318A-307A1C4BA218}"/>
              </a:ext>
            </a:extLst>
          </p:cNvPr>
          <p:cNvSpPr/>
          <p:nvPr/>
        </p:nvSpPr>
        <p:spPr>
          <a:xfrm>
            <a:off x="548637" y="5445525"/>
            <a:ext cx="4394431" cy="935803"/>
          </a:xfrm>
          <a:prstGeom prst="roundRect">
            <a:avLst/>
          </a:prstGeom>
          <a:solidFill>
            <a:srgbClr val="FFFF4B">
              <a:alpha val="76863"/>
            </a:srgbClr>
          </a:solidFill>
          <a:ln>
            <a:solidFill>
              <a:srgbClr val="0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7" name="TextShape 1">
            <a:extLst>
              <a:ext uri="{FF2B5EF4-FFF2-40B4-BE49-F238E27FC236}">
                <a16:creationId xmlns:a16="http://schemas.microsoft.com/office/drawing/2014/main" id="{51EC3E25-7BF5-FA07-3210-447C0DC18210}"/>
              </a:ext>
            </a:extLst>
          </p:cNvPr>
          <p:cNvSpPr txBox="1"/>
          <p:nvPr/>
        </p:nvSpPr>
        <p:spPr>
          <a:xfrm>
            <a:off x="3790950" y="176376"/>
            <a:ext cx="8399462" cy="58832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fr-FR" sz="3000" b="1" i="1" spc="-1" dirty="0">
                <a:solidFill>
                  <a:srgbClr val="000000"/>
                </a:solidFill>
                <a:latin typeface="Arial"/>
              </a:rPr>
              <a:t>The</a:t>
            </a:r>
            <a:r>
              <a:rPr lang="en-US" sz="3000" b="1" i="1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sz="3000" b="1" i="1" spc="-1" dirty="0" err="1">
                <a:solidFill>
                  <a:srgbClr val="000000"/>
                </a:solidFill>
                <a:latin typeface="Arial"/>
              </a:rPr>
              <a:t>student’s</a:t>
            </a:r>
            <a:r>
              <a:rPr lang="fr-FR" sz="3000" b="1" i="1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sz="3000" b="1" spc="-1" dirty="0" err="1">
                <a:solidFill>
                  <a:srgbClr val="000000"/>
                </a:solidFill>
                <a:latin typeface="Arial"/>
              </a:rPr>
              <a:t>problem</a:t>
            </a:r>
            <a:endParaRPr lang="fr-FR" sz="30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Shape 3">
            <a:extLst>
              <a:ext uri="{FF2B5EF4-FFF2-40B4-BE49-F238E27FC236}">
                <a16:creationId xmlns:a16="http://schemas.microsoft.com/office/drawing/2014/main" id="{E2C73119-537D-7BE1-6FB1-F328E267D41D}"/>
              </a:ext>
            </a:extLst>
          </p:cNvPr>
          <p:cNvSpPr txBox="1"/>
          <p:nvPr/>
        </p:nvSpPr>
        <p:spPr>
          <a:xfrm>
            <a:off x="10154206" y="6541200"/>
            <a:ext cx="324000" cy="31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fld id="{2FB9A7C0-A375-4B14-A573-B65C749CF92E}" type="slidenum">
              <a:rPr lang="en-US" sz="530" b="1" spc="-1">
                <a:solidFill>
                  <a:srgbClr val="FFFFFF"/>
                </a:solidFill>
                <a:latin typeface="Arial"/>
              </a:rPr>
              <a:t>54</a:t>
            </a:fld>
            <a:endParaRPr lang="en-US" sz="530" spc="-1">
              <a:latin typeface="Times New Roman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9BEBAA-DE95-2A5F-9A8C-DB25F3894DB9}"/>
              </a:ext>
            </a:extLst>
          </p:cNvPr>
          <p:cNvSpPr txBox="1"/>
          <p:nvPr/>
        </p:nvSpPr>
        <p:spPr>
          <a:xfrm>
            <a:off x="-32400" y="2773021"/>
            <a:ext cx="27432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spc="-1" dirty="0">
                <a:solidFill>
                  <a:prstClr val="black"/>
                </a:solidFill>
                <a:latin typeface="Arial"/>
              </a:rPr>
              <a:t>You observe your state</a:t>
            </a:r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5AB24DE-61F9-60FF-8BE3-42A5CF16AFD0}"/>
              </a:ext>
            </a:extLst>
          </p:cNvPr>
          <p:cNvCxnSpPr/>
          <p:nvPr/>
        </p:nvCxnSpPr>
        <p:spPr>
          <a:xfrm>
            <a:off x="5748772" y="1037720"/>
            <a:ext cx="0" cy="518010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7A04A5D-8D53-A023-CD44-DF2764B301CD}"/>
              </a:ext>
            </a:extLst>
          </p:cNvPr>
          <p:cNvSpPr txBox="1"/>
          <p:nvPr/>
        </p:nvSpPr>
        <p:spPr>
          <a:xfrm>
            <a:off x="1690765" y="1028678"/>
            <a:ext cx="227141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spc="-1" dirty="0">
                <a:solidFill>
                  <a:prstClr val="black"/>
                </a:solidFill>
                <a:latin typeface="Arial"/>
              </a:rPr>
              <a:t>You reason about how your action will affect your reward </a:t>
            </a:r>
            <a:r>
              <a:rPr lang="en-US" sz="1600" i="1" spc="-1" dirty="0">
                <a:solidFill>
                  <a:prstClr val="black"/>
                </a:solidFill>
                <a:latin typeface="Arial"/>
              </a:rPr>
              <a:t>and </a:t>
            </a:r>
            <a:r>
              <a:rPr lang="en-US" sz="1600" spc="-1" dirty="0">
                <a:solidFill>
                  <a:prstClr val="black"/>
                </a:solidFill>
                <a:latin typeface="Arial"/>
              </a:rPr>
              <a:t>perhaps also how it </a:t>
            </a:r>
            <a:r>
              <a:rPr lang="en-US" sz="1600" spc="-1" dirty="0">
                <a:solidFill>
                  <a:srgbClr val="C00000"/>
                </a:solidFill>
                <a:latin typeface="Arial"/>
              </a:rPr>
              <a:t>may</a:t>
            </a:r>
            <a:r>
              <a:rPr lang="en-US" sz="1600" spc="-1" dirty="0">
                <a:solidFill>
                  <a:prstClr val="black"/>
                </a:solidFill>
                <a:latin typeface="Arial"/>
              </a:rPr>
              <a:t> affect your next state and beyond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1C8E049-8F56-C948-0E11-BA43E8563A96}"/>
                  </a:ext>
                </a:extLst>
              </p:cNvPr>
              <p:cNvSpPr txBox="1"/>
              <p:nvPr/>
            </p:nvSpPr>
            <p:spPr>
              <a:xfrm>
                <a:off x="8873593" y="3084137"/>
                <a:ext cx="3384376" cy="11629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pc="-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lit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Hours</m:t>
                          </m:r>
                        </m:den>
                      </m:f>
                    </m:oMath>
                  </m:oMathPara>
                </a14:m>
                <a:endParaRPr lang="en-US" sz="2400" i="1" spc="-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pc="-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2400" b="0" i="1" spc="-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⋅| </m:t>
                          </m:r>
                          <m:sSub>
                            <m:sSubPr>
                              <m:ctrlPr>
                                <a:rPr lang="en-US" sz="2400" b="0" i="1" spc="-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2400" b="0" i="1" spc="-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n-US" sz="2400" b="0" i="1" spc="-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1C8E049-8F56-C948-0E11-BA43E8563A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3593" y="3084137"/>
                <a:ext cx="3384376" cy="1162947"/>
              </a:xfrm>
              <a:prstGeom prst="rect">
                <a:avLst/>
              </a:prstGeom>
              <a:blipFill>
                <a:blip r:embed="rId4"/>
                <a:stretch>
                  <a:fillRect l="-1622" b="-73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D2A2AC89-A15C-9B1D-1B46-6A83FA0A8461}"/>
              </a:ext>
            </a:extLst>
          </p:cNvPr>
          <p:cNvSpPr txBox="1"/>
          <p:nvPr/>
        </p:nvSpPr>
        <p:spPr>
          <a:xfrm>
            <a:off x="3072638" y="2778460"/>
            <a:ext cx="20100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spc="-1" dirty="0">
                <a:solidFill>
                  <a:prstClr val="black"/>
                </a:solidFill>
                <a:latin typeface="Arial"/>
              </a:rPr>
              <a:t>You apply an action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15E0CB-AD5A-4145-C521-4575F84BEB13}"/>
              </a:ext>
            </a:extLst>
          </p:cNvPr>
          <p:cNvSpPr txBox="1"/>
          <p:nvPr/>
        </p:nvSpPr>
        <p:spPr>
          <a:xfrm>
            <a:off x="576218" y="5477303"/>
            <a:ext cx="42515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spc="-1" dirty="0">
                <a:solidFill>
                  <a:prstClr val="black"/>
                </a:solidFill>
                <a:latin typeface="Arial"/>
              </a:rPr>
              <a:t>Next week, you observe your new (realized) state. Which is generally different than the one you might have </a:t>
            </a:r>
            <a:r>
              <a:rPr lang="en-US" sz="1600" spc="-1" dirty="0">
                <a:solidFill>
                  <a:srgbClr val="C00000"/>
                </a:solidFill>
                <a:latin typeface="Arial"/>
              </a:rPr>
              <a:t>predicted</a:t>
            </a:r>
            <a:r>
              <a:rPr lang="en-US" sz="1600" spc="-1" dirty="0">
                <a:solidFill>
                  <a:prstClr val="black"/>
                </a:solidFill>
                <a:latin typeface="Arial"/>
              </a:rPr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7FAAC88-7396-53A2-73B3-30A900A9E7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2404" y="3089386"/>
            <a:ext cx="4137245" cy="231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72705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91A9F-8174-6E77-C49C-4376A4D53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B72F1A-508B-4F23-3BC0-97942687F6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2404" y="3089386"/>
            <a:ext cx="4137245" cy="2315395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C2FC94E-5B49-4AF1-135E-8101A4C3F51E}"/>
              </a:ext>
            </a:extLst>
          </p:cNvPr>
          <p:cNvSpPr/>
          <p:nvPr/>
        </p:nvSpPr>
        <p:spPr>
          <a:xfrm>
            <a:off x="8699673" y="2420888"/>
            <a:ext cx="2004046" cy="707566"/>
          </a:xfrm>
          <a:prstGeom prst="roundRect">
            <a:avLst/>
          </a:prstGeom>
          <a:solidFill>
            <a:srgbClr val="FFFF4B">
              <a:alpha val="76863"/>
            </a:srgbClr>
          </a:solidFill>
          <a:ln>
            <a:solidFill>
              <a:srgbClr val="0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B98360E-79D4-7C9A-38B0-573C5378ACDE}"/>
              </a:ext>
            </a:extLst>
          </p:cNvPr>
          <p:cNvSpPr/>
          <p:nvPr/>
        </p:nvSpPr>
        <p:spPr>
          <a:xfrm>
            <a:off x="7785" y="2773021"/>
            <a:ext cx="2236866" cy="355433"/>
          </a:xfrm>
          <a:prstGeom prst="roundRect">
            <a:avLst/>
          </a:prstGeom>
          <a:solidFill>
            <a:srgbClr val="FFFF4B">
              <a:alpha val="76863"/>
            </a:srgbClr>
          </a:solidFill>
          <a:ln>
            <a:solidFill>
              <a:srgbClr val="0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7" name="TextShape 1">
            <a:extLst>
              <a:ext uri="{FF2B5EF4-FFF2-40B4-BE49-F238E27FC236}">
                <a16:creationId xmlns:a16="http://schemas.microsoft.com/office/drawing/2014/main" id="{F12EDCD7-677F-DEBE-C94D-8AAD2DCE39E5}"/>
              </a:ext>
            </a:extLst>
          </p:cNvPr>
          <p:cNvSpPr txBox="1"/>
          <p:nvPr/>
        </p:nvSpPr>
        <p:spPr>
          <a:xfrm>
            <a:off x="3790950" y="176376"/>
            <a:ext cx="8399462" cy="58832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fr-FR" sz="3000" b="1" i="1" spc="-1" dirty="0">
                <a:solidFill>
                  <a:srgbClr val="000000"/>
                </a:solidFill>
                <a:latin typeface="Arial"/>
              </a:rPr>
              <a:t>The</a:t>
            </a:r>
            <a:r>
              <a:rPr lang="en-US" sz="3000" b="1" i="1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sz="3000" b="1" i="1" spc="-1" dirty="0" err="1">
                <a:solidFill>
                  <a:srgbClr val="000000"/>
                </a:solidFill>
                <a:latin typeface="Arial"/>
              </a:rPr>
              <a:t>student’s</a:t>
            </a:r>
            <a:r>
              <a:rPr lang="fr-FR" sz="3000" b="1" i="1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sz="3000" b="1" spc="-1" dirty="0" err="1">
                <a:solidFill>
                  <a:srgbClr val="000000"/>
                </a:solidFill>
                <a:latin typeface="Arial"/>
              </a:rPr>
              <a:t>problem</a:t>
            </a:r>
            <a:endParaRPr lang="fr-FR" sz="30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Shape 3">
            <a:extLst>
              <a:ext uri="{FF2B5EF4-FFF2-40B4-BE49-F238E27FC236}">
                <a16:creationId xmlns:a16="http://schemas.microsoft.com/office/drawing/2014/main" id="{491D7F52-0076-81BD-B89D-08CA0648B566}"/>
              </a:ext>
            </a:extLst>
          </p:cNvPr>
          <p:cNvSpPr txBox="1"/>
          <p:nvPr/>
        </p:nvSpPr>
        <p:spPr>
          <a:xfrm>
            <a:off x="10154206" y="6541200"/>
            <a:ext cx="324000" cy="31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fld id="{2FB9A7C0-A375-4B14-A573-B65C749CF92E}" type="slidenum">
              <a:rPr lang="en-US" sz="530" b="1" spc="-1">
                <a:solidFill>
                  <a:srgbClr val="FFFFFF"/>
                </a:solidFill>
                <a:latin typeface="Arial"/>
              </a:rPr>
              <a:t>55</a:t>
            </a:fld>
            <a:endParaRPr lang="en-US" sz="530" spc="-1">
              <a:latin typeface="Times New Roman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0B7F0A-7CDE-7D9C-8628-2CA44E89AEC4}"/>
              </a:ext>
            </a:extLst>
          </p:cNvPr>
          <p:cNvSpPr txBox="1"/>
          <p:nvPr/>
        </p:nvSpPr>
        <p:spPr>
          <a:xfrm>
            <a:off x="-32400" y="2773021"/>
            <a:ext cx="27432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spc="-1" dirty="0">
                <a:solidFill>
                  <a:prstClr val="black"/>
                </a:solidFill>
                <a:latin typeface="Arial"/>
              </a:rPr>
              <a:t>You observe your state</a:t>
            </a:r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3861872-6029-EB7F-4203-2C5F149C9FF7}"/>
              </a:ext>
            </a:extLst>
          </p:cNvPr>
          <p:cNvCxnSpPr/>
          <p:nvPr/>
        </p:nvCxnSpPr>
        <p:spPr>
          <a:xfrm>
            <a:off x="5748772" y="1037720"/>
            <a:ext cx="0" cy="518010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976B866-BD2C-CD19-51A2-47C7A784988B}"/>
                  </a:ext>
                </a:extLst>
              </p:cNvPr>
              <p:cNvSpPr txBox="1"/>
              <p:nvPr/>
            </p:nvSpPr>
            <p:spPr>
              <a:xfrm>
                <a:off x="6090964" y="1037720"/>
                <a:ext cx="6340925" cy="30469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sz="2400" b="0" i="0" u="none" strike="noStrike" kern="1200" cap="none" spc="-1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Cost:	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pc="-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c</m:t>
                    </m:r>
                    <m:d>
                      <m:dPr>
                        <m:ctrlP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2400" b="0" i="1" spc="-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 spc="-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i="1" spc="-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sSub>
                      <m:sSubPr>
                        <m:ctrlP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i="1" spc="-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kumimoji="0" lang="en-US" sz="2400" b="0" i="1" u="none" strike="noStrike" kern="1200" cap="none" spc="-1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Actions: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={</m:t>
                        </m:r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1" spc="-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endParaRPr kumimoji="0" lang="en-US" sz="24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-1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States: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0" spc="-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b="0" i="1" spc="-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sz="2400" b="0" i="1" spc="-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sz="2400" spc="-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2400" spc="-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Transition</a:t>
                </a:r>
                <a:b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</a:br>
                <a:r>
                  <a:rPr lang="en-US" sz="2400" spc="-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Dynamics:	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976B866-BD2C-CD19-51A2-47C7A78498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0964" y="1037720"/>
                <a:ext cx="6340925" cy="3046988"/>
              </a:xfrm>
              <a:prstGeom prst="rect">
                <a:avLst/>
              </a:prstGeom>
              <a:blipFill>
                <a:blip r:embed="rId3"/>
                <a:stretch>
                  <a:fillRect l="-1442" t="-1600" b="-3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F6FCC42-C90A-1095-5433-F01684DD4230}"/>
                  </a:ext>
                </a:extLst>
              </p:cNvPr>
              <p:cNvSpPr txBox="1"/>
              <p:nvPr/>
            </p:nvSpPr>
            <p:spPr>
              <a:xfrm>
                <a:off x="8873593" y="3084137"/>
                <a:ext cx="3384376" cy="11629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pc="-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lit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Hours</m:t>
                          </m:r>
                        </m:den>
                      </m:f>
                    </m:oMath>
                  </m:oMathPara>
                </a14:m>
                <a:endParaRPr lang="en-US" sz="2400" i="1" spc="-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lv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pc="-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2400" b="0" i="1" spc="-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pc="-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⋅| </m:t>
                          </m:r>
                          <m:sSub>
                            <m:sSubPr>
                              <m:ctrlPr>
                                <a:rPr lang="en-US" sz="2400" b="0" i="1" spc="-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2400" b="0" i="1" spc="-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n-US" sz="2400" b="0" i="1" spc="-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F6FCC42-C90A-1095-5433-F01684DD42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3593" y="3084137"/>
                <a:ext cx="3384376" cy="1162947"/>
              </a:xfrm>
              <a:prstGeom prst="rect">
                <a:avLst/>
              </a:prstGeom>
              <a:blipFill>
                <a:blip r:embed="rId4"/>
                <a:stretch>
                  <a:fillRect l="-1622" b="-73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109754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FA4ABC1-9A6D-45D1-5F71-6523B599C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F0C2E4E-6976-2C5A-D237-07265C356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319" y="3018646"/>
            <a:ext cx="4329787" cy="2315395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5545EE8-9679-382E-1DE0-0AF4823E7D41}"/>
              </a:ext>
            </a:extLst>
          </p:cNvPr>
          <p:cNvSpPr/>
          <p:nvPr/>
        </p:nvSpPr>
        <p:spPr>
          <a:xfrm>
            <a:off x="5801872" y="3371971"/>
            <a:ext cx="5414832" cy="1962069"/>
          </a:xfrm>
          <a:prstGeom prst="roundRect">
            <a:avLst/>
          </a:prstGeom>
          <a:solidFill>
            <a:srgbClr val="FFFF4B">
              <a:alpha val="76863"/>
            </a:srgbClr>
          </a:solidFill>
          <a:ln>
            <a:solidFill>
              <a:srgbClr val="0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7" name="TextShape 1">
            <a:extLst>
              <a:ext uri="{FF2B5EF4-FFF2-40B4-BE49-F238E27FC236}">
                <a16:creationId xmlns:a16="http://schemas.microsoft.com/office/drawing/2014/main" id="{FC6028BD-6001-F868-837B-6288B9D90D8B}"/>
              </a:ext>
            </a:extLst>
          </p:cNvPr>
          <p:cNvSpPr txBox="1"/>
          <p:nvPr/>
        </p:nvSpPr>
        <p:spPr>
          <a:xfrm>
            <a:off x="3790950" y="176376"/>
            <a:ext cx="8399462" cy="58832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fr-FR" sz="3000" b="1" i="1" spc="-1" dirty="0">
                <a:solidFill>
                  <a:srgbClr val="000000"/>
                </a:solidFill>
                <a:latin typeface="Arial"/>
              </a:rPr>
              <a:t>The</a:t>
            </a:r>
            <a:r>
              <a:rPr lang="en-US" sz="3000" b="1" i="1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sz="3000" b="1" i="1" spc="-1" dirty="0" err="1">
                <a:solidFill>
                  <a:srgbClr val="000000"/>
                </a:solidFill>
                <a:latin typeface="Arial"/>
              </a:rPr>
              <a:t>student’s</a:t>
            </a:r>
            <a:r>
              <a:rPr lang="fr-FR" sz="3000" b="1" i="1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sz="3000" b="1" spc="-1" dirty="0" err="1">
                <a:solidFill>
                  <a:srgbClr val="000000"/>
                </a:solidFill>
                <a:latin typeface="Arial"/>
              </a:rPr>
              <a:t>problem</a:t>
            </a:r>
            <a:endParaRPr lang="fr-FR" sz="30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4B8B81-A0FE-3E3D-9EEE-B6992A28B227}"/>
              </a:ext>
            </a:extLst>
          </p:cNvPr>
          <p:cNvSpPr txBox="1"/>
          <p:nvPr/>
        </p:nvSpPr>
        <p:spPr>
          <a:xfrm>
            <a:off x="-32400" y="2773021"/>
            <a:ext cx="27432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spc="-1" dirty="0">
                <a:solidFill>
                  <a:prstClr val="black"/>
                </a:solidFill>
                <a:latin typeface="Arial"/>
              </a:rPr>
              <a:t>You observe your state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98F4DB-B5AB-CDA1-288E-B6ADF3A2B62C}"/>
              </a:ext>
            </a:extLst>
          </p:cNvPr>
          <p:cNvSpPr txBox="1"/>
          <p:nvPr/>
        </p:nvSpPr>
        <p:spPr>
          <a:xfrm>
            <a:off x="576218" y="5477303"/>
            <a:ext cx="42515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spc="-1" dirty="0">
                <a:solidFill>
                  <a:prstClr val="black"/>
                </a:solidFill>
                <a:latin typeface="Arial"/>
              </a:rPr>
              <a:t>Next week, you observe your new (realized) state. Which is generally different than the one you might have </a:t>
            </a:r>
            <a:r>
              <a:rPr lang="en-US" sz="1600" spc="-1" dirty="0">
                <a:solidFill>
                  <a:srgbClr val="C00000"/>
                </a:solidFill>
                <a:latin typeface="Arial"/>
              </a:rPr>
              <a:t>predicted</a:t>
            </a:r>
            <a:r>
              <a:rPr lang="en-US" sz="1600" spc="-1" dirty="0">
                <a:solidFill>
                  <a:prstClr val="black"/>
                </a:solidFill>
                <a:latin typeface="Arial"/>
              </a:rPr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2BE665-BC1E-51D6-B7C7-50BA3ED58C44}"/>
              </a:ext>
            </a:extLst>
          </p:cNvPr>
          <p:cNvSpPr txBox="1"/>
          <p:nvPr/>
        </p:nvSpPr>
        <p:spPr>
          <a:xfrm>
            <a:off x="5777850" y="1444176"/>
            <a:ext cx="43634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" fontAlgn="auto">
              <a:spcBef>
                <a:spcPts val="431"/>
              </a:spcBef>
              <a:spcAft>
                <a:spcPts val="0"/>
              </a:spcAft>
              <a:buClr>
                <a:srgbClr val="C00000"/>
              </a:buClr>
            </a:pPr>
            <a:r>
              <a:rPr lang="en-US" sz="1800" i="1" spc="-1" dirty="0">
                <a:solidFill>
                  <a:srgbClr val="000000"/>
                </a:solidFill>
                <a:latin typeface="Arial"/>
              </a:rPr>
              <a:t>Reward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545CF41-6EAD-F55F-8BFC-EB78A7A9A5E5}"/>
              </a:ext>
            </a:extLst>
          </p:cNvPr>
          <p:cNvCxnSpPr/>
          <p:nvPr/>
        </p:nvCxnSpPr>
        <p:spPr>
          <a:xfrm>
            <a:off x="5748772" y="1037720"/>
            <a:ext cx="0" cy="518010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0D1B36F-D30C-0A10-5FC3-5FC1BF7EE422}"/>
              </a:ext>
            </a:extLst>
          </p:cNvPr>
          <p:cNvSpPr txBox="1"/>
          <p:nvPr/>
        </p:nvSpPr>
        <p:spPr>
          <a:xfrm>
            <a:off x="5769416" y="2348810"/>
            <a:ext cx="915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" fontAlgn="auto">
              <a:spcBef>
                <a:spcPts val="431"/>
              </a:spcBef>
              <a:spcAft>
                <a:spcPts val="0"/>
              </a:spcAft>
              <a:buClr>
                <a:srgbClr val="C00000"/>
              </a:buClr>
            </a:pPr>
            <a:r>
              <a:rPr lang="en-US" sz="1800" i="1" spc="-1" dirty="0">
                <a:solidFill>
                  <a:srgbClr val="000000"/>
                </a:solidFill>
                <a:latin typeface="Arial"/>
              </a:rPr>
              <a:t>Action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3ECF1B6-7F13-02DA-F9B6-AE9E61F15DE0}"/>
              </a:ext>
            </a:extLst>
          </p:cNvPr>
          <p:cNvSpPr txBox="1"/>
          <p:nvPr/>
        </p:nvSpPr>
        <p:spPr>
          <a:xfrm>
            <a:off x="5776241" y="2948666"/>
            <a:ext cx="7646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" fontAlgn="auto">
              <a:spcBef>
                <a:spcPts val="431"/>
              </a:spcBef>
              <a:spcAft>
                <a:spcPts val="0"/>
              </a:spcAft>
              <a:buClr>
                <a:srgbClr val="C00000"/>
              </a:buClr>
            </a:pPr>
            <a:r>
              <a:rPr lang="en-US" sz="1800" i="1" spc="-1" dirty="0">
                <a:solidFill>
                  <a:srgbClr val="000000"/>
                </a:solidFill>
                <a:latin typeface="Arial"/>
              </a:rPr>
              <a:t>State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CCC2B8C-BBD8-F2F0-06CA-5344EEDE0E12}"/>
              </a:ext>
            </a:extLst>
          </p:cNvPr>
          <p:cNvSpPr txBox="1"/>
          <p:nvPr/>
        </p:nvSpPr>
        <p:spPr>
          <a:xfrm>
            <a:off x="5776241" y="3479617"/>
            <a:ext cx="7075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" fontAlgn="auto">
              <a:spcBef>
                <a:spcPts val="431"/>
              </a:spcBef>
              <a:spcAft>
                <a:spcPts val="0"/>
              </a:spcAft>
              <a:buClr>
                <a:srgbClr val="C00000"/>
              </a:buClr>
            </a:pPr>
            <a:r>
              <a:rPr lang="en-US" sz="1800" i="1" spc="-1" dirty="0">
                <a:solidFill>
                  <a:srgbClr val="000000"/>
                </a:solidFill>
                <a:latin typeface="Arial"/>
              </a:rPr>
              <a:t>Constraints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F0AFB0-92B8-2CF1-DD41-4D1B654DC3D7}"/>
              </a:ext>
            </a:extLst>
          </p:cNvPr>
          <p:cNvSpPr txBox="1"/>
          <p:nvPr/>
        </p:nvSpPr>
        <p:spPr>
          <a:xfrm>
            <a:off x="5819419" y="5489348"/>
            <a:ext cx="13695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" fontAlgn="auto">
              <a:spcBef>
                <a:spcPts val="431"/>
              </a:spcBef>
              <a:spcAft>
                <a:spcPts val="0"/>
              </a:spcAft>
              <a:buClr>
                <a:srgbClr val="C00000"/>
              </a:buClr>
            </a:pPr>
            <a:r>
              <a:rPr lang="en-US" sz="1800" i="1" spc="-1" dirty="0">
                <a:solidFill>
                  <a:srgbClr val="000000"/>
                </a:solidFill>
                <a:latin typeface="Arial"/>
              </a:rPr>
              <a:t>Dynamics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CAB7DA0-772E-6B04-CD3F-CC7BC153000C}"/>
                  </a:ext>
                </a:extLst>
              </p:cNvPr>
              <p:cNvSpPr txBox="1"/>
              <p:nvPr/>
            </p:nvSpPr>
            <p:spPr>
              <a:xfrm>
                <a:off x="10859152" y="5477303"/>
                <a:ext cx="350369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1600" b="0" i="1" spc="-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1600" b="0" i="1" spc="-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pc="-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1" spc="-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600" b="0" i="0" spc="-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⋅|</m:t>
                          </m:r>
                          <m:sSub>
                            <m:sSubPr>
                              <m:ctrlPr>
                                <a:rPr lang="el-GR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i="1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CAB7DA0-772E-6B04-CD3F-CC7BC15300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9152" y="5477303"/>
                <a:ext cx="3503694" cy="338554"/>
              </a:xfrm>
              <a:prstGeom prst="rect">
                <a:avLst/>
              </a:prstGeom>
              <a:blipFill>
                <a:blip r:embed="rId9"/>
                <a:stretch>
                  <a:fillRect b="-1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B543E3B-B9E4-CB86-64C0-D1A62FE9D842}"/>
              </a:ext>
            </a:extLst>
          </p:cNvPr>
          <p:cNvSpPr txBox="1"/>
          <p:nvPr/>
        </p:nvSpPr>
        <p:spPr>
          <a:xfrm>
            <a:off x="1690765" y="1028678"/>
            <a:ext cx="227141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spc="-1" dirty="0">
                <a:solidFill>
                  <a:prstClr val="black"/>
                </a:solidFill>
                <a:latin typeface="Arial"/>
              </a:rPr>
              <a:t>You reason about how your action will affect your reward </a:t>
            </a:r>
            <a:r>
              <a:rPr lang="en-US" sz="1600" i="1" spc="-1" dirty="0">
                <a:solidFill>
                  <a:prstClr val="black"/>
                </a:solidFill>
                <a:latin typeface="Arial"/>
              </a:rPr>
              <a:t>and </a:t>
            </a:r>
            <a:r>
              <a:rPr lang="en-US" sz="1600" spc="-1" dirty="0">
                <a:solidFill>
                  <a:prstClr val="black"/>
                </a:solidFill>
                <a:latin typeface="Arial"/>
              </a:rPr>
              <a:t>perhaps also how it </a:t>
            </a:r>
            <a:r>
              <a:rPr lang="en-US" sz="1600" spc="-1" dirty="0">
                <a:solidFill>
                  <a:srgbClr val="C00000"/>
                </a:solidFill>
                <a:latin typeface="Arial"/>
              </a:rPr>
              <a:t>may</a:t>
            </a:r>
            <a:r>
              <a:rPr lang="en-US" sz="1600" spc="-1" dirty="0">
                <a:solidFill>
                  <a:prstClr val="black"/>
                </a:solidFill>
                <a:latin typeface="Arial"/>
              </a:rPr>
              <a:t> affect your next state and beyond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75CC5C-495F-48C5-CD5B-4312FF7E2ECA}"/>
              </a:ext>
            </a:extLst>
          </p:cNvPr>
          <p:cNvSpPr txBox="1"/>
          <p:nvPr/>
        </p:nvSpPr>
        <p:spPr>
          <a:xfrm>
            <a:off x="3072638" y="2778460"/>
            <a:ext cx="20100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spc="-1" dirty="0">
                <a:solidFill>
                  <a:prstClr val="black"/>
                </a:solidFill>
                <a:latin typeface="Arial"/>
              </a:rPr>
              <a:t>You apply an action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48C076-538F-239F-BE6F-93BFE8F1AFBB}"/>
              </a:ext>
            </a:extLst>
          </p:cNvPr>
          <p:cNvSpPr txBox="1"/>
          <p:nvPr/>
        </p:nvSpPr>
        <p:spPr>
          <a:xfrm>
            <a:off x="11289060" y="3789845"/>
            <a:ext cx="80206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spc="-1" dirty="0">
                <a:solidFill>
                  <a:schemeClr val="accent1"/>
                </a:solidFill>
                <a:latin typeface="Arial"/>
              </a:rPr>
              <a:t>Where do these live?</a:t>
            </a:r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39006A-2172-5E2C-DF7F-1703A803E06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02626" y="941167"/>
            <a:ext cx="1722269" cy="174989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487B76A-474A-2D78-2988-FA4ACD2CBA34}"/>
                  </a:ext>
                </a:extLst>
              </p:cNvPr>
              <p:cNvSpPr txBox="1"/>
              <p:nvPr/>
            </p:nvSpPr>
            <p:spPr>
              <a:xfrm>
                <a:off x="8264135" y="2334970"/>
                <a:ext cx="511002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pc="-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000" i="1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487B76A-474A-2D78-2988-FA4ACD2CBA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4135" y="2334970"/>
                <a:ext cx="511002" cy="41351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5E0B878C-8691-910F-90D6-2299C8B1B5A5}"/>
              </a:ext>
            </a:extLst>
          </p:cNvPr>
          <p:cNvSpPr txBox="1"/>
          <p:nvPr/>
        </p:nvSpPr>
        <p:spPr>
          <a:xfrm>
            <a:off x="7511516" y="2365785"/>
            <a:ext cx="1008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spc="-1" dirty="0">
                <a:solidFill>
                  <a:srgbClr val="000000"/>
                </a:solidFill>
                <a:latin typeface="Arial"/>
              </a:rPr>
              <a:t>Effort</a:t>
            </a:r>
            <a:endParaRPr lang="en-US" sz="18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0A55555-0EB6-C2F8-BFFF-AB60B1EC392C}"/>
                  </a:ext>
                </a:extLst>
              </p:cNvPr>
              <p:cNvSpPr txBox="1"/>
              <p:nvPr/>
            </p:nvSpPr>
            <p:spPr>
              <a:xfrm>
                <a:off x="7534817" y="3386623"/>
                <a:ext cx="3294273" cy="19173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pc="-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pc="-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 spc="-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i="1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i="1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i="1" spc="-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 spc="-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spc="-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i="1" spc="-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 spc="-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 spc="-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 spc="-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pc="-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Difficulty</m:t>
                                  </m:r>
                                </m:e>
                                <m:sub>
                                  <m:r>
                                    <a:rPr lang="en-US" i="1" spc="-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i="1" spc="-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i="1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weight</m:t>
                          </m:r>
                        </m:e>
                        <m:sub>
                          <m:r>
                            <a:rPr lang="en-US" i="1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i="1" spc="-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i="1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i="1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i="1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 spc="-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pc="-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 spc="-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 spc="-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 spc="-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i="1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</m:e>
                      </m:nary>
                      <m:sSub>
                        <m:sSubPr>
                          <m:ctrlPr>
                            <a:rPr lang="en-US" i="1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Hours</m:t>
                          </m:r>
                        </m:e>
                        <m:sub>
                          <m:r>
                            <a:rPr lang="en-US" i="1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 spc="-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(1−</m:t>
                      </m:r>
                      <m:sSub>
                        <m:sSubPr>
                          <m:ctrlPr>
                            <a:rPr lang="en-US" i="1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i="1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 spc="-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),∀</m:t>
                      </m:r>
                      <m:r>
                        <a:rPr lang="en-US" i="1" spc="-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 spc="-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i="1" spc="-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</m:oMath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i="1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∉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 spc="-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spc="-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pc="-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start</m:t>
                                  </m:r>
                                </m:e>
                                <m:sub>
                                  <m:r>
                                    <a:rPr lang="en-US" i="1" spc="-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i="1" spc="-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sSub>
                                <m:sSubPr>
                                  <m:ctrlPr>
                                    <a:rPr lang="en-US" i="1" spc="-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pc="-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end</m:t>
                                  </m:r>
                                </m:e>
                                <m:sub>
                                  <m:r>
                                    <a:rPr lang="en-US" i="1" spc="-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d>
                        </m:sub>
                        <m:sup/>
                        <m:e>
                          <m:sSub>
                            <m:sSubPr>
                              <m:ctrlPr>
                                <a:rPr lang="en-US" i="1" spc="-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pc="-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 spc="-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 spc="-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 spc="-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i="1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nary>
                      <m:r>
                        <a:rPr lang="en-US" i="1" spc="-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  ∀</m:t>
                      </m:r>
                      <m:r>
                        <a:rPr lang="en-US" i="1" spc="-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i="1" spc="-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i="1" spc="-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0A55555-0EB6-C2F8-BFFF-AB60B1EC39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4817" y="3386623"/>
                <a:ext cx="3294273" cy="191738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D9CB673-406D-AA62-5958-AC448133D0E1}"/>
                  </a:ext>
                </a:extLst>
              </p:cNvPr>
              <p:cNvSpPr txBox="1"/>
              <p:nvPr/>
            </p:nvSpPr>
            <p:spPr>
              <a:xfrm>
                <a:off x="7535366" y="2924944"/>
                <a:ext cx="4838142" cy="4167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Hour</m:t>
                    </m:r>
                    <m:sSub>
                      <m:sSubPr>
                        <m:ctrlPr>
                          <a:rPr lang="en-US" sz="18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b="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sz="18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l-GR" sz="1800" dirty="0">
                    <a:solidFill>
                      <a:srgbClr val="000000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stressed</m:t>
                    </m:r>
                    <m:r>
                      <a:rPr lang="en-US" sz="1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US" sz="18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rgbClr val="000000"/>
                    </a:solidFill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 spc="-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i="1" spc="-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800" i="1" spc="-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8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en-US" sz="1800" i="1" spc="-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𝑝𝑟𝑒𝑣</m:t>
                        </m:r>
                      </m:sup>
                    </m:sSubSup>
                    <m:sSub>
                      <m:sSubPr>
                        <m:ctrlPr>
                          <a:rPr lang="el-GR" sz="18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el-GR" sz="18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18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D9CB673-406D-AA62-5958-AC448133D0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5366" y="2924944"/>
                <a:ext cx="4838142" cy="416781"/>
              </a:xfrm>
              <a:prstGeom prst="rect">
                <a:avLst/>
              </a:prstGeom>
              <a:blipFill>
                <a:blip r:embed="rId13"/>
                <a:stretch>
                  <a:fillRect t="-7353" b="-13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F291758-AA4E-95E1-55A2-BC8970870879}"/>
                  </a:ext>
                </a:extLst>
              </p:cNvPr>
              <p:cNvSpPr txBox="1"/>
              <p:nvPr/>
            </p:nvSpPr>
            <p:spPr>
              <a:xfrm>
                <a:off x="7687135" y="5817710"/>
                <a:ext cx="2958181" cy="4527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pc="-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pc="-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000" b="0" i="1" spc="-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pc="-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b="0" i="1" spc="-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pc="-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000" b="0" i="1" spc="-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sz="2000" b="0" i="1" spc="-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000" b="0" i="1" spc="-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pc="-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pc="-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sz="2000" i="1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𝑝𝑟𝑒𝑣</m:t>
                          </m:r>
                        </m:sup>
                      </m:sSubSup>
                      <m:r>
                        <a:rPr lang="en-US" sz="2000" b="0" i="1" spc="-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pc="-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pc="-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000" b="0" i="1" spc="-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pc="-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pc="-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000" b="0" i="1" spc="-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l-GR" sz="2000" b="0" i="1" spc="-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000" b="0" i="1" spc="-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000" b="0" i="1" spc="-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pc="-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F291758-AA4E-95E1-55A2-BC89708708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7135" y="5817710"/>
                <a:ext cx="2958181" cy="452753"/>
              </a:xfrm>
              <a:prstGeom prst="rect">
                <a:avLst/>
              </a:prstGeom>
              <a:blipFill>
                <a:blip r:embed="rId14"/>
                <a:stretch>
                  <a:fillRect r="-619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9E49793-2FB2-32AC-582D-285D84872920}"/>
                  </a:ext>
                </a:extLst>
              </p:cNvPr>
              <p:cNvSpPr txBox="1"/>
              <p:nvPr/>
            </p:nvSpPr>
            <p:spPr>
              <a:xfrm>
                <a:off x="7615126" y="5463730"/>
                <a:ext cx="295818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 b="0" i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Hour</m:t>
                      </m:r>
                      <m:sSub>
                        <m:sSubPr>
                          <m:ctrlPr>
                            <a:rPr lang="en-US" sz="18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b="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8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18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8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⋅|</m:t>
                          </m:r>
                          <m:r>
                            <m:rPr>
                              <m:sty m:val="p"/>
                            </m:rPr>
                            <a:rPr lang="en-US" sz="18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Hour</m:t>
                          </m:r>
                          <m:sSub>
                            <m:sSubPr>
                              <m:ctrlPr>
                                <a:rPr lang="en-US" sz="18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sz="18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8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9E49793-2FB2-32AC-582D-285D84872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5126" y="5463730"/>
                <a:ext cx="2958181" cy="369332"/>
              </a:xfrm>
              <a:prstGeom prst="rect">
                <a:avLst/>
              </a:prstGeom>
              <a:blipFill>
                <a:blip r:embed="rId15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A097991-B39B-63D1-B21A-A50668817FDC}"/>
                  </a:ext>
                </a:extLst>
              </p:cNvPr>
              <p:cNvSpPr txBox="1"/>
              <p:nvPr/>
            </p:nvSpPr>
            <p:spPr>
              <a:xfrm>
                <a:off x="10848726" y="5851405"/>
                <a:ext cx="1524781" cy="3818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i="1" spc="-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6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+1,</m:t>
                        </m:r>
                        <m:r>
                          <a:rPr lang="en-US" sz="16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1600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en-US" sz="1600" i="1" spc="-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𝑝𝑟𝑒𝑣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rgbClr val="000000"/>
                    </a:solidFill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A097991-B39B-63D1-B21A-A50668817F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8726" y="5851405"/>
                <a:ext cx="1524781" cy="381899"/>
              </a:xfrm>
              <a:prstGeom prst="rect">
                <a:avLst/>
              </a:prstGeom>
              <a:blipFill>
                <a:blip r:embed="rId16"/>
                <a:stretch>
                  <a:fillRect t="-3175"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0E2C4C6-5510-63F0-8877-740C29594DE9}"/>
                  </a:ext>
                </a:extLst>
              </p:cNvPr>
              <p:cNvSpPr txBox="1"/>
              <p:nvPr/>
            </p:nvSpPr>
            <p:spPr>
              <a:xfrm>
                <a:off x="7490295" y="1278407"/>
                <a:ext cx="4382841" cy="7648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pc="-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spc="-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1800" i="1" spc="-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 i="1" spc="-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l-GR" sz="1800" i="1" spc="-1">
                          <a:latin typeface="Cambria Math" panose="02040503050406030204" pitchFamily="18" charset="0"/>
                        </a:rPr>
                        <m:t>𝛼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800" i="1" spc="-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800" i="1" spc="-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1800" i="1" spc="-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800" i="1" spc="-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800" i="1" spc="-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spc="-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1800" i="1" spc="-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800" i="1" spc="-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i="1" spc="-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0E2C4C6-5510-63F0-8877-740C29594D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0295" y="1278407"/>
                <a:ext cx="4382841" cy="76482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439686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65B85-9A8D-1226-4E9E-AB4C2B2ED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BE7850-0A2A-6E25-46E1-FB3B63607B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2404" y="3089386"/>
            <a:ext cx="4137245" cy="2315395"/>
          </a:xfrm>
          <a:prstGeom prst="rect">
            <a:avLst/>
          </a:prstGeom>
        </p:spPr>
      </p:pic>
      <p:sp>
        <p:nvSpPr>
          <p:cNvPr id="277" name="TextShape 1">
            <a:extLst>
              <a:ext uri="{FF2B5EF4-FFF2-40B4-BE49-F238E27FC236}">
                <a16:creationId xmlns:a16="http://schemas.microsoft.com/office/drawing/2014/main" id="{39116952-2CDE-F73D-A0B0-D131A2FD41F2}"/>
              </a:ext>
            </a:extLst>
          </p:cNvPr>
          <p:cNvSpPr txBox="1"/>
          <p:nvPr/>
        </p:nvSpPr>
        <p:spPr>
          <a:xfrm>
            <a:off x="3790950" y="176376"/>
            <a:ext cx="8399462" cy="58832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fr-FR" sz="3000" b="1" i="1" spc="-1" dirty="0">
                <a:solidFill>
                  <a:srgbClr val="000000"/>
                </a:solidFill>
                <a:latin typeface="Arial"/>
              </a:rPr>
              <a:t>The</a:t>
            </a:r>
            <a:r>
              <a:rPr lang="en-US" sz="3000" b="1" i="1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sz="3000" b="1" i="1" spc="-1" dirty="0" err="1">
                <a:solidFill>
                  <a:srgbClr val="000000"/>
                </a:solidFill>
                <a:latin typeface="Arial"/>
              </a:rPr>
              <a:t>student’s</a:t>
            </a:r>
            <a:r>
              <a:rPr lang="fr-FR" sz="3000" b="1" i="1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sz="3000" b="1" spc="-1" dirty="0" err="1">
                <a:solidFill>
                  <a:srgbClr val="000000"/>
                </a:solidFill>
                <a:latin typeface="Arial"/>
              </a:rPr>
              <a:t>problem</a:t>
            </a:r>
            <a:endParaRPr lang="fr-FR" sz="30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4F7B7F-9645-FEC8-A6DB-92A0DD51CAB9}"/>
              </a:ext>
            </a:extLst>
          </p:cNvPr>
          <p:cNvSpPr txBox="1"/>
          <p:nvPr/>
        </p:nvSpPr>
        <p:spPr>
          <a:xfrm>
            <a:off x="-32400" y="2773021"/>
            <a:ext cx="27432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spc="-1" dirty="0">
                <a:solidFill>
                  <a:prstClr val="black"/>
                </a:solidFill>
                <a:latin typeface="Arial"/>
              </a:rPr>
              <a:t>You observe your state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A1E063-0D5D-9390-47F6-8CE0CD6EEE5E}"/>
              </a:ext>
            </a:extLst>
          </p:cNvPr>
          <p:cNvSpPr txBox="1"/>
          <p:nvPr/>
        </p:nvSpPr>
        <p:spPr>
          <a:xfrm>
            <a:off x="576218" y="5477303"/>
            <a:ext cx="42515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spc="-1" dirty="0">
                <a:solidFill>
                  <a:prstClr val="black"/>
                </a:solidFill>
                <a:latin typeface="Arial"/>
              </a:rPr>
              <a:t>Next week, you observe your new (realized) state. Which is generally different than the one you might have </a:t>
            </a:r>
            <a:r>
              <a:rPr lang="en-US" sz="1600" spc="-1" dirty="0">
                <a:solidFill>
                  <a:srgbClr val="C00000"/>
                </a:solidFill>
                <a:latin typeface="Arial"/>
              </a:rPr>
              <a:t>predicted</a:t>
            </a:r>
            <a:r>
              <a:rPr lang="en-US" sz="1600" spc="-1" dirty="0">
                <a:solidFill>
                  <a:prstClr val="black"/>
                </a:solidFill>
                <a:latin typeface="Arial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EDBD64-79D0-8FD4-B5F8-6A1EF4E94045}"/>
              </a:ext>
            </a:extLst>
          </p:cNvPr>
          <p:cNvSpPr txBox="1"/>
          <p:nvPr/>
        </p:nvSpPr>
        <p:spPr>
          <a:xfrm>
            <a:off x="1690765" y="1028678"/>
            <a:ext cx="227141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spc="-1" dirty="0">
                <a:solidFill>
                  <a:prstClr val="black"/>
                </a:solidFill>
                <a:latin typeface="Arial"/>
              </a:rPr>
              <a:t>You reason about how your action will affect your reward </a:t>
            </a:r>
            <a:r>
              <a:rPr lang="en-US" sz="1600" i="1" spc="-1" dirty="0">
                <a:solidFill>
                  <a:prstClr val="black"/>
                </a:solidFill>
                <a:latin typeface="Arial"/>
              </a:rPr>
              <a:t>and </a:t>
            </a:r>
            <a:r>
              <a:rPr lang="en-US" sz="1600" spc="-1" dirty="0">
                <a:solidFill>
                  <a:prstClr val="black"/>
                </a:solidFill>
                <a:latin typeface="Arial"/>
              </a:rPr>
              <a:t>perhaps also how it </a:t>
            </a:r>
            <a:r>
              <a:rPr lang="en-US" sz="1600" spc="-1" dirty="0">
                <a:solidFill>
                  <a:srgbClr val="C00000"/>
                </a:solidFill>
                <a:latin typeface="Arial"/>
              </a:rPr>
              <a:t>may</a:t>
            </a:r>
            <a:r>
              <a:rPr lang="en-US" sz="1600" spc="-1" dirty="0">
                <a:solidFill>
                  <a:prstClr val="black"/>
                </a:solidFill>
                <a:latin typeface="Arial"/>
              </a:rPr>
              <a:t> affect your next state and beyond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12EA88-ED3C-26F5-8DB0-475CB4A2E9EB}"/>
              </a:ext>
            </a:extLst>
          </p:cNvPr>
          <p:cNvSpPr txBox="1"/>
          <p:nvPr/>
        </p:nvSpPr>
        <p:spPr>
          <a:xfrm>
            <a:off x="3072638" y="2778460"/>
            <a:ext cx="20100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spc="-1" dirty="0">
                <a:solidFill>
                  <a:prstClr val="black"/>
                </a:solidFill>
                <a:latin typeface="Arial"/>
              </a:rPr>
              <a:t>You apply an action</a:t>
            </a:r>
            <a:endParaRPr lang="en-US" dirty="0"/>
          </a:p>
        </p:txBody>
      </p:sp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4C63AF80-B0EB-4A07-206A-E839FEA0B4F7}"/>
              </a:ext>
            </a:extLst>
          </p:cNvPr>
          <p:cNvSpPr/>
          <p:nvPr/>
        </p:nvSpPr>
        <p:spPr>
          <a:xfrm>
            <a:off x="5663158" y="1158178"/>
            <a:ext cx="4968552" cy="686646"/>
          </a:xfrm>
          <a:prstGeom prst="wedgeRoundRectCallout">
            <a:avLst>
              <a:gd name="adj1" fmla="val -105259"/>
              <a:gd name="adj2" fmla="val 249848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 100 hours each and every week </a:t>
            </a:r>
          </a:p>
        </p:txBody>
      </p:sp>
      <p:sp>
        <p:nvSpPr>
          <p:cNvPr id="9" name="Thought Bubble: Cloud 8">
            <a:extLst>
              <a:ext uri="{FF2B5EF4-FFF2-40B4-BE49-F238E27FC236}">
                <a16:creationId xmlns:a16="http://schemas.microsoft.com/office/drawing/2014/main" id="{87FF4DE8-5182-F66E-53C3-69FA19B5ECD1}"/>
              </a:ext>
            </a:extLst>
          </p:cNvPr>
          <p:cNvSpPr/>
          <p:nvPr/>
        </p:nvSpPr>
        <p:spPr>
          <a:xfrm>
            <a:off x="5082737" y="3115401"/>
            <a:ext cx="5472608" cy="1656184"/>
          </a:xfrm>
          <a:prstGeom prst="cloudCallout">
            <a:avLst>
              <a:gd name="adj1" fmla="val -83921"/>
              <a:gd name="adj2" fmla="val 5730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is the cost of this action?</a:t>
            </a:r>
          </a:p>
          <a:p>
            <a:pPr algn="ctr"/>
            <a:r>
              <a:rPr lang="en-US" dirty="0"/>
              <a:t>What is the next state?</a:t>
            </a:r>
          </a:p>
        </p:txBody>
      </p:sp>
    </p:spTree>
    <p:extLst>
      <p:ext uri="{BB962C8B-B14F-4D97-AF65-F5344CB8AC3E}">
        <p14:creationId xmlns:p14="http://schemas.microsoft.com/office/powerpoint/2010/main" val="79771696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52484-CA8A-7F6B-9396-CD9B3A5D1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224659-1FAC-9D55-374A-2D8A17D4E7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2404" y="3089386"/>
            <a:ext cx="4137245" cy="2315395"/>
          </a:xfrm>
          <a:prstGeom prst="rect">
            <a:avLst/>
          </a:prstGeom>
        </p:spPr>
      </p:pic>
      <p:sp>
        <p:nvSpPr>
          <p:cNvPr id="277" name="TextShape 1">
            <a:extLst>
              <a:ext uri="{FF2B5EF4-FFF2-40B4-BE49-F238E27FC236}">
                <a16:creationId xmlns:a16="http://schemas.microsoft.com/office/drawing/2014/main" id="{9B8F7037-7DAB-6596-E368-097D4EB967BF}"/>
              </a:ext>
            </a:extLst>
          </p:cNvPr>
          <p:cNvSpPr txBox="1"/>
          <p:nvPr/>
        </p:nvSpPr>
        <p:spPr>
          <a:xfrm>
            <a:off x="3790950" y="176376"/>
            <a:ext cx="8399462" cy="58832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fr-FR" sz="3000" b="1" i="1" spc="-1" dirty="0">
                <a:solidFill>
                  <a:srgbClr val="000000"/>
                </a:solidFill>
                <a:latin typeface="Arial"/>
              </a:rPr>
              <a:t>The</a:t>
            </a:r>
            <a:r>
              <a:rPr lang="en-US" sz="3000" b="1" i="1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sz="3000" b="1" i="1" spc="-1" dirty="0" err="1">
                <a:solidFill>
                  <a:srgbClr val="000000"/>
                </a:solidFill>
                <a:latin typeface="Arial"/>
              </a:rPr>
              <a:t>student’s</a:t>
            </a:r>
            <a:r>
              <a:rPr lang="fr-FR" sz="3000" b="1" i="1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sz="3000" b="1" spc="-1" dirty="0" err="1">
                <a:solidFill>
                  <a:srgbClr val="000000"/>
                </a:solidFill>
                <a:latin typeface="Arial"/>
              </a:rPr>
              <a:t>problem</a:t>
            </a:r>
            <a:endParaRPr lang="fr-FR" sz="30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FB87D6-CC5F-1EC3-A410-A838123FA9AF}"/>
              </a:ext>
            </a:extLst>
          </p:cNvPr>
          <p:cNvSpPr txBox="1"/>
          <p:nvPr/>
        </p:nvSpPr>
        <p:spPr>
          <a:xfrm>
            <a:off x="-32400" y="2773021"/>
            <a:ext cx="27432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spc="-1" dirty="0">
                <a:solidFill>
                  <a:prstClr val="black"/>
                </a:solidFill>
                <a:latin typeface="Arial"/>
              </a:rPr>
              <a:t>You observe your state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736D9E-D444-0E84-3002-154E0064D2C3}"/>
              </a:ext>
            </a:extLst>
          </p:cNvPr>
          <p:cNvSpPr txBox="1"/>
          <p:nvPr/>
        </p:nvSpPr>
        <p:spPr>
          <a:xfrm>
            <a:off x="576218" y="5477303"/>
            <a:ext cx="42515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spc="-1" dirty="0">
                <a:solidFill>
                  <a:prstClr val="black"/>
                </a:solidFill>
                <a:latin typeface="Arial"/>
              </a:rPr>
              <a:t>Next week, you observe your new (realized) state. Which is generally different than the one you might have </a:t>
            </a:r>
            <a:r>
              <a:rPr lang="en-US" sz="1600" spc="-1" dirty="0">
                <a:solidFill>
                  <a:srgbClr val="C00000"/>
                </a:solidFill>
                <a:latin typeface="Arial"/>
              </a:rPr>
              <a:t>predicted</a:t>
            </a:r>
            <a:r>
              <a:rPr lang="en-US" sz="1600" spc="-1" dirty="0">
                <a:solidFill>
                  <a:prstClr val="black"/>
                </a:solidFill>
                <a:latin typeface="Arial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7E1621-0A73-460F-E516-48F76527138E}"/>
              </a:ext>
            </a:extLst>
          </p:cNvPr>
          <p:cNvSpPr txBox="1"/>
          <p:nvPr/>
        </p:nvSpPr>
        <p:spPr>
          <a:xfrm>
            <a:off x="1690765" y="1028678"/>
            <a:ext cx="227141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spc="-1" dirty="0">
                <a:solidFill>
                  <a:prstClr val="black"/>
                </a:solidFill>
                <a:latin typeface="Arial"/>
              </a:rPr>
              <a:t>You reason about how your action will affect your reward </a:t>
            </a:r>
            <a:r>
              <a:rPr lang="en-US" sz="1600" i="1" spc="-1" dirty="0">
                <a:solidFill>
                  <a:prstClr val="black"/>
                </a:solidFill>
                <a:latin typeface="Arial"/>
              </a:rPr>
              <a:t>and </a:t>
            </a:r>
            <a:r>
              <a:rPr lang="en-US" sz="1600" spc="-1" dirty="0">
                <a:solidFill>
                  <a:prstClr val="black"/>
                </a:solidFill>
                <a:latin typeface="Arial"/>
              </a:rPr>
              <a:t>perhaps also how it </a:t>
            </a:r>
            <a:r>
              <a:rPr lang="en-US" sz="1600" spc="-1" dirty="0">
                <a:solidFill>
                  <a:srgbClr val="C00000"/>
                </a:solidFill>
                <a:latin typeface="Arial"/>
              </a:rPr>
              <a:t>may</a:t>
            </a:r>
            <a:r>
              <a:rPr lang="en-US" sz="1600" spc="-1" dirty="0">
                <a:solidFill>
                  <a:prstClr val="black"/>
                </a:solidFill>
                <a:latin typeface="Arial"/>
              </a:rPr>
              <a:t> affect your next state and beyond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84155C-487E-A7EA-F1F4-A4D233A74FD9}"/>
              </a:ext>
            </a:extLst>
          </p:cNvPr>
          <p:cNvSpPr txBox="1"/>
          <p:nvPr/>
        </p:nvSpPr>
        <p:spPr>
          <a:xfrm>
            <a:off x="3072638" y="2778460"/>
            <a:ext cx="20100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spc="-1" dirty="0">
                <a:solidFill>
                  <a:prstClr val="black"/>
                </a:solidFill>
                <a:latin typeface="Arial"/>
              </a:rPr>
              <a:t>You apply an action</a:t>
            </a:r>
            <a:endParaRPr lang="en-US" dirty="0"/>
          </a:p>
        </p:txBody>
      </p:sp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E902E9F1-0ADF-7960-EF2D-9AFFAA840626}"/>
              </a:ext>
            </a:extLst>
          </p:cNvPr>
          <p:cNvSpPr/>
          <p:nvPr/>
        </p:nvSpPr>
        <p:spPr>
          <a:xfrm>
            <a:off x="5663158" y="1158178"/>
            <a:ext cx="4968552" cy="686646"/>
          </a:xfrm>
          <a:prstGeom prst="wedgeRoundRectCallout">
            <a:avLst>
              <a:gd name="adj1" fmla="val -105259"/>
              <a:gd name="adj2" fmla="val 249848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 100 hours each and every week </a:t>
            </a:r>
          </a:p>
        </p:txBody>
      </p:sp>
      <p:sp>
        <p:nvSpPr>
          <p:cNvPr id="9" name="Thought Bubble: Cloud 8">
            <a:extLst>
              <a:ext uri="{FF2B5EF4-FFF2-40B4-BE49-F238E27FC236}">
                <a16:creationId xmlns:a16="http://schemas.microsoft.com/office/drawing/2014/main" id="{64B1E4E8-1C4F-1646-1DB0-9E2052CFB3D8}"/>
              </a:ext>
            </a:extLst>
          </p:cNvPr>
          <p:cNvSpPr/>
          <p:nvPr/>
        </p:nvSpPr>
        <p:spPr>
          <a:xfrm>
            <a:off x="5082737" y="3115401"/>
            <a:ext cx="5472608" cy="1656184"/>
          </a:xfrm>
          <a:prstGeom prst="cloudCallout">
            <a:avLst>
              <a:gd name="adj1" fmla="val -83921"/>
              <a:gd name="adj2" fmla="val 5730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is the cost of this action?</a:t>
            </a:r>
          </a:p>
          <a:p>
            <a:pPr algn="ctr"/>
            <a:r>
              <a:rPr lang="en-US" dirty="0"/>
              <a:t>What is the next state?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4D62B6-DB43-ACE8-A6D2-75E614FDFFB4}"/>
              </a:ext>
            </a:extLst>
          </p:cNvPr>
          <p:cNvSpPr txBox="1"/>
          <p:nvPr/>
        </p:nvSpPr>
        <p:spPr>
          <a:xfrm>
            <a:off x="5303118" y="5013177"/>
            <a:ext cx="619268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lphaLcParenR"/>
            </a:pPr>
            <a:r>
              <a:rPr lang="en-US" sz="1600" spc="-1" dirty="0">
                <a:solidFill>
                  <a:prstClr val="black"/>
                </a:solidFill>
                <a:latin typeface="Arial"/>
              </a:rPr>
              <a:t>Detect infeasible actions, kill the simulation and print an error</a:t>
            </a:r>
          </a:p>
          <a:p>
            <a:pPr marL="342900" indent="-342900">
              <a:buAutoNum type="alphaLcParenR"/>
            </a:pPr>
            <a:r>
              <a:rPr lang="en-US" spc="-1" dirty="0">
                <a:solidFill>
                  <a:prstClr val="black"/>
                </a:solidFill>
                <a:latin typeface="Arial"/>
              </a:rPr>
              <a:t>Map any action into the feasible space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59429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43D54-CB32-04BE-3382-020B984CD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extShape 1">
            <a:extLst>
              <a:ext uri="{FF2B5EF4-FFF2-40B4-BE49-F238E27FC236}">
                <a16:creationId xmlns:a16="http://schemas.microsoft.com/office/drawing/2014/main" id="{5FA851EB-EA16-C043-10FF-C5C016B0BD57}"/>
              </a:ext>
            </a:extLst>
          </p:cNvPr>
          <p:cNvSpPr txBox="1"/>
          <p:nvPr/>
        </p:nvSpPr>
        <p:spPr>
          <a:xfrm>
            <a:off x="4655046" y="2780928"/>
            <a:ext cx="4968552" cy="7920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ＭＳ Ｐゴシック" pitchFamily="-80" charset="-128"/>
              </a:rPr>
              <a:t>Lead Example</a:t>
            </a:r>
            <a:endParaRPr kumimoji="0" lang="fr-FR" sz="36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 pitchFamily="-80" charset="-128"/>
            </a:endParaRPr>
          </a:p>
        </p:txBody>
      </p:sp>
      <p:sp>
        <p:nvSpPr>
          <p:cNvPr id="187" name="TextShape 3">
            <a:extLst>
              <a:ext uri="{FF2B5EF4-FFF2-40B4-BE49-F238E27FC236}">
                <a16:creationId xmlns:a16="http://schemas.microsoft.com/office/drawing/2014/main" id="{D593B379-66AA-C29D-9C67-C05B9E9B071B}"/>
              </a:ext>
            </a:extLst>
          </p:cNvPr>
          <p:cNvSpPr txBox="1"/>
          <p:nvPr/>
        </p:nvSpPr>
        <p:spPr>
          <a:xfrm>
            <a:off x="10154206" y="6541200"/>
            <a:ext cx="324000" cy="31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F0260D1-715F-4A85-9441-F9F0D6C48798}" type="slidenum">
              <a:rPr kumimoji="0" lang="en-US" sz="53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ＭＳ Ｐゴシック" pitchFamily="-80" charset="-128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sz="53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7521089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3A0C7-21A9-4507-7934-4C025F8E5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E18D44B-74C2-448F-9839-D68829A0A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2958" y="44624"/>
            <a:ext cx="7992888" cy="620032"/>
          </a:xfrm>
        </p:spPr>
        <p:txBody>
          <a:bodyPr wrap="square" anchor="b">
            <a:normAutofit/>
          </a:bodyPr>
          <a:lstStyle/>
          <a:p>
            <a:r>
              <a:rPr lang="en-GB" dirty="0"/>
              <a:t>The Lead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9545A52A-95CA-46FB-140E-C6C25518572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118543" y="3844613"/>
                <a:ext cx="2952327" cy="2696587"/>
              </a:xfrm>
            </p:spPr>
            <p:txBody>
              <a:bodyPr wrap="square" anchor="t">
                <a:noAutofit/>
              </a:bodyPr>
              <a:lstStyle/>
              <a:p>
                <a:r>
                  <a:rPr lang="en-US" sz="2000" dirty="0"/>
                  <a:t>Stages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𝒯</m:t>
                    </m:r>
                  </m:oMath>
                </a14:m>
                <a:endParaRPr lang="en-US" sz="2000" dirty="0"/>
              </a:p>
              <a:p>
                <a:r>
                  <a:rPr lang="en-US" sz="2000" dirty="0"/>
                  <a:t>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 …</m:t>
                        </m:r>
                      </m:e>
                    </m:d>
                  </m:oMath>
                </a14:m>
                <a:endParaRPr lang="en-US" sz="2000" dirty="0"/>
              </a:p>
              <a:p>
                <a:r>
                  <a:rPr lang="en-US" sz="2000" dirty="0"/>
                  <a:t>Decision </a:t>
                </a:r>
                <a:br>
                  <a:rPr lang="en-US" sz="20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 …</m:t>
                        </m:r>
                      </m:e>
                    </m:d>
                  </m:oMath>
                </a14:m>
                <a:endParaRPr lang="en-US" sz="2000" b="0" dirty="0"/>
              </a:p>
              <a:p>
                <a:r>
                  <a:rPr lang="en-US" sz="2000" dirty="0"/>
                  <a:t>Dynamics </a:t>
                </a:r>
                <a:br>
                  <a:rPr lang="en-US" sz="2000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sz="2000" b="0" dirty="0"/>
              </a:p>
              <a:p>
                <a:r>
                  <a:rPr lang="en-US" sz="2000" dirty="0"/>
                  <a:t>Cost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9545A52A-95CA-46FB-140E-C6C2551857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118543" y="3844613"/>
                <a:ext cx="2952327" cy="2696587"/>
              </a:xfrm>
              <a:blipFill>
                <a:blip r:embed="rId4"/>
                <a:stretch>
                  <a:fillRect l="-4948" t="-27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F9F61-0013-91F3-0C37-6348E0E701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450" y="6541200"/>
            <a:ext cx="432600" cy="316800"/>
          </a:xfrm>
        </p:spPr>
        <p:txBody>
          <a:bodyPr anchor="ctr">
            <a:normAutofit/>
          </a:bodyPr>
          <a:lstStyle/>
          <a:p>
            <a:fld id="{103EA872-A674-449B-A120-B97244F8E91D}" type="slidenum">
              <a:rPr lang="en-GB" smtClean="0"/>
              <a:pPr/>
              <a:t>60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06747B9-5B55-E176-CF5C-43E260952458}"/>
                  </a:ext>
                </a:extLst>
              </p:cNvPr>
              <p:cNvSpPr txBox="1"/>
              <p:nvPr/>
            </p:nvSpPr>
            <p:spPr>
              <a:xfrm>
                <a:off x="2965001" y="658859"/>
                <a:ext cx="9161283" cy="58339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You are responsible for the hourly decisions of an energy hub, comprising: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An industrial plant with known power demand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 wind turbine that generates electricity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𝑤𝑖𝑛𝑑</m:t>
                        </m:r>
                      </m:sup>
                    </m:sSubSup>
                  </m:oMath>
                </a14:m>
                <a:r>
                  <a:rPr lang="en-US" dirty="0"/>
                  <a:t>, which is uncertain and depends on the wind 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 dirty="0"/>
                  <a:t>, based on a stochastic process that is given to you.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An </a:t>
                </a:r>
                <a:r>
                  <a:rPr lang="en-US" dirty="0" err="1"/>
                  <a:t>electrolyzer</a:t>
                </a:r>
                <a:r>
                  <a:rPr lang="en-US" dirty="0"/>
                  <a:t> that turns electricity into hydrogen (up to an amount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acc>
                  </m:oMath>
                </a14:m>
                <a:r>
                  <a:rPr lang="en-US" dirty="0"/>
                  <a:t> per hour). The conversion is linear with a conversion rate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 hydrogen storage tank of capacity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en-US" dirty="0"/>
                  <a:t>. When an amount of hydrogen is produced at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, it becomes stored and available in the tank from the </a:t>
                </a:r>
                <a:r>
                  <a:rPr lang="en-US" u="sng" dirty="0"/>
                  <a:t>next</a:t>
                </a:r>
                <a:r>
                  <a:rPr lang="en-US" dirty="0"/>
                  <a:t> hour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 Hydrogen-to-Power unit that can convert stored hydrogen back to electricity (up to an amount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</m:acc>
                  </m:oMath>
                </a14:m>
                <a:r>
                  <a:rPr lang="en-US" dirty="0"/>
                  <a:t> per hour). The conversion is linear with a conversion rate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pPr algn="just"/>
                <a:r>
                  <a:rPr lang="en-US" dirty="0"/>
                  <a:t>The hub can also draw power from the main grid at a price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𝑔𝑟𝑖𝑑</m:t>
                        </m:r>
                      </m:sup>
                    </m:sSubSup>
                  </m:oMath>
                </a14:m>
                <a:r>
                  <a:rPr lang="en-US" dirty="0"/>
                  <a:t>. The price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is uncertain and depends on the price at </a:t>
                </a:r>
                <a:r>
                  <a:rPr lang="en-US" dirty="0" err="1"/>
                  <a:t>at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 dirty="0"/>
                  <a:t>, and it is also correlated to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𝑤𝑖𝑛𝑑</m:t>
                        </m:r>
                      </m:sup>
                    </m:sSubSup>
                  </m:oMath>
                </a14:m>
                <a:r>
                  <a:rPr lang="en-US" dirty="0"/>
                  <a:t>. This stochastic process is given to you. The hub cannot inject power into the grid; any excess power is just wasted. </a:t>
                </a:r>
              </a:p>
              <a:p>
                <a:pPr algn="just"/>
                <a:r>
                  <a:rPr lang="en-US" dirty="0"/>
                  <a:t>The </a:t>
                </a:r>
                <a:r>
                  <a:rPr lang="en-US" dirty="0" err="1"/>
                  <a:t>electrolyzer</a:t>
                </a:r>
                <a:r>
                  <a:rPr lang="en-US" dirty="0"/>
                  <a:t> can be ON or OFF. When OFF, it cannot turn electricity into hydrogen. If it is activated (or deactivated)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, it goes ON (respectively, OFF)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. For every hour that the </a:t>
                </a:r>
                <a:r>
                  <a:rPr lang="en-US" dirty="0" err="1"/>
                  <a:t>electrolyzer</a:t>
                </a:r>
                <a:r>
                  <a:rPr lang="en-US" dirty="0"/>
                  <a:t> is ON, it bears a fixed operational cost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elzr</m:t>
                        </m:r>
                      </m:sup>
                    </m:sSup>
                  </m:oMath>
                </a14:m>
                <a:r>
                  <a:rPr lang="en-US" dirty="0"/>
                  <a:t>. Your objective is to serve the power demand of the industrial plant at the minimum possible cost.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06747B9-5B55-E176-CF5C-43E2609524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5001" y="658859"/>
                <a:ext cx="9161283" cy="5833905"/>
              </a:xfrm>
              <a:prstGeom prst="rect">
                <a:avLst/>
              </a:prstGeom>
              <a:blipFill>
                <a:blip r:embed="rId5"/>
                <a:stretch>
                  <a:fillRect l="-333" t="-313" r="-3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A diagram of energy sources&#10;&#10;AI-generated content may be incorrect.">
            <a:extLst>
              <a:ext uri="{FF2B5EF4-FFF2-40B4-BE49-F238E27FC236}">
                <a16:creationId xmlns:a16="http://schemas.microsoft.com/office/drawing/2014/main" id="{E213C7BA-7FE2-73BB-4590-772AF7B998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020" y="1347346"/>
            <a:ext cx="2811842" cy="2146072"/>
          </a:xfrm>
          <a:prstGeom prst="rect">
            <a:avLst/>
          </a:prstGeom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85678033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8D30F-766D-AC41-E09F-0A3CFA6A0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2A7F8EA-7556-454E-AA27-03FFE8E12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4686" y="44624"/>
            <a:ext cx="10441160" cy="620032"/>
          </a:xfrm>
        </p:spPr>
        <p:txBody>
          <a:bodyPr wrap="square" anchor="b">
            <a:normAutofit/>
          </a:bodyPr>
          <a:lstStyle/>
          <a:p>
            <a:r>
              <a:rPr lang="en-GB" dirty="0"/>
              <a:t>The Lead Example: Deterministic Optimization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C3809F-8D7E-7D52-C9C1-9E4B11850C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450" y="6541200"/>
            <a:ext cx="432600" cy="316800"/>
          </a:xfrm>
        </p:spPr>
        <p:txBody>
          <a:bodyPr anchor="ctr">
            <a:normAutofit/>
          </a:bodyPr>
          <a:lstStyle/>
          <a:p>
            <a:fld id="{103EA872-A674-449B-A120-B97244F8E91D}" type="slidenum">
              <a:rPr lang="en-GB" smtClean="0"/>
              <a:pPr/>
              <a:t>61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D1FED1-4654-4E27-EDCD-75AC1A2245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7214" y="773612"/>
            <a:ext cx="4254719" cy="11049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7072E97-647B-303B-C5C5-B349782680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9222" y="1865566"/>
            <a:ext cx="3744416" cy="46330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C7B2BDA-4B71-8F37-DA8A-42667D9EB8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362" y="1052736"/>
            <a:ext cx="4726529" cy="5263395"/>
          </a:xfrm>
          <a:prstGeom prst="rect">
            <a:avLst/>
          </a:prstGeom>
        </p:spPr>
      </p:pic>
      <p:pic>
        <p:nvPicPr>
          <p:cNvPr id="8" name="Picture 7" descr="A diagram of energy sources&#10;&#10;AI-generated content may be incorrect.">
            <a:extLst>
              <a:ext uri="{FF2B5EF4-FFF2-40B4-BE49-F238E27FC236}">
                <a16:creationId xmlns:a16="http://schemas.microsoft.com/office/drawing/2014/main" id="{6154CA90-AD8B-76F7-D62D-C90EBF082A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7236" y="773612"/>
            <a:ext cx="1856745" cy="1417117"/>
          </a:xfrm>
          <a:prstGeom prst="rect">
            <a:avLst/>
          </a:prstGeom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81576854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3DB20-7654-D190-B9C1-0F55AA93A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D35071F-3D7C-8CBC-B544-E3736466F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2958" y="44624"/>
            <a:ext cx="7992888" cy="620032"/>
          </a:xfrm>
        </p:spPr>
        <p:txBody>
          <a:bodyPr wrap="square" anchor="b">
            <a:normAutofit/>
          </a:bodyPr>
          <a:lstStyle/>
          <a:p>
            <a:r>
              <a:rPr lang="en-GB" dirty="0"/>
              <a:t>The Lead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9E7D1347-61A1-6B35-044E-FE1201B62E47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118543" y="3844613"/>
                <a:ext cx="2952327" cy="2696587"/>
              </a:xfrm>
            </p:spPr>
            <p:txBody>
              <a:bodyPr wrap="square" anchor="t">
                <a:noAutofit/>
              </a:bodyPr>
              <a:lstStyle/>
              <a:p>
                <a:r>
                  <a:rPr lang="en-US" sz="2000" dirty="0">
                    <a:solidFill>
                      <a:srgbClr val="FF0000"/>
                    </a:solidFill>
                  </a:rPr>
                  <a:t>Stages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𝒯</m:t>
                    </m:r>
                  </m:oMath>
                </a14:m>
                <a:endParaRPr lang="en-US" sz="2000" dirty="0">
                  <a:solidFill>
                    <a:srgbClr val="FF0000"/>
                  </a:solidFill>
                </a:endParaRPr>
              </a:p>
              <a:p>
                <a:r>
                  <a:rPr lang="en-US" sz="2000" dirty="0"/>
                  <a:t>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 …</m:t>
                        </m:r>
                      </m:e>
                    </m:d>
                  </m:oMath>
                </a14:m>
                <a:endParaRPr lang="en-US" sz="2000" dirty="0"/>
              </a:p>
              <a:p>
                <a:r>
                  <a:rPr lang="en-US" sz="2000" dirty="0"/>
                  <a:t>Decision </a:t>
                </a:r>
                <a:br>
                  <a:rPr lang="en-US" sz="20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 …</m:t>
                        </m:r>
                      </m:e>
                    </m:d>
                  </m:oMath>
                </a14:m>
                <a:endParaRPr lang="en-US" sz="2000" b="0" dirty="0"/>
              </a:p>
              <a:p>
                <a:r>
                  <a:rPr lang="en-US" sz="2000" dirty="0"/>
                  <a:t>Dynamics </a:t>
                </a:r>
                <a:br>
                  <a:rPr lang="en-US" sz="2000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sz="2000" b="0" dirty="0"/>
              </a:p>
              <a:p>
                <a:r>
                  <a:rPr lang="en-US" sz="2000" dirty="0"/>
                  <a:t>Cost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9E7D1347-61A1-6B35-044E-FE1201B62E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118543" y="3844613"/>
                <a:ext cx="2952327" cy="2696587"/>
              </a:xfrm>
              <a:blipFill>
                <a:blip r:embed="rId4"/>
                <a:stretch>
                  <a:fillRect l="-4948" t="-27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9C1A34-E3C2-3347-0263-2BB81B0B327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450" y="6541200"/>
            <a:ext cx="432600" cy="316800"/>
          </a:xfrm>
        </p:spPr>
        <p:txBody>
          <a:bodyPr anchor="ctr">
            <a:normAutofit/>
          </a:bodyPr>
          <a:lstStyle/>
          <a:p>
            <a:fld id="{103EA872-A674-449B-A120-B97244F8E91D}" type="slidenum">
              <a:rPr lang="en-GB" smtClean="0"/>
              <a:pPr/>
              <a:t>62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921C8D6-EF73-F9C1-5E5E-B57F7D345461}"/>
                  </a:ext>
                </a:extLst>
              </p:cNvPr>
              <p:cNvSpPr txBox="1"/>
              <p:nvPr/>
            </p:nvSpPr>
            <p:spPr>
              <a:xfrm>
                <a:off x="2965001" y="658859"/>
                <a:ext cx="9161283" cy="58339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You are responsible for the </a:t>
                </a:r>
                <a:r>
                  <a:rPr lang="en-US" dirty="0">
                    <a:solidFill>
                      <a:srgbClr val="FF0000"/>
                    </a:solidFill>
                  </a:rPr>
                  <a:t>hourly decisions </a:t>
                </a:r>
                <a:r>
                  <a:rPr lang="en-US" dirty="0"/>
                  <a:t>of an energy hub, comprising: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An industrial plant with known power demand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 wind turbine that generates electricity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𝑤𝑖𝑛𝑑</m:t>
                        </m:r>
                      </m:sup>
                    </m:sSubSup>
                  </m:oMath>
                </a14:m>
                <a:r>
                  <a:rPr lang="en-US" dirty="0"/>
                  <a:t>, which is uncertain and depends on the wind 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 dirty="0"/>
                  <a:t>, based on a stochastic process that is given to you.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An </a:t>
                </a:r>
                <a:r>
                  <a:rPr lang="en-US" dirty="0" err="1"/>
                  <a:t>electrolyzer</a:t>
                </a:r>
                <a:r>
                  <a:rPr lang="en-US" dirty="0"/>
                  <a:t> that turns electricity into hydrogen (up to an amount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acc>
                  </m:oMath>
                </a14:m>
                <a:r>
                  <a:rPr lang="en-US" dirty="0"/>
                  <a:t> per hour). The conversion is linear with a conversion rate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 hydrogen storage tank of capacity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en-US" dirty="0"/>
                  <a:t>. When an amount of hydrogen is produced at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, it becomes stored and available in the tank from the </a:t>
                </a:r>
                <a:r>
                  <a:rPr lang="en-US" u="sng" dirty="0"/>
                  <a:t>next</a:t>
                </a:r>
                <a:r>
                  <a:rPr lang="en-US" dirty="0"/>
                  <a:t> hour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 Hydrogen-to-Power unit that can convert stored hydrogen back to electricity (up to an amount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</m:acc>
                  </m:oMath>
                </a14:m>
                <a:r>
                  <a:rPr lang="en-US" dirty="0"/>
                  <a:t> per hour). The conversion is linear with a conversion rate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pPr algn="just"/>
                <a:r>
                  <a:rPr lang="en-US" dirty="0"/>
                  <a:t>The hub can also draw power from the main grid at a price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𝑔𝑟𝑖𝑑</m:t>
                        </m:r>
                      </m:sup>
                    </m:sSubSup>
                  </m:oMath>
                </a14:m>
                <a:r>
                  <a:rPr lang="en-US" dirty="0"/>
                  <a:t>. The price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is uncertain and depends on the price at </a:t>
                </a:r>
                <a:r>
                  <a:rPr lang="en-US" dirty="0" err="1"/>
                  <a:t>at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 dirty="0"/>
                  <a:t>, and it is also correlated to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𝑤𝑖𝑛𝑑</m:t>
                        </m:r>
                      </m:sup>
                    </m:sSubSup>
                  </m:oMath>
                </a14:m>
                <a:r>
                  <a:rPr lang="en-US" dirty="0"/>
                  <a:t>. This stochastic process is given to you. The hub cannot inject power into the grid; any excess power is just wasted. </a:t>
                </a:r>
              </a:p>
              <a:p>
                <a:pPr algn="just"/>
                <a:r>
                  <a:rPr lang="en-US" dirty="0"/>
                  <a:t>The </a:t>
                </a:r>
                <a:r>
                  <a:rPr lang="en-US" dirty="0" err="1"/>
                  <a:t>electrolyzer</a:t>
                </a:r>
                <a:r>
                  <a:rPr lang="en-US" dirty="0"/>
                  <a:t> can be ON or OFF. When OFF, it cannot turn electricity into hydrogen. If it is activated (or deactivated)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, it goes ON (respectively, OFF)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. For every hour that the </a:t>
                </a:r>
                <a:r>
                  <a:rPr lang="en-US" dirty="0" err="1"/>
                  <a:t>electrolyzer</a:t>
                </a:r>
                <a:r>
                  <a:rPr lang="en-US" dirty="0"/>
                  <a:t> is ON, it bears a fixed operational cost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elzr</m:t>
                        </m:r>
                      </m:sup>
                    </m:sSup>
                  </m:oMath>
                </a14:m>
                <a:r>
                  <a:rPr lang="en-US" dirty="0"/>
                  <a:t>. Your objective is to serve the power demand of the industrial plant at the minimum possible cost.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921C8D6-EF73-F9C1-5E5E-B57F7D345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5001" y="658859"/>
                <a:ext cx="9161283" cy="5833905"/>
              </a:xfrm>
              <a:prstGeom prst="rect">
                <a:avLst/>
              </a:prstGeom>
              <a:blipFill>
                <a:blip r:embed="rId5"/>
                <a:stretch>
                  <a:fillRect l="-333" t="-313" r="-3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A diagram of energy sources&#10;&#10;AI-generated content may be incorrect.">
            <a:extLst>
              <a:ext uri="{FF2B5EF4-FFF2-40B4-BE49-F238E27FC236}">
                <a16:creationId xmlns:a16="http://schemas.microsoft.com/office/drawing/2014/main" id="{8AB5C881-38F6-0669-FD7A-4F1ACA3337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020" y="1347346"/>
            <a:ext cx="2811842" cy="2146072"/>
          </a:xfrm>
          <a:prstGeom prst="rect">
            <a:avLst/>
          </a:prstGeom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79883139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55C7E-498D-E6C7-88A3-5ECBEBC2C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8272D50-7C9E-5DC9-1609-3A5C62469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2958" y="44624"/>
            <a:ext cx="7992888" cy="620032"/>
          </a:xfrm>
        </p:spPr>
        <p:txBody>
          <a:bodyPr wrap="square" anchor="b">
            <a:normAutofit/>
          </a:bodyPr>
          <a:lstStyle/>
          <a:p>
            <a:r>
              <a:rPr lang="en-GB" dirty="0"/>
              <a:t>The Lead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6CF590B7-C307-A108-63CC-EB9F20EEE8D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7259" y="4003013"/>
                <a:ext cx="2952327" cy="2696587"/>
              </a:xfrm>
            </p:spPr>
            <p:txBody>
              <a:bodyPr wrap="square" anchor="t">
                <a:no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Stages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𝒯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r>
                  <a:rPr lang="en-US" dirty="0"/>
                  <a:t>State 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…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>
                    <a:solidFill>
                      <a:schemeClr val="accent2"/>
                    </a:solidFill>
                  </a:rPr>
                  <a:t>Decision </a:t>
                </a:r>
                <a:br>
                  <a:rPr lang="en-US" dirty="0">
                    <a:solidFill>
                      <a:schemeClr val="accent2"/>
                    </a:solidFill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, …</m:t>
                        </m:r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/>
                  <a:t>Dynamics </a:t>
                </a:r>
                <a:br>
                  <a:rPr lang="en-US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/>
                  <a:t>Cost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6CF590B7-C307-A108-63CC-EB9F20EEE8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7259" y="4003013"/>
                <a:ext cx="2952327" cy="2696587"/>
              </a:xfrm>
              <a:blipFill>
                <a:blip r:embed="rId4"/>
                <a:stretch>
                  <a:fillRect l="-4330" t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CC683-C64C-9075-5A45-34F5111257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450" y="6541200"/>
            <a:ext cx="432600" cy="316800"/>
          </a:xfrm>
        </p:spPr>
        <p:txBody>
          <a:bodyPr anchor="ctr">
            <a:normAutofit/>
          </a:bodyPr>
          <a:lstStyle/>
          <a:p>
            <a:fld id="{103EA872-A674-449B-A120-B97244F8E91D}" type="slidenum">
              <a:rPr lang="en-GB" smtClean="0"/>
              <a:pPr/>
              <a:t>63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1A74827-0AF7-3668-9BB6-C0719CB060F0}"/>
                  </a:ext>
                </a:extLst>
              </p:cNvPr>
              <p:cNvSpPr txBox="1"/>
              <p:nvPr/>
            </p:nvSpPr>
            <p:spPr>
              <a:xfrm>
                <a:off x="2965001" y="658859"/>
                <a:ext cx="9161283" cy="58339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You are responsible for the </a:t>
                </a:r>
                <a:r>
                  <a:rPr lang="en-US" dirty="0">
                    <a:solidFill>
                      <a:srgbClr val="FF0000"/>
                    </a:solidFill>
                  </a:rPr>
                  <a:t>hourly decisions </a:t>
                </a:r>
                <a:r>
                  <a:rPr lang="en-US" dirty="0"/>
                  <a:t>of an energy hub, comprising: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An industrial plant with known power demand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 wind turbine that generates electricity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𝑤𝑖𝑛𝑑</m:t>
                        </m:r>
                      </m:sup>
                    </m:sSubSup>
                  </m:oMath>
                </a14:m>
                <a:r>
                  <a:rPr lang="en-US" dirty="0"/>
                  <a:t>, which is uncertain and </a:t>
                </a:r>
                <a:r>
                  <a:rPr lang="en-US" dirty="0">
                    <a:solidFill>
                      <a:schemeClr val="tx1"/>
                    </a:solidFill>
                  </a:rPr>
                  <a:t>depends on the wind at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 dirty="0"/>
                  <a:t>, based on a stochastic process that is given to you.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An </a:t>
                </a:r>
                <a:r>
                  <a:rPr lang="en-US" dirty="0" err="1"/>
                  <a:t>electrolyzer</a:t>
                </a:r>
                <a:r>
                  <a:rPr lang="en-US" dirty="0"/>
                  <a:t> that </a:t>
                </a:r>
                <a:r>
                  <a:rPr lang="en-US" dirty="0">
                    <a:solidFill>
                      <a:schemeClr val="accent2"/>
                    </a:solidFill>
                  </a:rPr>
                  <a:t>turns electricity into hydrogen (up to an amount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 b="0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acc>
                  </m:oMath>
                </a14:m>
                <a:r>
                  <a:rPr lang="en-US" dirty="0">
                    <a:solidFill>
                      <a:schemeClr val="accent2"/>
                    </a:solidFill>
                  </a:rPr>
                  <a:t> per hour). </a:t>
                </a:r>
                <a:r>
                  <a:rPr lang="en-US" dirty="0"/>
                  <a:t>The conversion is linear with a conversion rate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 hydrogen storage tank of capacity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en-US" dirty="0"/>
                  <a:t>. When an amount of hydrogen is produced at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, it becomes stored and available in the tank from the </a:t>
                </a:r>
                <a:r>
                  <a:rPr lang="en-US" u="sng" dirty="0"/>
                  <a:t>next</a:t>
                </a:r>
                <a:r>
                  <a:rPr lang="en-US" dirty="0"/>
                  <a:t> hour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 Hydrogen-to-Power unit that can </a:t>
                </a:r>
                <a:r>
                  <a:rPr lang="en-US" dirty="0">
                    <a:solidFill>
                      <a:schemeClr val="accent2"/>
                    </a:solidFill>
                  </a:rPr>
                  <a:t>convert stored hydrogen back to electricity (up to an amount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</m:acc>
                  </m:oMath>
                </a14:m>
                <a:r>
                  <a:rPr lang="en-US" dirty="0">
                    <a:solidFill>
                      <a:schemeClr val="accent2"/>
                    </a:solidFill>
                  </a:rPr>
                  <a:t> per hour)</a:t>
                </a:r>
                <a:r>
                  <a:rPr lang="en-US" dirty="0"/>
                  <a:t>. The conversion is linear with a conversion rate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pPr algn="just"/>
                <a:r>
                  <a:rPr lang="en-US" dirty="0"/>
                  <a:t>The hub can also </a:t>
                </a:r>
                <a:r>
                  <a:rPr lang="en-US" dirty="0">
                    <a:solidFill>
                      <a:schemeClr val="accent2"/>
                    </a:solidFill>
                  </a:rPr>
                  <a:t>draw power from the main grid </a:t>
                </a:r>
                <a:r>
                  <a:rPr lang="en-US" dirty="0"/>
                  <a:t>at a price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𝑔𝑟𝑖𝑑</m:t>
                        </m:r>
                      </m:sup>
                    </m:sSubSup>
                  </m:oMath>
                </a14:m>
                <a:r>
                  <a:rPr lang="en-US" dirty="0"/>
                  <a:t>. The price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is uncertain and depends on the price at </a:t>
                </a:r>
                <a:r>
                  <a:rPr lang="en-US" dirty="0" err="1"/>
                  <a:t>at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 dirty="0"/>
                  <a:t>, and it is also correlated to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𝑤𝑖𝑛𝑑</m:t>
                        </m:r>
                      </m:sup>
                    </m:sSubSup>
                  </m:oMath>
                </a14:m>
                <a:r>
                  <a:rPr lang="en-US" dirty="0"/>
                  <a:t>. This stochastic process is given to you. The hub cannot inject power into the grid; any excess power is just wasted. </a:t>
                </a:r>
              </a:p>
              <a:p>
                <a:pPr algn="just"/>
                <a:r>
                  <a:rPr lang="en-US" dirty="0">
                    <a:solidFill>
                      <a:srgbClr val="000000"/>
                    </a:solidFill>
                  </a:rPr>
                  <a:t>The </a:t>
                </a:r>
                <a:r>
                  <a:rPr lang="en-US" dirty="0" err="1">
                    <a:solidFill>
                      <a:srgbClr val="000000"/>
                    </a:solidFill>
                  </a:rPr>
                  <a:t>electrolyzer</a:t>
                </a:r>
                <a:r>
                  <a:rPr lang="en-US" dirty="0">
                    <a:solidFill>
                      <a:srgbClr val="000000"/>
                    </a:solidFill>
                  </a:rPr>
                  <a:t> can be ON or OFF. </a:t>
                </a:r>
                <a:r>
                  <a:rPr lang="en-US" dirty="0"/>
                  <a:t>When OFF, it cannot turn electricity into hydrogen. If it is </a:t>
                </a:r>
                <a:r>
                  <a:rPr lang="en-US" dirty="0">
                    <a:solidFill>
                      <a:schemeClr val="accent2"/>
                    </a:solidFill>
                  </a:rPr>
                  <a:t>activated (or deactivated) at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, it goes ON (respectively, OFF)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. For every hour that the </a:t>
                </a:r>
                <a:r>
                  <a:rPr lang="en-US" dirty="0" err="1"/>
                  <a:t>electrolyzer</a:t>
                </a:r>
                <a:r>
                  <a:rPr lang="en-US" dirty="0"/>
                  <a:t> is ON, it bears a fixed operational cost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elzr</m:t>
                        </m:r>
                      </m:sup>
                    </m:sSup>
                  </m:oMath>
                </a14:m>
                <a:r>
                  <a:rPr lang="en-US" dirty="0"/>
                  <a:t>. Your objective is to serve the power demand of the industrial plant at the minimum possible cost.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1A74827-0AF7-3668-9BB6-C0719CB060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5001" y="658859"/>
                <a:ext cx="9161283" cy="5833905"/>
              </a:xfrm>
              <a:prstGeom prst="rect">
                <a:avLst/>
              </a:prstGeom>
              <a:blipFill>
                <a:blip r:embed="rId5"/>
                <a:stretch>
                  <a:fillRect l="-333" t="-313" r="-3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17F820C-D02A-CC27-679D-AC3CED95A4E9}"/>
                  </a:ext>
                </a:extLst>
              </p:cNvPr>
              <p:cNvSpPr txBox="1"/>
              <p:nvPr/>
            </p:nvSpPr>
            <p:spPr>
              <a:xfrm>
                <a:off x="2494806" y="2058254"/>
                <a:ext cx="720080" cy="3869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17F820C-D02A-CC27-679D-AC3CED95A4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4806" y="2058254"/>
                <a:ext cx="720080" cy="386965"/>
              </a:xfrm>
              <a:prstGeom prst="rect">
                <a:avLst/>
              </a:prstGeom>
              <a:blipFill>
                <a:blip r:embed="rId6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DD5DD44-48D1-E4E7-11CE-0F3311E63904}"/>
                  </a:ext>
                </a:extLst>
              </p:cNvPr>
              <p:cNvSpPr txBox="1"/>
              <p:nvPr/>
            </p:nvSpPr>
            <p:spPr>
              <a:xfrm>
                <a:off x="2494806" y="3324170"/>
                <a:ext cx="720080" cy="3869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DD5DD44-48D1-E4E7-11CE-0F3311E639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4806" y="3324170"/>
                <a:ext cx="720080" cy="3869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E857B16-41FD-A776-E1ED-CCB8549524A1}"/>
                  </a:ext>
                </a:extLst>
              </p:cNvPr>
              <p:cNvSpPr txBox="1"/>
              <p:nvPr/>
            </p:nvSpPr>
            <p:spPr>
              <a:xfrm>
                <a:off x="2494806" y="3833968"/>
                <a:ext cx="720080" cy="3920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𝑔𝑟𝑖𝑑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E857B16-41FD-A776-E1ED-CCB8549524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4806" y="3833968"/>
                <a:ext cx="720080" cy="392095"/>
              </a:xfrm>
              <a:prstGeom prst="rect">
                <a:avLst/>
              </a:prstGeom>
              <a:blipFill>
                <a:blip r:embed="rId8"/>
                <a:stretch>
                  <a:fillRect b="-1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43273BF-73C4-CBC7-8844-BD7D037C5A4D}"/>
                  </a:ext>
                </a:extLst>
              </p:cNvPr>
              <p:cNvSpPr txBox="1"/>
              <p:nvPr/>
            </p:nvSpPr>
            <p:spPr>
              <a:xfrm>
                <a:off x="2478156" y="5366850"/>
                <a:ext cx="72008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𝑎𝑐𝑡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43273BF-73C4-CBC7-8844-BD7D037C5A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8156" y="5366850"/>
                <a:ext cx="720080" cy="338554"/>
              </a:xfrm>
              <a:prstGeom prst="rect">
                <a:avLst/>
              </a:prstGeom>
              <a:blipFill>
                <a:blip r:embed="rId9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2F9A3A2-629A-106F-5817-05F18BA14F17}"/>
                  </a:ext>
                </a:extLst>
              </p:cNvPr>
              <p:cNvSpPr txBox="1"/>
              <p:nvPr/>
            </p:nvSpPr>
            <p:spPr>
              <a:xfrm>
                <a:off x="2478156" y="5685731"/>
                <a:ext cx="720080" cy="3466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𝑑𝑒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2F9A3A2-629A-106F-5817-05F18BA14F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8156" y="5685731"/>
                <a:ext cx="720080" cy="346633"/>
              </a:xfrm>
              <a:prstGeom prst="rect">
                <a:avLst/>
              </a:prstGeom>
              <a:blipFill>
                <a:blip r:embed="rId10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93538237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B4A57-849B-053D-D205-2C6BDF2DE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F32404D-0C2A-D97E-58A3-6D5580B54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2958" y="44624"/>
            <a:ext cx="7992888" cy="620032"/>
          </a:xfrm>
        </p:spPr>
        <p:txBody>
          <a:bodyPr wrap="square" anchor="b">
            <a:normAutofit/>
          </a:bodyPr>
          <a:lstStyle/>
          <a:p>
            <a:r>
              <a:rPr lang="en-GB" dirty="0"/>
              <a:t>The Lead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E739283E-C1FE-B3B2-4706-2CD76D350B17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7259" y="4003013"/>
                <a:ext cx="2952327" cy="2696587"/>
              </a:xfrm>
            </p:spPr>
            <p:txBody>
              <a:bodyPr wrap="square" anchor="t">
                <a:no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Stages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𝒯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r>
                  <a:rPr lang="en-US" dirty="0"/>
                  <a:t>State 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…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>
                    <a:solidFill>
                      <a:schemeClr val="accent2"/>
                    </a:solidFill>
                  </a:rPr>
                  <a:t>Decision </a:t>
                </a:r>
                <a:br>
                  <a:rPr lang="en-US" dirty="0">
                    <a:solidFill>
                      <a:schemeClr val="accent2"/>
                    </a:solidFill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, …</m:t>
                        </m:r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/>
                  <a:t>Dynamics </a:t>
                </a:r>
                <a:br>
                  <a:rPr lang="en-US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/>
                  <a:t>Cost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E739283E-C1FE-B3B2-4706-2CD76D350B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7259" y="4003013"/>
                <a:ext cx="2952327" cy="2696587"/>
              </a:xfrm>
              <a:blipFill>
                <a:blip r:embed="rId4"/>
                <a:stretch>
                  <a:fillRect l="-4330" t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6FC09D-4F95-AB13-07AA-601CA3EB0A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450" y="6541200"/>
            <a:ext cx="432600" cy="316800"/>
          </a:xfrm>
        </p:spPr>
        <p:txBody>
          <a:bodyPr anchor="ctr">
            <a:normAutofit/>
          </a:bodyPr>
          <a:lstStyle/>
          <a:p>
            <a:fld id="{103EA872-A674-449B-A120-B97244F8E91D}" type="slidenum">
              <a:rPr lang="en-GB" smtClean="0"/>
              <a:pPr/>
              <a:t>64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53FC5DD-5408-3819-9232-CA518C082B24}"/>
                  </a:ext>
                </a:extLst>
              </p:cNvPr>
              <p:cNvSpPr txBox="1"/>
              <p:nvPr/>
            </p:nvSpPr>
            <p:spPr>
              <a:xfrm>
                <a:off x="2965001" y="658859"/>
                <a:ext cx="9161283" cy="58339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You are responsible for the </a:t>
                </a:r>
                <a:r>
                  <a:rPr lang="en-US" dirty="0">
                    <a:solidFill>
                      <a:srgbClr val="FF0000"/>
                    </a:solidFill>
                  </a:rPr>
                  <a:t>hourly decisions </a:t>
                </a:r>
                <a:r>
                  <a:rPr lang="en-US" dirty="0"/>
                  <a:t>of an energy hub, comprising: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An industrial plant with known power demand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 wind turbine that generates electricity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𝑤𝑖𝑛𝑑</m:t>
                        </m:r>
                      </m:sup>
                    </m:sSubSup>
                  </m:oMath>
                </a14:m>
                <a:r>
                  <a:rPr lang="en-US" dirty="0"/>
                  <a:t>, which is uncertain and </a:t>
                </a:r>
                <a:r>
                  <a:rPr lang="en-US" dirty="0">
                    <a:solidFill>
                      <a:schemeClr val="tx1"/>
                    </a:solidFill>
                  </a:rPr>
                  <a:t>depends on the wind at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 dirty="0"/>
                  <a:t>, based on a stochastic process that is given to you.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An </a:t>
                </a:r>
                <a:r>
                  <a:rPr lang="en-US" dirty="0" err="1"/>
                  <a:t>electrolyzer</a:t>
                </a:r>
                <a:r>
                  <a:rPr lang="en-US" dirty="0"/>
                  <a:t> that </a:t>
                </a:r>
                <a:r>
                  <a:rPr lang="en-US" dirty="0">
                    <a:solidFill>
                      <a:schemeClr val="accent2"/>
                    </a:solidFill>
                  </a:rPr>
                  <a:t>turns electricity into hydrogen (up to an amount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 b="0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acc>
                  </m:oMath>
                </a14:m>
                <a:r>
                  <a:rPr lang="en-US" dirty="0">
                    <a:solidFill>
                      <a:schemeClr val="accent2"/>
                    </a:solidFill>
                  </a:rPr>
                  <a:t> per hour). </a:t>
                </a:r>
                <a:r>
                  <a:rPr lang="en-US" dirty="0"/>
                  <a:t>The conversion is linear with a conversion rate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 hydrogen storage tank of capacity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en-US" dirty="0"/>
                  <a:t>. When an amount of hydrogen is produced at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, it becomes stored and available in the tank from the </a:t>
                </a:r>
                <a:r>
                  <a:rPr lang="en-US" u="sng" dirty="0"/>
                  <a:t>next</a:t>
                </a:r>
                <a:r>
                  <a:rPr lang="en-US" dirty="0"/>
                  <a:t> hour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 Hydrogen-to-Power unit that can </a:t>
                </a:r>
                <a:r>
                  <a:rPr lang="en-US" dirty="0">
                    <a:solidFill>
                      <a:schemeClr val="accent2"/>
                    </a:solidFill>
                  </a:rPr>
                  <a:t>convert stored hydrogen back to electricity (up to an amount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</m:acc>
                  </m:oMath>
                </a14:m>
                <a:r>
                  <a:rPr lang="en-US" dirty="0">
                    <a:solidFill>
                      <a:schemeClr val="accent2"/>
                    </a:solidFill>
                  </a:rPr>
                  <a:t> per hour)</a:t>
                </a:r>
                <a:r>
                  <a:rPr lang="en-US" dirty="0"/>
                  <a:t>. The conversion is linear with a conversion rate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pPr algn="just"/>
                <a:r>
                  <a:rPr lang="en-US" dirty="0"/>
                  <a:t>The hub can also </a:t>
                </a:r>
                <a:r>
                  <a:rPr lang="en-US" dirty="0">
                    <a:solidFill>
                      <a:schemeClr val="accent2"/>
                    </a:solidFill>
                  </a:rPr>
                  <a:t>draw power from the main grid </a:t>
                </a:r>
                <a:r>
                  <a:rPr lang="en-US" dirty="0"/>
                  <a:t>at a price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𝑔𝑟𝑖𝑑</m:t>
                        </m:r>
                      </m:sup>
                    </m:sSubSup>
                  </m:oMath>
                </a14:m>
                <a:r>
                  <a:rPr lang="en-US" dirty="0"/>
                  <a:t>. The price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is uncertain and depends on the price at </a:t>
                </a:r>
                <a:r>
                  <a:rPr lang="en-US" dirty="0" err="1"/>
                  <a:t>at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 dirty="0"/>
                  <a:t>, and it is also correlated to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𝑤𝑖𝑛𝑑</m:t>
                        </m:r>
                      </m:sup>
                    </m:sSubSup>
                  </m:oMath>
                </a14:m>
                <a:r>
                  <a:rPr lang="en-US" dirty="0"/>
                  <a:t>. This stochastic process is given to you. The hub cannot inject power into the grid; any excess power is just wasted. </a:t>
                </a:r>
              </a:p>
              <a:p>
                <a:pPr algn="just"/>
                <a:r>
                  <a:rPr lang="en-US" dirty="0">
                    <a:solidFill>
                      <a:srgbClr val="000000"/>
                    </a:solidFill>
                  </a:rPr>
                  <a:t>The </a:t>
                </a:r>
                <a:r>
                  <a:rPr lang="en-US" dirty="0" err="1">
                    <a:solidFill>
                      <a:srgbClr val="000000"/>
                    </a:solidFill>
                  </a:rPr>
                  <a:t>electrolyzer</a:t>
                </a:r>
                <a:r>
                  <a:rPr lang="en-US" dirty="0">
                    <a:solidFill>
                      <a:srgbClr val="000000"/>
                    </a:solidFill>
                  </a:rPr>
                  <a:t> can be ON or OFF. </a:t>
                </a:r>
                <a:r>
                  <a:rPr lang="en-US" dirty="0"/>
                  <a:t>When OFF, it cannot turn electricity into hydrogen. If it is </a:t>
                </a:r>
                <a:r>
                  <a:rPr lang="en-US" dirty="0">
                    <a:solidFill>
                      <a:schemeClr val="accent2"/>
                    </a:solidFill>
                  </a:rPr>
                  <a:t>activated (or deactivated) at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, it goes ON (respectively, OFF)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. For every hour that the </a:t>
                </a:r>
                <a:r>
                  <a:rPr lang="en-US" dirty="0" err="1"/>
                  <a:t>electrolyzer</a:t>
                </a:r>
                <a:r>
                  <a:rPr lang="en-US" dirty="0"/>
                  <a:t> is ON, it bears a fixed operational cost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elzr</m:t>
                        </m:r>
                      </m:sup>
                    </m:sSup>
                  </m:oMath>
                </a14:m>
                <a:r>
                  <a:rPr lang="en-US" dirty="0"/>
                  <a:t>. Your objective is to serve the power demand of the industrial plant at the minimum possible cost.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1A74827-0AF7-3668-9BB6-C0719CB060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5001" y="658859"/>
                <a:ext cx="9161283" cy="5833905"/>
              </a:xfrm>
              <a:prstGeom prst="rect">
                <a:avLst/>
              </a:prstGeom>
              <a:blipFill>
                <a:blip r:embed="rId5"/>
                <a:stretch>
                  <a:fillRect l="-333" t="-313" r="-3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BF473E8-266D-DB4F-D3CC-DE25618089A4}"/>
                  </a:ext>
                </a:extLst>
              </p:cNvPr>
              <p:cNvSpPr txBox="1"/>
              <p:nvPr/>
            </p:nvSpPr>
            <p:spPr>
              <a:xfrm>
                <a:off x="2494806" y="2058254"/>
                <a:ext cx="720080" cy="3869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17F820C-D02A-CC27-679D-AC3CED95A4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4806" y="2058254"/>
                <a:ext cx="720080" cy="386965"/>
              </a:xfrm>
              <a:prstGeom prst="rect">
                <a:avLst/>
              </a:prstGeom>
              <a:blipFill>
                <a:blip r:embed="rId6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EEE3E38-B330-1A04-7E50-FF0E6E56307D}"/>
                  </a:ext>
                </a:extLst>
              </p:cNvPr>
              <p:cNvSpPr txBox="1"/>
              <p:nvPr/>
            </p:nvSpPr>
            <p:spPr>
              <a:xfrm>
                <a:off x="2494806" y="3324170"/>
                <a:ext cx="720080" cy="3869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DD5DD44-48D1-E4E7-11CE-0F3311E639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4806" y="3324170"/>
                <a:ext cx="720080" cy="3869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A9B335A-5B91-3ABB-3F87-36BA1185A925}"/>
                  </a:ext>
                </a:extLst>
              </p:cNvPr>
              <p:cNvSpPr txBox="1"/>
              <p:nvPr/>
            </p:nvSpPr>
            <p:spPr>
              <a:xfrm>
                <a:off x="2494806" y="3833968"/>
                <a:ext cx="720080" cy="3920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𝑔𝑟𝑖𝑑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E857B16-41FD-A776-E1ED-CCB8549524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4806" y="3833968"/>
                <a:ext cx="720080" cy="392095"/>
              </a:xfrm>
              <a:prstGeom prst="rect">
                <a:avLst/>
              </a:prstGeom>
              <a:blipFill>
                <a:blip r:embed="rId8"/>
                <a:stretch>
                  <a:fillRect b="-1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B400512-FE63-43C7-78A9-AE40DED0A481}"/>
                  </a:ext>
                </a:extLst>
              </p:cNvPr>
              <p:cNvSpPr txBox="1"/>
              <p:nvPr/>
            </p:nvSpPr>
            <p:spPr>
              <a:xfrm>
                <a:off x="2478156" y="5366850"/>
                <a:ext cx="72008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𝑎𝑐𝑡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43273BF-73C4-CBC7-8844-BD7D037C5A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8156" y="5366850"/>
                <a:ext cx="720080" cy="338554"/>
              </a:xfrm>
              <a:prstGeom prst="rect">
                <a:avLst/>
              </a:prstGeom>
              <a:blipFill>
                <a:blip r:embed="rId9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29E6DD9-4C66-1D85-46E9-540429623AF3}"/>
                  </a:ext>
                </a:extLst>
              </p:cNvPr>
              <p:cNvSpPr txBox="1"/>
              <p:nvPr/>
            </p:nvSpPr>
            <p:spPr>
              <a:xfrm>
                <a:off x="2478156" y="5685731"/>
                <a:ext cx="720080" cy="3466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𝑑𝑒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2F9A3A2-629A-106F-5817-05F18BA14F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8156" y="5685731"/>
                <a:ext cx="720080" cy="346633"/>
              </a:xfrm>
              <a:prstGeom prst="rect">
                <a:avLst/>
              </a:prstGeom>
              <a:blipFill>
                <a:blip r:embed="rId10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084B7E4E-26F0-9D67-DC5B-2208E715A35E}"/>
              </a:ext>
            </a:extLst>
          </p:cNvPr>
          <p:cNvSpPr txBox="1"/>
          <p:nvPr/>
        </p:nvSpPr>
        <p:spPr>
          <a:xfrm>
            <a:off x="147836" y="1197496"/>
            <a:ext cx="61341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kern="0" dirty="0">
                <a:solidFill>
                  <a:schemeClr val="accent2">
                    <a:lumMod val="75000"/>
                  </a:schemeClr>
                </a:solidFill>
              </a:rPr>
              <a:t>How many State </a:t>
            </a:r>
            <a:br>
              <a:rPr lang="en-US" kern="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kern="0" dirty="0">
                <a:solidFill>
                  <a:schemeClr val="accent2">
                    <a:lumMod val="75000"/>
                  </a:schemeClr>
                </a:solidFill>
              </a:rPr>
              <a:t>variables do </a:t>
            </a:r>
            <a:br>
              <a:rPr lang="en-US" kern="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kern="0" dirty="0">
                <a:solidFill>
                  <a:schemeClr val="accent2">
                    <a:lumMod val="75000"/>
                  </a:schemeClr>
                </a:solidFill>
              </a:rPr>
              <a:t>we need?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ECE23FC-2FAB-E209-EA53-1062270A49E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5089" y="2107175"/>
            <a:ext cx="1722269" cy="1749899"/>
          </a:xfrm>
          <a:prstGeom prst="rect">
            <a:avLst/>
          </a:prstGeom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47930654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1E863-DFC1-55B1-29A2-7F0467006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2A65AF8-5BD4-7581-BF7F-CC8F6961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2958" y="44624"/>
            <a:ext cx="7992888" cy="620032"/>
          </a:xfrm>
        </p:spPr>
        <p:txBody>
          <a:bodyPr wrap="square" anchor="b">
            <a:normAutofit/>
          </a:bodyPr>
          <a:lstStyle/>
          <a:p>
            <a:r>
              <a:rPr lang="en-GB" dirty="0"/>
              <a:t>The Lead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87A84-AB51-43BB-7CCE-750A375E674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450" y="6541200"/>
            <a:ext cx="432600" cy="316800"/>
          </a:xfrm>
        </p:spPr>
        <p:txBody>
          <a:bodyPr anchor="ctr">
            <a:normAutofit/>
          </a:bodyPr>
          <a:lstStyle/>
          <a:p>
            <a:fld id="{103EA872-A674-449B-A120-B97244F8E91D}" type="slidenum">
              <a:rPr lang="en-GB" smtClean="0"/>
              <a:pPr/>
              <a:t>65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A10B79E-5438-B416-854C-B0E051AE6925}"/>
                  </a:ext>
                </a:extLst>
              </p:cNvPr>
              <p:cNvSpPr txBox="1"/>
              <p:nvPr/>
            </p:nvSpPr>
            <p:spPr>
              <a:xfrm>
                <a:off x="2965001" y="658859"/>
                <a:ext cx="9161283" cy="58192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You are responsible for the </a:t>
                </a:r>
                <a:r>
                  <a:rPr lang="en-US" dirty="0">
                    <a:solidFill>
                      <a:srgbClr val="FF0000"/>
                    </a:solidFill>
                  </a:rPr>
                  <a:t>hourly decisions </a:t>
                </a:r>
                <a:r>
                  <a:rPr lang="en-US" dirty="0"/>
                  <a:t>of an energy hub, comprising: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An industrial plant with known power demand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 wind turbine that generates electricity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𝑤𝑖𝑛𝑑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, which is uncertain and depends on the wind at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 dirty="0"/>
                  <a:t>, based on a stochastic process that is given to you.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An </a:t>
                </a:r>
                <a:r>
                  <a:rPr lang="en-US" dirty="0" err="1"/>
                  <a:t>electrolyzer</a:t>
                </a:r>
                <a:r>
                  <a:rPr lang="en-US" dirty="0"/>
                  <a:t> that </a:t>
                </a:r>
                <a:r>
                  <a:rPr lang="en-US" dirty="0">
                    <a:solidFill>
                      <a:schemeClr val="accent2"/>
                    </a:solidFill>
                  </a:rPr>
                  <a:t>turns electricity into hydrogen (up to an amount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 b="0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acc>
                  </m:oMath>
                </a14:m>
                <a:r>
                  <a:rPr lang="en-US" dirty="0">
                    <a:solidFill>
                      <a:schemeClr val="accent2"/>
                    </a:solidFill>
                  </a:rPr>
                  <a:t> per hour). </a:t>
                </a:r>
                <a:r>
                  <a:rPr lang="en-US" dirty="0"/>
                  <a:t>The conversion is linear with a conversion rate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 hydrogen storage tank of capacity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en-US" dirty="0"/>
                  <a:t>. When an amount of hydrogen is produced at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, it becomes </a:t>
                </a:r>
                <a:r>
                  <a:rPr lang="en-US" dirty="0">
                    <a:solidFill>
                      <a:srgbClr val="00B050"/>
                    </a:solidFill>
                  </a:rPr>
                  <a:t>stored and available in the tank </a:t>
                </a:r>
                <a:r>
                  <a:rPr lang="en-US" dirty="0"/>
                  <a:t>from the </a:t>
                </a:r>
                <a:r>
                  <a:rPr lang="en-US" u="sng" dirty="0"/>
                  <a:t>next</a:t>
                </a:r>
                <a:r>
                  <a:rPr lang="en-US" dirty="0"/>
                  <a:t> hour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 Hydrogen-to-Power unit that can </a:t>
                </a:r>
                <a:r>
                  <a:rPr lang="en-US" dirty="0">
                    <a:solidFill>
                      <a:schemeClr val="accent2"/>
                    </a:solidFill>
                  </a:rPr>
                  <a:t>convert stored hydrogen back to electricity (up to an amount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</m:acc>
                  </m:oMath>
                </a14:m>
                <a:r>
                  <a:rPr lang="en-US" dirty="0">
                    <a:solidFill>
                      <a:schemeClr val="accent2"/>
                    </a:solidFill>
                  </a:rPr>
                  <a:t> per hour)</a:t>
                </a:r>
                <a:r>
                  <a:rPr lang="en-US" dirty="0"/>
                  <a:t>. The conversion is linear with a conversion rate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p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pPr algn="just"/>
                <a:r>
                  <a:rPr lang="en-US" dirty="0"/>
                  <a:t>The hub can also </a:t>
                </a:r>
                <a:r>
                  <a:rPr lang="en-US" dirty="0">
                    <a:solidFill>
                      <a:schemeClr val="accent2"/>
                    </a:solidFill>
                  </a:rPr>
                  <a:t>draw power from the main grid </a:t>
                </a:r>
                <a:r>
                  <a:rPr lang="en-US" dirty="0">
                    <a:solidFill>
                      <a:srgbClr val="00B050"/>
                    </a:solidFill>
                  </a:rPr>
                  <a:t>at a price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𝑔𝑟𝑖𝑑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. The price at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is uncertain and depends on the price at </a:t>
                </a:r>
                <a:r>
                  <a:rPr lang="en-US" dirty="0" err="1">
                    <a:solidFill>
                      <a:srgbClr val="00B050"/>
                    </a:solidFill>
                  </a:rPr>
                  <a:t>at</a:t>
                </a:r>
                <a:r>
                  <a:rPr lang="en-US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 dirty="0"/>
                  <a:t>, and it is also correlated to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𝑤𝑖𝑛𝑑</m:t>
                        </m:r>
                      </m:sup>
                    </m:sSubSup>
                  </m:oMath>
                </a14:m>
                <a:r>
                  <a:rPr lang="en-US" dirty="0"/>
                  <a:t>. This stochastic process is given to you. The hub cannot inject power into the grid; any excess power is just wasted. </a:t>
                </a:r>
              </a:p>
              <a:p>
                <a:pPr algn="just"/>
                <a:r>
                  <a:rPr lang="en-US" dirty="0">
                    <a:solidFill>
                      <a:srgbClr val="00B050"/>
                    </a:solidFill>
                  </a:rPr>
                  <a:t>The </a:t>
                </a:r>
                <a:r>
                  <a:rPr lang="en-US" dirty="0" err="1">
                    <a:solidFill>
                      <a:srgbClr val="00B050"/>
                    </a:solidFill>
                  </a:rPr>
                  <a:t>electrolyzer</a:t>
                </a:r>
                <a:r>
                  <a:rPr lang="en-US" dirty="0">
                    <a:solidFill>
                      <a:srgbClr val="00B050"/>
                    </a:solidFill>
                  </a:rPr>
                  <a:t> can be ON or OFF</a:t>
                </a:r>
                <a:r>
                  <a:rPr lang="en-US" dirty="0"/>
                  <a:t>. When OFF, it cannot turn electricity into hydrogen. If it is </a:t>
                </a:r>
                <a:r>
                  <a:rPr lang="en-US" dirty="0">
                    <a:solidFill>
                      <a:schemeClr val="accent2"/>
                    </a:solidFill>
                  </a:rPr>
                  <a:t>activated (or deactivated) at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, it goes ON (respectively, OFF)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. For every hour that the </a:t>
                </a:r>
                <a:r>
                  <a:rPr lang="en-US" dirty="0" err="1"/>
                  <a:t>electrolyzer</a:t>
                </a:r>
                <a:r>
                  <a:rPr lang="en-US" dirty="0"/>
                  <a:t> is ON, it bears a fixed operational cost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elzr</m:t>
                        </m:r>
                      </m:sup>
                    </m:sSup>
                  </m:oMath>
                </a14:m>
                <a:r>
                  <a:rPr lang="en-US" dirty="0"/>
                  <a:t>. Your objective is to serve the power demand of the industrial plant at the minimum possible cost.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A10B79E-5438-B416-854C-B0E051AE69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5001" y="658859"/>
                <a:ext cx="9161283" cy="5819222"/>
              </a:xfrm>
              <a:prstGeom prst="rect">
                <a:avLst/>
              </a:prstGeom>
              <a:blipFill>
                <a:blip r:embed="rId4"/>
                <a:stretch>
                  <a:fillRect l="-333" t="-314" r="-3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FBBBABD-05F8-5561-1562-AFF27454099B}"/>
                  </a:ext>
                </a:extLst>
              </p:cNvPr>
              <p:cNvSpPr txBox="1"/>
              <p:nvPr/>
            </p:nvSpPr>
            <p:spPr>
              <a:xfrm>
                <a:off x="2494806" y="2058254"/>
                <a:ext cx="720080" cy="3869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FBBBABD-05F8-5561-1562-AFF2745409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4806" y="2058254"/>
                <a:ext cx="720080" cy="386965"/>
              </a:xfrm>
              <a:prstGeom prst="rect">
                <a:avLst/>
              </a:prstGeom>
              <a:blipFill>
                <a:blip r:embed="rId5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881A45A-8F0D-D98E-DC53-59B0EAD23CF1}"/>
                  </a:ext>
                </a:extLst>
              </p:cNvPr>
              <p:cNvSpPr txBox="1"/>
              <p:nvPr/>
            </p:nvSpPr>
            <p:spPr>
              <a:xfrm>
                <a:off x="2494806" y="3324170"/>
                <a:ext cx="720080" cy="3869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881A45A-8F0D-D98E-DC53-59B0EAD23C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4806" y="3324170"/>
                <a:ext cx="720080" cy="3869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8BEFAFB-83EC-5726-66FC-F7304FFB71FF}"/>
                  </a:ext>
                </a:extLst>
              </p:cNvPr>
              <p:cNvSpPr txBox="1"/>
              <p:nvPr/>
            </p:nvSpPr>
            <p:spPr>
              <a:xfrm>
                <a:off x="2494806" y="3833968"/>
                <a:ext cx="720080" cy="3920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𝑔𝑟𝑖𝑑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8BEFAFB-83EC-5726-66FC-F7304FFB71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4806" y="3833968"/>
                <a:ext cx="720080" cy="392095"/>
              </a:xfrm>
              <a:prstGeom prst="rect">
                <a:avLst/>
              </a:prstGeom>
              <a:blipFill>
                <a:blip r:embed="rId7"/>
                <a:stretch>
                  <a:fillRect b="-1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5420974-49D4-140D-3E92-1418CC7D1631}"/>
                  </a:ext>
                </a:extLst>
              </p:cNvPr>
              <p:cNvSpPr txBox="1"/>
              <p:nvPr/>
            </p:nvSpPr>
            <p:spPr>
              <a:xfrm>
                <a:off x="2478156" y="5366850"/>
                <a:ext cx="72008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𝑎𝑐𝑡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5420974-49D4-140D-3E92-1418CC7D16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8156" y="5366850"/>
                <a:ext cx="720080" cy="338554"/>
              </a:xfrm>
              <a:prstGeom prst="rect">
                <a:avLst/>
              </a:prstGeom>
              <a:blipFill>
                <a:blip r:embed="rId8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26AE649-0089-C0A3-846B-F4DBF3B57CD3}"/>
                  </a:ext>
                </a:extLst>
              </p:cNvPr>
              <p:cNvSpPr txBox="1"/>
              <p:nvPr/>
            </p:nvSpPr>
            <p:spPr>
              <a:xfrm>
                <a:off x="2478156" y="5685731"/>
                <a:ext cx="720080" cy="3466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𝑑𝑒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26AE649-0089-C0A3-846B-F4DBF3B57C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8156" y="5685731"/>
                <a:ext cx="720080" cy="346633"/>
              </a:xfrm>
              <a:prstGeom prst="rect">
                <a:avLst/>
              </a:prstGeom>
              <a:blipFill>
                <a:blip r:embed="rId9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8">
                <a:extLst>
                  <a:ext uri="{FF2B5EF4-FFF2-40B4-BE49-F238E27FC236}">
                    <a16:creationId xmlns:a16="http://schemas.microsoft.com/office/drawing/2014/main" id="{50B906DF-CA1A-57BA-6DDA-8386A8B76FF8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57259" y="4003013"/>
                <a:ext cx="2952327" cy="26965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198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14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6156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828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1026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1026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1026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1026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1026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r>
                  <a:rPr lang="en-US" kern="0" dirty="0">
                    <a:solidFill>
                      <a:srgbClr val="FF0000"/>
                    </a:solidFill>
                  </a:rPr>
                  <a:t>Stages </a:t>
                </a:r>
                <a14:m>
                  <m:oMath xmlns:m="http://schemas.openxmlformats.org/officeDocument/2006/math">
                    <m:r>
                      <a:rPr lang="en-US" i="1" kern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kern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kern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𝒯</m:t>
                    </m:r>
                  </m:oMath>
                </a14:m>
                <a:endParaRPr lang="en-US" kern="0" dirty="0">
                  <a:solidFill>
                    <a:srgbClr val="FF0000"/>
                  </a:solidFill>
                </a:endParaRPr>
              </a:p>
              <a:p>
                <a:r>
                  <a:rPr lang="en-US" kern="0" dirty="0">
                    <a:solidFill>
                      <a:srgbClr val="00B050"/>
                    </a:solidFill>
                  </a:rPr>
                  <a:t>State </a:t>
                </a:r>
                <a:br>
                  <a:rPr lang="en-US" kern="0" dirty="0">
                    <a:solidFill>
                      <a:srgbClr val="00B050"/>
                    </a:solidFill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 kern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kern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 kern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 kern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 kern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kern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kern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 kern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a:rPr lang="en-US" i="1" kern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 kern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 kern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kern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 kern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i="1" kern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 kern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 …</m:t>
                        </m:r>
                      </m:e>
                    </m:d>
                  </m:oMath>
                </a14:m>
                <a:endParaRPr lang="en-US" kern="0" dirty="0">
                  <a:solidFill>
                    <a:srgbClr val="00B050"/>
                  </a:solidFill>
                </a:endParaRPr>
              </a:p>
              <a:p>
                <a:r>
                  <a:rPr lang="en-US" kern="0" dirty="0">
                    <a:solidFill>
                      <a:schemeClr val="accent2"/>
                    </a:solidFill>
                  </a:rPr>
                  <a:t>Decision </a:t>
                </a:r>
                <a:br>
                  <a:rPr lang="en-US" kern="0" dirty="0">
                    <a:solidFill>
                      <a:schemeClr val="accent2"/>
                    </a:solidFill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 kern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kern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i="1" kern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 ker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 ker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ker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kern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 ker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a:rPr lang="en-US" i="1" ker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 ker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 ker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kern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 ker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i="1" ker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 ker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, …</m:t>
                        </m:r>
                      </m:e>
                    </m:d>
                  </m:oMath>
                </a14:m>
                <a:endParaRPr lang="en-US" kern="0" dirty="0"/>
              </a:p>
              <a:p>
                <a:r>
                  <a:rPr lang="en-US" kern="0" dirty="0"/>
                  <a:t>Dynamics </a:t>
                </a:r>
                <a:br>
                  <a:rPr lang="en-US" i="1" kern="0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kern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 kern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 kern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 kern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kern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kern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kern="0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i="1" kern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 kern="0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 kern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kern="0" smtClean="0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en-US" i="1" kern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kern="0" dirty="0"/>
              </a:p>
              <a:p>
                <a:r>
                  <a:rPr lang="en-US" kern="0" dirty="0"/>
                  <a:t>Cost </a:t>
                </a:r>
                <a14:m>
                  <m:oMath xmlns:m="http://schemas.openxmlformats.org/officeDocument/2006/math">
                    <m:r>
                      <a:rPr lang="en-US" b="0" i="1" kern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kern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kern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 kern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 kern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kern="0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i="1" kern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 kern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kern="0" dirty="0"/>
              </a:p>
            </p:txBody>
          </p:sp>
        </mc:Choice>
        <mc:Fallback xmlns="">
          <p:sp>
            <p:nvSpPr>
              <p:cNvPr id="13" name="Content Placeholder 8">
                <a:extLst>
                  <a:ext uri="{FF2B5EF4-FFF2-40B4-BE49-F238E27FC236}">
                    <a16:creationId xmlns:a16="http://schemas.microsoft.com/office/drawing/2014/main" id="{50B906DF-CA1A-57BA-6DDA-8386A8B76F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259" y="4003013"/>
                <a:ext cx="2952327" cy="2696587"/>
              </a:xfrm>
              <a:prstGeom prst="rect">
                <a:avLst/>
              </a:prstGeom>
              <a:blipFill>
                <a:blip r:embed="rId10"/>
                <a:stretch>
                  <a:fillRect l="-4330" t="-294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A5D446F-C60A-B7E5-487E-C70A3D4EEB45}"/>
                  </a:ext>
                </a:extLst>
              </p:cNvPr>
              <p:cNvSpPr txBox="1"/>
              <p:nvPr/>
            </p:nvSpPr>
            <p:spPr>
              <a:xfrm>
                <a:off x="2566814" y="1268555"/>
                <a:ext cx="648073" cy="3502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𝑤𝑖𝑛𝑑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A5D446F-C60A-B7E5-487E-C70A3D4EEB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6814" y="1268555"/>
                <a:ext cx="648073" cy="350224"/>
              </a:xfrm>
              <a:prstGeom prst="rect">
                <a:avLst/>
              </a:prstGeom>
              <a:blipFill>
                <a:blip r:embed="rId11"/>
                <a:stretch>
                  <a:fillRect b="-51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2DFB435-BA30-FC0C-7008-0C0622FE81D5}"/>
                  </a:ext>
                </a:extLst>
              </p:cNvPr>
              <p:cNvSpPr txBox="1"/>
              <p:nvPr/>
            </p:nvSpPr>
            <p:spPr>
              <a:xfrm>
                <a:off x="2530809" y="1624302"/>
                <a:ext cx="648073" cy="3618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𝑝𝑟𝑒𝑣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2DFB435-BA30-FC0C-7008-0C0622FE81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0809" y="1624302"/>
                <a:ext cx="648073" cy="361830"/>
              </a:xfrm>
              <a:prstGeom prst="rect">
                <a:avLst/>
              </a:prstGeom>
              <a:blipFill>
                <a:blip r:embed="rId12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FAEF55B-F567-559E-BDA7-B1AA366F3A01}"/>
                  </a:ext>
                </a:extLst>
              </p:cNvPr>
              <p:cNvSpPr txBox="1"/>
              <p:nvPr/>
            </p:nvSpPr>
            <p:spPr>
              <a:xfrm>
                <a:off x="2482362" y="2826176"/>
                <a:ext cx="64807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FAEF55B-F567-559E-BDA7-B1AA366F3A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2362" y="2826176"/>
                <a:ext cx="648073" cy="33855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90DB920-A8D1-04CD-A7FF-02765B33C6CF}"/>
                  </a:ext>
                </a:extLst>
              </p:cNvPr>
              <p:cNvSpPr txBox="1"/>
              <p:nvPr/>
            </p:nvSpPr>
            <p:spPr>
              <a:xfrm>
                <a:off x="2464163" y="4239862"/>
                <a:ext cx="648073" cy="3920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𝑔𝑟𝑖𝑑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90DB920-A8D1-04CD-A7FF-02765B33C6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4163" y="4239862"/>
                <a:ext cx="648073" cy="39209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77EFF5B-B273-3953-DFD6-A3207D65F62B}"/>
                  </a:ext>
                </a:extLst>
              </p:cNvPr>
              <p:cNvSpPr txBox="1"/>
              <p:nvPr/>
            </p:nvSpPr>
            <p:spPr>
              <a:xfrm>
                <a:off x="2464163" y="4573919"/>
                <a:ext cx="648073" cy="3618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𝑝𝑟𝑒𝑣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77EFF5B-B273-3953-DFD6-A3207D65F6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4163" y="4573919"/>
                <a:ext cx="648073" cy="36183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11E692A-F0F6-E03E-1FA5-67C210E20AA2}"/>
                  </a:ext>
                </a:extLst>
              </p:cNvPr>
              <p:cNvSpPr txBox="1"/>
              <p:nvPr/>
            </p:nvSpPr>
            <p:spPr>
              <a:xfrm>
                <a:off x="2482362" y="4998823"/>
                <a:ext cx="64807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11E692A-F0F6-E03E-1FA5-67C210E20A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2362" y="4998823"/>
                <a:ext cx="648073" cy="338554"/>
              </a:xfrm>
              <a:prstGeom prst="rect">
                <a:avLst/>
              </a:prstGeom>
              <a:blipFill>
                <a:blip r:embed="rId16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71118862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7A7BD-17C5-AA19-5A0F-51AF2344E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A101DFD-7507-0701-5642-9A9989105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2958" y="44624"/>
            <a:ext cx="7992888" cy="620032"/>
          </a:xfrm>
        </p:spPr>
        <p:txBody>
          <a:bodyPr wrap="square" anchor="b">
            <a:normAutofit/>
          </a:bodyPr>
          <a:lstStyle/>
          <a:p>
            <a:r>
              <a:rPr lang="en-GB" dirty="0"/>
              <a:t>The Lead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A919D0-4225-0633-2CF8-7EE7210CD9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450" y="6541200"/>
            <a:ext cx="432600" cy="316800"/>
          </a:xfrm>
        </p:spPr>
        <p:txBody>
          <a:bodyPr anchor="ctr">
            <a:normAutofit/>
          </a:bodyPr>
          <a:lstStyle/>
          <a:p>
            <a:fld id="{103EA872-A674-449B-A120-B97244F8E91D}" type="slidenum">
              <a:rPr lang="en-GB" smtClean="0"/>
              <a:pPr/>
              <a:t>66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6FF3AFC-62E4-CBA5-567E-AFC06227724B}"/>
                  </a:ext>
                </a:extLst>
              </p:cNvPr>
              <p:cNvSpPr txBox="1"/>
              <p:nvPr/>
            </p:nvSpPr>
            <p:spPr>
              <a:xfrm>
                <a:off x="2965001" y="658859"/>
                <a:ext cx="9161283" cy="58192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You are responsible for the </a:t>
                </a:r>
                <a:r>
                  <a:rPr lang="en-US" dirty="0">
                    <a:solidFill>
                      <a:srgbClr val="FF0000"/>
                    </a:solidFill>
                  </a:rPr>
                  <a:t>hourly decisions </a:t>
                </a:r>
                <a:r>
                  <a:rPr lang="en-US" dirty="0"/>
                  <a:t>of an energy hub, comprising: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An industrial plant with known power demand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 wind turbine that generates electricity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𝑤𝑖𝑛𝑑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, which is uncertain and depends on the wind at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 dirty="0"/>
                  <a:t>, based on a stochastic process that is given to you.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An </a:t>
                </a:r>
                <a:r>
                  <a:rPr lang="en-US" dirty="0" err="1"/>
                  <a:t>electrolyzer</a:t>
                </a:r>
                <a:r>
                  <a:rPr lang="en-US" dirty="0"/>
                  <a:t> that </a:t>
                </a:r>
                <a:r>
                  <a:rPr lang="en-US" dirty="0">
                    <a:solidFill>
                      <a:schemeClr val="accent2"/>
                    </a:solidFill>
                  </a:rPr>
                  <a:t>turns electricity into hydrogen (up to an amount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 b="0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acc>
                  </m:oMath>
                </a14:m>
                <a:r>
                  <a:rPr lang="en-US" dirty="0">
                    <a:solidFill>
                      <a:schemeClr val="accent2"/>
                    </a:solidFill>
                  </a:rPr>
                  <a:t> per hour). </a:t>
                </a:r>
                <a:r>
                  <a:rPr lang="en-US" dirty="0"/>
                  <a:t>The conversion is linear with a conversion rate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 hydrogen storage tank of capacity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en-US" dirty="0"/>
                  <a:t>. When an amount of hydrogen is produced at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, it becomes </a:t>
                </a:r>
                <a:r>
                  <a:rPr lang="en-US" dirty="0">
                    <a:solidFill>
                      <a:srgbClr val="00B050"/>
                    </a:solidFill>
                  </a:rPr>
                  <a:t>stored and available in the tank </a:t>
                </a:r>
                <a:r>
                  <a:rPr lang="en-US" dirty="0"/>
                  <a:t>from the </a:t>
                </a:r>
                <a:r>
                  <a:rPr lang="en-US" u="sng" dirty="0"/>
                  <a:t>next</a:t>
                </a:r>
                <a:r>
                  <a:rPr lang="en-US" dirty="0"/>
                  <a:t> hour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 Hydrogen-to-Power unit that can </a:t>
                </a:r>
                <a:r>
                  <a:rPr lang="en-US" dirty="0">
                    <a:solidFill>
                      <a:schemeClr val="accent2"/>
                    </a:solidFill>
                  </a:rPr>
                  <a:t>convert stored hydrogen back to electricity (up to an amount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</m:acc>
                  </m:oMath>
                </a14:m>
                <a:r>
                  <a:rPr lang="en-US" dirty="0">
                    <a:solidFill>
                      <a:schemeClr val="accent2"/>
                    </a:solidFill>
                  </a:rPr>
                  <a:t> per hour)</a:t>
                </a:r>
                <a:r>
                  <a:rPr lang="en-US" dirty="0"/>
                  <a:t>. The conversion is linear with a conversion rate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p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pPr algn="just"/>
                <a:r>
                  <a:rPr lang="en-US" dirty="0"/>
                  <a:t>The hub can also </a:t>
                </a:r>
                <a:r>
                  <a:rPr lang="en-US" dirty="0">
                    <a:solidFill>
                      <a:schemeClr val="accent2"/>
                    </a:solidFill>
                  </a:rPr>
                  <a:t>draw power from the main grid </a:t>
                </a:r>
                <a:r>
                  <a:rPr lang="en-US" dirty="0">
                    <a:solidFill>
                      <a:srgbClr val="00B050"/>
                    </a:solidFill>
                  </a:rPr>
                  <a:t>at a price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𝑔𝑟𝑖𝑑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. The price at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is uncertain and depends on the price at </a:t>
                </a:r>
                <a:r>
                  <a:rPr lang="en-US" dirty="0" err="1">
                    <a:solidFill>
                      <a:srgbClr val="00B050"/>
                    </a:solidFill>
                  </a:rPr>
                  <a:t>at</a:t>
                </a:r>
                <a:r>
                  <a:rPr lang="en-US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 dirty="0"/>
                  <a:t>, and it is also correlated to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𝑤𝑖𝑛𝑑</m:t>
                        </m:r>
                      </m:sup>
                    </m:sSubSup>
                  </m:oMath>
                </a14:m>
                <a:r>
                  <a:rPr lang="en-US" dirty="0"/>
                  <a:t>. This stochastic process is given to you. The hub cannot inject power into the grid; any excess power is just wasted. </a:t>
                </a:r>
              </a:p>
              <a:p>
                <a:pPr algn="just"/>
                <a:r>
                  <a:rPr lang="en-US" dirty="0">
                    <a:solidFill>
                      <a:srgbClr val="00B050"/>
                    </a:solidFill>
                  </a:rPr>
                  <a:t>The </a:t>
                </a:r>
                <a:r>
                  <a:rPr lang="en-US" dirty="0" err="1">
                    <a:solidFill>
                      <a:srgbClr val="00B050"/>
                    </a:solidFill>
                  </a:rPr>
                  <a:t>electrolyzer</a:t>
                </a:r>
                <a:r>
                  <a:rPr lang="en-US" dirty="0">
                    <a:solidFill>
                      <a:srgbClr val="00B050"/>
                    </a:solidFill>
                  </a:rPr>
                  <a:t> can be ON or OFF</a:t>
                </a:r>
                <a:r>
                  <a:rPr lang="en-US" dirty="0"/>
                  <a:t>. When OFF, it cannot turn electricity into hydrogen. If it is </a:t>
                </a:r>
                <a:r>
                  <a:rPr lang="en-US" dirty="0">
                    <a:solidFill>
                      <a:schemeClr val="accent2"/>
                    </a:solidFill>
                  </a:rPr>
                  <a:t>activated (or deactivated) at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, it goes ON (respectively, OFF)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. For every hour that the </a:t>
                </a:r>
                <a:r>
                  <a:rPr lang="en-US" dirty="0" err="1"/>
                  <a:t>electrolyzer</a:t>
                </a:r>
                <a:r>
                  <a:rPr lang="en-US" dirty="0"/>
                  <a:t> is ON, it bears a fixed operational cost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elzr</m:t>
                        </m:r>
                      </m:sup>
                    </m:sSup>
                  </m:oMath>
                </a14:m>
                <a:r>
                  <a:rPr lang="en-US" dirty="0"/>
                  <a:t>. Your objective is to serve the power demand of the industrial plant at the minimum possible cost.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6FF3AFC-62E4-CBA5-567E-AFC0622772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5001" y="658859"/>
                <a:ext cx="9161283" cy="5819222"/>
              </a:xfrm>
              <a:prstGeom prst="rect">
                <a:avLst/>
              </a:prstGeom>
              <a:blipFill>
                <a:blip r:embed="rId4"/>
                <a:stretch>
                  <a:fillRect l="-333" t="-314" r="-3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D48F761-678E-1CF2-6B4A-56B9988F503B}"/>
                  </a:ext>
                </a:extLst>
              </p:cNvPr>
              <p:cNvSpPr txBox="1"/>
              <p:nvPr/>
            </p:nvSpPr>
            <p:spPr>
              <a:xfrm>
                <a:off x="2494806" y="2058254"/>
                <a:ext cx="720080" cy="3869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D48F761-678E-1CF2-6B4A-56B9988F50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4806" y="2058254"/>
                <a:ext cx="720080" cy="386965"/>
              </a:xfrm>
              <a:prstGeom prst="rect">
                <a:avLst/>
              </a:prstGeom>
              <a:blipFill>
                <a:blip r:embed="rId5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505AC1A-FF38-684D-0EF9-04A0F08568AF}"/>
                  </a:ext>
                </a:extLst>
              </p:cNvPr>
              <p:cNvSpPr txBox="1"/>
              <p:nvPr/>
            </p:nvSpPr>
            <p:spPr>
              <a:xfrm>
                <a:off x="2494806" y="3324170"/>
                <a:ext cx="720080" cy="3869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505AC1A-FF38-684D-0EF9-04A0F08568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4806" y="3324170"/>
                <a:ext cx="720080" cy="3869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274B9CB-DF38-9E9D-2342-405C6FF0F67E}"/>
                  </a:ext>
                </a:extLst>
              </p:cNvPr>
              <p:cNvSpPr txBox="1"/>
              <p:nvPr/>
            </p:nvSpPr>
            <p:spPr>
              <a:xfrm>
                <a:off x="2494806" y="3833968"/>
                <a:ext cx="720080" cy="3920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𝑔𝑟𝑖𝑑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274B9CB-DF38-9E9D-2342-405C6FF0F6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4806" y="3833968"/>
                <a:ext cx="720080" cy="392095"/>
              </a:xfrm>
              <a:prstGeom prst="rect">
                <a:avLst/>
              </a:prstGeom>
              <a:blipFill>
                <a:blip r:embed="rId7"/>
                <a:stretch>
                  <a:fillRect b="-1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11FE0F6-292C-0FFD-F580-5200E0633A94}"/>
                  </a:ext>
                </a:extLst>
              </p:cNvPr>
              <p:cNvSpPr txBox="1"/>
              <p:nvPr/>
            </p:nvSpPr>
            <p:spPr>
              <a:xfrm>
                <a:off x="2478156" y="5366850"/>
                <a:ext cx="72008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𝑎𝑐𝑡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11FE0F6-292C-0FFD-F580-5200E0633A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8156" y="5366850"/>
                <a:ext cx="720080" cy="338554"/>
              </a:xfrm>
              <a:prstGeom prst="rect">
                <a:avLst/>
              </a:prstGeom>
              <a:blipFill>
                <a:blip r:embed="rId8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D749288-6408-278C-457F-3C42FDA9A8D7}"/>
                  </a:ext>
                </a:extLst>
              </p:cNvPr>
              <p:cNvSpPr txBox="1"/>
              <p:nvPr/>
            </p:nvSpPr>
            <p:spPr>
              <a:xfrm>
                <a:off x="2478156" y="5685731"/>
                <a:ext cx="720080" cy="3466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𝑑𝑒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D749288-6408-278C-457F-3C42FDA9A8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8156" y="5685731"/>
                <a:ext cx="720080" cy="346633"/>
              </a:xfrm>
              <a:prstGeom prst="rect">
                <a:avLst/>
              </a:prstGeom>
              <a:blipFill>
                <a:blip r:embed="rId9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A5A6CF6-BB0E-2471-3F6E-DF836E7F9460}"/>
                  </a:ext>
                </a:extLst>
              </p:cNvPr>
              <p:cNvSpPr txBox="1"/>
              <p:nvPr/>
            </p:nvSpPr>
            <p:spPr>
              <a:xfrm>
                <a:off x="2566814" y="1268555"/>
                <a:ext cx="648073" cy="3502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𝑤𝑖𝑛𝑑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A5A6CF6-BB0E-2471-3F6E-DF836E7F94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6814" y="1268555"/>
                <a:ext cx="648073" cy="350224"/>
              </a:xfrm>
              <a:prstGeom prst="rect">
                <a:avLst/>
              </a:prstGeom>
              <a:blipFill>
                <a:blip r:embed="rId10"/>
                <a:stretch>
                  <a:fillRect b="-51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83FAA16-0328-FB5A-084F-2EA7F948C735}"/>
                  </a:ext>
                </a:extLst>
              </p:cNvPr>
              <p:cNvSpPr txBox="1"/>
              <p:nvPr/>
            </p:nvSpPr>
            <p:spPr>
              <a:xfrm>
                <a:off x="2530809" y="1624302"/>
                <a:ext cx="648073" cy="3618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𝑝𝑟𝑒𝑣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83FAA16-0328-FB5A-084F-2EA7F948C7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0809" y="1624302"/>
                <a:ext cx="648073" cy="361830"/>
              </a:xfrm>
              <a:prstGeom prst="rect">
                <a:avLst/>
              </a:prstGeom>
              <a:blipFill>
                <a:blip r:embed="rId11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7057D0E-9124-C10A-7342-706B88832F8F}"/>
                  </a:ext>
                </a:extLst>
              </p:cNvPr>
              <p:cNvSpPr txBox="1"/>
              <p:nvPr/>
            </p:nvSpPr>
            <p:spPr>
              <a:xfrm>
                <a:off x="2482362" y="2826176"/>
                <a:ext cx="64807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7057D0E-9124-C10A-7342-706B88832F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2362" y="2826176"/>
                <a:ext cx="648073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F6568D-2A30-0ABE-3CF8-556E6F3DD36E}"/>
                  </a:ext>
                </a:extLst>
              </p:cNvPr>
              <p:cNvSpPr txBox="1"/>
              <p:nvPr/>
            </p:nvSpPr>
            <p:spPr>
              <a:xfrm>
                <a:off x="2464163" y="4239862"/>
                <a:ext cx="648073" cy="3920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𝑔𝑟𝑖𝑑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F6568D-2A30-0ABE-3CF8-556E6F3DD3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4163" y="4239862"/>
                <a:ext cx="648073" cy="39209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939EEAB-1371-7FE0-7EB4-848BB8BF2911}"/>
                  </a:ext>
                </a:extLst>
              </p:cNvPr>
              <p:cNvSpPr txBox="1"/>
              <p:nvPr/>
            </p:nvSpPr>
            <p:spPr>
              <a:xfrm>
                <a:off x="2464163" y="4573919"/>
                <a:ext cx="648073" cy="3618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𝑝𝑟𝑒𝑣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939EEAB-1371-7FE0-7EB4-848BB8BF29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4163" y="4573919"/>
                <a:ext cx="648073" cy="36183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8810C1B-77C9-31E9-6CA4-A760D1BD097E}"/>
                  </a:ext>
                </a:extLst>
              </p:cNvPr>
              <p:cNvSpPr txBox="1"/>
              <p:nvPr/>
            </p:nvSpPr>
            <p:spPr>
              <a:xfrm>
                <a:off x="2482362" y="4998823"/>
                <a:ext cx="64807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8810C1B-77C9-31E9-6CA4-A760D1BD09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2362" y="4998823"/>
                <a:ext cx="648073" cy="338554"/>
              </a:xfrm>
              <a:prstGeom prst="rect">
                <a:avLst/>
              </a:prstGeom>
              <a:blipFill>
                <a:blip r:embed="rId15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409BAF7-1B1D-24A6-7478-70BFF6D9A2AB}"/>
                  </a:ext>
                </a:extLst>
              </p:cNvPr>
              <p:cNvSpPr txBox="1"/>
              <p:nvPr/>
            </p:nvSpPr>
            <p:spPr>
              <a:xfrm>
                <a:off x="64129" y="1177063"/>
                <a:ext cx="2358669" cy="370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𝑤𝑖𝑛𝑑</m:t>
                          </m:r>
                        </m:sup>
                      </m:sSubSup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⋅|</m:t>
                          </m:r>
                          <m:sSubSup>
                            <m:sSubSup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𝑤𝑖𝑛𝑑</m:t>
                              </m:r>
                            </m:sup>
                          </m:sSubSup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𝑝𝑟𝑒𝑣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409BAF7-1B1D-24A6-7478-70BFF6D9A2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29" y="1177063"/>
                <a:ext cx="2358669" cy="370551"/>
              </a:xfrm>
              <a:prstGeom prst="rect">
                <a:avLst/>
              </a:prstGeom>
              <a:blipFill>
                <a:blip r:embed="rId1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19BF7F5-67F9-AC54-60D1-E2AAD9229E43}"/>
                  </a:ext>
                </a:extLst>
              </p:cNvPr>
              <p:cNvSpPr txBox="1"/>
              <p:nvPr/>
            </p:nvSpPr>
            <p:spPr>
              <a:xfrm>
                <a:off x="64129" y="1549129"/>
                <a:ext cx="1710597" cy="3650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𝑝𝑟𝑒𝑣</m:t>
                          </m:r>
                        </m:sup>
                      </m:sSubSup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𝑤𝑖𝑛𝑑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19BF7F5-67F9-AC54-60D1-E2AAD9229E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29" y="1549129"/>
                <a:ext cx="1710597" cy="365036"/>
              </a:xfrm>
              <a:prstGeom prst="rect">
                <a:avLst/>
              </a:prstGeom>
              <a:blipFill>
                <a:blip r:embed="rId17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FE70697-AE48-F93F-E88C-CFB6E0B7435A}"/>
                  </a:ext>
                </a:extLst>
              </p:cNvPr>
              <p:cNvSpPr txBox="1"/>
              <p:nvPr/>
            </p:nvSpPr>
            <p:spPr>
              <a:xfrm>
                <a:off x="28745" y="2433906"/>
                <a:ext cx="2790718" cy="3869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b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b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FE70697-AE48-F93F-E88C-CFB6E0B743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45" y="2433906"/>
                <a:ext cx="2790718" cy="386965"/>
              </a:xfrm>
              <a:prstGeom prst="rect">
                <a:avLst/>
              </a:prstGeom>
              <a:blipFill>
                <a:blip r:embed="rId18"/>
                <a:stretch>
                  <a:fillRect b="-1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FAB0C87-EB19-7012-AF43-CA9B14C30B82}"/>
                  </a:ext>
                </a:extLst>
              </p:cNvPr>
              <p:cNvSpPr txBox="1"/>
              <p:nvPr/>
            </p:nvSpPr>
            <p:spPr>
              <a:xfrm>
                <a:off x="8419" y="4135495"/>
                <a:ext cx="3421859" cy="6780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𝑔𝑟𝑖𝑑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</m:oMath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⋅|</m:t>
                          </m:r>
                          <m:sSubSup>
                            <m:sSubSupPr>
                              <m:ctrlP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l-GR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𝑔𝑟𝑖𝑑</m:t>
                              </m:r>
                            </m:sup>
                          </m:sSubSup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l-GR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𝑝𝑟𝑒𝑣</m:t>
                              </m:r>
                            </m:sup>
                          </m:sSubSup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𝑤𝑖𝑛𝑑</m:t>
                              </m:r>
                            </m:sup>
                          </m:sSubSup>
                          <m:r>
                            <a:rPr 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𝑝𝑟𝑒𝑣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FAB0C87-EB19-7012-AF43-CA9B14C30B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9" y="4135495"/>
                <a:ext cx="3421859" cy="678071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B9892F3-EC91-FC1C-66D6-C1B6309E5F18}"/>
                  </a:ext>
                </a:extLst>
              </p:cNvPr>
              <p:cNvSpPr txBox="1"/>
              <p:nvPr/>
            </p:nvSpPr>
            <p:spPr>
              <a:xfrm>
                <a:off x="8751" y="4870399"/>
                <a:ext cx="1710597" cy="3928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𝑝𝑟𝑒𝑣</m:t>
                          </m:r>
                        </m:sup>
                      </m:sSubSup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𝑔𝑟𝑖𝑑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B9892F3-EC91-FC1C-66D6-C1B6309E5F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1" y="4870399"/>
                <a:ext cx="1710597" cy="39286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33D6CE7-3B50-337D-36A8-BA722A8DDD9E}"/>
                  </a:ext>
                </a:extLst>
              </p:cNvPr>
              <p:cNvSpPr txBox="1"/>
              <p:nvPr/>
            </p:nvSpPr>
            <p:spPr>
              <a:xfrm>
                <a:off x="44696" y="5246911"/>
                <a:ext cx="2386521" cy="3466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𝑎𝑐𝑡</m:t>
                        </m:r>
                      </m:sup>
                    </m:sSubSup>
                    <m:r>
                      <a:rPr lang="en-US" b="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>
                    <a:solidFill>
                      <a:schemeClr val="accent2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𝑑𝑒</m:t>
                        </m:r>
                      </m:sup>
                    </m:sSub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33D6CE7-3B50-337D-36A8-BA722A8DDD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96" y="5246911"/>
                <a:ext cx="2386521" cy="346633"/>
              </a:xfrm>
              <a:prstGeom prst="rect">
                <a:avLst/>
              </a:prstGeom>
              <a:blipFill>
                <a:blip r:embed="rId21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5586184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8FF76-B5E5-BE21-E65B-E473142CE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06A8A7D-778A-09C7-B2BA-DFD606FCB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2958" y="44624"/>
            <a:ext cx="7992888" cy="620032"/>
          </a:xfrm>
        </p:spPr>
        <p:txBody>
          <a:bodyPr wrap="square" anchor="b">
            <a:normAutofit/>
          </a:bodyPr>
          <a:lstStyle/>
          <a:p>
            <a:r>
              <a:rPr lang="en-GB" dirty="0"/>
              <a:t>The Lead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CE7F9B-ABA4-8A97-BC28-D4C442B93F6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450" y="6541200"/>
            <a:ext cx="432600" cy="316800"/>
          </a:xfrm>
        </p:spPr>
        <p:txBody>
          <a:bodyPr anchor="ctr">
            <a:normAutofit/>
          </a:bodyPr>
          <a:lstStyle/>
          <a:p>
            <a:fld id="{103EA872-A674-449B-A120-B97244F8E91D}" type="slidenum">
              <a:rPr lang="en-GB" smtClean="0"/>
              <a:pPr/>
              <a:t>67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97B97ED-08E3-1262-34CF-F09ECB2C6204}"/>
                  </a:ext>
                </a:extLst>
              </p:cNvPr>
              <p:cNvSpPr txBox="1"/>
              <p:nvPr/>
            </p:nvSpPr>
            <p:spPr>
              <a:xfrm>
                <a:off x="2965001" y="658859"/>
                <a:ext cx="9161283" cy="58192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You are responsible for the </a:t>
                </a:r>
                <a:r>
                  <a:rPr lang="en-US" dirty="0">
                    <a:solidFill>
                      <a:srgbClr val="FF0000"/>
                    </a:solidFill>
                  </a:rPr>
                  <a:t>hourly decisions </a:t>
                </a:r>
                <a:r>
                  <a:rPr lang="en-US" dirty="0"/>
                  <a:t>of an energy hub, comprising: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An industrial plant with known power demand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 wind turbine that generates electricity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𝑤𝑖𝑛𝑑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, which is uncertain and depends on the wind at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 dirty="0"/>
                  <a:t>, based on a stochastic process that is given to you.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An </a:t>
                </a:r>
                <a:r>
                  <a:rPr lang="en-US" dirty="0" err="1"/>
                  <a:t>electrolyzer</a:t>
                </a:r>
                <a:r>
                  <a:rPr lang="en-US" dirty="0"/>
                  <a:t> that </a:t>
                </a:r>
                <a:r>
                  <a:rPr lang="en-US" dirty="0">
                    <a:solidFill>
                      <a:schemeClr val="accent2"/>
                    </a:solidFill>
                  </a:rPr>
                  <a:t>turns electricity into hydrogen (up to an amount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 b="0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acc>
                  </m:oMath>
                </a14:m>
                <a:r>
                  <a:rPr lang="en-US" dirty="0">
                    <a:solidFill>
                      <a:schemeClr val="accent2"/>
                    </a:solidFill>
                  </a:rPr>
                  <a:t> per hour). </a:t>
                </a:r>
                <a:r>
                  <a:rPr lang="en-US" dirty="0"/>
                  <a:t>The conversion is linear with a conversion rate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 hydrogen storage tank of capacity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en-US" dirty="0"/>
                  <a:t>. When an amount of hydrogen is produced at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, it becomes </a:t>
                </a:r>
                <a:r>
                  <a:rPr lang="en-US" dirty="0">
                    <a:solidFill>
                      <a:srgbClr val="00B050"/>
                    </a:solidFill>
                  </a:rPr>
                  <a:t>stored and available in the tank </a:t>
                </a:r>
                <a:r>
                  <a:rPr lang="en-US" dirty="0"/>
                  <a:t>from the </a:t>
                </a:r>
                <a:r>
                  <a:rPr lang="en-US" u="sng" dirty="0"/>
                  <a:t>next</a:t>
                </a:r>
                <a:r>
                  <a:rPr lang="en-US" dirty="0"/>
                  <a:t> hour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 Hydrogen-to-Power unit that can </a:t>
                </a:r>
                <a:r>
                  <a:rPr lang="en-US" dirty="0">
                    <a:solidFill>
                      <a:schemeClr val="accent2"/>
                    </a:solidFill>
                  </a:rPr>
                  <a:t>convert stored hydrogen back to electricity (up to an amount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</m:acc>
                  </m:oMath>
                </a14:m>
                <a:r>
                  <a:rPr lang="en-US" dirty="0">
                    <a:solidFill>
                      <a:schemeClr val="accent2"/>
                    </a:solidFill>
                  </a:rPr>
                  <a:t> per hour)</a:t>
                </a:r>
                <a:r>
                  <a:rPr lang="en-US" dirty="0"/>
                  <a:t>. The conversion is linear with a conversion rate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p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pPr algn="just"/>
                <a:r>
                  <a:rPr lang="en-US" dirty="0"/>
                  <a:t>The hub can also </a:t>
                </a:r>
                <a:r>
                  <a:rPr lang="en-US" dirty="0">
                    <a:solidFill>
                      <a:schemeClr val="accent2"/>
                    </a:solidFill>
                  </a:rPr>
                  <a:t>draw power from the main grid </a:t>
                </a:r>
                <a:r>
                  <a:rPr lang="en-US" dirty="0">
                    <a:solidFill>
                      <a:srgbClr val="00B050"/>
                    </a:solidFill>
                  </a:rPr>
                  <a:t>at a price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𝑔𝑟𝑖𝑑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. The price at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is uncertain and depends on the price at </a:t>
                </a:r>
                <a:r>
                  <a:rPr lang="en-US" dirty="0" err="1">
                    <a:solidFill>
                      <a:srgbClr val="00B050"/>
                    </a:solidFill>
                  </a:rPr>
                  <a:t>at</a:t>
                </a:r>
                <a:r>
                  <a:rPr lang="en-US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 dirty="0"/>
                  <a:t>, and it is also correlated to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𝑤𝑖𝑛𝑑</m:t>
                        </m:r>
                      </m:sup>
                    </m:sSubSup>
                  </m:oMath>
                </a14:m>
                <a:r>
                  <a:rPr lang="en-US" dirty="0"/>
                  <a:t>. This stochastic process is given to you. The hub cannot inject power into the grid; any excess power is just wasted. </a:t>
                </a:r>
              </a:p>
              <a:p>
                <a:pPr algn="just"/>
                <a:r>
                  <a:rPr lang="en-US" dirty="0">
                    <a:solidFill>
                      <a:srgbClr val="00B050"/>
                    </a:solidFill>
                  </a:rPr>
                  <a:t>The </a:t>
                </a:r>
                <a:r>
                  <a:rPr lang="en-US" dirty="0" err="1">
                    <a:solidFill>
                      <a:srgbClr val="00B050"/>
                    </a:solidFill>
                  </a:rPr>
                  <a:t>electrolyzer</a:t>
                </a:r>
                <a:r>
                  <a:rPr lang="en-US" dirty="0">
                    <a:solidFill>
                      <a:srgbClr val="00B050"/>
                    </a:solidFill>
                  </a:rPr>
                  <a:t> can be ON or OFF</a:t>
                </a:r>
                <a:r>
                  <a:rPr lang="en-US" dirty="0"/>
                  <a:t>. When OFF, it cannot turn electricity into hydrogen. If it is </a:t>
                </a:r>
                <a:r>
                  <a:rPr lang="en-US" dirty="0">
                    <a:solidFill>
                      <a:schemeClr val="accent2"/>
                    </a:solidFill>
                  </a:rPr>
                  <a:t>activated (or deactivated) at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, it goes ON (respectively, OFF)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. For every hour that the </a:t>
                </a:r>
                <a:r>
                  <a:rPr lang="en-US" dirty="0" err="1"/>
                  <a:t>electrolyzer</a:t>
                </a:r>
                <a:r>
                  <a:rPr lang="en-US" dirty="0"/>
                  <a:t> is ON, it bears a fixed operational cost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elzr</m:t>
                        </m:r>
                      </m:sup>
                    </m:sSup>
                  </m:oMath>
                </a14:m>
                <a:r>
                  <a:rPr lang="en-US" dirty="0"/>
                  <a:t>. Your objective is to serve the power demand of the industrial plant at the minimum possible cost.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6FF3AFC-62E4-CBA5-567E-AFC0622772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5001" y="658859"/>
                <a:ext cx="9161283" cy="5819222"/>
              </a:xfrm>
              <a:prstGeom prst="rect">
                <a:avLst/>
              </a:prstGeom>
              <a:blipFill>
                <a:blip r:embed="rId4"/>
                <a:stretch>
                  <a:fillRect l="-333" t="-314" r="-3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C1806E8-9E65-EE1C-A73F-A94A7A160116}"/>
                  </a:ext>
                </a:extLst>
              </p:cNvPr>
              <p:cNvSpPr txBox="1"/>
              <p:nvPr/>
            </p:nvSpPr>
            <p:spPr>
              <a:xfrm>
                <a:off x="2494806" y="2058254"/>
                <a:ext cx="720080" cy="3869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D48F761-678E-1CF2-6B4A-56B9988F50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4806" y="2058254"/>
                <a:ext cx="720080" cy="386965"/>
              </a:xfrm>
              <a:prstGeom prst="rect">
                <a:avLst/>
              </a:prstGeom>
              <a:blipFill>
                <a:blip r:embed="rId5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C9FFD35-5295-3038-ED34-EA9E56BAFADC}"/>
                  </a:ext>
                </a:extLst>
              </p:cNvPr>
              <p:cNvSpPr txBox="1"/>
              <p:nvPr/>
            </p:nvSpPr>
            <p:spPr>
              <a:xfrm>
                <a:off x="2494806" y="3324170"/>
                <a:ext cx="720080" cy="3869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505AC1A-FF38-684D-0EF9-04A0F08568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4806" y="3324170"/>
                <a:ext cx="720080" cy="3869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A020141-5C3E-DE03-27D6-E37D8C353DD5}"/>
                  </a:ext>
                </a:extLst>
              </p:cNvPr>
              <p:cNvSpPr txBox="1"/>
              <p:nvPr/>
            </p:nvSpPr>
            <p:spPr>
              <a:xfrm>
                <a:off x="2494806" y="3833968"/>
                <a:ext cx="720080" cy="3920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𝑔𝑟𝑖𝑑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274B9CB-DF38-9E9D-2342-405C6FF0F6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4806" y="3833968"/>
                <a:ext cx="720080" cy="392095"/>
              </a:xfrm>
              <a:prstGeom prst="rect">
                <a:avLst/>
              </a:prstGeom>
              <a:blipFill>
                <a:blip r:embed="rId7"/>
                <a:stretch>
                  <a:fillRect b="-1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FCA5E9A-A8BC-870F-E16A-E2929A65C5C7}"/>
                  </a:ext>
                </a:extLst>
              </p:cNvPr>
              <p:cNvSpPr txBox="1"/>
              <p:nvPr/>
            </p:nvSpPr>
            <p:spPr>
              <a:xfrm>
                <a:off x="2478156" y="5366850"/>
                <a:ext cx="72008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𝑎𝑐𝑡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11FE0F6-292C-0FFD-F580-5200E0633A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8156" y="5366850"/>
                <a:ext cx="720080" cy="338554"/>
              </a:xfrm>
              <a:prstGeom prst="rect">
                <a:avLst/>
              </a:prstGeom>
              <a:blipFill>
                <a:blip r:embed="rId8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82ECDFB-4336-D569-9B0B-296A13C94CC3}"/>
                  </a:ext>
                </a:extLst>
              </p:cNvPr>
              <p:cNvSpPr txBox="1"/>
              <p:nvPr/>
            </p:nvSpPr>
            <p:spPr>
              <a:xfrm>
                <a:off x="2478156" y="5685731"/>
                <a:ext cx="720080" cy="3466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𝑑𝑒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D749288-6408-278C-457F-3C42FDA9A8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8156" y="5685731"/>
                <a:ext cx="720080" cy="346633"/>
              </a:xfrm>
              <a:prstGeom prst="rect">
                <a:avLst/>
              </a:prstGeom>
              <a:blipFill>
                <a:blip r:embed="rId9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FA472F3-6B79-7508-302C-9802209B171D}"/>
                  </a:ext>
                </a:extLst>
              </p:cNvPr>
              <p:cNvSpPr txBox="1"/>
              <p:nvPr/>
            </p:nvSpPr>
            <p:spPr>
              <a:xfrm>
                <a:off x="2566814" y="1268555"/>
                <a:ext cx="648073" cy="3502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𝑤𝑖𝑛𝑑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A5A6CF6-BB0E-2471-3F6E-DF836E7F94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6814" y="1268555"/>
                <a:ext cx="648073" cy="350224"/>
              </a:xfrm>
              <a:prstGeom prst="rect">
                <a:avLst/>
              </a:prstGeom>
              <a:blipFill>
                <a:blip r:embed="rId10"/>
                <a:stretch>
                  <a:fillRect b="-51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7562FFA-E9E2-6919-232D-A36432CA6315}"/>
                  </a:ext>
                </a:extLst>
              </p:cNvPr>
              <p:cNvSpPr txBox="1"/>
              <p:nvPr/>
            </p:nvSpPr>
            <p:spPr>
              <a:xfrm>
                <a:off x="2530809" y="1624302"/>
                <a:ext cx="648073" cy="3618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𝑝𝑟𝑒𝑣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83FAA16-0328-FB5A-084F-2EA7F948C7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0809" y="1624302"/>
                <a:ext cx="648073" cy="361830"/>
              </a:xfrm>
              <a:prstGeom prst="rect">
                <a:avLst/>
              </a:prstGeom>
              <a:blipFill>
                <a:blip r:embed="rId11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6E6319A-EBB0-A461-36C7-5634EE72AB46}"/>
                  </a:ext>
                </a:extLst>
              </p:cNvPr>
              <p:cNvSpPr txBox="1"/>
              <p:nvPr/>
            </p:nvSpPr>
            <p:spPr>
              <a:xfrm>
                <a:off x="2482362" y="2826176"/>
                <a:ext cx="64807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7057D0E-9124-C10A-7342-706B88832F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2362" y="2826176"/>
                <a:ext cx="648073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41C85FF-31D0-05F5-B0E4-2A1367156807}"/>
                  </a:ext>
                </a:extLst>
              </p:cNvPr>
              <p:cNvSpPr txBox="1"/>
              <p:nvPr/>
            </p:nvSpPr>
            <p:spPr>
              <a:xfrm>
                <a:off x="2464163" y="4239862"/>
                <a:ext cx="648073" cy="3920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𝑔𝑟𝑖𝑑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F6568D-2A30-0ABE-3CF8-556E6F3DD3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4163" y="4239862"/>
                <a:ext cx="648073" cy="39209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CE620EA-EA3C-897F-01D4-28D4BBED0559}"/>
                  </a:ext>
                </a:extLst>
              </p:cNvPr>
              <p:cNvSpPr txBox="1"/>
              <p:nvPr/>
            </p:nvSpPr>
            <p:spPr>
              <a:xfrm>
                <a:off x="2464163" y="4573919"/>
                <a:ext cx="648073" cy="3618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𝑝𝑟𝑒𝑣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939EEAB-1371-7FE0-7EB4-848BB8BF29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4163" y="4573919"/>
                <a:ext cx="648073" cy="36183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CF9F03E-021E-45CE-FF4D-BDFDFA150810}"/>
                  </a:ext>
                </a:extLst>
              </p:cNvPr>
              <p:cNvSpPr txBox="1"/>
              <p:nvPr/>
            </p:nvSpPr>
            <p:spPr>
              <a:xfrm>
                <a:off x="2482362" y="4998823"/>
                <a:ext cx="64807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8810C1B-77C9-31E9-6CA4-A760D1BD09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2362" y="4998823"/>
                <a:ext cx="648073" cy="338554"/>
              </a:xfrm>
              <a:prstGeom prst="rect">
                <a:avLst/>
              </a:prstGeom>
              <a:blipFill>
                <a:blip r:embed="rId15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0F92036-6174-B83F-6D54-40A85E74C904}"/>
                  </a:ext>
                </a:extLst>
              </p:cNvPr>
              <p:cNvSpPr txBox="1"/>
              <p:nvPr/>
            </p:nvSpPr>
            <p:spPr>
              <a:xfrm>
                <a:off x="64129" y="1177063"/>
                <a:ext cx="2358669" cy="370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𝑤𝑖𝑛𝑑</m:t>
                          </m:r>
                        </m:sup>
                      </m:sSubSup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⋅|</m:t>
                          </m:r>
                          <m:sSubSup>
                            <m:sSubSup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𝑤𝑖𝑛𝑑</m:t>
                              </m:r>
                            </m:sup>
                          </m:sSubSup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𝑝𝑟𝑒𝑣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409BAF7-1B1D-24A6-7478-70BFF6D9A2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29" y="1177063"/>
                <a:ext cx="2358669" cy="370551"/>
              </a:xfrm>
              <a:prstGeom prst="rect">
                <a:avLst/>
              </a:prstGeom>
              <a:blipFill>
                <a:blip r:embed="rId1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FC7C445-F9A6-AF7C-CE90-5D19EC6407EC}"/>
                  </a:ext>
                </a:extLst>
              </p:cNvPr>
              <p:cNvSpPr txBox="1"/>
              <p:nvPr/>
            </p:nvSpPr>
            <p:spPr>
              <a:xfrm>
                <a:off x="64129" y="1549129"/>
                <a:ext cx="1710597" cy="3650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𝑝𝑟𝑒𝑣</m:t>
                          </m:r>
                        </m:sup>
                      </m:sSubSup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𝑤𝑖𝑛𝑑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19BF7F5-67F9-AC54-60D1-E2AAD9229E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29" y="1549129"/>
                <a:ext cx="1710597" cy="365036"/>
              </a:xfrm>
              <a:prstGeom prst="rect">
                <a:avLst/>
              </a:prstGeom>
              <a:blipFill>
                <a:blip r:embed="rId17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F6A391A-2817-9133-8F23-613D28FAF9BE}"/>
                  </a:ext>
                </a:extLst>
              </p:cNvPr>
              <p:cNvSpPr txBox="1"/>
              <p:nvPr/>
            </p:nvSpPr>
            <p:spPr>
              <a:xfrm>
                <a:off x="28745" y="2433906"/>
                <a:ext cx="2790718" cy="3869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b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b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FE70697-AE48-F93F-E88C-CFB6E0B743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45" y="2433906"/>
                <a:ext cx="2790718" cy="386965"/>
              </a:xfrm>
              <a:prstGeom prst="rect">
                <a:avLst/>
              </a:prstGeom>
              <a:blipFill>
                <a:blip r:embed="rId18"/>
                <a:stretch>
                  <a:fillRect b="-1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5F1FC69-B93B-787E-7A51-F3B5D80ED81D}"/>
                  </a:ext>
                </a:extLst>
              </p:cNvPr>
              <p:cNvSpPr txBox="1"/>
              <p:nvPr/>
            </p:nvSpPr>
            <p:spPr>
              <a:xfrm>
                <a:off x="8419" y="4135495"/>
                <a:ext cx="3421859" cy="6780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𝑔𝑟𝑖𝑑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</m:oMath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⋅|</m:t>
                          </m:r>
                          <m:sSubSup>
                            <m:sSubSupPr>
                              <m:ctrlP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l-GR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𝑔𝑟𝑖𝑑</m:t>
                              </m:r>
                            </m:sup>
                          </m:sSubSup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l-GR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𝑝𝑟𝑒𝑣</m:t>
                              </m:r>
                            </m:sup>
                          </m:sSubSup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𝑤𝑖𝑛𝑑</m:t>
                              </m:r>
                            </m:sup>
                          </m:sSubSup>
                          <m:r>
                            <a:rPr 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𝑝𝑟𝑒𝑣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FAB0C87-EB19-7012-AF43-CA9B14C30B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9" y="4135495"/>
                <a:ext cx="3421859" cy="678071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C9C4781-9DFE-5C70-F7FB-D7255AD22D32}"/>
                  </a:ext>
                </a:extLst>
              </p:cNvPr>
              <p:cNvSpPr txBox="1"/>
              <p:nvPr/>
            </p:nvSpPr>
            <p:spPr>
              <a:xfrm>
                <a:off x="8751" y="4870399"/>
                <a:ext cx="1710597" cy="3928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𝑝𝑟𝑒𝑣</m:t>
                          </m:r>
                        </m:sup>
                      </m:sSubSup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𝑔𝑟𝑖𝑑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B9892F3-EC91-FC1C-66D6-C1B6309E5F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1" y="4870399"/>
                <a:ext cx="1710597" cy="39286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45CBD46-A8F9-1BD7-2B01-9252E8731603}"/>
                  </a:ext>
                </a:extLst>
              </p:cNvPr>
              <p:cNvSpPr txBox="1"/>
              <p:nvPr/>
            </p:nvSpPr>
            <p:spPr>
              <a:xfrm>
                <a:off x="44696" y="5246911"/>
                <a:ext cx="2386521" cy="3466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𝑎𝑐𝑡</m:t>
                        </m:r>
                      </m:sup>
                    </m:sSubSup>
                    <m:r>
                      <a:rPr lang="en-US" b="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>
                    <a:solidFill>
                      <a:schemeClr val="accent2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𝑑𝑒</m:t>
                        </m:r>
                      </m:sup>
                    </m:sSub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33D6CE7-3B50-337D-36A8-BA722A8DDD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96" y="5246911"/>
                <a:ext cx="2386521" cy="346633"/>
              </a:xfrm>
              <a:prstGeom prst="rect">
                <a:avLst/>
              </a:prstGeom>
              <a:blipFill>
                <a:blip r:embed="rId21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E697ABB-FA87-7425-899C-976A65C39FE5}"/>
                  </a:ext>
                </a:extLst>
              </p:cNvPr>
              <p:cNvSpPr txBox="1"/>
              <p:nvPr/>
            </p:nvSpPr>
            <p:spPr>
              <a:xfrm>
                <a:off x="59059" y="1958388"/>
                <a:ext cx="2790718" cy="3869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</m:sSubSup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acc>
                        <m:accPr>
                          <m:chr m:val="̅"/>
                          <m:ctrlPr>
                            <a:rPr lang="en-US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494C083-FF1B-2DA9-F753-377C4EFA87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59" y="1958388"/>
                <a:ext cx="2790718" cy="386965"/>
              </a:xfrm>
              <a:prstGeom prst="rect">
                <a:avLst/>
              </a:prstGeom>
              <a:blipFill>
                <a:blip r:embed="rId22"/>
                <a:stretch>
                  <a:fillRect b="-1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20D04CF-D3BC-A55A-F977-1A95E708570C}"/>
                  </a:ext>
                </a:extLst>
              </p:cNvPr>
              <p:cNvSpPr txBox="1"/>
              <p:nvPr/>
            </p:nvSpPr>
            <p:spPr>
              <a:xfrm>
                <a:off x="8419" y="2922166"/>
                <a:ext cx="2790718" cy="3869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bSup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acc>
                        <m:accPr>
                          <m:chr m:val="̅"/>
                          <m:ctrlPr>
                            <a:rPr lang="en-US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29730AE-6E25-71CE-AB04-6C5C047E1D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9" y="2922166"/>
                <a:ext cx="2790718" cy="386965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14BE552-2E02-3EC5-AD7D-72DA80E814A7}"/>
                  </a:ext>
                </a:extLst>
              </p:cNvPr>
              <p:cNvSpPr txBox="1"/>
              <p:nvPr/>
            </p:nvSpPr>
            <p:spPr>
              <a:xfrm>
                <a:off x="19205" y="3401661"/>
                <a:ext cx="2790718" cy="6124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𝑔𝑟𝑖𝑑</m:t>
                          </m:r>
                        </m:sup>
                      </m:sSubSup>
                      <m:r>
                        <a:rPr lang="en-US" sz="1400" b="0" i="0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</m:sSubSup>
                      <m:r>
                        <a:rPr lang="en-US" sz="1400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sSubSup>
                        <m:sSubSupPr>
                          <m:ctrlPr>
                            <a:rPr 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𝑤𝑖𝑛𝑑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1400" i="1">
                              <a:latin typeface="Cambria Math" panose="02040503050406030204" pitchFamily="18" charset="0"/>
                            </a:rPr>
                            <m:t>p</m:t>
                          </m:r>
                        </m:sup>
                      </m:sSup>
                      <m:sSubSup>
                        <m:sSubSupPr>
                          <m:ctrlP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bSup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2AB83D9-1554-1DD8-279F-AC302846B9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5" y="3401661"/>
                <a:ext cx="2790718" cy="612475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AAE3301-0014-BC09-9D5E-9A62233F5D10}"/>
                  </a:ext>
                </a:extLst>
              </p:cNvPr>
              <p:cNvSpPr txBox="1"/>
              <p:nvPr/>
            </p:nvSpPr>
            <p:spPr>
              <a:xfrm>
                <a:off x="28745" y="5704412"/>
                <a:ext cx="2790718" cy="6010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𝑎𝑐𝑡</m:t>
                          </m:r>
                        </m:sup>
                      </m:sSubSup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𝑑𝑒</m:t>
                          </m:r>
                        </m:sup>
                      </m:sSubSup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accent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𝑎𝑐𝑡</m:t>
                          </m:r>
                        </m:sup>
                      </m:sSubSup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i="1" dirty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𝑑𝑒</m:t>
                          </m:r>
                        </m:sup>
                      </m:sSubSup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B97BE2B-0CA5-D247-9045-95629F7948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45" y="5704412"/>
                <a:ext cx="2790718" cy="601062"/>
              </a:xfrm>
              <a:prstGeom prst="rect">
                <a:avLst/>
              </a:prstGeom>
              <a:blipFill>
                <a:blip r:embed="rId25"/>
                <a:stretch>
                  <a:fillRect b="-3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24779476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837FC-E09D-5B9A-C4BD-BFF7A9D42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155CD39-4FFB-9DEC-4C93-D19AFA7F7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2958" y="44624"/>
            <a:ext cx="7992888" cy="620032"/>
          </a:xfrm>
        </p:spPr>
        <p:txBody>
          <a:bodyPr wrap="square" anchor="b">
            <a:normAutofit/>
          </a:bodyPr>
          <a:lstStyle/>
          <a:p>
            <a:r>
              <a:rPr lang="en-GB" dirty="0"/>
              <a:t>The Lead Example as an MDP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64D189-1C75-BD80-2757-3108FB9D459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450" y="6541200"/>
            <a:ext cx="432600" cy="316800"/>
          </a:xfrm>
        </p:spPr>
        <p:txBody>
          <a:bodyPr anchor="ctr">
            <a:normAutofit/>
          </a:bodyPr>
          <a:lstStyle/>
          <a:p>
            <a:fld id="{103EA872-A674-449B-A120-B97244F8E91D}" type="slidenum">
              <a:rPr lang="en-GB" smtClean="0"/>
              <a:pPr/>
              <a:t>68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BAD9571-5DAC-3733-DE73-A98EF1FD17AA}"/>
                  </a:ext>
                </a:extLst>
              </p:cNvPr>
              <p:cNvSpPr txBox="1"/>
              <p:nvPr/>
            </p:nvSpPr>
            <p:spPr>
              <a:xfrm>
                <a:off x="64129" y="1177063"/>
                <a:ext cx="2358669" cy="370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𝑤𝑖𝑛𝑑</m:t>
                          </m:r>
                        </m:sup>
                      </m:sSubSup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⋅|</m:t>
                          </m:r>
                          <m:sSubSup>
                            <m:sSubSup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𝑤𝑖𝑛𝑑</m:t>
                              </m:r>
                            </m:sup>
                          </m:sSubSup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𝑝𝑟𝑒𝑣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409BAF7-1B1D-24A6-7478-70BFF6D9A2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29" y="1177063"/>
                <a:ext cx="2358669" cy="370551"/>
              </a:xfrm>
              <a:prstGeom prst="rect">
                <a:avLst/>
              </a:prstGeom>
              <a:blipFill>
                <a:blip r:embed="rId1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78F4804-B75C-D85B-6653-AF58FAB6624D}"/>
                  </a:ext>
                </a:extLst>
              </p:cNvPr>
              <p:cNvSpPr txBox="1"/>
              <p:nvPr/>
            </p:nvSpPr>
            <p:spPr>
              <a:xfrm>
                <a:off x="64129" y="1549129"/>
                <a:ext cx="1710597" cy="3650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𝑝𝑟𝑒𝑣</m:t>
                          </m:r>
                        </m:sup>
                      </m:sSubSup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𝑤𝑖𝑛𝑑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19BF7F5-67F9-AC54-60D1-E2AAD9229E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29" y="1549129"/>
                <a:ext cx="1710597" cy="365036"/>
              </a:xfrm>
              <a:prstGeom prst="rect">
                <a:avLst/>
              </a:prstGeom>
              <a:blipFill>
                <a:blip r:embed="rId17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4B99A5C-9C51-1935-55A7-92FAB20C3183}"/>
                  </a:ext>
                </a:extLst>
              </p:cNvPr>
              <p:cNvSpPr txBox="1"/>
              <p:nvPr/>
            </p:nvSpPr>
            <p:spPr>
              <a:xfrm>
                <a:off x="28745" y="2433906"/>
                <a:ext cx="2790718" cy="3869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b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b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FE70697-AE48-F93F-E88C-CFB6E0B743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45" y="2433906"/>
                <a:ext cx="2790718" cy="386965"/>
              </a:xfrm>
              <a:prstGeom prst="rect">
                <a:avLst/>
              </a:prstGeom>
              <a:blipFill>
                <a:blip r:embed="rId18"/>
                <a:stretch>
                  <a:fillRect b="-1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DC5D3EE-C3E0-618F-F03B-FF6D53D8EC37}"/>
                  </a:ext>
                </a:extLst>
              </p:cNvPr>
              <p:cNvSpPr txBox="1"/>
              <p:nvPr/>
            </p:nvSpPr>
            <p:spPr>
              <a:xfrm>
                <a:off x="8419" y="4135495"/>
                <a:ext cx="3421859" cy="6780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𝑔𝑟𝑖𝑑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</m:oMath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⋅|</m:t>
                          </m:r>
                          <m:sSubSup>
                            <m:sSubSupPr>
                              <m:ctrlP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l-GR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𝑔𝑟𝑖𝑑</m:t>
                              </m:r>
                            </m:sup>
                          </m:sSubSup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l-GR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𝑝𝑟𝑒𝑣</m:t>
                              </m:r>
                            </m:sup>
                          </m:sSubSup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𝑤𝑖𝑛𝑑</m:t>
                              </m:r>
                            </m:sup>
                          </m:sSubSup>
                          <m:r>
                            <a:rPr 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𝑝𝑟𝑒𝑣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FAB0C87-EB19-7012-AF43-CA9B14C30B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9" y="4135495"/>
                <a:ext cx="3421859" cy="678071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0C3F091-4A52-B123-C041-A50A2DA64654}"/>
                  </a:ext>
                </a:extLst>
              </p:cNvPr>
              <p:cNvSpPr txBox="1"/>
              <p:nvPr/>
            </p:nvSpPr>
            <p:spPr>
              <a:xfrm>
                <a:off x="8751" y="4870399"/>
                <a:ext cx="1710597" cy="3928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𝑝𝑟𝑒𝑣</m:t>
                          </m:r>
                        </m:sup>
                      </m:sSubSup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𝑔𝑟𝑖𝑑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B9892F3-EC91-FC1C-66D6-C1B6309E5F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1" y="4870399"/>
                <a:ext cx="1710597" cy="39286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6F8E247-C11C-161F-3299-140089483EE8}"/>
                  </a:ext>
                </a:extLst>
              </p:cNvPr>
              <p:cNvSpPr txBox="1"/>
              <p:nvPr/>
            </p:nvSpPr>
            <p:spPr>
              <a:xfrm>
                <a:off x="44696" y="5246911"/>
                <a:ext cx="2386521" cy="3466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𝑎𝑐𝑡</m:t>
                        </m:r>
                      </m:sup>
                    </m:sSubSup>
                    <m:r>
                      <a:rPr lang="en-US" b="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>
                    <a:solidFill>
                      <a:schemeClr val="accent2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𝑑𝑒</m:t>
                        </m:r>
                      </m:sup>
                    </m:sSub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33D6CE7-3B50-337D-36A8-BA722A8DDD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96" y="5246911"/>
                <a:ext cx="2386521" cy="346633"/>
              </a:xfrm>
              <a:prstGeom prst="rect">
                <a:avLst/>
              </a:prstGeom>
              <a:blipFill>
                <a:blip r:embed="rId21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2054AF2-ECD5-272B-881E-EA6135BC3651}"/>
                  </a:ext>
                </a:extLst>
              </p:cNvPr>
              <p:cNvSpPr txBox="1"/>
              <p:nvPr/>
            </p:nvSpPr>
            <p:spPr>
              <a:xfrm>
                <a:off x="59059" y="1958388"/>
                <a:ext cx="2790718" cy="3869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</m:sSubSup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acc>
                        <m:accPr>
                          <m:chr m:val="̅"/>
                          <m:ctrlPr>
                            <a:rPr lang="en-US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494C083-FF1B-2DA9-F753-377C4EFA87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59" y="1958388"/>
                <a:ext cx="2790718" cy="386965"/>
              </a:xfrm>
              <a:prstGeom prst="rect">
                <a:avLst/>
              </a:prstGeom>
              <a:blipFill>
                <a:blip r:embed="rId22"/>
                <a:stretch>
                  <a:fillRect b="-1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BDA6D44-EF34-978C-EAB5-739779003C57}"/>
                  </a:ext>
                </a:extLst>
              </p:cNvPr>
              <p:cNvSpPr txBox="1"/>
              <p:nvPr/>
            </p:nvSpPr>
            <p:spPr>
              <a:xfrm>
                <a:off x="8419" y="2922166"/>
                <a:ext cx="2790718" cy="3869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bSup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acc>
                        <m:accPr>
                          <m:chr m:val="̅"/>
                          <m:ctrlPr>
                            <a:rPr lang="en-US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29730AE-6E25-71CE-AB04-6C5C047E1D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9" y="2922166"/>
                <a:ext cx="2790718" cy="386965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0FACDE1-FBC0-2B0C-FB07-31E403281F1A}"/>
                  </a:ext>
                </a:extLst>
              </p:cNvPr>
              <p:cNvSpPr txBox="1"/>
              <p:nvPr/>
            </p:nvSpPr>
            <p:spPr>
              <a:xfrm>
                <a:off x="19205" y="3401661"/>
                <a:ext cx="2790718" cy="6124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𝑔𝑟𝑖𝑑</m:t>
                          </m:r>
                        </m:sup>
                      </m:sSubSup>
                      <m:r>
                        <a:rPr lang="en-US" sz="1400" b="0" i="0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</m:sSubSup>
                      <m:r>
                        <a:rPr lang="en-US" sz="1400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sSubSup>
                        <m:sSubSupPr>
                          <m:ctrlPr>
                            <a:rPr 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𝑤𝑖𝑛𝑑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1400" i="1">
                              <a:latin typeface="Cambria Math" panose="02040503050406030204" pitchFamily="18" charset="0"/>
                            </a:rPr>
                            <m:t>p</m:t>
                          </m:r>
                        </m:sup>
                      </m:sSup>
                      <m:sSubSup>
                        <m:sSubSupPr>
                          <m:ctrlP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bSup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2AB83D9-1554-1DD8-279F-AC302846B9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5" y="3401661"/>
                <a:ext cx="2790718" cy="612475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95D40D4-47C4-8416-9767-88963A162C44}"/>
                  </a:ext>
                </a:extLst>
              </p:cNvPr>
              <p:cNvSpPr txBox="1"/>
              <p:nvPr/>
            </p:nvSpPr>
            <p:spPr>
              <a:xfrm>
                <a:off x="28745" y="5704412"/>
                <a:ext cx="2790718" cy="6010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𝑎𝑐𝑡</m:t>
                          </m:r>
                        </m:sup>
                      </m:sSubSup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𝑑𝑒</m:t>
                          </m:r>
                        </m:sup>
                      </m:sSubSup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accent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𝑎𝑐𝑡</m:t>
                          </m:r>
                        </m:sup>
                      </m:sSubSup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i="1" dirty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𝑑𝑒</m:t>
                          </m:r>
                        </m:sup>
                      </m:sSubSup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B97BE2B-0CA5-D247-9045-95629F7948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45" y="5704412"/>
                <a:ext cx="2790718" cy="601062"/>
              </a:xfrm>
              <a:prstGeom prst="rect">
                <a:avLst/>
              </a:prstGeom>
              <a:blipFill>
                <a:blip r:embed="rId25"/>
                <a:stretch>
                  <a:fillRect b="-3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CB396D00-D7C8-0AEA-7525-5857F318AF2E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367014" y="1089736"/>
                <a:ext cx="4167941" cy="5488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198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14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6156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828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1026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1026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1026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1026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1026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r>
                  <a:rPr lang="en-US" sz="2000" kern="0" dirty="0"/>
                  <a:t>Stages </a:t>
                </a:r>
                <a14:m>
                  <m:oMath xmlns:m="http://schemas.openxmlformats.org/officeDocument/2006/math">
                    <m:r>
                      <a:rPr lang="en-US" sz="2000" i="1" kern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i="1" kern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𝒯</m:t>
                    </m:r>
                  </m:oMath>
                </a14:m>
                <a:endParaRPr lang="en-US" sz="2000" kern="0" dirty="0"/>
              </a:p>
              <a:p>
                <a:r>
                  <a:rPr lang="en-US" sz="2000" kern="0" dirty="0"/>
                  <a:t>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kern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000" i="1" kern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 kern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000" i="1" kern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𝑤𝑖𝑛𝑑</m:t>
                            </m:r>
                          </m:sup>
                        </m:sSubSup>
                        <m:r>
                          <a:rPr lang="en-US" sz="2000" i="1" kern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𝑝𝑟𝑒𝑣</m:t>
                            </m:r>
                          </m:sup>
                        </m:sSubSup>
                        <m:r>
                          <a:rPr lang="en-US" sz="2000" i="1" kern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000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000" i="1" kern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l-GR" sz="2000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000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𝑔𝑟𝑖𝑑</m:t>
                            </m:r>
                          </m:sup>
                        </m:sSubSup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l-GR" sz="2000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000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𝑝𝑟𝑒𝑣</m:t>
                            </m:r>
                          </m:sup>
                        </m:sSubSup>
                        <m:r>
                          <a:rPr lang="en-US" sz="2000" i="1" kern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i="1" kern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kern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 kern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sz="2000" kern="0" dirty="0"/>
              </a:p>
              <a:p>
                <a:r>
                  <a:rPr lang="en-US" sz="2000" kern="0" dirty="0"/>
                  <a:t>Decision </a:t>
                </a:r>
                <a:br>
                  <a:rPr lang="en-US" sz="2000" kern="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kern="0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sz="2000" i="1" kern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 ker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000" i="1" kern="0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000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sup>
                        </m:sSubSup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000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sz="2000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bSup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𝑔𝑟𝑖𝑑</m:t>
                            </m:r>
                          </m:sup>
                        </m:sSubSup>
                        <m:r>
                          <a:rPr lang="en-US" sz="2000" i="1" kern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𝑎𝑐𝑡</m:t>
                            </m:r>
                          </m:sup>
                        </m:sSubSup>
                        <m:r>
                          <a:rPr lang="en-US" sz="2000" i="1" kern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Sup>
                          <m:sSubSupPr>
                            <m:ctrlPr>
                              <a:rPr lang="en-US" sz="2000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𝑑𝑒</m:t>
                            </m:r>
                          </m:sup>
                        </m:sSubSup>
                      </m:e>
                    </m:d>
                  </m:oMath>
                </a14:m>
                <a:endParaRPr lang="en-US" sz="2000" kern="0" dirty="0"/>
              </a:p>
              <a:p>
                <a:r>
                  <a:rPr lang="en-US" sz="2000" kern="0" dirty="0"/>
                  <a:t>Dynamics </a:t>
                </a:r>
                <a:br>
                  <a:rPr lang="en-US" sz="2000" i="1" kern="0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kern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𝑤𝑖𝑛𝑑</m:t>
                        </m:r>
                      </m:sup>
                    </m:sSubSup>
                    <m:r>
                      <a:rPr lang="en-US" sz="2000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000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⋅|</m:t>
                        </m:r>
                        <m:sSubSup>
                          <m:sSubSupPr>
                            <m:ctrlPr>
                              <a:rPr lang="en-US" sz="2000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𝑤𝑖𝑛𝑑</m:t>
                            </m:r>
                          </m:sup>
                        </m:sSubSup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𝑝𝑟𝑒𝑣</m:t>
                            </m:r>
                          </m:sup>
                        </m:sSubSup>
                      </m:e>
                    </m:d>
                  </m:oMath>
                </a14:m>
                <a:br>
                  <a:rPr lang="en-US" sz="2000" i="1" kern="0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𝑝𝑟𝑒𝑣</m:t>
                        </m:r>
                      </m:sup>
                    </m:sSubSup>
                    <m:r>
                      <a:rPr lang="en-US" sz="2000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𝑤𝑖𝑛𝑑</m:t>
                        </m:r>
                      </m:sup>
                    </m:sSubSup>
                  </m:oMath>
                </a14:m>
                <a:br>
                  <a:rPr lang="en-US" sz="2000" i="1" kern="0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sz="2000" kern="0" dirty="0">
                        <a:solidFill>
                          <a:schemeClr val="bg1"/>
                        </a:solidFill>
                      </a:rPr>
                      <m:t> </m:t>
                    </m:r>
                    <m:sSubSup>
                      <m:sSubSupPr>
                        <m:ctrlPr>
                          <a:rPr lang="en-US" sz="2000" i="1" kern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kern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 kern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 kern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i="1" kern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 kern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bSup>
                    <m:sSup>
                      <m:sSupPr>
                        <m:ctrlP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000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 sz="2000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2000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  <m:r>
                      <a:rPr lang="en-US" sz="2000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sz="2000" i="1" kern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kern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 kern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 kern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000" i="1" kern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 kern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bSup>
                  </m:oMath>
                </a14:m>
                <a:br>
                  <a:rPr lang="en-US" sz="2000" i="1" kern="0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𝑔𝑟𝑖𝑑</m:t>
                        </m:r>
                      </m:sup>
                    </m:sSubSup>
                    <m:r>
                      <a:rPr lang="en-US" sz="2000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000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⋅|</m:t>
                        </m:r>
                        <m:sSubSup>
                          <m:sSubSupPr>
                            <m:ctrlPr>
                              <a:rPr lang="en-US" sz="2000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l-GR" sz="2000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000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𝑔𝑟𝑖𝑑</m:t>
                            </m:r>
                          </m:sup>
                        </m:sSubSup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l-GR" sz="2000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000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𝑝𝑟𝑒𝑣</m:t>
                            </m:r>
                          </m:sup>
                        </m:sSubSup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𝑤𝑖𝑛𝑑</m:t>
                            </m:r>
                          </m:sup>
                        </m:sSubSup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𝑝𝑟𝑒𝑣</m:t>
                            </m:r>
                          </m:sup>
                        </m:sSubSup>
                      </m:e>
                    </m:d>
                  </m:oMath>
                </a14:m>
                <a:br>
                  <a:rPr lang="en-US" sz="2000" i="1" kern="0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𝑝𝑟𝑒𝑣</m:t>
                        </m:r>
                      </m:sup>
                    </m:sSubSup>
                    <m:r>
                      <a:rPr lang="en-US" sz="2000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𝑔𝑟𝑖𝑑</m:t>
                        </m:r>
                      </m:sup>
                    </m:sSubSup>
                  </m:oMath>
                </a14:m>
                <a:br>
                  <a:rPr lang="en-US" sz="2000" i="1" kern="0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000" i="1" kern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kern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 kern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 kern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𝑎𝑐𝑡</m:t>
                        </m:r>
                      </m:sup>
                    </m:sSubSup>
                    <m:r>
                      <a:rPr lang="en-US" sz="2000" i="1" kern="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000" kern="0" dirty="0">
                        <a:solidFill>
                          <a:schemeClr val="bg1"/>
                        </a:solidFill>
                      </a:rPr>
                      <m:t> </m:t>
                    </m:r>
                    <m:sSubSup>
                      <m:sSubSupPr>
                        <m:ctrlPr>
                          <a:rPr lang="en-US" sz="2000" i="1" kern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kern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 kern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 kern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𝑑𝑒</m:t>
                        </m:r>
                      </m:sup>
                    </m:sSubSup>
                  </m:oMath>
                </a14:m>
                <a:endParaRPr lang="en-US" sz="2000" i="1" kern="0" dirty="0">
                  <a:solidFill>
                    <a:srgbClr val="00B050"/>
                  </a:solidFill>
                  <a:latin typeface="Cambria Math" panose="02040503050406030204" pitchFamily="18" charset="0"/>
                </a:endParaRPr>
              </a:p>
              <a:p>
                <a:endParaRPr lang="en-US" sz="2000" kern="0" dirty="0"/>
              </a:p>
              <a:p>
                <a:r>
                  <a:rPr lang="en-US" sz="2000" kern="0" dirty="0"/>
                  <a:t>Cost </a:t>
                </a:r>
                <a14:m>
                  <m:oMath xmlns:m="http://schemas.openxmlformats.org/officeDocument/2006/math">
                    <m:r>
                      <a:rPr lang="en-US" sz="2000" i="1" kern="0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sz="200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kern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kern="0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000" i="1" kern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000" i="1" kern="0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i="1" kern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kern="0" smtClean="0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en-US" sz="2000" i="1" kern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2000" i="1" kern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000" i="1" kern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𝑔𝑟𝑖𝑑</m:t>
                        </m:r>
                      </m:sup>
                    </m:sSubSup>
                    <m:r>
                      <a:rPr lang="en-US" sz="2000" i="1" kern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en-US" sz="2000" i="1" kern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kern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 kern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 kern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𝑔𝑟𝑖𝑑</m:t>
                        </m:r>
                      </m:sup>
                    </m:sSubSup>
                  </m:oMath>
                </a14:m>
                <a:endParaRPr lang="en-US" sz="2000" kern="0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CB396D00-D7C8-0AEA-7525-5857F318AF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67014" y="1089736"/>
                <a:ext cx="4167941" cy="5488464"/>
              </a:xfrm>
              <a:prstGeom prst="rect">
                <a:avLst/>
              </a:prstGeom>
              <a:blipFill>
                <a:blip r:embed="rId26"/>
                <a:stretch>
                  <a:fillRect l="-3509" t="-1333" r="-58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CF38A69-7822-6E3F-CC73-6501D3E2EC23}"/>
                  </a:ext>
                </a:extLst>
              </p:cNvPr>
              <p:cNvSpPr txBox="1"/>
              <p:nvPr/>
            </p:nvSpPr>
            <p:spPr>
              <a:xfrm>
                <a:off x="2494806" y="2058254"/>
                <a:ext cx="720080" cy="3869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CF38A69-7822-6E3F-CC73-6501D3E2E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4806" y="2058254"/>
                <a:ext cx="720080" cy="386965"/>
              </a:xfrm>
              <a:prstGeom prst="rect">
                <a:avLst/>
              </a:prstGeom>
              <a:blipFill>
                <a:blip r:embed="rId27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B3B1B5C-5376-E39A-FEB8-61CBA32F76EE}"/>
                  </a:ext>
                </a:extLst>
              </p:cNvPr>
              <p:cNvSpPr txBox="1"/>
              <p:nvPr/>
            </p:nvSpPr>
            <p:spPr>
              <a:xfrm>
                <a:off x="2494806" y="3324170"/>
                <a:ext cx="720080" cy="3869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B3B1B5C-5376-E39A-FEB8-61CBA32F76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4806" y="3324170"/>
                <a:ext cx="720080" cy="386965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D6063F1-4845-A9BA-7698-62A327DC8941}"/>
                  </a:ext>
                </a:extLst>
              </p:cNvPr>
              <p:cNvSpPr txBox="1"/>
              <p:nvPr/>
            </p:nvSpPr>
            <p:spPr>
              <a:xfrm>
                <a:off x="2494806" y="3833968"/>
                <a:ext cx="720080" cy="3920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𝑔𝑟𝑖𝑑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D6063F1-4845-A9BA-7698-62A327DC89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4806" y="3833968"/>
                <a:ext cx="720080" cy="392095"/>
              </a:xfrm>
              <a:prstGeom prst="rect">
                <a:avLst/>
              </a:prstGeom>
              <a:blipFill>
                <a:blip r:embed="rId29"/>
                <a:stretch>
                  <a:fillRect b="-1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986BE5F-4311-4F67-62B8-6287308683F3}"/>
                  </a:ext>
                </a:extLst>
              </p:cNvPr>
              <p:cNvSpPr txBox="1"/>
              <p:nvPr/>
            </p:nvSpPr>
            <p:spPr>
              <a:xfrm>
                <a:off x="2478156" y="5366850"/>
                <a:ext cx="72008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𝑎𝑐𝑡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986BE5F-4311-4F67-62B8-6287308683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8156" y="5366850"/>
                <a:ext cx="720080" cy="338554"/>
              </a:xfrm>
              <a:prstGeom prst="rect">
                <a:avLst/>
              </a:prstGeom>
              <a:blipFill>
                <a:blip r:embed="rId30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C86A31E-7AEE-7F4A-4207-DEA699808D14}"/>
                  </a:ext>
                </a:extLst>
              </p:cNvPr>
              <p:cNvSpPr txBox="1"/>
              <p:nvPr/>
            </p:nvSpPr>
            <p:spPr>
              <a:xfrm>
                <a:off x="2478156" y="5685731"/>
                <a:ext cx="720080" cy="3466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𝑑𝑒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C86A31E-7AEE-7F4A-4207-DEA699808D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8156" y="5685731"/>
                <a:ext cx="720080" cy="346633"/>
              </a:xfrm>
              <a:prstGeom prst="rect">
                <a:avLst/>
              </a:prstGeom>
              <a:blipFill>
                <a:blip r:embed="rId31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BC56FA6-A13E-20B5-341D-99099D2CFDDC}"/>
                  </a:ext>
                </a:extLst>
              </p:cNvPr>
              <p:cNvSpPr txBox="1"/>
              <p:nvPr/>
            </p:nvSpPr>
            <p:spPr>
              <a:xfrm>
                <a:off x="2566814" y="1268555"/>
                <a:ext cx="648073" cy="3502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𝑤𝑖𝑛𝑑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BC56FA6-A13E-20B5-341D-99099D2CFD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6814" y="1268555"/>
                <a:ext cx="648073" cy="350224"/>
              </a:xfrm>
              <a:prstGeom prst="rect">
                <a:avLst/>
              </a:prstGeom>
              <a:blipFill>
                <a:blip r:embed="rId32"/>
                <a:stretch>
                  <a:fillRect b="-51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C25079B-6BA3-E3EB-42D2-C000322CF480}"/>
                  </a:ext>
                </a:extLst>
              </p:cNvPr>
              <p:cNvSpPr txBox="1"/>
              <p:nvPr/>
            </p:nvSpPr>
            <p:spPr>
              <a:xfrm>
                <a:off x="2530809" y="1624302"/>
                <a:ext cx="648073" cy="3618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𝑝𝑟𝑒𝑣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C25079B-6BA3-E3EB-42D2-C000322CF4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0809" y="1624302"/>
                <a:ext cx="648073" cy="361830"/>
              </a:xfrm>
              <a:prstGeom prst="rect">
                <a:avLst/>
              </a:prstGeom>
              <a:blipFill>
                <a:blip r:embed="rId33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11817EB-5B50-5664-3B41-9B4BA3BE3085}"/>
                  </a:ext>
                </a:extLst>
              </p:cNvPr>
              <p:cNvSpPr txBox="1"/>
              <p:nvPr/>
            </p:nvSpPr>
            <p:spPr>
              <a:xfrm>
                <a:off x="2482362" y="2826176"/>
                <a:ext cx="64807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11817EB-5B50-5664-3B41-9B4BA3BE30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2362" y="2826176"/>
                <a:ext cx="648073" cy="338554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9BEE39F-9597-93B0-AB4A-E022F6E30428}"/>
                  </a:ext>
                </a:extLst>
              </p:cNvPr>
              <p:cNvSpPr txBox="1"/>
              <p:nvPr/>
            </p:nvSpPr>
            <p:spPr>
              <a:xfrm>
                <a:off x="2464163" y="4239862"/>
                <a:ext cx="648073" cy="3920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𝑔𝑟𝑖𝑑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9BEE39F-9597-93B0-AB4A-E022F6E304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4163" y="4239862"/>
                <a:ext cx="648073" cy="392095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7D41EC4-6585-1216-4034-7F9D9B6383F6}"/>
                  </a:ext>
                </a:extLst>
              </p:cNvPr>
              <p:cNvSpPr txBox="1"/>
              <p:nvPr/>
            </p:nvSpPr>
            <p:spPr>
              <a:xfrm>
                <a:off x="2464163" y="4573919"/>
                <a:ext cx="648073" cy="3618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𝑝𝑟𝑒𝑣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7D41EC4-6585-1216-4034-7F9D9B638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4163" y="4573919"/>
                <a:ext cx="648073" cy="361830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5A5FC0D-FAC4-0160-3392-59DC13227A2B}"/>
                  </a:ext>
                </a:extLst>
              </p:cNvPr>
              <p:cNvSpPr txBox="1"/>
              <p:nvPr/>
            </p:nvSpPr>
            <p:spPr>
              <a:xfrm>
                <a:off x="2482362" y="4998823"/>
                <a:ext cx="64807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5A5FC0D-FAC4-0160-3392-59DC13227A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2362" y="4998823"/>
                <a:ext cx="648073" cy="338554"/>
              </a:xfrm>
              <a:prstGeom prst="rect">
                <a:avLst/>
              </a:prstGeom>
              <a:blipFill>
                <a:blip r:embed="rId37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359897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2637E-7 3.33333E-6 L 0.18245 0.0791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116" y="395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92903E-6 -4.44444E-6 L 0.22893 0.02639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447" y="1319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8772E-6 4.44444E-6 L 0.28076 -0.15209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038" y="-7616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912E-6 7.40741E-7 L 0.33624 -0.35718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812" y="-1787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912E-6 2.96296E-6 L 0.37765 -0.40093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883" y="-20046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8772E-6 -2.22222E-6 L 0.40565 -0.46389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276" y="-231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92903E-6 -7.40741E-7 L 0.22893 0.07963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447" y="3981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92903E-6 -2.96296E-6 L 0.28076 -0.10764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038" y="-5394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92903E-6 0 L 0.32491 -0.18148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239" y="-9074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81808E-6 4.07407E-6 L 0.37935 -0.40232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961" y="-20116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81808E-6 1.85185E-6 L 0.41477 -0.44838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732" y="-22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97CCB-1B02-010F-BBAA-4B816602A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929E157-41B3-B24A-2C79-2EF8E8F8F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2958" y="44624"/>
            <a:ext cx="7992888" cy="620032"/>
          </a:xfrm>
        </p:spPr>
        <p:txBody>
          <a:bodyPr wrap="square" anchor="b">
            <a:normAutofit/>
          </a:bodyPr>
          <a:lstStyle/>
          <a:p>
            <a:r>
              <a:rPr lang="en-GB" dirty="0"/>
              <a:t>The Lead Example as an MDP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43364D-D6E8-D258-569D-0440A557BF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450" y="6541200"/>
            <a:ext cx="432600" cy="316800"/>
          </a:xfrm>
        </p:spPr>
        <p:txBody>
          <a:bodyPr anchor="ctr">
            <a:normAutofit/>
          </a:bodyPr>
          <a:lstStyle/>
          <a:p>
            <a:fld id="{103EA872-A674-449B-A120-B97244F8E91D}" type="slidenum">
              <a:rPr lang="en-GB" smtClean="0"/>
              <a:pPr/>
              <a:t>69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B7D6F81-FDC8-7EA9-50C0-47ABF3F0C5E7}"/>
                  </a:ext>
                </a:extLst>
              </p:cNvPr>
              <p:cNvSpPr txBox="1"/>
              <p:nvPr/>
            </p:nvSpPr>
            <p:spPr>
              <a:xfrm>
                <a:off x="64129" y="1177063"/>
                <a:ext cx="2358669" cy="370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𝑤𝑖𝑛𝑑</m:t>
                          </m:r>
                        </m:sup>
                      </m:sSubSup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⋅|</m:t>
                          </m:r>
                          <m:sSubSup>
                            <m:sSubSup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𝑤𝑖𝑛𝑑</m:t>
                              </m:r>
                            </m:sup>
                          </m:sSubSup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𝑝𝑟𝑒𝑣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409BAF7-1B1D-24A6-7478-70BFF6D9A2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29" y="1177063"/>
                <a:ext cx="2358669" cy="370551"/>
              </a:xfrm>
              <a:prstGeom prst="rect">
                <a:avLst/>
              </a:prstGeom>
              <a:blipFill>
                <a:blip r:embed="rId1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283AEE5-A5D9-A4A6-B8FE-F12C84BEC2C6}"/>
                  </a:ext>
                </a:extLst>
              </p:cNvPr>
              <p:cNvSpPr txBox="1"/>
              <p:nvPr/>
            </p:nvSpPr>
            <p:spPr>
              <a:xfrm>
                <a:off x="64129" y="1549129"/>
                <a:ext cx="1710597" cy="3650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𝑝𝑟𝑒𝑣</m:t>
                          </m:r>
                        </m:sup>
                      </m:sSubSup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𝑤𝑖𝑛𝑑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19BF7F5-67F9-AC54-60D1-E2AAD9229E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29" y="1549129"/>
                <a:ext cx="1710597" cy="365036"/>
              </a:xfrm>
              <a:prstGeom prst="rect">
                <a:avLst/>
              </a:prstGeom>
              <a:blipFill>
                <a:blip r:embed="rId17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B18A5B7-C85C-E63B-C9C3-17D83EDAAC20}"/>
                  </a:ext>
                </a:extLst>
              </p:cNvPr>
              <p:cNvSpPr txBox="1"/>
              <p:nvPr/>
            </p:nvSpPr>
            <p:spPr>
              <a:xfrm>
                <a:off x="28745" y="2433906"/>
                <a:ext cx="2790718" cy="3869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b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b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FE70697-AE48-F93F-E88C-CFB6E0B743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45" y="2433906"/>
                <a:ext cx="2790718" cy="386965"/>
              </a:xfrm>
              <a:prstGeom prst="rect">
                <a:avLst/>
              </a:prstGeom>
              <a:blipFill>
                <a:blip r:embed="rId18"/>
                <a:stretch>
                  <a:fillRect b="-1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408E60D-D75E-CD2A-A2FA-AE5FAD1B4B49}"/>
                  </a:ext>
                </a:extLst>
              </p:cNvPr>
              <p:cNvSpPr txBox="1"/>
              <p:nvPr/>
            </p:nvSpPr>
            <p:spPr>
              <a:xfrm>
                <a:off x="8419" y="4135495"/>
                <a:ext cx="3421859" cy="6780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𝑔𝑟𝑖𝑑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</m:oMath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⋅|</m:t>
                          </m:r>
                          <m:sSubSup>
                            <m:sSubSupPr>
                              <m:ctrlP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l-GR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𝑔𝑟𝑖𝑑</m:t>
                              </m:r>
                            </m:sup>
                          </m:sSubSup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l-GR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𝑝𝑟𝑒𝑣</m:t>
                              </m:r>
                            </m:sup>
                          </m:sSubSup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𝑤𝑖𝑛𝑑</m:t>
                              </m:r>
                            </m:sup>
                          </m:sSubSup>
                          <m:r>
                            <a:rPr 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𝑝𝑟𝑒𝑣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FAB0C87-EB19-7012-AF43-CA9B14C30B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9" y="4135495"/>
                <a:ext cx="3421859" cy="678071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AA58CB5-736E-F700-FA83-A3AD9FF20761}"/>
                  </a:ext>
                </a:extLst>
              </p:cNvPr>
              <p:cNvSpPr txBox="1"/>
              <p:nvPr/>
            </p:nvSpPr>
            <p:spPr>
              <a:xfrm>
                <a:off x="8751" y="4870399"/>
                <a:ext cx="1710597" cy="3928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𝑝𝑟𝑒𝑣</m:t>
                          </m:r>
                        </m:sup>
                      </m:sSubSup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𝑔𝑟𝑖𝑑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B9892F3-EC91-FC1C-66D6-C1B6309E5F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1" y="4870399"/>
                <a:ext cx="1710597" cy="39286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7DA62F5-1D9D-A7AF-8C5C-5BF60FE56D50}"/>
                  </a:ext>
                </a:extLst>
              </p:cNvPr>
              <p:cNvSpPr txBox="1"/>
              <p:nvPr/>
            </p:nvSpPr>
            <p:spPr>
              <a:xfrm>
                <a:off x="44696" y="5246911"/>
                <a:ext cx="2386521" cy="3466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𝑎𝑐𝑡</m:t>
                        </m:r>
                      </m:sup>
                    </m:sSubSup>
                    <m:r>
                      <a:rPr lang="en-US" b="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>
                    <a:solidFill>
                      <a:schemeClr val="accent2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𝑑𝑒</m:t>
                        </m:r>
                      </m:sup>
                    </m:sSub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33D6CE7-3B50-337D-36A8-BA722A8DDD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96" y="5246911"/>
                <a:ext cx="2386521" cy="346633"/>
              </a:xfrm>
              <a:prstGeom prst="rect">
                <a:avLst/>
              </a:prstGeom>
              <a:blipFill>
                <a:blip r:embed="rId21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67DF023-038C-9CA7-0C5C-5D5501A30083}"/>
                  </a:ext>
                </a:extLst>
              </p:cNvPr>
              <p:cNvSpPr txBox="1"/>
              <p:nvPr/>
            </p:nvSpPr>
            <p:spPr>
              <a:xfrm>
                <a:off x="59059" y="1958388"/>
                <a:ext cx="2790718" cy="3869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</m:sSubSup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acc>
                        <m:accPr>
                          <m:chr m:val="̅"/>
                          <m:ctrlPr>
                            <a:rPr lang="en-US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494C083-FF1B-2DA9-F753-377C4EFA87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59" y="1958388"/>
                <a:ext cx="2790718" cy="386965"/>
              </a:xfrm>
              <a:prstGeom prst="rect">
                <a:avLst/>
              </a:prstGeom>
              <a:blipFill>
                <a:blip r:embed="rId22"/>
                <a:stretch>
                  <a:fillRect b="-1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EC758EF-A790-CEB3-877A-B00E30CAACB8}"/>
                  </a:ext>
                </a:extLst>
              </p:cNvPr>
              <p:cNvSpPr txBox="1"/>
              <p:nvPr/>
            </p:nvSpPr>
            <p:spPr>
              <a:xfrm>
                <a:off x="8419" y="2922166"/>
                <a:ext cx="2790718" cy="3869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bSup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acc>
                        <m:accPr>
                          <m:chr m:val="̅"/>
                          <m:ctrlPr>
                            <a:rPr lang="en-US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29730AE-6E25-71CE-AB04-6C5C047E1D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9" y="2922166"/>
                <a:ext cx="2790718" cy="386965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89256E5-76C6-0C36-EDEB-82ED6F29E65B}"/>
                  </a:ext>
                </a:extLst>
              </p:cNvPr>
              <p:cNvSpPr txBox="1"/>
              <p:nvPr/>
            </p:nvSpPr>
            <p:spPr>
              <a:xfrm>
                <a:off x="19205" y="3401661"/>
                <a:ext cx="2790718" cy="6124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𝑔𝑟𝑖𝑑</m:t>
                          </m:r>
                        </m:sup>
                      </m:sSubSup>
                      <m:r>
                        <a:rPr lang="en-US" sz="1400" b="0" i="0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</m:sSubSup>
                      <m:r>
                        <a:rPr lang="en-US" sz="1400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sSubSup>
                        <m:sSubSupPr>
                          <m:ctrlPr>
                            <a:rPr 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𝑤𝑖𝑛𝑑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1400" i="1">
                              <a:latin typeface="Cambria Math" panose="02040503050406030204" pitchFamily="18" charset="0"/>
                            </a:rPr>
                            <m:t>p</m:t>
                          </m:r>
                        </m:sup>
                      </m:sSup>
                      <m:sSubSup>
                        <m:sSubSupPr>
                          <m:ctrlP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bSup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2AB83D9-1554-1DD8-279F-AC302846B9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5" y="3401661"/>
                <a:ext cx="2790718" cy="612475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19DEA13-09B9-3D09-218D-066B9486FF53}"/>
                  </a:ext>
                </a:extLst>
              </p:cNvPr>
              <p:cNvSpPr txBox="1"/>
              <p:nvPr/>
            </p:nvSpPr>
            <p:spPr>
              <a:xfrm>
                <a:off x="28745" y="5704412"/>
                <a:ext cx="2790718" cy="6010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𝑎𝑐𝑡</m:t>
                          </m:r>
                        </m:sup>
                      </m:sSubSup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𝑑𝑒</m:t>
                          </m:r>
                        </m:sup>
                      </m:sSubSup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accent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𝑎𝑐𝑡</m:t>
                          </m:r>
                        </m:sup>
                      </m:sSubSup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i="1" dirty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𝑑𝑒</m:t>
                          </m:r>
                        </m:sup>
                      </m:sSubSup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B97BE2B-0CA5-D247-9045-95629F7948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45" y="5704412"/>
                <a:ext cx="2790718" cy="601062"/>
              </a:xfrm>
              <a:prstGeom prst="rect">
                <a:avLst/>
              </a:prstGeom>
              <a:blipFill>
                <a:blip r:embed="rId25"/>
                <a:stretch>
                  <a:fillRect b="-3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6C77B58B-C7B4-F8D2-DE9B-2F3423580941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367014" y="1089736"/>
                <a:ext cx="4167941" cy="5488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198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14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6156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828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1026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1026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1026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1026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1026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r>
                  <a:rPr lang="en-US" sz="2000" kern="0" dirty="0"/>
                  <a:t>Stages </a:t>
                </a:r>
                <a14:m>
                  <m:oMath xmlns:m="http://schemas.openxmlformats.org/officeDocument/2006/math">
                    <m:r>
                      <a:rPr lang="en-US" sz="2000" i="1" kern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i="1" kern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𝒯</m:t>
                    </m:r>
                  </m:oMath>
                </a14:m>
                <a:endParaRPr lang="en-US" sz="2000" kern="0" dirty="0"/>
              </a:p>
              <a:p>
                <a:r>
                  <a:rPr lang="en-US" sz="2000" kern="0" dirty="0"/>
                  <a:t>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kern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000" i="1" kern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 kern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000" i="1" kern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𝑤𝑖𝑛𝑑</m:t>
                            </m:r>
                          </m:sup>
                        </m:sSubSup>
                        <m:r>
                          <a:rPr lang="en-US" sz="2000" i="1" kern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𝑝𝑟𝑒𝑣</m:t>
                            </m:r>
                          </m:sup>
                        </m:sSubSup>
                        <m:r>
                          <a:rPr lang="en-US" sz="2000" i="1" kern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000" i="1" kern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l-GR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𝑔𝑟𝑖𝑑</m:t>
                            </m:r>
                          </m:sup>
                        </m:sSubSup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l-GR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𝑝𝑟𝑒𝑣</m:t>
                            </m:r>
                          </m:sup>
                        </m:sSubSup>
                        <m:r>
                          <a:rPr lang="en-US" sz="2000" i="1" kern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i="1" kern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kern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 kern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sz="2000" kern="0" dirty="0"/>
              </a:p>
              <a:p>
                <a:r>
                  <a:rPr lang="en-US" sz="2000" kern="0" dirty="0"/>
                  <a:t>Decision </a:t>
                </a:r>
                <a:br>
                  <a:rPr lang="en-US" sz="2000" kern="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kern="0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sz="2000" i="1" kern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 ker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000" i="1" kern="0" dirty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sup>
                        </m:sSubSup>
                        <m:r>
                          <a:rPr lang="en-US" sz="2000" i="1" ker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bSup>
                        <m:r>
                          <a:rPr lang="en-US" sz="2000" i="1" ker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𝑔𝑟𝑖𝑑</m:t>
                            </m:r>
                          </m:sup>
                        </m:sSubSup>
                        <m:r>
                          <a:rPr lang="en-US" sz="2000" i="1" kern="0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𝑎𝑐𝑡</m:t>
                            </m:r>
                          </m:sup>
                        </m:sSubSup>
                        <m:r>
                          <a:rPr lang="en-US" sz="2000" i="1" kern="0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Sup>
                          <m:sSubSupPr>
                            <m:ctrlP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𝑑𝑒</m:t>
                            </m:r>
                          </m:sup>
                        </m:sSubSup>
                      </m:e>
                    </m:d>
                  </m:oMath>
                </a14:m>
                <a:endParaRPr lang="en-US" sz="2000" kern="0" dirty="0"/>
              </a:p>
              <a:p>
                <a:r>
                  <a:rPr lang="en-US" sz="2000" kern="0" dirty="0"/>
                  <a:t>Dynamics </a:t>
                </a:r>
                <a:br>
                  <a:rPr lang="en-US" sz="2000" i="1" kern="0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kern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𝑤𝑖𝑛𝑑</m:t>
                        </m:r>
                      </m:sup>
                    </m:sSubSup>
                    <m:r>
                      <a:rPr lang="en-US" sz="2000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000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⋅|</m:t>
                        </m:r>
                        <m:sSubSup>
                          <m:sSubSupPr>
                            <m:ctrlPr>
                              <a:rPr lang="en-US" sz="2000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𝑤𝑖𝑛𝑑</m:t>
                            </m:r>
                          </m:sup>
                        </m:sSubSup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𝑝𝑟𝑒𝑣</m:t>
                            </m:r>
                          </m:sup>
                        </m:sSubSup>
                      </m:e>
                    </m:d>
                  </m:oMath>
                </a14:m>
                <a:br>
                  <a:rPr lang="en-US" sz="2000" i="1" kern="0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𝑝𝑟𝑒𝑣</m:t>
                        </m:r>
                      </m:sup>
                    </m:sSubSup>
                    <m:r>
                      <a:rPr lang="en-US" sz="2000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𝑤𝑖𝑛𝑑</m:t>
                        </m:r>
                      </m:sup>
                    </m:sSubSup>
                  </m:oMath>
                </a14:m>
                <a:br>
                  <a:rPr lang="en-US" sz="2000" i="1" kern="0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sz="2000" kern="0" dirty="0">
                        <a:solidFill>
                          <a:schemeClr val="bg1"/>
                        </a:solidFill>
                      </a:rPr>
                      <m:t> </m:t>
                    </m:r>
                    <m:sSubSup>
                      <m:sSubSupPr>
                        <m:ctrlPr>
                          <a:rPr lang="en-US" sz="2000" i="1" kern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kern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 kern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 kern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i="1" kern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 kern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bSup>
                    <m:sSup>
                      <m:sSupPr>
                        <m:ctrlP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000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 sz="2000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2000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  <m:r>
                      <a:rPr lang="en-US" sz="2000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sz="2000" i="1" kern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kern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 kern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 kern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000" i="1" kern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 kern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bSup>
                  </m:oMath>
                </a14:m>
                <a:br>
                  <a:rPr lang="en-US" sz="2000" i="1" kern="0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𝑔𝑟𝑖𝑑</m:t>
                        </m:r>
                      </m:sup>
                    </m:sSubSup>
                    <m:r>
                      <a:rPr lang="en-US" sz="2000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000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⋅|</m:t>
                        </m:r>
                        <m:sSubSup>
                          <m:sSubSupPr>
                            <m:ctrlPr>
                              <a:rPr lang="en-US" sz="2000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l-GR" sz="2000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000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𝑔𝑟𝑖𝑑</m:t>
                            </m:r>
                          </m:sup>
                        </m:sSubSup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l-GR" sz="2000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000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𝑝𝑟𝑒𝑣</m:t>
                            </m:r>
                          </m:sup>
                        </m:sSubSup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𝑤𝑖𝑛𝑑</m:t>
                            </m:r>
                          </m:sup>
                        </m:sSubSup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𝑝𝑟𝑒𝑣</m:t>
                            </m:r>
                          </m:sup>
                        </m:sSubSup>
                      </m:e>
                    </m:d>
                  </m:oMath>
                </a14:m>
                <a:br>
                  <a:rPr lang="en-US" sz="2000" i="1" kern="0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𝑝𝑟𝑒𝑣</m:t>
                        </m:r>
                      </m:sup>
                    </m:sSubSup>
                    <m:r>
                      <a:rPr lang="en-US" sz="2000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𝑔𝑟𝑖𝑑</m:t>
                        </m:r>
                      </m:sup>
                    </m:sSubSup>
                  </m:oMath>
                </a14:m>
                <a:br>
                  <a:rPr lang="en-US" sz="2000" i="1" kern="0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000" i="1" kern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kern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 kern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 kern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𝑎𝑐𝑡</m:t>
                        </m:r>
                      </m:sup>
                    </m:sSubSup>
                    <m:r>
                      <a:rPr lang="en-US" sz="2000" i="1" kern="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000" kern="0" dirty="0">
                        <a:solidFill>
                          <a:schemeClr val="bg1"/>
                        </a:solidFill>
                      </a:rPr>
                      <m:t> </m:t>
                    </m:r>
                    <m:sSubSup>
                      <m:sSubSupPr>
                        <m:ctrlPr>
                          <a:rPr lang="en-US" sz="2000" i="1" kern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kern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 kern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 kern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𝑑𝑒</m:t>
                        </m:r>
                      </m:sup>
                    </m:sSubSup>
                  </m:oMath>
                </a14:m>
                <a:endParaRPr lang="en-US" sz="2000" i="1" kern="0" dirty="0">
                  <a:solidFill>
                    <a:srgbClr val="00B050"/>
                  </a:solidFill>
                  <a:latin typeface="Cambria Math" panose="02040503050406030204" pitchFamily="18" charset="0"/>
                </a:endParaRPr>
              </a:p>
              <a:p>
                <a:endParaRPr lang="en-US" sz="2000" kern="0" dirty="0"/>
              </a:p>
              <a:p>
                <a:r>
                  <a:rPr lang="en-US" sz="2000" kern="0" dirty="0"/>
                  <a:t>Cost </a:t>
                </a:r>
                <a14:m>
                  <m:oMath xmlns:m="http://schemas.openxmlformats.org/officeDocument/2006/math">
                    <m:r>
                      <a:rPr lang="en-US" sz="2000" i="1" kern="0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sz="200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kern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kern="0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000" i="1" kern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000" i="1" kern="0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i="1" kern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kern="0" smtClean="0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en-US" sz="2000" i="1" kern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2000" i="1" kern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000" i="1" kern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𝑔𝑟𝑖𝑑</m:t>
                        </m:r>
                      </m:sup>
                    </m:sSubSup>
                    <m:r>
                      <a:rPr lang="en-US" sz="2000" i="1" kern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en-US" sz="2000" i="1" kern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kern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 kern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 kern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𝑔𝑟𝑖𝑑</m:t>
                        </m:r>
                      </m:sup>
                    </m:sSubSup>
                  </m:oMath>
                </a14:m>
                <a:endParaRPr lang="en-US" sz="2000" kern="0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6C77B58B-C7B4-F8D2-DE9B-2F34235809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67014" y="1089736"/>
                <a:ext cx="4167941" cy="5488464"/>
              </a:xfrm>
              <a:prstGeom prst="rect">
                <a:avLst/>
              </a:prstGeom>
              <a:blipFill>
                <a:blip r:embed="rId26"/>
                <a:stretch>
                  <a:fillRect l="-3509" t="-1333" r="-58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03477020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FCC96-9491-AD90-BFE8-67097210F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59DEE82F-744E-7582-CF90-61122BEE380C}"/>
              </a:ext>
            </a:extLst>
          </p:cNvPr>
          <p:cNvSpPr/>
          <p:nvPr/>
        </p:nvSpPr>
        <p:spPr>
          <a:xfrm>
            <a:off x="-1721" y="4168781"/>
            <a:ext cx="2458076" cy="1443444"/>
          </a:xfrm>
          <a:prstGeom prst="roundRect">
            <a:avLst/>
          </a:prstGeom>
          <a:solidFill>
            <a:srgbClr val="FFFFA3">
              <a:alpha val="76863"/>
            </a:srgbClr>
          </a:solidFill>
          <a:ln>
            <a:solidFill>
              <a:srgbClr val="0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0CD939E8-A72A-05BB-B81D-22726B4F5983}"/>
              </a:ext>
            </a:extLst>
          </p:cNvPr>
          <p:cNvSpPr/>
          <p:nvPr/>
        </p:nvSpPr>
        <p:spPr>
          <a:xfrm>
            <a:off x="-43262" y="2412412"/>
            <a:ext cx="3088620" cy="478413"/>
          </a:xfrm>
          <a:prstGeom prst="roundRect">
            <a:avLst/>
          </a:prstGeom>
          <a:solidFill>
            <a:srgbClr val="FFFFA3">
              <a:alpha val="76863"/>
            </a:srgbClr>
          </a:solidFill>
          <a:ln>
            <a:solidFill>
              <a:srgbClr val="0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8A5112B-A8D5-149F-7D3A-830E7E1AC27D}"/>
              </a:ext>
            </a:extLst>
          </p:cNvPr>
          <p:cNvSpPr/>
          <p:nvPr/>
        </p:nvSpPr>
        <p:spPr>
          <a:xfrm>
            <a:off x="28745" y="1075614"/>
            <a:ext cx="3258149" cy="910518"/>
          </a:xfrm>
          <a:prstGeom prst="roundRect">
            <a:avLst/>
          </a:prstGeom>
          <a:solidFill>
            <a:srgbClr val="FFFFA3">
              <a:alpha val="76863"/>
            </a:srgbClr>
          </a:solidFill>
          <a:ln>
            <a:solidFill>
              <a:srgbClr val="0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DE2A974-6405-A071-F027-CECB6C354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2958" y="44624"/>
            <a:ext cx="7992888" cy="620032"/>
          </a:xfrm>
        </p:spPr>
        <p:txBody>
          <a:bodyPr wrap="square" anchor="b">
            <a:normAutofit/>
          </a:bodyPr>
          <a:lstStyle/>
          <a:p>
            <a:r>
              <a:rPr lang="en-GB" dirty="0"/>
              <a:t>The Lead Example as an MDP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4281B7-AF4A-10DD-D34B-00FD70C4BC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450" y="6541200"/>
            <a:ext cx="432600" cy="316800"/>
          </a:xfrm>
        </p:spPr>
        <p:txBody>
          <a:bodyPr anchor="ctr">
            <a:normAutofit/>
          </a:bodyPr>
          <a:lstStyle/>
          <a:p>
            <a:fld id="{103EA872-A674-449B-A120-B97244F8E91D}" type="slidenum">
              <a:rPr lang="en-GB" smtClean="0"/>
              <a:pPr/>
              <a:t>70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DE22B5E-3453-C79E-61AA-DC21291575FE}"/>
                  </a:ext>
                </a:extLst>
              </p:cNvPr>
              <p:cNvSpPr txBox="1"/>
              <p:nvPr/>
            </p:nvSpPr>
            <p:spPr>
              <a:xfrm>
                <a:off x="64129" y="1177063"/>
                <a:ext cx="2358669" cy="370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𝑤𝑖𝑛𝑑</m:t>
                          </m:r>
                        </m:sup>
                      </m:sSubSup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⋅|</m:t>
                          </m:r>
                          <m:sSubSup>
                            <m:sSubSup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𝑤𝑖𝑛𝑑</m:t>
                              </m:r>
                            </m:sup>
                          </m:sSubSup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𝑝𝑟𝑒𝑣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409BAF7-1B1D-24A6-7478-70BFF6D9A2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29" y="1177063"/>
                <a:ext cx="2358669" cy="370551"/>
              </a:xfrm>
              <a:prstGeom prst="rect">
                <a:avLst/>
              </a:prstGeom>
              <a:blipFill>
                <a:blip r:embed="rId1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59AE6E3-7452-E1F3-02AE-B1FB2FA899EE}"/>
                  </a:ext>
                </a:extLst>
              </p:cNvPr>
              <p:cNvSpPr txBox="1"/>
              <p:nvPr/>
            </p:nvSpPr>
            <p:spPr>
              <a:xfrm>
                <a:off x="64129" y="1549129"/>
                <a:ext cx="1710597" cy="3650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𝑝𝑟𝑒𝑣</m:t>
                          </m:r>
                        </m:sup>
                      </m:sSubSup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𝑤𝑖𝑛𝑑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19BF7F5-67F9-AC54-60D1-E2AAD9229E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29" y="1549129"/>
                <a:ext cx="1710597" cy="365036"/>
              </a:xfrm>
              <a:prstGeom prst="rect">
                <a:avLst/>
              </a:prstGeom>
              <a:blipFill>
                <a:blip r:embed="rId17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EB29FBD-09A2-373F-1866-2738775FBA6E}"/>
                  </a:ext>
                </a:extLst>
              </p:cNvPr>
              <p:cNvSpPr txBox="1"/>
              <p:nvPr/>
            </p:nvSpPr>
            <p:spPr>
              <a:xfrm>
                <a:off x="28745" y="2433906"/>
                <a:ext cx="2790718" cy="3869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b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b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FE70697-AE48-F93F-E88C-CFB6E0B743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45" y="2433906"/>
                <a:ext cx="2790718" cy="386965"/>
              </a:xfrm>
              <a:prstGeom prst="rect">
                <a:avLst/>
              </a:prstGeom>
              <a:blipFill>
                <a:blip r:embed="rId18"/>
                <a:stretch>
                  <a:fillRect b="-1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DE5A123-08C9-315E-CC41-457409E2B9F7}"/>
                  </a:ext>
                </a:extLst>
              </p:cNvPr>
              <p:cNvSpPr txBox="1"/>
              <p:nvPr/>
            </p:nvSpPr>
            <p:spPr>
              <a:xfrm>
                <a:off x="8419" y="4135495"/>
                <a:ext cx="3421859" cy="6780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𝑔𝑟𝑖𝑑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</m:oMath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⋅|</m:t>
                          </m:r>
                          <m:sSubSup>
                            <m:sSubSupPr>
                              <m:ctrlP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l-GR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𝑔𝑟𝑖𝑑</m:t>
                              </m:r>
                            </m:sup>
                          </m:sSubSup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l-GR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𝑝𝑟𝑒𝑣</m:t>
                              </m:r>
                            </m:sup>
                          </m:sSubSup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𝑤𝑖𝑛𝑑</m:t>
                              </m:r>
                            </m:sup>
                          </m:sSubSup>
                          <m:r>
                            <a:rPr 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𝑝𝑟𝑒𝑣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FAB0C87-EB19-7012-AF43-CA9B14C30B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9" y="4135495"/>
                <a:ext cx="3421859" cy="678071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2FEE30F-0585-2C28-D146-7E4F294E088C}"/>
                  </a:ext>
                </a:extLst>
              </p:cNvPr>
              <p:cNvSpPr txBox="1"/>
              <p:nvPr/>
            </p:nvSpPr>
            <p:spPr>
              <a:xfrm>
                <a:off x="8751" y="4870399"/>
                <a:ext cx="1710597" cy="3928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𝑝𝑟𝑒𝑣</m:t>
                          </m:r>
                        </m:sup>
                      </m:sSubSup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𝑔𝑟𝑖𝑑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B9892F3-EC91-FC1C-66D6-C1B6309E5F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1" y="4870399"/>
                <a:ext cx="1710597" cy="39286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5D87B74-C442-A4D7-1BBD-A474DF349DCC}"/>
                  </a:ext>
                </a:extLst>
              </p:cNvPr>
              <p:cNvSpPr txBox="1"/>
              <p:nvPr/>
            </p:nvSpPr>
            <p:spPr>
              <a:xfrm>
                <a:off x="44696" y="5246911"/>
                <a:ext cx="2386521" cy="3466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𝑎𝑐𝑡</m:t>
                        </m:r>
                      </m:sup>
                    </m:sSubSup>
                    <m:r>
                      <a:rPr lang="en-US" b="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>
                    <a:solidFill>
                      <a:schemeClr val="accent2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𝑑𝑒</m:t>
                        </m:r>
                      </m:sup>
                    </m:sSub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33D6CE7-3B50-337D-36A8-BA722A8DDD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96" y="5246911"/>
                <a:ext cx="2386521" cy="346633"/>
              </a:xfrm>
              <a:prstGeom prst="rect">
                <a:avLst/>
              </a:prstGeom>
              <a:blipFill>
                <a:blip r:embed="rId21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F2B4F0C-34EB-825E-22AA-593F91BAFC96}"/>
                  </a:ext>
                </a:extLst>
              </p:cNvPr>
              <p:cNvSpPr txBox="1"/>
              <p:nvPr/>
            </p:nvSpPr>
            <p:spPr>
              <a:xfrm>
                <a:off x="59059" y="1958388"/>
                <a:ext cx="2790718" cy="3869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</m:sSubSup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acc>
                        <m:accPr>
                          <m:chr m:val="̅"/>
                          <m:ctrlPr>
                            <a:rPr lang="en-US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494C083-FF1B-2DA9-F753-377C4EFA87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59" y="1958388"/>
                <a:ext cx="2790718" cy="386965"/>
              </a:xfrm>
              <a:prstGeom prst="rect">
                <a:avLst/>
              </a:prstGeom>
              <a:blipFill>
                <a:blip r:embed="rId22"/>
                <a:stretch>
                  <a:fillRect b="-1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84D746C-1BD0-1E66-A5F6-E54E2C4AB441}"/>
                  </a:ext>
                </a:extLst>
              </p:cNvPr>
              <p:cNvSpPr txBox="1"/>
              <p:nvPr/>
            </p:nvSpPr>
            <p:spPr>
              <a:xfrm>
                <a:off x="8419" y="2922166"/>
                <a:ext cx="2790718" cy="3869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bSup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acc>
                        <m:accPr>
                          <m:chr m:val="̅"/>
                          <m:ctrlPr>
                            <a:rPr lang="en-US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29730AE-6E25-71CE-AB04-6C5C047E1D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9" y="2922166"/>
                <a:ext cx="2790718" cy="386965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EE55B71-1050-B9F6-B887-614D25E5AC0A}"/>
                  </a:ext>
                </a:extLst>
              </p:cNvPr>
              <p:cNvSpPr txBox="1"/>
              <p:nvPr/>
            </p:nvSpPr>
            <p:spPr>
              <a:xfrm>
                <a:off x="19205" y="3401661"/>
                <a:ext cx="2790718" cy="6124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𝑔𝑟𝑖𝑑</m:t>
                          </m:r>
                        </m:sup>
                      </m:sSubSup>
                      <m:r>
                        <a:rPr lang="en-US" sz="1400" b="0" i="0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</m:sSubSup>
                      <m:r>
                        <a:rPr lang="en-US" sz="1400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sSubSup>
                        <m:sSubSupPr>
                          <m:ctrlPr>
                            <a:rPr 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𝑤𝑖𝑛𝑑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1400" i="1">
                              <a:latin typeface="Cambria Math" panose="02040503050406030204" pitchFamily="18" charset="0"/>
                            </a:rPr>
                            <m:t>p</m:t>
                          </m:r>
                        </m:sup>
                      </m:sSup>
                      <m:sSubSup>
                        <m:sSubSupPr>
                          <m:ctrlP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bSup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2AB83D9-1554-1DD8-279F-AC302846B9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5" y="3401661"/>
                <a:ext cx="2790718" cy="612475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2BB9F9F-D94F-5614-94B8-F6B53D9FB85D}"/>
                  </a:ext>
                </a:extLst>
              </p:cNvPr>
              <p:cNvSpPr txBox="1"/>
              <p:nvPr/>
            </p:nvSpPr>
            <p:spPr>
              <a:xfrm>
                <a:off x="28745" y="5704412"/>
                <a:ext cx="2790718" cy="6010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𝑎𝑐𝑡</m:t>
                          </m:r>
                        </m:sup>
                      </m:sSubSup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𝑑𝑒</m:t>
                          </m:r>
                        </m:sup>
                      </m:sSubSup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accent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𝑎𝑐𝑡</m:t>
                          </m:r>
                        </m:sup>
                      </m:sSubSup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i="1" dirty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𝑑𝑒</m:t>
                          </m:r>
                        </m:sup>
                      </m:sSubSup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B97BE2B-0CA5-D247-9045-95629F7948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45" y="5704412"/>
                <a:ext cx="2790718" cy="601062"/>
              </a:xfrm>
              <a:prstGeom prst="rect">
                <a:avLst/>
              </a:prstGeom>
              <a:blipFill>
                <a:blip r:embed="rId25"/>
                <a:stretch>
                  <a:fillRect b="-3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438EEBB2-CFCF-110B-309F-D64B41FE65D9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367014" y="1089736"/>
                <a:ext cx="4167941" cy="5488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198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14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6156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828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1026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1026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1026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1026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1026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r>
                  <a:rPr lang="en-US" sz="2000" kern="0" dirty="0"/>
                  <a:t>Stages </a:t>
                </a:r>
                <a14:m>
                  <m:oMath xmlns:m="http://schemas.openxmlformats.org/officeDocument/2006/math">
                    <m:r>
                      <a:rPr lang="en-US" sz="2000" i="1" kern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i="1" kern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𝒯</m:t>
                    </m:r>
                  </m:oMath>
                </a14:m>
                <a:endParaRPr lang="en-US" sz="2000" kern="0" dirty="0"/>
              </a:p>
              <a:p>
                <a:r>
                  <a:rPr lang="en-US" sz="2000" kern="0" dirty="0"/>
                  <a:t>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kern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000" i="1" kern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 kern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000" i="1" kern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𝑤𝑖𝑛𝑑</m:t>
                            </m:r>
                          </m:sup>
                        </m:sSubSup>
                        <m:r>
                          <a:rPr lang="en-US" sz="2000" i="1" kern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𝑝𝑟𝑒𝑣</m:t>
                            </m:r>
                          </m:sup>
                        </m:sSubSup>
                        <m:r>
                          <a:rPr lang="en-US" sz="2000" i="1" kern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000" i="1" kern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l-GR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𝑔𝑟𝑖𝑑</m:t>
                            </m:r>
                          </m:sup>
                        </m:sSubSup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l-GR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𝑝𝑟𝑒𝑣</m:t>
                            </m:r>
                          </m:sup>
                        </m:sSubSup>
                        <m:r>
                          <a:rPr lang="en-US" sz="2000" i="1" kern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i="1" kern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kern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 kern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sz="2000" kern="0" dirty="0"/>
              </a:p>
              <a:p>
                <a:r>
                  <a:rPr lang="en-US" sz="2000" kern="0" dirty="0"/>
                  <a:t>Decision </a:t>
                </a:r>
                <a:br>
                  <a:rPr lang="en-US" sz="2000" kern="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kern="0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sz="2000" i="1" kern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 ker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000" i="1" kern="0" dirty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sup>
                        </m:sSubSup>
                        <m:r>
                          <a:rPr lang="en-US" sz="2000" i="1" ker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bSup>
                        <m:r>
                          <a:rPr lang="en-US" sz="2000" i="1" ker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𝑔𝑟𝑖𝑑</m:t>
                            </m:r>
                          </m:sup>
                        </m:sSubSup>
                        <m:r>
                          <a:rPr lang="en-US" sz="2000" i="1" kern="0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𝑎𝑐𝑡</m:t>
                            </m:r>
                          </m:sup>
                        </m:sSubSup>
                        <m:r>
                          <a:rPr lang="en-US" sz="2000" i="1" kern="0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Sup>
                          <m:sSubSupPr>
                            <m:ctrlP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𝑑𝑒</m:t>
                            </m:r>
                          </m:sup>
                        </m:sSubSup>
                      </m:e>
                    </m:d>
                  </m:oMath>
                </a14:m>
                <a:endParaRPr lang="en-US" sz="2000" kern="0" dirty="0"/>
              </a:p>
              <a:p>
                <a:r>
                  <a:rPr lang="en-US" sz="2000" kern="0" dirty="0"/>
                  <a:t>Dynamics </a:t>
                </a:r>
                <a:br>
                  <a:rPr lang="en-US" sz="2000" i="1" kern="0" dirty="0">
                    <a:latin typeface="Cambria Math" panose="02040503050406030204" pitchFamily="18" charset="0"/>
                  </a:rPr>
                </a:br>
                <a:endParaRPr lang="en-US" sz="2000" i="1" kern="0" dirty="0">
                  <a:latin typeface="Cambria Math" panose="02040503050406030204" pitchFamily="18" charset="0"/>
                </a:endParaRPr>
              </a:p>
              <a:p>
                <a:endParaRPr lang="en-US" sz="2000" i="1" kern="0" dirty="0">
                  <a:latin typeface="Cambria Math" panose="02040503050406030204" pitchFamily="18" charset="0"/>
                </a:endParaRPr>
              </a:p>
              <a:p>
                <a:endParaRPr lang="en-US" sz="2000" i="1" kern="0" dirty="0">
                  <a:latin typeface="Cambria Math" panose="02040503050406030204" pitchFamily="18" charset="0"/>
                </a:endParaRPr>
              </a:p>
              <a:p>
                <a:endParaRPr lang="en-US" sz="2000" i="1" kern="0" dirty="0">
                  <a:latin typeface="Cambria Math" panose="02040503050406030204" pitchFamily="18" charset="0"/>
                </a:endParaRPr>
              </a:p>
              <a:p>
                <a:endParaRPr lang="en-US" sz="2000" i="1" kern="0" dirty="0">
                  <a:latin typeface="Cambria Math" panose="02040503050406030204" pitchFamily="18" charset="0"/>
                </a:endParaRPr>
              </a:p>
              <a:p>
                <a:endParaRPr lang="en-US" sz="2000" i="1" kern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000" kern="0" dirty="0"/>
              </a:p>
              <a:p>
                <a:r>
                  <a:rPr lang="en-US" sz="2000" kern="0" dirty="0"/>
                  <a:t>Cost </a:t>
                </a:r>
                <a14:m>
                  <m:oMath xmlns:m="http://schemas.openxmlformats.org/officeDocument/2006/math">
                    <m:r>
                      <a:rPr lang="en-US" sz="2000" i="1" kern="0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sz="200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kern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kern="0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000" i="1" kern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000" i="1" kern="0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i="1" kern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kern="0" smtClean="0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en-US" sz="2000" i="1" kern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2000" i="1" kern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000" i="1" kern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𝑔𝑟𝑖𝑑</m:t>
                        </m:r>
                      </m:sup>
                    </m:sSubSup>
                    <m:r>
                      <a:rPr lang="en-US" sz="2000" i="1" kern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en-US" sz="2000" i="1" kern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kern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 kern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 kern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𝑔𝑟𝑖𝑑</m:t>
                        </m:r>
                      </m:sup>
                    </m:sSubSup>
                  </m:oMath>
                </a14:m>
                <a:endParaRPr lang="en-US" sz="2000" kern="0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438EEBB2-CFCF-110B-309F-D64B41FE65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67014" y="1089736"/>
                <a:ext cx="4167941" cy="5488464"/>
              </a:xfrm>
              <a:prstGeom prst="rect">
                <a:avLst/>
              </a:prstGeom>
              <a:blipFill>
                <a:blip r:embed="rId26"/>
                <a:stretch>
                  <a:fillRect l="-3509" t="-133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320591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9812E-6 -1.11111E-6 L 0.36853 0.3189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427" y="1594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2766E-7 3.7037E-6 L 0.3714 0.32592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570" y="16296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491E-6 -1.85185E-6 L 0.3714 0.2761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570" y="13796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888E-6 -4.81481E-6 L 0.37076 0.08774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531" y="4375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5762E-6 2.59259E-6 L 0.38781 0.0449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391" y="2245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9928E-6 2.22222E-6 L 0.38676 0.05278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338" y="2639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4" grpId="0" animBg="1"/>
      <p:bldP spid="33" grpId="0" animBg="1"/>
      <p:bldP spid="8" grpId="0"/>
      <p:bldP spid="12" grpId="0"/>
      <p:bldP spid="14" grpId="0"/>
      <p:bldP spid="21" grpId="0"/>
      <p:bldP spid="22" grpId="0"/>
      <p:bldP spid="23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8B3BD-2511-550C-66ED-62E4AD14D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71C963E-F14B-65AD-2C70-1D04FF219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2958" y="44624"/>
            <a:ext cx="7992888" cy="620032"/>
          </a:xfrm>
        </p:spPr>
        <p:txBody>
          <a:bodyPr wrap="square" anchor="b">
            <a:normAutofit/>
          </a:bodyPr>
          <a:lstStyle/>
          <a:p>
            <a:r>
              <a:rPr lang="en-GB" dirty="0"/>
              <a:t>The Lead Example as an MDP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8C19A7-4156-83BC-0BA8-963072E278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450" y="6541200"/>
            <a:ext cx="432600" cy="316800"/>
          </a:xfrm>
        </p:spPr>
        <p:txBody>
          <a:bodyPr anchor="ctr">
            <a:normAutofit/>
          </a:bodyPr>
          <a:lstStyle/>
          <a:p>
            <a:fld id="{103EA872-A674-449B-A120-B97244F8E91D}" type="slidenum">
              <a:rPr lang="en-GB" smtClean="0"/>
              <a:pPr/>
              <a:t>71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D866A64-FD83-5694-E84A-B2AEC0D49577}"/>
                  </a:ext>
                </a:extLst>
              </p:cNvPr>
              <p:cNvSpPr txBox="1"/>
              <p:nvPr/>
            </p:nvSpPr>
            <p:spPr>
              <a:xfrm>
                <a:off x="59059" y="1958388"/>
                <a:ext cx="2790718" cy="3869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</m:sSubSup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acc>
                        <m:accPr>
                          <m:chr m:val="̅"/>
                          <m:ctrlPr>
                            <a:rPr lang="en-US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494C083-FF1B-2DA9-F753-377C4EFA87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59" y="1958388"/>
                <a:ext cx="2790718" cy="386965"/>
              </a:xfrm>
              <a:prstGeom prst="rect">
                <a:avLst/>
              </a:prstGeom>
              <a:blipFill>
                <a:blip r:embed="rId22"/>
                <a:stretch>
                  <a:fillRect b="-1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721723E-F03C-7E3A-33C9-8230B88291C9}"/>
                  </a:ext>
                </a:extLst>
              </p:cNvPr>
              <p:cNvSpPr txBox="1"/>
              <p:nvPr/>
            </p:nvSpPr>
            <p:spPr>
              <a:xfrm>
                <a:off x="8419" y="2922166"/>
                <a:ext cx="2790718" cy="3869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bSup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acc>
                        <m:accPr>
                          <m:chr m:val="̅"/>
                          <m:ctrlPr>
                            <a:rPr lang="en-US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29730AE-6E25-71CE-AB04-6C5C047E1D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9" y="2922166"/>
                <a:ext cx="2790718" cy="386965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D286BEC-857D-F7D1-F928-7A7FB1448CB8}"/>
                  </a:ext>
                </a:extLst>
              </p:cNvPr>
              <p:cNvSpPr txBox="1"/>
              <p:nvPr/>
            </p:nvSpPr>
            <p:spPr>
              <a:xfrm>
                <a:off x="19205" y="3401661"/>
                <a:ext cx="2790718" cy="6124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𝑔𝑟𝑖𝑑</m:t>
                          </m:r>
                        </m:sup>
                      </m:sSubSup>
                      <m:r>
                        <a:rPr lang="en-US" sz="1400" b="0" i="0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</m:sSubSup>
                      <m:r>
                        <a:rPr lang="en-US" sz="1400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sSubSup>
                        <m:sSubSupPr>
                          <m:ctrlPr>
                            <a:rPr 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𝑤𝑖𝑛𝑑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1400" i="1">
                              <a:latin typeface="Cambria Math" panose="02040503050406030204" pitchFamily="18" charset="0"/>
                            </a:rPr>
                            <m:t>p</m:t>
                          </m:r>
                        </m:sup>
                      </m:sSup>
                      <m:sSubSup>
                        <m:sSubSupPr>
                          <m:ctrlP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bSup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2AB83D9-1554-1DD8-279F-AC302846B9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5" y="3401661"/>
                <a:ext cx="2790718" cy="612475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9A574DE-E424-BEA1-187B-9D48E767197D}"/>
                  </a:ext>
                </a:extLst>
              </p:cNvPr>
              <p:cNvSpPr txBox="1"/>
              <p:nvPr/>
            </p:nvSpPr>
            <p:spPr>
              <a:xfrm>
                <a:off x="28745" y="5704412"/>
                <a:ext cx="2790718" cy="6010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𝑎𝑐𝑡</m:t>
                          </m:r>
                        </m:sup>
                      </m:sSubSup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𝑑𝑒</m:t>
                          </m:r>
                        </m:sup>
                      </m:sSubSup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accent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𝑎𝑐𝑡</m:t>
                          </m:r>
                        </m:sup>
                      </m:sSubSup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i="1" dirty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𝑑𝑒</m:t>
                          </m:r>
                        </m:sup>
                      </m:sSubSup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B97BE2B-0CA5-D247-9045-95629F7948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45" y="5704412"/>
                <a:ext cx="2790718" cy="601062"/>
              </a:xfrm>
              <a:prstGeom prst="rect">
                <a:avLst/>
              </a:prstGeom>
              <a:blipFill>
                <a:blip r:embed="rId25"/>
                <a:stretch>
                  <a:fillRect b="-3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971F9BD6-13EA-7D99-E9F9-82723B0905C9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367014" y="1089736"/>
                <a:ext cx="4167941" cy="5488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198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14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6156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828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1026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1026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1026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1026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1026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r>
                  <a:rPr lang="en-US" sz="2000" kern="0" dirty="0"/>
                  <a:t>Stages </a:t>
                </a:r>
                <a14:m>
                  <m:oMath xmlns:m="http://schemas.openxmlformats.org/officeDocument/2006/math">
                    <m:r>
                      <a:rPr lang="en-US" sz="2000" i="1" kern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i="1" kern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𝒯</m:t>
                    </m:r>
                  </m:oMath>
                </a14:m>
                <a:endParaRPr lang="en-US" sz="2000" kern="0" dirty="0"/>
              </a:p>
              <a:p>
                <a:r>
                  <a:rPr lang="en-US" sz="2000" kern="0" dirty="0"/>
                  <a:t>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kern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000" i="1" kern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 kern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𝑤𝑖𝑛𝑑</m:t>
                            </m:r>
                          </m:sup>
                        </m:sSubSup>
                        <m:r>
                          <a:rPr lang="en-US" sz="2000" i="1" kern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𝑝𝑟𝑒𝑣</m:t>
                            </m:r>
                          </m:sup>
                        </m:sSubSup>
                        <m:r>
                          <a:rPr lang="en-US" sz="2000" i="1" kern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000" i="1" kern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l-GR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𝑔𝑟𝑖𝑑</m:t>
                            </m:r>
                          </m:sup>
                        </m:sSubSup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l-GR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𝑝𝑟𝑒𝑣</m:t>
                            </m:r>
                          </m:sup>
                        </m:sSubSup>
                        <m:r>
                          <a:rPr lang="en-US" sz="2000" i="1" kern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i="1" kern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kern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 kern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sz="2000" kern="0" dirty="0"/>
              </a:p>
              <a:p>
                <a:r>
                  <a:rPr lang="en-US" sz="2000" kern="0" dirty="0"/>
                  <a:t>Decision </a:t>
                </a:r>
                <a:br>
                  <a:rPr lang="en-US" sz="2000" kern="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kern="0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sz="2000" i="1" kern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 ker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sup>
                        </m:sSubSup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bSup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𝑔𝑟𝑖𝑑</m:t>
                            </m:r>
                          </m:sup>
                        </m:sSubSup>
                        <m:r>
                          <a:rPr lang="en-US" sz="2000" i="1" kern="0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𝑎𝑐𝑡</m:t>
                            </m:r>
                          </m:sup>
                        </m:sSubSup>
                        <m:r>
                          <a:rPr lang="en-US" sz="2000" i="1" kern="0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Sup>
                          <m:sSubSupPr>
                            <m:ctrlP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𝑑𝑒</m:t>
                            </m:r>
                          </m:sup>
                        </m:sSubSup>
                      </m:e>
                    </m:d>
                  </m:oMath>
                </a14:m>
                <a:endParaRPr lang="en-US" sz="2000" kern="0" dirty="0"/>
              </a:p>
              <a:p>
                <a:r>
                  <a:rPr lang="en-US" sz="2000" kern="0" dirty="0"/>
                  <a:t>Dynamics </a:t>
                </a:r>
                <a:br>
                  <a:rPr lang="en-US" sz="2000" i="1" kern="0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𝑤𝑖𝑛𝑑</m:t>
                        </m:r>
                      </m:sup>
                    </m:sSubSup>
                    <m:r>
                      <a:rPr lang="en-US" sz="2000" i="1" ker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000" i="1" ker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⋅|</m:t>
                        </m:r>
                        <m:sSubSup>
                          <m:sSubSupPr>
                            <m:ctrlP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𝑤𝑖𝑛𝑑</m:t>
                            </m:r>
                          </m:sup>
                        </m:sSubSup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𝑝𝑟𝑒𝑣</m:t>
                            </m:r>
                          </m:sup>
                        </m:sSubSup>
                      </m:e>
                    </m:d>
                  </m:oMath>
                </a14:m>
                <a:br>
                  <a:rPr lang="en-US" sz="2000" i="1" kern="0" dirty="0">
                    <a:solidFill>
                      <a:srgbClr val="00B05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𝑝𝑟𝑒𝑣</m:t>
                        </m:r>
                      </m:sup>
                    </m:sSubSup>
                    <m:r>
                      <a:rPr lang="en-US" sz="2000" i="1" ker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𝑤𝑖𝑛𝑑</m:t>
                        </m:r>
                      </m:sup>
                    </m:sSubSup>
                  </m:oMath>
                </a14:m>
                <a:br>
                  <a:rPr lang="en-US" sz="2000" i="1" kern="0" dirty="0">
                    <a:solidFill>
                      <a:srgbClr val="00B05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 ker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 ker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sz="2000" kern="0" dirty="0"/>
                      <m:t> </m:t>
                    </m:r>
                    <m:sSubSup>
                      <m:sSubSupPr>
                        <m:ctrlPr>
                          <a:rPr lang="en-US" sz="2000" i="1" kern="0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kern="0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 kern="0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 kern="0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i="1" kern="0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 kern="0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bSup>
                    <m:sSup>
                      <m:sSupPr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 ker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000" kern="0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 sz="2000" ker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2000" kern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  <m:r>
                      <a:rPr lang="en-US" sz="2000" i="1" ker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sz="2000" i="1" kern="0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kern="0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 kern="0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 kern="0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000" i="1" kern="0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 kern="0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bSup>
                  </m:oMath>
                </a14:m>
                <a:br>
                  <a:rPr lang="en-US" sz="2000" i="1" kern="0" dirty="0">
                    <a:solidFill>
                      <a:srgbClr val="00B05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𝑔𝑟𝑖𝑑</m:t>
                        </m:r>
                      </m:sup>
                    </m:sSubSup>
                    <m:r>
                      <a:rPr lang="en-US" sz="2000" i="1" ker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000" i="1" ker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⋅|</m:t>
                        </m:r>
                        <m:sSubSup>
                          <m:sSubSupPr>
                            <m:ctrlP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l-GR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𝑔𝑟𝑖𝑑</m:t>
                            </m:r>
                          </m:sup>
                        </m:sSubSup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l-GR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𝑝𝑟𝑒𝑣</m:t>
                            </m:r>
                          </m:sup>
                        </m:sSubSup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𝑤𝑖𝑛𝑑</m:t>
                            </m:r>
                          </m:sup>
                        </m:sSubSup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𝑝𝑟𝑒𝑣</m:t>
                            </m:r>
                          </m:sup>
                        </m:sSubSup>
                      </m:e>
                    </m:d>
                  </m:oMath>
                </a14:m>
                <a:br>
                  <a:rPr lang="en-US" sz="2000" i="1" kern="0" dirty="0">
                    <a:solidFill>
                      <a:srgbClr val="00B05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𝑝𝑟𝑒𝑣</m:t>
                        </m:r>
                      </m:sup>
                    </m:sSubSup>
                    <m:r>
                      <a:rPr lang="en-US" sz="2000" i="1" ker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𝑔𝑟𝑖𝑑</m:t>
                        </m:r>
                      </m:sup>
                    </m:sSubSup>
                  </m:oMath>
                </a14:m>
                <a:br>
                  <a:rPr lang="en-US" sz="2000" i="1" kern="0" dirty="0">
                    <a:solidFill>
                      <a:srgbClr val="00B05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 ker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 ker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000" i="1" kern="0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kern="0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 kern="0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 kern="0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𝑎𝑐𝑡</m:t>
                        </m:r>
                      </m:sup>
                    </m:sSubSup>
                    <m:r>
                      <a:rPr lang="en-US" sz="2000" i="1" kern="0" dirty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000" kern="0" dirty="0">
                        <a:solidFill>
                          <a:schemeClr val="accent2"/>
                        </a:solidFill>
                      </a:rPr>
                      <m:t> </m:t>
                    </m:r>
                    <m:sSubSup>
                      <m:sSubSupPr>
                        <m:ctrlPr>
                          <a:rPr lang="en-US" sz="2000" i="1" kern="0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kern="0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 kern="0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 kern="0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𝑑𝑒</m:t>
                        </m:r>
                      </m:sup>
                    </m:sSubSup>
                  </m:oMath>
                </a14:m>
                <a:endParaRPr lang="en-US" sz="2000" i="1" kern="0" dirty="0">
                  <a:solidFill>
                    <a:srgbClr val="00B050"/>
                  </a:solidFill>
                  <a:latin typeface="Cambria Math" panose="02040503050406030204" pitchFamily="18" charset="0"/>
                </a:endParaRPr>
              </a:p>
              <a:p>
                <a:endParaRPr lang="en-US" sz="2000" kern="0" dirty="0"/>
              </a:p>
              <a:p>
                <a:r>
                  <a:rPr lang="en-US" sz="2000" kern="0" dirty="0"/>
                  <a:t>Cost </a:t>
                </a:r>
                <a14:m>
                  <m:oMath xmlns:m="http://schemas.openxmlformats.org/officeDocument/2006/math">
                    <m:r>
                      <a:rPr lang="en-US" sz="2000" i="1" kern="0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sz="200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kern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kern="0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000" i="1" kern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000" i="1" kern="0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i="1" kern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kern="0" smtClean="0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en-US" sz="2000" i="1" kern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2000" i="1" kern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sz="2000" kern="0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971F9BD6-13EA-7D99-E9F9-82723B0905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67014" y="1089736"/>
                <a:ext cx="4167941" cy="5488464"/>
              </a:xfrm>
              <a:prstGeom prst="rect">
                <a:avLst/>
              </a:prstGeom>
              <a:blipFill>
                <a:blip r:embed="rId26"/>
                <a:stretch>
                  <a:fillRect l="-3509" t="-1333" r="-58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39964182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949F8-3D25-085E-C048-F002A2BD7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A571178-7EC9-7C7A-0E88-A781B7096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2958" y="44624"/>
            <a:ext cx="7992888" cy="620032"/>
          </a:xfrm>
        </p:spPr>
        <p:txBody>
          <a:bodyPr wrap="square" anchor="b">
            <a:normAutofit/>
          </a:bodyPr>
          <a:lstStyle/>
          <a:p>
            <a:r>
              <a:rPr lang="en-GB" dirty="0"/>
              <a:t>The Lead Example as an MDP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B4416B-C0C3-4509-34A9-8B6BD950E2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450" y="6541200"/>
            <a:ext cx="432600" cy="316800"/>
          </a:xfrm>
        </p:spPr>
        <p:txBody>
          <a:bodyPr anchor="ctr">
            <a:normAutofit/>
          </a:bodyPr>
          <a:lstStyle/>
          <a:p>
            <a:fld id="{103EA872-A674-449B-A120-B97244F8E91D}" type="slidenum">
              <a:rPr lang="en-GB" smtClean="0"/>
              <a:pPr/>
              <a:t>72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B5BAEF0-A8BF-E111-A341-9C44D9E967BC}"/>
                  </a:ext>
                </a:extLst>
              </p:cNvPr>
              <p:cNvSpPr txBox="1"/>
              <p:nvPr/>
            </p:nvSpPr>
            <p:spPr>
              <a:xfrm>
                <a:off x="59059" y="1958388"/>
                <a:ext cx="2790718" cy="3869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</m:sSubSup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acc>
                        <m:accPr>
                          <m:chr m:val="̅"/>
                          <m:ctrlPr>
                            <a:rPr lang="en-US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494C083-FF1B-2DA9-F753-377C4EFA87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59" y="1958388"/>
                <a:ext cx="2790718" cy="386965"/>
              </a:xfrm>
              <a:prstGeom prst="rect">
                <a:avLst/>
              </a:prstGeom>
              <a:blipFill>
                <a:blip r:embed="rId22"/>
                <a:stretch>
                  <a:fillRect b="-1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732D29B-4E1A-8E1C-6F98-654DD91503D7}"/>
                  </a:ext>
                </a:extLst>
              </p:cNvPr>
              <p:cNvSpPr txBox="1"/>
              <p:nvPr/>
            </p:nvSpPr>
            <p:spPr>
              <a:xfrm>
                <a:off x="8419" y="2922166"/>
                <a:ext cx="2790718" cy="3869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bSup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acc>
                        <m:accPr>
                          <m:chr m:val="̅"/>
                          <m:ctrlPr>
                            <a:rPr lang="en-US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29730AE-6E25-71CE-AB04-6C5C047E1D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9" y="2922166"/>
                <a:ext cx="2790718" cy="386965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C164020-654E-8186-FE40-20574BE22108}"/>
                  </a:ext>
                </a:extLst>
              </p:cNvPr>
              <p:cNvSpPr txBox="1"/>
              <p:nvPr/>
            </p:nvSpPr>
            <p:spPr>
              <a:xfrm>
                <a:off x="19205" y="3401661"/>
                <a:ext cx="2790718" cy="6124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𝑔𝑟𝑖𝑑</m:t>
                          </m:r>
                        </m:sup>
                      </m:sSubSup>
                      <m:r>
                        <a:rPr lang="en-US" sz="1400" b="0" i="0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</m:sSubSup>
                      <m:r>
                        <a:rPr lang="en-US" sz="1400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sSubSup>
                        <m:sSubSupPr>
                          <m:ctrlPr>
                            <a:rPr 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𝑤𝑖𝑛𝑑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1400" i="1">
                              <a:latin typeface="Cambria Math" panose="02040503050406030204" pitchFamily="18" charset="0"/>
                            </a:rPr>
                            <m:t>p</m:t>
                          </m:r>
                        </m:sup>
                      </m:sSup>
                      <m:sSubSup>
                        <m:sSubSupPr>
                          <m:ctrlP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bSup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2AB83D9-1554-1DD8-279F-AC302846B9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5" y="3401661"/>
                <a:ext cx="2790718" cy="612475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F2F28BB-0ED8-16DC-8AA2-41E82FD50D34}"/>
                  </a:ext>
                </a:extLst>
              </p:cNvPr>
              <p:cNvSpPr txBox="1"/>
              <p:nvPr/>
            </p:nvSpPr>
            <p:spPr>
              <a:xfrm>
                <a:off x="28745" y="5704412"/>
                <a:ext cx="2790718" cy="6010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𝑎𝑐𝑡</m:t>
                          </m:r>
                        </m:sup>
                      </m:sSubSup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𝑑𝑒</m:t>
                          </m:r>
                        </m:sup>
                      </m:sSubSup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accent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𝑎𝑐𝑡</m:t>
                          </m:r>
                        </m:sup>
                      </m:sSubSup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i="1" dirty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𝑑𝑒</m:t>
                          </m:r>
                        </m:sup>
                      </m:sSubSup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B97BE2B-0CA5-D247-9045-95629F7948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45" y="5704412"/>
                <a:ext cx="2790718" cy="601062"/>
              </a:xfrm>
              <a:prstGeom prst="rect">
                <a:avLst/>
              </a:prstGeom>
              <a:blipFill>
                <a:blip r:embed="rId25"/>
                <a:stretch>
                  <a:fillRect b="-3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72260C32-ABC0-9059-332C-A76500637B52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367014" y="1089736"/>
                <a:ext cx="4167941" cy="5488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198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14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6156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828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1026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1026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1026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1026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1026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r>
                  <a:rPr lang="en-US" sz="2000" kern="0" dirty="0"/>
                  <a:t>Stages </a:t>
                </a:r>
                <a14:m>
                  <m:oMath xmlns:m="http://schemas.openxmlformats.org/officeDocument/2006/math">
                    <m:r>
                      <a:rPr lang="en-US" sz="2000" i="1" kern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i="1" kern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𝒯</m:t>
                    </m:r>
                  </m:oMath>
                </a14:m>
                <a:endParaRPr lang="en-US" sz="2000" kern="0" dirty="0"/>
              </a:p>
              <a:p>
                <a:r>
                  <a:rPr lang="en-US" sz="2000" kern="0" dirty="0"/>
                  <a:t>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kern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000" i="1" kern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 kern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𝑤𝑖𝑛𝑑</m:t>
                            </m:r>
                          </m:sup>
                        </m:sSubSup>
                        <m:r>
                          <a:rPr lang="en-US" sz="2000" i="1" kern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𝑝𝑟𝑒𝑣</m:t>
                            </m:r>
                          </m:sup>
                        </m:sSubSup>
                        <m:r>
                          <a:rPr lang="en-US" sz="2000" i="1" kern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000" i="1" kern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l-GR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𝑔𝑟𝑖𝑑</m:t>
                            </m:r>
                          </m:sup>
                        </m:sSubSup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l-GR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𝑝𝑟𝑒𝑣</m:t>
                            </m:r>
                          </m:sup>
                        </m:sSubSup>
                        <m:r>
                          <a:rPr lang="en-US" sz="2000" i="1" kern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i="1" kern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kern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 kern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sz="2000" kern="0" dirty="0"/>
              </a:p>
              <a:p>
                <a:r>
                  <a:rPr lang="en-US" sz="2000" kern="0" dirty="0"/>
                  <a:t>Decision </a:t>
                </a:r>
                <a:br>
                  <a:rPr lang="en-US" sz="2000" kern="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kern="0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sz="2000" i="1" kern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 ker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sup>
                        </m:sSubSup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bSup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𝑔𝑟𝑖𝑑</m:t>
                            </m:r>
                          </m:sup>
                        </m:sSubSup>
                        <m:r>
                          <a:rPr lang="en-US" sz="2000" i="1" kern="0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𝑎𝑐𝑡</m:t>
                            </m:r>
                          </m:sup>
                        </m:sSubSup>
                        <m:r>
                          <a:rPr lang="en-US" sz="2000" i="1" kern="0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Sup>
                          <m:sSubSupPr>
                            <m:ctrlP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𝑑𝑒</m:t>
                            </m:r>
                          </m:sup>
                        </m:sSubSup>
                      </m:e>
                    </m:d>
                  </m:oMath>
                </a14:m>
                <a:endParaRPr lang="en-US" sz="2000" kern="0" dirty="0"/>
              </a:p>
              <a:p>
                <a:r>
                  <a:rPr lang="en-US" sz="2000" kern="0" dirty="0"/>
                  <a:t>Dynamics </a:t>
                </a:r>
                <a:br>
                  <a:rPr lang="en-US" sz="2000" i="1" kern="0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𝑤𝑖𝑛𝑑</m:t>
                        </m:r>
                      </m:sup>
                    </m:sSubSup>
                    <m:r>
                      <a:rPr lang="en-US" sz="2000" i="1" ker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000" i="1" ker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⋅|</m:t>
                        </m:r>
                        <m:sSubSup>
                          <m:sSubSupPr>
                            <m:ctrlP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𝑤𝑖𝑛𝑑</m:t>
                            </m:r>
                          </m:sup>
                        </m:sSubSup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𝑝𝑟𝑒𝑣</m:t>
                            </m:r>
                          </m:sup>
                        </m:sSubSup>
                      </m:e>
                    </m:d>
                  </m:oMath>
                </a14:m>
                <a:br>
                  <a:rPr lang="en-US" sz="2000" i="1" kern="0" dirty="0">
                    <a:solidFill>
                      <a:srgbClr val="00B05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𝑝𝑟𝑒𝑣</m:t>
                        </m:r>
                      </m:sup>
                    </m:sSubSup>
                    <m:r>
                      <a:rPr lang="en-US" sz="2000" i="1" ker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𝑤𝑖𝑛𝑑</m:t>
                        </m:r>
                      </m:sup>
                    </m:sSubSup>
                  </m:oMath>
                </a14:m>
                <a:br>
                  <a:rPr lang="en-US" sz="2000" i="1" kern="0" dirty="0">
                    <a:solidFill>
                      <a:srgbClr val="00B05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 ker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 ker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sz="2000" kern="0" dirty="0"/>
                      <m:t> </m:t>
                    </m:r>
                    <m:sSubSup>
                      <m:sSubSupPr>
                        <m:ctrlPr>
                          <a:rPr lang="en-US" sz="2000" i="1" kern="0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kern="0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 kern="0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 kern="0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i="1" kern="0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 kern="0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bSup>
                    <m:sSup>
                      <m:sSupPr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 ker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000" kern="0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 sz="2000" ker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2000" kern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  <m:r>
                      <a:rPr lang="en-US" sz="2000" i="1" ker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sz="2000" i="1" kern="0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kern="0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 kern="0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 kern="0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000" i="1" kern="0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 kern="0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bSup>
                  </m:oMath>
                </a14:m>
                <a:br>
                  <a:rPr lang="en-US" sz="2000" i="1" kern="0" dirty="0">
                    <a:solidFill>
                      <a:srgbClr val="00B05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𝑔𝑟𝑖𝑑</m:t>
                        </m:r>
                      </m:sup>
                    </m:sSubSup>
                    <m:r>
                      <a:rPr lang="en-US" sz="2000" i="1" ker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000" i="1" ker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⋅|</m:t>
                        </m:r>
                        <m:sSubSup>
                          <m:sSubSupPr>
                            <m:ctrlP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l-GR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𝑔𝑟𝑖𝑑</m:t>
                            </m:r>
                          </m:sup>
                        </m:sSubSup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l-GR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𝑝𝑟𝑒𝑣</m:t>
                            </m:r>
                          </m:sup>
                        </m:sSubSup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𝑤𝑖𝑛𝑑</m:t>
                            </m:r>
                          </m:sup>
                        </m:sSubSup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ker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𝑝𝑟𝑒𝑣</m:t>
                            </m:r>
                          </m:sup>
                        </m:sSubSup>
                      </m:e>
                    </m:d>
                  </m:oMath>
                </a14:m>
                <a:br>
                  <a:rPr lang="en-US" sz="2000" i="1" kern="0" dirty="0">
                    <a:solidFill>
                      <a:srgbClr val="00B05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𝑝𝑟𝑒𝑣</m:t>
                        </m:r>
                      </m:sup>
                    </m:sSubSup>
                    <m:r>
                      <a:rPr lang="en-US" sz="2000" i="1" ker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𝑔𝑟𝑖𝑑</m:t>
                        </m:r>
                      </m:sup>
                    </m:sSubSup>
                  </m:oMath>
                </a14:m>
                <a:br>
                  <a:rPr lang="en-US" sz="2000" i="1" kern="0" dirty="0">
                    <a:solidFill>
                      <a:srgbClr val="00B05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 ker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 ker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000" i="1" kern="0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kern="0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 kern="0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 kern="0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𝑎𝑐𝑡</m:t>
                        </m:r>
                      </m:sup>
                    </m:sSubSup>
                    <m:r>
                      <a:rPr lang="en-US" sz="2000" i="1" kern="0" dirty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000" kern="0" dirty="0">
                        <a:solidFill>
                          <a:schemeClr val="accent2"/>
                        </a:solidFill>
                      </a:rPr>
                      <m:t> </m:t>
                    </m:r>
                    <m:sSubSup>
                      <m:sSubSupPr>
                        <m:ctrlPr>
                          <a:rPr lang="en-US" sz="2000" i="1" kern="0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kern="0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 kern="0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 kern="0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𝑑𝑒</m:t>
                        </m:r>
                      </m:sup>
                    </m:sSubSup>
                  </m:oMath>
                </a14:m>
                <a:endParaRPr lang="en-US" sz="2000" i="1" kern="0" dirty="0">
                  <a:solidFill>
                    <a:srgbClr val="00B050"/>
                  </a:solidFill>
                  <a:latin typeface="Cambria Math" panose="02040503050406030204" pitchFamily="18" charset="0"/>
                </a:endParaRPr>
              </a:p>
              <a:p>
                <a:endParaRPr lang="en-US" sz="2000" kern="0" dirty="0"/>
              </a:p>
              <a:p>
                <a:r>
                  <a:rPr lang="en-US" sz="2000" kern="0" dirty="0"/>
                  <a:t>Cost </a:t>
                </a:r>
                <a14:m>
                  <m:oMath xmlns:m="http://schemas.openxmlformats.org/officeDocument/2006/math">
                    <m:r>
                      <a:rPr lang="en-US" sz="2000" i="1" kern="0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sz="200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kern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kern="0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000" i="1" kern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000" i="1" kern="0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i="1" kern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kern="0" smtClean="0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en-US" sz="2000" i="1" kern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2000" i="1" kern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 ker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𝑔𝑟𝑖𝑑</m:t>
                        </m:r>
                      </m:sup>
                    </m:sSubSup>
                    <m:r>
                      <a:rPr lang="en-US" sz="2000" i="1" kern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en-US" sz="2000" i="1" kern="0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kern="0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 kern="0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 kern="0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𝑔𝑟𝑖𝑑</m:t>
                        </m:r>
                      </m:sup>
                    </m:sSubSup>
                  </m:oMath>
                </a14:m>
                <a:endParaRPr lang="en-US" sz="2000" kern="0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72260C32-ABC0-9059-332C-A76500637B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67014" y="1089736"/>
                <a:ext cx="4167941" cy="5488464"/>
              </a:xfrm>
              <a:prstGeom prst="rect">
                <a:avLst/>
              </a:prstGeom>
              <a:blipFill>
                <a:blip r:embed="rId26"/>
                <a:stretch>
                  <a:fillRect l="-3509" t="-1333" r="-58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55593644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3DB20-7654-D190-B9C1-0F55AA93A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D35071F-3D7C-8CBC-B544-E3736466F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0870" y="67006"/>
            <a:ext cx="7992888" cy="620032"/>
          </a:xfrm>
        </p:spPr>
        <p:txBody>
          <a:bodyPr wrap="square" anchor="b">
            <a:normAutofit/>
          </a:bodyPr>
          <a:lstStyle/>
          <a:p>
            <a:r>
              <a:rPr lang="en-GB" dirty="0"/>
              <a:t>The Lead Example as an MDP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9E7D1347-61A1-6B35-044E-FE1201B62E47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2392747" y="1043675"/>
                <a:ext cx="4167941" cy="5488464"/>
              </a:xfrm>
            </p:spPr>
            <p:txBody>
              <a:bodyPr wrap="square" anchor="t">
                <a:noAutofit/>
              </a:bodyPr>
              <a:lstStyle/>
              <a:p>
                <a:r>
                  <a:rPr lang="en-US" sz="2000" dirty="0">
                    <a:solidFill>
                      <a:schemeClr val="tx1"/>
                    </a:solidFill>
                  </a:rPr>
                  <a:t>Stages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𝒯</m:t>
                    </m:r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r>
                  <a:rPr lang="en-US" sz="2000" dirty="0"/>
                  <a:t>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𝑤𝑖𝑛𝑑</m:t>
                            </m:r>
                          </m:sup>
                        </m:sSubSup>
                        <m:r>
                          <a:rPr lang="en-US" sz="20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𝑝𝑟𝑒𝑣</m:t>
                            </m:r>
                          </m:sup>
                        </m:sSubSup>
                        <m:r>
                          <a:rPr lang="en-US" sz="20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l-GR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𝑔𝑟𝑖𝑑</m:t>
                            </m:r>
                          </m:sup>
                        </m:sSubSup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l-GR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𝑝𝑟𝑒𝑣</m:t>
                            </m:r>
                          </m:sup>
                        </m:sSubSup>
                        <m:r>
                          <a:rPr lang="en-US" sz="20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sz="2000" dirty="0"/>
              </a:p>
              <a:p>
                <a:r>
                  <a:rPr lang="en-US" sz="2000" dirty="0"/>
                  <a:t>Decision </a:t>
                </a:r>
                <a:br>
                  <a:rPr lang="en-US" sz="20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sup>
                        </m:sSub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b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𝑔𝑟𝑖𝑑</m:t>
                            </m:r>
                          </m:sup>
                        </m:sSubSup>
                        <m:r>
                          <a:rPr lang="en-US" sz="20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𝑎𝑐𝑡</m:t>
                            </m:r>
                          </m:sup>
                        </m:sSubSup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Sup>
                          <m:sSubSupPr>
                            <m:ctrlP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𝑑𝑒</m:t>
                            </m:r>
                          </m:sup>
                        </m:sSubSup>
                      </m:e>
                    </m:d>
                  </m:oMath>
                </a14:m>
                <a:endParaRPr lang="en-US" sz="2000" b="0" dirty="0"/>
              </a:p>
              <a:p>
                <a:r>
                  <a:rPr lang="en-US" sz="2000" dirty="0"/>
                  <a:t>Dynamics </a:t>
                </a:r>
                <a:br>
                  <a:rPr lang="en-US" sz="2000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𝑤𝑖𝑛𝑑</m:t>
                        </m:r>
                      </m:sup>
                    </m:sSubSup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⋅|</m:t>
                        </m:r>
                        <m:sSubSup>
                          <m:sSubSupPr>
                            <m:ctrlP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𝑤𝑖𝑛𝑑</m:t>
                            </m:r>
                          </m:sup>
                        </m:sSubSup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𝑝𝑟𝑒𝑣</m:t>
                            </m:r>
                          </m:sup>
                        </m:sSubSup>
                      </m:e>
                    </m:d>
                  </m:oMath>
                </a14:m>
                <a:br>
                  <a:rPr lang="en-US" sz="2000" i="1" dirty="0">
                    <a:solidFill>
                      <a:srgbClr val="00B05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𝑝𝑟𝑒𝑣</m:t>
                        </m:r>
                      </m:sup>
                    </m:sSubSup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𝑤𝑖𝑛𝑑</m:t>
                        </m:r>
                      </m:sup>
                    </m:sSubSup>
                  </m:oMath>
                </a14:m>
                <a:br>
                  <a:rPr lang="en-US" sz="2000" i="1" dirty="0">
                    <a:solidFill>
                      <a:srgbClr val="00B05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sz="2000" dirty="0"/>
                      <m:t> </m:t>
                    </m:r>
                    <m:sSubSup>
                      <m:sSubSupPr>
                        <m:ctrlP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bSup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 sz="20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bSup>
                  </m:oMath>
                </a14:m>
                <a:br>
                  <a:rPr lang="en-US" sz="2000" i="1" dirty="0">
                    <a:solidFill>
                      <a:srgbClr val="00B05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𝑔𝑟𝑖𝑑</m:t>
                        </m:r>
                      </m:sup>
                    </m:sSubSup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⋅|</m:t>
                        </m:r>
                        <m:sSubSup>
                          <m:sSubSupPr>
                            <m:ctrlP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l-GR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𝑔𝑟𝑖𝑑</m:t>
                            </m:r>
                          </m:sup>
                        </m:sSubSup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l-GR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𝑝𝑟𝑒𝑣</m:t>
                            </m:r>
                          </m:sup>
                        </m:sSubSup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𝑤𝑖𝑛𝑑</m:t>
                            </m:r>
                          </m:sup>
                        </m:sSubSup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𝑝𝑟𝑒𝑣</m:t>
                            </m:r>
                          </m:sup>
                        </m:sSubSup>
                      </m:e>
                    </m:d>
                  </m:oMath>
                </a14:m>
                <a:br>
                  <a:rPr lang="en-US" sz="2000" i="1" dirty="0">
                    <a:solidFill>
                      <a:srgbClr val="00B05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𝑝𝑟𝑒𝑣</m:t>
                        </m:r>
                      </m:sup>
                    </m:sSubSup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𝑔𝑟𝑖𝑑</m:t>
                        </m:r>
                      </m:sup>
                    </m:sSubSup>
                  </m:oMath>
                </a14:m>
                <a:br>
                  <a:rPr lang="en-US" sz="2000" i="1" dirty="0">
                    <a:solidFill>
                      <a:srgbClr val="00B05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𝑎𝑐𝑡</m:t>
                        </m:r>
                      </m:sup>
                    </m:sSubSup>
                    <m:r>
                      <a:rPr lang="en-US" sz="2000" i="1" dirty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accent2"/>
                        </a:solidFill>
                      </a:rPr>
                      <m:t> </m:t>
                    </m:r>
                    <m:sSubSup>
                      <m:sSubSupPr>
                        <m:ctrlP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𝑑𝑒</m:t>
                        </m:r>
                      </m:sup>
                    </m:sSubSup>
                  </m:oMath>
                </a14:m>
                <a:endParaRPr lang="en-US" sz="2000" i="1" dirty="0">
                  <a:solidFill>
                    <a:srgbClr val="00B050"/>
                  </a:solidFill>
                  <a:latin typeface="Cambria Math" panose="02040503050406030204" pitchFamily="18" charset="0"/>
                </a:endParaRPr>
              </a:p>
              <a:p>
                <a:endParaRPr lang="en-US" sz="2000" b="0" dirty="0"/>
              </a:p>
              <a:p>
                <a:r>
                  <a:rPr lang="en-US" sz="2000" dirty="0"/>
                  <a:t>Cost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𝑔𝑟𝑖𝑑</m:t>
                        </m:r>
                      </m:sup>
                    </m:sSubSup>
                    <m:r>
                      <a:rPr lang="en-US" sz="20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𝑔𝑟𝑖𝑑</m:t>
                        </m:r>
                      </m:sup>
                    </m:sSubSup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9E7D1347-61A1-6B35-044E-FE1201B62E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2392747" y="1043675"/>
                <a:ext cx="4167941" cy="5488464"/>
              </a:xfrm>
              <a:blipFill>
                <a:blip r:embed="rId4"/>
                <a:stretch>
                  <a:fillRect l="-3514" t="-1332" r="-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52EB73F-86ED-93B6-C92E-B3061CF63723}"/>
                  </a:ext>
                </a:extLst>
              </p:cNvPr>
              <p:cNvSpPr txBox="1"/>
              <p:nvPr/>
            </p:nvSpPr>
            <p:spPr>
              <a:xfrm>
                <a:off x="6801730" y="1683019"/>
                <a:ext cx="2790718" cy="4238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</m:sSubSup>
                      <m:r>
                        <a:rPr lang="en-US" sz="1800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acc>
                        <m:accPr>
                          <m:chr m:val="̅"/>
                          <m:ctrlPr>
                            <a:rPr lang="en-US" sz="18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sz="180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acc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52EB73F-86ED-93B6-C92E-B3061CF637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1730" y="1683019"/>
                <a:ext cx="2790718" cy="423899"/>
              </a:xfrm>
              <a:prstGeom prst="rect">
                <a:avLst/>
              </a:prstGeom>
              <a:blipFill>
                <a:blip r:embed="rId5"/>
                <a:stretch>
                  <a:fillRect b="-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4C76B78-AE88-DD3B-17B2-41F35DFCE75C}"/>
                  </a:ext>
                </a:extLst>
              </p:cNvPr>
              <p:cNvSpPr txBox="1"/>
              <p:nvPr/>
            </p:nvSpPr>
            <p:spPr>
              <a:xfrm>
                <a:off x="6801730" y="2128968"/>
                <a:ext cx="2790718" cy="4238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800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800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bSup>
                      <m:r>
                        <a:rPr lang="en-US" sz="1800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acc>
                        <m:accPr>
                          <m:chr m:val="̅"/>
                          <m:ctrlPr>
                            <a:rPr lang="en-US" sz="18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sz="1800" b="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80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1800" b="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</m:acc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4C76B78-AE88-DD3B-17B2-41F35DFCE7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1730" y="2128968"/>
                <a:ext cx="2790718" cy="4238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3F184AD-90EE-7D6E-8AD7-A2E19BFF41FC}"/>
                  </a:ext>
                </a:extLst>
              </p:cNvPr>
              <p:cNvSpPr txBox="1"/>
              <p:nvPr/>
            </p:nvSpPr>
            <p:spPr>
              <a:xfrm>
                <a:off x="6812684" y="2576790"/>
                <a:ext cx="5209085" cy="4296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𝑔𝑟𝑖𝑑</m:t>
                          </m:r>
                        </m:sup>
                      </m:sSubSup>
                      <m:r>
                        <a:rPr lang="en-US" sz="1800" b="0" i="0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</m:sSubSup>
                      <m:r>
                        <a:rPr lang="en-US" sz="1800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sSubSup>
                        <m:sSubSupPr>
                          <m:ctrlPr>
                            <a:rPr lang="en-US" sz="1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𝑤𝑖𝑛𝑑</m:t>
                          </m:r>
                        </m:sup>
                      </m:sSubSup>
                      <m:r>
                        <a:rPr lang="en-US" sz="18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80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80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1800" i="1">
                              <a:latin typeface="Cambria Math" panose="02040503050406030204" pitchFamily="18" charset="0"/>
                            </a:rPr>
                            <m:t>p</m:t>
                          </m:r>
                        </m:sup>
                      </m:sSup>
                      <m:sSubSup>
                        <m:sSubSupPr>
                          <m:ctrlP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bSup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3F184AD-90EE-7D6E-8AD7-A2E19BFF41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2684" y="2576790"/>
                <a:ext cx="5209085" cy="429605"/>
              </a:xfrm>
              <a:prstGeom prst="rect">
                <a:avLst/>
              </a:prstGeom>
              <a:blipFill>
                <a:blip r:embed="rId7"/>
                <a:stretch>
                  <a:fillRect b="-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E89ABE8-C0A9-EAA2-04B0-DE26E2A98CA7}"/>
                  </a:ext>
                </a:extLst>
              </p:cNvPr>
              <p:cNvSpPr txBox="1"/>
              <p:nvPr/>
            </p:nvSpPr>
            <p:spPr>
              <a:xfrm>
                <a:off x="6812684" y="3033442"/>
                <a:ext cx="2790718" cy="6644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800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𝑎𝑐𝑡</m:t>
                          </m:r>
                        </m:sup>
                      </m:sSubSup>
                      <m:r>
                        <a:rPr lang="en-US" sz="1800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sz="1800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800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𝑑𝑒</m:t>
                          </m:r>
                        </m:sup>
                      </m:sSubSup>
                      <m:r>
                        <a:rPr lang="en-US" sz="1800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800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US" sz="1800" b="0" dirty="0">
                  <a:solidFill>
                    <a:schemeClr val="accent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𝑎𝑐𝑡</m:t>
                          </m:r>
                        </m:sup>
                      </m:sSubSup>
                      <m:r>
                        <a:rPr lang="en-US" sz="1800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800" i="1" dirty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𝑑𝑒</m:t>
                          </m:r>
                        </m:sup>
                      </m:sSubSup>
                      <m:r>
                        <a:rPr lang="en-US" sz="1800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E89ABE8-C0A9-EAA2-04B0-DE26E2A98C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2684" y="3033442"/>
                <a:ext cx="2790718" cy="664413"/>
              </a:xfrm>
              <a:prstGeom prst="rect">
                <a:avLst/>
              </a:prstGeom>
              <a:blipFill>
                <a:blip r:embed="rId8"/>
                <a:stretch>
                  <a:fillRect b="-36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Left Brace 17">
            <a:extLst>
              <a:ext uri="{FF2B5EF4-FFF2-40B4-BE49-F238E27FC236}">
                <a16:creationId xmlns:a16="http://schemas.microsoft.com/office/drawing/2014/main" id="{23CAF291-5BEB-E35A-85F0-1E9D2E7B7594}"/>
              </a:ext>
            </a:extLst>
          </p:cNvPr>
          <p:cNvSpPr/>
          <p:nvPr/>
        </p:nvSpPr>
        <p:spPr bwMode="auto">
          <a:xfrm>
            <a:off x="6375800" y="1683019"/>
            <a:ext cx="463776" cy="2169300"/>
          </a:xfrm>
          <a:prstGeom prst="leftBrace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 sz="180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91151690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8EC14-EB3F-07A5-C8EC-A1CC50C37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E8D7F4C-BC7A-E3B9-E3DA-955F5E544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0870" y="67006"/>
            <a:ext cx="7992888" cy="620032"/>
          </a:xfrm>
        </p:spPr>
        <p:txBody>
          <a:bodyPr wrap="square" anchor="b">
            <a:normAutofit/>
          </a:bodyPr>
          <a:lstStyle/>
          <a:p>
            <a:r>
              <a:rPr lang="en-GB" dirty="0"/>
              <a:t>The Lead Example as an MDP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E35904B4-E417-ACDA-7611-F98BBE59F3BC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118542" y="1052736"/>
                <a:ext cx="4167941" cy="5488464"/>
              </a:xfrm>
            </p:spPr>
            <p:txBody>
              <a:bodyPr wrap="square" anchor="t">
                <a:noAutofit/>
              </a:bodyPr>
              <a:lstStyle/>
              <a:p>
                <a:r>
                  <a:rPr lang="en-US" sz="2000" dirty="0">
                    <a:solidFill>
                      <a:schemeClr val="tx1"/>
                    </a:solidFill>
                  </a:rPr>
                  <a:t>Stages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𝒯</m:t>
                    </m:r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r>
                  <a:rPr lang="en-US" sz="2000" dirty="0"/>
                  <a:t>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𝑤𝑖𝑛𝑑</m:t>
                            </m:r>
                          </m:sup>
                        </m:sSubSup>
                        <m:r>
                          <a:rPr lang="en-US" sz="20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𝑝𝑟𝑒𝑣</m:t>
                            </m:r>
                          </m:sup>
                        </m:sSubSup>
                        <m:r>
                          <a:rPr lang="en-US" sz="20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l-GR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𝑔𝑟𝑖𝑑</m:t>
                            </m:r>
                          </m:sup>
                        </m:sSubSup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l-GR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𝑝𝑟𝑒𝑣</m:t>
                            </m:r>
                          </m:sup>
                        </m:sSubSup>
                        <m:r>
                          <a:rPr lang="en-US" sz="20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sz="2000" dirty="0"/>
              </a:p>
              <a:p>
                <a:r>
                  <a:rPr lang="en-US" sz="2000" dirty="0"/>
                  <a:t>Decision </a:t>
                </a:r>
                <a:br>
                  <a:rPr lang="en-US" sz="20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sup>
                        </m:sSub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b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𝑔𝑟𝑖𝑑</m:t>
                            </m:r>
                          </m:sup>
                        </m:sSubSup>
                        <m:r>
                          <a:rPr lang="en-US" sz="20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𝑎𝑐𝑡</m:t>
                            </m:r>
                          </m:sup>
                        </m:sSubSup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Sup>
                          <m:sSubSupPr>
                            <m:ctrlP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𝑑𝑒</m:t>
                            </m:r>
                          </m:sup>
                        </m:sSubSup>
                      </m:e>
                    </m:d>
                  </m:oMath>
                </a14:m>
                <a:endParaRPr lang="en-US" sz="2000" b="0" dirty="0"/>
              </a:p>
              <a:p>
                <a:r>
                  <a:rPr lang="en-US" sz="2000" dirty="0"/>
                  <a:t>Dynamics </a:t>
                </a:r>
                <a:br>
                  <a:rPr lang="en-US" sz="2000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𝑤𝑖𝑛𝑑</m:t>
                        </m:r>
                      </m:sup>
                    </m:sSubSup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⋅|</m:t>
                        </m:r>
                        <m:sSubSup>
                          <m:sSubSupPr>
                            <m:ctrlP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𝑤𝑖𝑛𝑑</m:t>
                            </m:r>
                          </m:sup>
                        </m:sSubSup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𝑝𝑟𝑒𝑣</m:t>
                            </m:r>
                          </m:sup>
                        </m:sSubSup>
                      </m:e>
                    </m:d>
                  </m:oMath>
                </a14:m>
                <a:br>
                  <a:rPr lang="en-US" sz="2000" i="1" dirty="0">
                    <a:solidFill>
                      <a:srgbClr val="00B05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𝑝𝑟𝑒𝑣</m:t>
                        </m:r>
                      </m:sup>
                    </m:sSubSup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𝑤𝑖𝑛𝑑</m:t>
                        </m:r>
                      </m:sup>
                    </m:sSubSup>
                  </m:oMath>
                </a14:m>
                <a:br>
                  <a:rPr lang="en-US" sz="2000" i="1" dirty="0">
                    <a:solidFill>
                      <a:srgbClr val="00B05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sz="2000" dirty="0"/>
                      <m:t> </m:t>
                    </m:r>
                    <m:sSubSup>
                      <m:sSubSupPr>
                        <m:ctrlP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bSup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 sz="20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bSup>
                  </m:oMath>
                </a14:m>
                <a:br>
                  <a:rPr lang="en-US" sz="2000" i="1" dirty="0">
                    <a:solidFill>
                      <a:srgbClr val="00B05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𝑔𝑟𝑖𝑑</m:t>
                        </m:r>
                      </m:sup>
                    </m:sSubSup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⋅|</m:t>
                        </m:r>
                        <m:sSubSup>
                          <m:sSubSupPr>
                            <m:ctrlP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l-GR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𝑔𝑟𝑖𝑑</m:t>
                            </m:r>
                          </m:sup>
                        </m:sSubSup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l-GR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𝑝𝑟𝑒𝑣</m:t>
                            </m:r>
                          </m:sup>
                        </m:sSubSup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𝑤𝑖𝑛𝑑</m:t>
                            </m:r>
                          </m:sup>
                        </m:sSubSup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𝑝𝑟𝑒𝑣</m:t>
                            </m:r>
                          </m:sup>
                        </m:sSubSup>
                      </m:e>
                    </m:d>
                  </m:oMath>
                </a14:m>
                <a:br>
                  <a:rPr lang="en-US" sz="2000" i="1" dirty="0">
                    <a:solidFill>
                      <a:srgbClr val="00B05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𝑝𝑟𝑒𝑣</m:t>
                        </m:r>
                      </m:sup>
                    </m:sSubSup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𝑔𝑟𝑖𝑑</m:t>
                        </m:r>
                      </m:sup>
                    </m:sSubSup>
                  </m:oMath>
                </a14:m>
                <a:br>
                  <a:rPr lang="en-US" sz="2000" i="1" dirty="0">
                    <a:solidFill>
                      <a:srgbClr val="00B05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𝑎𝑐𝑡</m:t>
                        </m:r>
                      </m:sup>
                    </m:sSubSup>
                    <m:r>
                      <a:rPr lang="en-US" sz="2000" i="1" dirty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accent2"/>
                        </a:solidFill>
                      </a:rPr>
                      <m:t> </m:t>
                    </m:r>
                    <m:sSubSup>
                      <m:sSubSupPr>
                        <m:ctrlP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𝑑𝑒</m:t>
                        </m:r>
                      </m:sup>
                    </m:sSubSup>
                  </m:oMath>
                </a14:m>
                <a:endParaRPr lang="en-US" sz="2000" i="1" dirty="0">
                  <a:solidFill>
                    <a:srgbClr val="00B050"/>
                  </a:solidFill>
                  <a:latin typeface="Cambria Math" panose="02040503050406030204" pitchFamily="18" charset="0"/>
                </a:endParaRPr>
              </a:p>
              <a:p>
                <a:endParaRPr lang="en-US" sz="2000" b="0" dirty="0"/>
              </a:p>
              <a:p>
                <a:r>
                  <a:rPr lang="en-US" sz="2000" dirty="0"/>
                  <a:t>Cost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𝑔𝑟𝑖𝑑</m:t>
                        </m:r>
                      </m:sup>
                    </m:sSubSup>
                    <m:r>
                      <a:rPr lang="en-US" sz="20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𝑔𝑟𝑖𝑑</m:t>
                        </m:r>
                      </m:sup>
                    </m:sSubSup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E35904B4-E417-ACDA-7611-F98BBE59F3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118542" y="1052736"/>
                <a:ext cx="4167941" cy="5488464"/>
              </a:xfrm>
              <a:blipFill>
                <a:blip r:embed="rId4"/>
                <a:stretch>
                  <a:fillRect l="-3509" t="-1333" r="-5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8E16611-3DEA-8503-9FB9-E0F23966A432}"/>
                  </a:ext>
                </a:extLst>
              </p:cNvPr>
              <p:cNvSpPr txBox="1"/>
              <p:nvPr/>
            </p:nvSpPr>
            <p:spPr>
              <a:xfrm>
                <a:off x="4527525" y="1692080"/>
                <a:ext cx="2790718" cy="4238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</m:sSubSup>
                      <m:r>
                        <a:rPr lang="en-US" sz="1800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acc>
                        <m:accPr>
                          <m:chr m:val="̅"/>
                          <m:ctrlPr>
                            <a:rPr lang="en-US" sz="18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sz="180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acc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8E16611-3DEA-8503-9FB9-E0F23966A4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7525" y="1692080"/>
                <a:ext cx="2790718" cy="423899"/>
              </a:xfrm>
              <a:prstGeom prst="rect">
                <a:avLst/>
              </a:prstGeom>
              <a:blipFill>
                <a:blip r:embed="rId5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DAF3790-9B28-9AAB-EACA-0D124BFF3629}"/>
                  </a:ext>
                </a:extLst>
              </p:cNvPr>
              <p:cNvSpPr txBox="1"/>
              <p:nvPr/>
            </p:nvSpPr>
            <p:spPr>
              <a:xfrm>
                <a:off x="4527525" y="2138029"/>
                <a:ext cx="2790718" cy="4238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800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800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bSup>
                      <m:r>
                        <a:rPr lang="en-US" sz="1800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acc>
                        <m:accPr>
                          <m:chr m:val="̅"/>
                          <m:ctrlPr>
                            <a:rPr lang="en-US" sz="18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sz="1800" b="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80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1800" b="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</m:acc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DAF3790-9B28-9AAB-EACA-0D124BFF36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7525" y="2138029"/>
                <a:ext cx="2790718" cy="423899"/>
              </a:xfrm>
              <a:prstGeom prst="rect">
                <a:avLst/>
              </a:prstGeom>
              <a:blipFill>
                <a:blip r:embed="rId6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669AF70-8263-87C0-A7A9-C72DBC02AE16}"/>
                  </a:ext>
                </a:extLst>
              </p:cNvPr>
              <p:cNvSpPr txBox="1"/>
              <p:nvPr/>
            </p:nvSpPr>
            <p:spPr>
              <a:xfrm>
                <a:off x="4538479" y="2585851"/>
                <a:ext cx="5209085" cy="4296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𝑔𝑟𝑖𝑑</m:t>
                          </m:r>
                        </m:sup>
                      </m:sSubSup>
                      <m:r>
                        <a:rPr lang="en-US" sz="1800" b="0" i="0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</m:sSubSup>
                      <m:r>
                        <a:rPr lang="en-US" sz="1800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sSubSup>
                        <m:sSubSupPr>
                          <m:ctrlPr>
                            <a:rPr lang="en-US" sz="1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𝑤𝑖𝑛𝑑</m:t>
                          </m:r>
                        </m:sup>
                      </m:sSubSup>
                      <m:r>
                        <a:rPr lang="en-US" sz="18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80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80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1800" i="1">
                              <a:latin typeface="Cambria Math" panose="02040503050406030204" pitchFamily="18" charset="0"/>
                            </a:rPr>
                            <m:t>p</m:t>
                          </m:r>
                        </m:sup>
                      </m:sSup>
                      <m:sSubSup>
                        <m:sSubSupPr>
                          <m:ctrlP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bSup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669AF70-8263-87C0-A7A9-C72DBC02AE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8479" y="2585851"/>
                <a:ext cx="5209085" cy="429605"/>
              </a:xfrm>
              <a:prstGeom prst="rect">
                <a:avLst/>
              </a:prstGeom>
              <a:blipFill>
                <a:blip r:embed="rId7"/>
                <a:stretch>
                  <a:fillRect b="-42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1E271F2-0351-822C-8174-C9FEA568B353}"/>
                  </a:ext>
                </a:extLst>
              </p:cNvPr>
              <p:cNvSpPr txBox="1"/>
              <p:nvPr/>
            </p:nvSpPr>
            <p:spPr>
              <a:xfrm>
                <a:off x="4538479" y="3042503"/>
                <a:ext cx="2790718" cy="6644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800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𝑎𝑐𝑡</m:t>
                          </m:r>
                        </m:sup>
                      </m:sSubSup>
                      <m:r>
                        <a:rPr lang="en-US" sz="1800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sz="1800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800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𝑑𝑒</m:t>
                          </m:r>
                        </m:sup>
                      </m:sSubSup>
                      <m:r>
                        <a:rPr lang="en-US" sz="1800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800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US" sz="1800" b="0" dirty="0">
                  <a:solidFill>
                    <a:schemeClr val="accent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𝑎𝑐𝑡</m:t>
                          </m:r>
                        </m:sup>
                      </m:sSubSup>
                      <m:r>
                        <a:rPr lang="en-US" sz="1800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800" i="1" dirty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𝑑𝑒</m:t>
                          </m:r>
                        </m:sup>
                      </m:sSubSup>
                      <m:r>
                        <a:rPr lang="en-US" sz="1800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1E271F2-0351-822C-8174-C9FEA568B3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8479" y="3042503"/>
                <a:ext cx="2790718" cy="664413"/>
              </a:xfrm>
              <a:prstGeom prst="rect">
                <a:avLst/>
              </a:prstGeom>
              <a:blipFill>
                <a:blip r:embed="rId8"/>
                <a:stretch>
                  <a:fillRect b="-4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Left Brace 17">
            <a:extLst>
              <a:ext uri="{FF2B5EF4-FFF2-40B4-BE49-F238E27FC236}">
                <a16:creationId xmlns:a16="http://schemas.microsoft.com/office/drawing/2014/main" id="{F07D0604-3D28-8876-9616-075532E7D98F}"/>
              </a:ext>
            </a:extLst>
          </p:cNvPr>
          <p:cNvSpPr/>
          <p:nvPr/>
        </p:nvSpPr>
        <p:spPr bwMode="auto">
          <a:xfrm>
            <a:off x="4101595" y="1692080"/>
            <a:ext cx="463776" cy="2169300"/>
          </a:xfrm>
          <a:prstGeom prst="leftBrace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 sz="180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49890317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FDDFB-3A66-4C47-1537-1CD1AAAE5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657672ED-85F5-B2D2-3D2F-C0124EA2426E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118542" y="1052736"/>
                <a:ext cx="4167941" cy="5488464"/>
              </a:xfrm>
            </p:spPr>
            <p:txBody>
              <a:bodyPr wrap="square" anchor="t">
                <a:noAutofit/>
              </a:bodyPr>
              <a:lstStyle/>
              <a:p>
                <a:r>
                  <a:rPr lang="en-US" sz="2000" dirty="0">
                    <a:solidFill>
                      <a:schemeClr val="tx1"/>
                    </a:solidFill>
                  </a:rPr>
                  <a:t>Stages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𝒯</m:t>
                    </m:r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r>
                  <a:rPr lang="en-US" sz="2000" dirty="0"/>
                  <a:t>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𝑤𝑖𝑛𝑑</m:t>
                            </m:r>
                          </m:sup>
                        </m:sSubSup>
                        <m:r>
                          <a:rPr lang="en-US" sz="20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𝑝𝑟𝑒𝑣</m:t>
                            </m:r>
                          </m:sup>
                        </m:sSubSup>
                        <m:r>
                          <a:rPr lang="en-US" sz="20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l-GR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𝑔𝑟𝑖𝑑</m:t>
                            </m:r>
                          </m:sup>
                        </m:sSubSup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l-GR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𝑝𝑟𝑒𝑣</m:t>
                            </m:r>
                          </m:sup>
                        </m:sSubSup>
                        <m:r>
                          <a:rPr lang="en-US" sz="20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sz="2000" dirty="0"/>
              </a:p>
              <a:p>
                <a:r>
                  <a:rPr lang="en-US" sz="2000" dirty="0"/>
                  <a:t>Decision </a:t>
                </a:r>
                <a:br>
                  <a:rPr lang="en-US" sz="20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sup>
                        </m:sSub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b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𝑔𝑟𝑖𝑑</m:t>
                            </m:r>
                          </m:sup>
                        </m:sSubSup>
                        <m:r>
                          <a:rPr lang="en-US" sz="20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𝑎𝑐𝑡</m:t>
                            </m:r>
                          </m:sup>
                        </m:sSubSup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Sup>
                          <m:sSubSupPr>
                            <m:ctrlP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𝑑𝑒</m:t>
                            </m:r>
                          </m:sup>
                        </m:sSubSup>
                      </m:e>
                    </m:d>
                  </m:oMath>
                </a14:m>
                <a:endParaRPr lang="en-US" sz="2000" b="0" dirty="0"/>
              </a:p>
              <a:p>
                <a:r>
                  <a:rPr lang="en-US" sz="2000" dirty="0"/>
                  <a:t>Dynamics </a:t>
                </a:r>
                <a:br>
                  <a:rPr lang="en-US" sz="2000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𝑤𝑖𝑛𝑑</m:t>
                        </m:r>
                      </m:sup>
                    </m:sSubSup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⋅|</m:t>
                        </m:r>
                        <m:sSubSup>
                          <m:sSubSupPr>
                            <m:ctrlP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𝑤𝑖𝑛𝑑</m:t>
                            </m:r>
                          </m:sup>
                        </m:sSubSup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𝑝𝑟𝑒𝑣</m:t>
                            </m:r>
                          </m:sup>
                        </m:sSubSup>
                      </m:e>
                    </m:d>
                  </m:oMath>
                </a14:m>
                <a:br>
                  <a:rPr lang="en-US" sz="2000" i="1" dirty="0">
                    <a:solidFill>
                      <a:srgbClr val="00B05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𝑝𝑟𝑒𝑣</m:t>
                        </m:r>
                      </m:sup>
                    </m:sSubSup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𝑤𝑖𝑛𝑑</m:t>
                        </m:r>
                      </m:sup>
                    </m:sSubSup>
                  </m:oMath>
                </a14:m>
                <a:br>
                  <a:rPr lang="en-US" sz="2000" i="1" dirty="0">
                    <a:solidFill>
                      <a:srgbClr val="00B05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sz="2000" dirty="0"/>
                      <m:t> </m:t>
                    </m:r>
                    <m:sSubSup>
                      <m:sSubSupPr>
                        <m:ctrlP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bSup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 sz="20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bSup>
                  </m:oMath>
                </a14:m>
                <a:br>
                  <a:rPr lang="en-US" sz="2000" i="1" dirty="0">
                    <a:solidFill>
                      <a:srgbClr val="00B05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𝑔𝑟𝑖𝑑</m:t>
                        </m:r>
                      </m:sup>
                    </m:sSubSup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⋅|</m:t>
                        </m:r>
                        <m:sSubSup>
                          <m:sSubSupPr>
                            <m:ctrlP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l-GR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𝑔𝑟𝑖𝑑</m:t>
                            </m:r>
                          </m:sup>
                        </m:sSubSup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l-GR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𝑝𝑟𝑒𝑣</m:t>
                            </m:r>
                          </m:sup>
                        </m:sSubSup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𝑤𝑖𝑛𝑑</m:t>
                            </m:r>
                          </m:sup>
                        </m:sSubSup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𝑝𝑟𝑒𝑣</m:t>
                            </m:r>
                          </m:sup>
                        </m:sSubSup>
                      </m:e>
                    </m:d>
                  </m:oMath>
                </a14:m>
                <a:br>
                  <a:rPr lang="en-US" sz="2000" i="1" dirty="0">
                    <a:solidFill>
                      <a:srgbClr val="00B05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𝑝𝑟𝑒𝑣</m:t>
                        </m:r>
                      </m:sup>
                    </m:sSubSup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𝑔𝑟𝑖𝑑</m:t>
                        </m:r>
                      </m:sup>
                    </m:sSubSup>
                  </m:oMath>
                </a14:m>
                <a:br>
                  <a:rPr lang="en-US" sz="2000" i="1" dirty="0">
                    <a:solidFill>
                      <a:srgbClr val="00B05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𝑎𝑐𝑡</m:t>
                        </m:r>
                      </m:sup>
                    </m:sSubSup>
                    <m:r>
                      <a:rPr lang="en-US" sz="2000" i="1" dirty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accent2"/>
                        </a:solidFill>
                      </a:rPr>
                      <m:t> </m:t>
                    </m:r>
                    <m:sSubSup>
                      <m:sSubSupPr>
                        <m:ctrlP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𝑑𝑒</m:t>
                        </m:r>
                      </m:sup>
                    </m:sSubSup>
                  </m:oMath>
                </a14:m>
                <a:endParaRPr lang="en-US" sz="2000" i="1" dirty="0">
                  <a:solidFill>
                    <a:srgbClr val="00B050"/>
                  </a:solidFill>
                  <a:latin typeface="Cambria Math" panose="02040503050406030204" pitchFamily="18" charset="0"/>
                </a:endParaRPr>
              </a:p>
              <a:p>
                <a:endParaRPr lang="en-US" sz="2000" b="0" dirty="0"/>
              </a:p>
              <a:p>
                <a:r>
                  <a:rPr lang="en-US" sz="2000" dirty="0"/>
                  <a:t>Cost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𝑔𝑟𝑖𝑑</m:t>
                        </m:r>
                      </m:sup>
                    </m:sSubSup>
                    <m:r>
                      <a:rPr lang="en-US" sz="20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𝑔𝑟𝑖𝑑</m:t>
                        </m:r>
                      </m:sup>
                    </m:sSubSup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657672ED-85F5-B2D2-3D2F-C0124EA242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118542" y="1052736"/>
                <a:ext cx="4167941" cy="5488464"/>
              </a:xfrm>
              <a:blipFill>
                <a:blip r:embed="rId4"/>
                <a:stretch>
                  <a:fillRect l="-3509" t="-1333" r="-5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6485995-EA93-987B-1CCD-52908A14B830}"/>
                  </a:ext>
                </a:extLst>
              </p:cNvPr>
              <p:cNvSpPr txBox="1"/>
              <p:nvPr/>
            </p:nvSpPr>
            <p:spPr>
              <a:xfrm>
                <a:off x="4527525" y="1692080"/>
                <a:ext cx="2790718" cy="4238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</m:sSubSup>
                      <m:r>
                        <a:rPr lang="en-US" sz="1800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acc>
                        <m:accPr>
                          <m:chr m:val="̅"/>
                          <m:ctrlPr>
                            <a:rPr lang="en-US" sz="18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sz="180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acc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6485995-EA93-987B-1CCD-52908A14B8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7525" y="1692080"/>
                <a:ext cx="2790718" cy="423899"/>
              </a:xfrm>
              <a:prstGeom prst="rect">
                <a:avLst/>
              </a:prstGeom>
              <a:blipFill>
                <a:blip r:embed="rId5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B7A01DB-5437-31A5-219E-54D223872EF5}"/>
                  </a:ext>
                </a:extLst>
              </p:cNvPr>
              <p:cNvSpPr txBox="1"/>
              <p:nvPr/>
            </p:nvSpPr>
            <p:spPr>
              <a:xfrm>
                <a:off x="4527525" y="2138029"/>
                <a:ext cx="2790718" cy="4238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800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800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bSup>
                      <m:r>
                        <a:rPr lang="en-US" sz="1800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acc>
                        <m:accPr>
                          <m:chr m:val="̅"/>
                          <m:ctrlPr>
                            <a:rPr lang="en-US" sz="18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sz="1800" b="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80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1800" b="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</m:acc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B7A01DB-5437-31A5-219E-54D223872E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7525" y="2138029"/>
                <a:ext cx="2790718" cy="423899"/>
              </a:xfrm>
              <a:prstGeom prst="rect">
                <a:avLst/>
              </a:prstGeom>
              <a:blipFill>
                <a:blip r:embed="rId6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D368A56-DECC-AA38-3FAA-16606F767F16}"/>
                  </a:ext>
                </a:extLst>
              </p:cNvPr>
              <p:cNvSpPr txBox="1"/>
              <p:nvPr/>
            </p:nvSpPr>
            <p:spPr>
              <a:xfrm>
                <a:off x="4538479" y="2585851"/>
                <a:ext cx="5209085" cy="4296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𝑔𝑟𝑖𝑑</m:t>
                          </m:r>
                        </m:sup>
                      </m:sSubSup>
                      <m:r>
                        <a:rPr lang="en-US" sz="1800" b="0" i="0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</m:sSubSup>
                      <m:r>
                        <a:rPr lang="en-US" sz="1800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sSubSup>
                        <m:sSubSupPr>
                          <m:ctrlPr>
                            <a:rPr lang="en-US" sz="1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𝑤𝑖𝑛𝑑</m:t>
                          </m:r>
                        </m:sup>
                      </m:sSubSup>
                      <m:r>
                        <a:rPr lang="en-US" sz="18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80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80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1800" i="1">
                              <a:latin typeface="Cambria Math" panose="02040503050406030204" pitchFamily="18" charset="0"/>
                            </a:rPr>
                            <m:t>p</m:t>
                          </m:r>
                        </m:sup>
                      </m:sSup>
                      <m:sSubSup>
                        <m:sSubSupPr>
                          <m:ctrlP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bSup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D368A56-DECC-AA38-3FAA-16606F767F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8479" y="2585851"/>
                <a:ext cx="5209085" cy="429605"/>
              </a:xfrm>
              <a:prstGeom prst="rect">
                <a:avLst/>
              </a:prstGeom>
              <a:blipFill>
                <a:blip r:embed="rId7"/>
                <a:stretch>
                  <a:fillRect b="-42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7E58267-8458-6CCC-FE78-53982E70A988}"/>
                  </a:ext>
                </a:extLst>
              </p:cNvPr>
              <p:cNvSpPr txBox="1"/>
              <p:nvPr/>
            </p:nvSpPr>
            <p:spPr>
              <a:xfrm>
                <a:off x="4538479" y="3042503"/>
                <a:ext cx="2790718" cy="6644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800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𝑎𝑐𝑡</m:t>
                          </m:r>
                        </m:sup>
                      </m:sSubSup>
                      <m:r>
                        <a:rPr lang="en-US" sz="1800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sz="1800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800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𝑑𝑒</m:t>
                          </m:r>
                        </m:sup>
                      </m:sSubSup>
                      <m:r>
                        <a:rPr lang="en-US" sz="1800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800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US" sz="1800" b="0" dirty="0">
                  <a:solidFill>
                    <a:schemeClr val="accent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𝑎𝑐𝑡</m:t>
                          </m:r>
                        </m:sup>
                      </m:sSubSup>
                      <m:r>
                        <a:rPr lang="en-US" sz="1800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800" i="1" dirty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𝑑𝑒</m:t>
                          </m:r>
                        </m:sup>
                      </m:sSubSup>
                      <m:r>
                        <a:rPr lang="en-US" sz="1800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7E58267-8458-6CCC-FE78-53982E70A9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8479" y="3042503"/>
                <a:ext cx="2790718" cy="664413"/>
              </a:xfrm>
              <a:prstGeom prst="rect">
                <a:avLst/>
              </a:prstGeom>
              <a:blipFill>
                <a:blip r:embed="rId8"/>
                <a:stretch>
                  <a:fillRect b="-4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Left Brace 17">
            <a:extLst>
              <a:ext uri="{FF2B5EF4-FFF2-40B4-BE49-F238E27FC236}">
                <a16:creationId xmlns:a16="http://schemas.microsoft.com/office/drawing/2014/main" id="{C5F0C412-2771-E896-F1CA-E245D3C9F24D}"/>
              </a:ext>
            </a:extLst>
          </p:cNvPr>
          <p:cNvSpPr/>
          <p:nvPr/>
        </p:nvSpPr>
        <p:spPr bwMode="auto">
          <a:xfrm>
            <a:off x="4101595" y="1692080"/>
            <a:ext cx="463776" cy="2169300"/>
          </a:xfrm>
          <a:prstGeom prst="leftBrace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BF2D504D-4563-6EF6-C5AC-F3E863C4E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8618" y="44624"/>
            <a:ext cx="7992888" cy="620032"/>
          </a:xfrm>
        </p:spPr>
        <p:txBody>
          <a:bodyPr wrap="square" anchor="b">
            <a:normAutofit/>
          </a:bodyPr>
          <a:lstStyle/>
          <a:p>
            <a:r>
              <a:rPr lang="en-GB" dirty="0"/>
              <a:t>The Lead Example’s Environment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DEEB89-55BB-8DDC-F9F2-4F345394125A}"/>
              </a:ext>
            </a:extLst>
          </p:cNvPr>
          <p:cNvSpPr txBox="1"/>
          <p:nvPr/>
        </p:nvSpPr>
        <p:spPr>
          <a:xfrm>
            <a:off x="5341136" y="961688"/>
            <a:ext cx="13301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2"/>
                </a:solidFill>
              </a:rPr>
              <a:t>Decision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A76E9F-876B-BECD-8E5C-B339C11EE05C}"/>
              </a:ext>
            </a:extLst>
          </p:cNvPr>
          <p:cNvSpPr txBox="1"/>
          <p:nvPr/>
        </p:nvSpPr>
        <p:spPr>
          <a:xfrm>
            <a:off x="10415686" y="838577"/>
            <a:ext cx="16561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kern="0" dirty="0">
                <a:solidFill>
                  <a:srgbClr val="00B050"/>
                </a:solidFill>
              </a:rPr>
              <a:t>Cost</a:t>
            </a:r>
            <a:br>
              <a:rPr lang="en-US" kern="0" dirty="0">
                <a:solidFill>
                  <a:srgbClr val="00B050"/>
                </a:solidFill>
              </a:rPr>
            </a:br>
            <a:r>
              <a:rPr lang="en-US" kern="0" dirty="0">
                <a:solidFill>
                  <a:srgbClr val="00B050"/>
                </a:solidFill>
              </a:rPr>
              <a:t>Next state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8F64F8-327E-CA8F-6D5D-8F2DADAA8A02}"/>
              </a:ext>
            </a:extLst>
          </p:cNvPr>
          <p:cNvSpPr/>
          <p:nvPr/>
        </p:nvSpPr>
        <p:spPr bwMode="auto">
          <a:xfrm>
            <a:off x="7247334" y="975911"/>
            <a:ext cx="2448272" cy="338554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Environment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E42A015A-B1DA-5512-E3C4-D16B124EA7CD}"/>
              </a:ext>
            </a:extLst>
          </p:cNvPr>
          <p:cNvSpPr/>
          <p:nvPr/>
        </p:nvSpPr>
        <p:spPr bwMode="auto">
          <a:xfrm>
            <a:off x="6428268" y="1088532"/>
            <a:ext cx="648072" cy="91697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5BD69153-E4FB-978F-233D-522ABDADBC3C}"/>
              </a:ext>
            </a:extLst>
          </p:cNvPr>
          <p:cNvSpPr/>
          <p:nvPr/>
        </p:nvSpPr>
        <p:spPr bwMode="auto">
          <a:xfrm>
            <a:off x="9767614" y="961688"/>
            <a:ext cx="648072" cy="91697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9ACA3D49-7D90-A548-4A65-6A2B163C1CE0}"/>
              </a:ext>
            </a:extLst>
          </p:cNvPr>
          <p:cNvSpPr/>
          <p:nvPr/>
        </p:nvSpPr>
        <p:spPr bwMode="auto">
          <a:xfrm>
            <a:off x="9762317" y="1222768"/>
            <a:ext cx="648072" cy="91697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52660037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647D5-EBBC-E1BC-2853-A7181C581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3363FE80-3105-1ECE-F64B-505A6367682B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118542" y="1052736"/>
                <a:ext cx="4167941" cy="5488464"/>
              </a:xfrm>
            </p:spPr>
            <p:txBody>
              <a:bodyPr wrap="square" anchor="t">
                <a:noAutofit/>
              </a:bodyPr>
              <a:lstStyle/>
              <a:p>
                <a:r>
                  <a:rPr lang="en-US" sz="2000" dirty="0">
                    <a:solidFill>
                      <a:schemeClr val="tx1"/>
                    </a:solidFill>
                  </a:rPr>
                  <a:t>Stages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𝒯</m:t>
                    </m:r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r>
                  <a:rPr lang="en-US" sz="2000" dirty="0"/>
                  <a:t>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𝑤𝑖𝑛𝑑</m:t>
                            </m:r>
                          </m:sup>
                        </m:sSubSup>
                        <m:r>
                          <a:rPr lang="en-US" sz="20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𝑝𝑟𝑒𝑣</m:t>
                            </m:r>
                          </m:sup>
                        </m:sSubSup>
                        <m:r>
                          <a:rPr lang="en-US" sz="20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l-GR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𝑔𝑟𝑖𝑑</m:t>
                            </m:r>
                          </m:sup>
                        </m:sSubSup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l-GR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𝑝𝑟𝑒𝑣</m:t>
                            </m:r>
                          </m:sup>
                        </m:sSubSup>
                        <m:r>
                          <a:rPr lang="en-US" sz="20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sz="2000" dirty="0"/>
              </a:p>
              <a:p>
                <a:r>
                  <a:rPr lang="en-US" sz="2000" dirty="0"/>
                  <a:t>Decision </a:t>
                </a:r>
                <a:br>
                  <a:rPr lang="en-US" sz="20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sup>
                        </m:sSub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b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𝑔𝑟𝑖𝑑</m:t>
                            </m:r>
                          </m:sup>
                        </m:sSubSup>
                        <m:r>
                          <a:rPr lang="en-US" sz="20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𝑎𝑐𝑡</m:t>
                            </m:r>
                          </m:sup>
                        </m:sSubSup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Sup>
                          <m:sSubSupPr>
                            <m:ctrlP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𝑑𝑒</m:t>
                            </m:r>
                          </m:sup>
                        </m:sSubSup>
                      </m:e>
                    </m:d>
                  </m:oMath>
                </a14:m>
                <a:endParaRPr lang="en-US" sz="2000" b="0" dirty="0"/>
              </a:p>
              <a:p>
                <a:r>
                  <a:rPr lang="en-US" sz="2000" dirty="0"/>
                  <a:t>Dynamics </a:t>
                </a:r>
                <a:br>
                  <a:rPr lang="en-US" sz="2000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𝑤𝑖𝑛𝑑</m:t>
                        </m:r>
                      </m:sup>
                    </m:sSubSup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⋅|</m:t>
                        </m:r>
                        <m:sSubSup>
                          <m:sSubSupPr>
                            <m:ctrlP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𝑤𝑖𝑛𝑑</m:t>
                            </m:r>
                          </m:sup>
                        </m:sSubSup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𝑝𝑟𝑒𝑣</m:t>
                            </m:r>
                          </m:sup>
                        </m:sSubSup>
                      </m:e>
                    </m:d>
                  </m:oMath>
                </a14:m>
                <a:br>
                  <a:rPr lang="en-US" sz="2000" i="1" dirty="0">
                    <a:solidFill>
                      <a:srgbClr val="00B05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𝑝𝑟𝑒𝑣</m:t>
                        </m:r>
                      </m:sup>
                    </m:sSubSup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𝑤𝑖𝑛𝑑</m:t>
                        </m:r>
                      </m:sup>
                    </m:sSubSup>
                  </m:oMath>
                </a14:m>
                <a:br>
                  <a:rPr lang="en-US" sz="2000" i="1" dirty="0">
                    <a:solidFill>
                      <a:srgbClr val="00B05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sz="2000" dirty="0"/>
                      <m:t> </m:t>
                    </m:r>
                    <m:sSubSup>
                      <m:sSubSupPr>
                        <m:ctrlP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bSup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 sz="20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bSup>
                  </m:oMath>
                </a14:m>
                <a:br>
                  <a:rPr lang="en-US" sz="2000" i="1" dirty="0">
                    <a:solidFill>
                      <a:srgbClr val="00B05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𝑔𝑟𝑖𝑑</m:t>
                        </m:r>
                      </m:sup>
                    </m:sSubSup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⋅|</m:t>
                        </m:r>
                        <m:sSubSup>
                          <m:sSubSupPr>
                            <m:ctrlP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l-GR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𝑔𝑟𝑖𝑑</m:t>
                            </m:r>
                          </m:sup>
                        </m:sSubSup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l-GR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𝑝𝑟𝑒𝑣</m:t>
                            </m:r>
                          </m:sup>
                        </m:sSubSup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𝑤𝑖𝑛𝑑</m:t>
                            </m:r>
                          </m:sup>
                        </m:sSubSup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𝑝𝑟𝑒𝑣</m:t>
                            </m:r>
                          </m:sup>
                        </m:sSubSup>
                      </m:e>
                    </m:d>
                  </m:oMath>
                </a14:m>
                <a:br>
                  <a:rPr lang="en-US" sz="2000" i="1" dirty="0">
                    <a:solidFill>
                      <a:srgbClr val="00B05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𝑝𝑟𝑒𝑣</m:t>
                        </m:r>
                      </m:sup>
                    </m:sSubSup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𝑔𝑟𝑖𝑑</m:t>
                        </m:r>
                      </m:sup>
                    </m:sSubSup>
                  </m:oMath>
                </a14:m>
                <a:br>
                  <a:rPr lang="en-US" sz="2000" i="1" dirty="0">
                    <a:solidFill>
                      <a:srgbClr val="00B05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𝑎𝑐𝑡</m:t>
                        </m:r>
                      </m:sup>
                    </m:sSubSup>
                    <m:r>
                      <a:rPr lang="en-US" sz="2000" i="1" dirty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accent2"/>
                        </a:solidFill>
                      </a:rPr>
                      <m:t> </m:t>
                    </m:r>
                    <m:sSubSup>
                      <m:sSubSupPr>
                        <m:ctrlP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𝑑𝑒</m:t>
                        </m:r>
                      </m:sup>
                    </m:sSubSup>
                  </m:oMath>
                </a14:m>
                <a:endParaRPr lang="en-US" sz="2000" i="1" dirty="0">
                  <a:solidFill>
                    <a:srgbClr val="00B050"/>
                  </a:solidFill>
                  <a:latin typeface="Cambria Math" panose="02040503050406030204" pitchFamily="18" charset="0"/>
                </a:endParaRPr>
              </a:p>
              <a:p>
                <a:endParaRPr lang="en-US" sz="2000" b="0" dirty="0"/>
              </a:p>
              <a:p>
                <a:r>
                  <a:rPr lang="en-US" sz="2000" dirty="0"/>
                  <a:t>Cost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𝑔𝑟𝑖𝑑</m:t>
                        </m:r>
                      </m:sup>
                    </m:sSubSup>
                    <m:r>
                      <a:rPr lang="en-US" sz="20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𝑔𝑟𝑖𝑑</m:t>
                        </m:r>
                      </m:sup>
                    </m:sSubSup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3363FE80-3105-1ECE-F64B-505A636768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118542" y="1052736"/>
                <a:ext cx="4167941" cy="5488464"/>
              </a:xfrm>
              <a:blipFill>
                <a:blip r:embed="rId4"/>
                <a:stretch>
                  <a:fillRect l="-3509" t="-1333" r="-5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C21DF5F-4C58-38D5-05CE-AE1ECFA70B04}"/>
                  </a:ext>
                </a:extLst>
              </p:cNvPr>
              <p:cNvSpPr txBox="1"/>
              <p:nvPr/>
            </p:nvSpPr>
            <p:spPr>
              <a:xfrm>
                <a:off x="4527525" y="1692080"/>
                <a:ext cx="2790718" cy="4238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</m:sSubSup>
                      <m:r>
                        <a:rPr lang="en-US" sz="1800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acc>
                        <m:accPr>
                          <m:chr m:val="̅"/>
                          <m:ctrlPr>
                            <a:rPr lang="en-US" sz="18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sz="180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acc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C21DF5F-4C58-38D5-05CE-AE1ECFA70B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7525" y="1692080"/>
                <a:ext cx="2790718" cy="423899"/>
              </a:xfrm>
              <a:prstGeom prst="rect">
                <a:avLst/>
              </a:prstGeom>
              <a:blipFill>
                <a:blip r:embed="rId5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37914B8-4414-3EDF-9FF9-2498A805C852}"/>
                  </a:ext>
                </a:extLst>
              </p:cNvPr>
              <p:cNvSpPr txBox="1"/>
              <p:nvPr/>
            </p:nvSpPr>
            <p:spPr>
              <a:xfrm>
                <a:off x="4527525" y="2138029"/>
                <a:ext cx="2790718" cy="4238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800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800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bSup>
                      <m:r>
                        <a:rPr lang="en-US" sz="1800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acc>
                        <m:accPr>
                          <m:chr m:val="̅"/>
                          <m:ctrlPr>
                            <a:rPr lang="en-US" sz="18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sz="1800" b="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80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1800" b="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</m:acc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37914B8-4414-3EDF-9FF9-2498A805C8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7525" y="2138029"/>
                <a:ext cx="2790718" cy="423899"/>
              </a:xfrm>
              <a:prstGeom prst="rect">
                <a:avLst/>
              </a:prstGeom>
              <a:blipFill>
                <a:blip r:embed="rId6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60DA084-9C4E-E4F0-C7F6-3BE578821B8D}"/>
                  </a:ext>
                </a:extLst>
              </p:cNvPr>
              <p:cNvSpPr txBox="1"/>
              <p:nvPr/>
            </p:nvSpPr>
            <p:spPr>
              <a:xfrm>
                <a:off x="4538479" y="2585851"/>
                <a:ext cx="5209085" cy="4296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𝑔𝑟𝑖𝑑</m:t>
                          </m:r>
                        </m:sup>
                      </m:sSubSup>
                      <m:r>
                        <a:rPr lang="en-US" sz="1800" b="0" i="0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</m:sSubSup>
                      <m:r>
                        <a:rPr lang="en-US" sz="1800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sSubSup>
                        <m:sSubSupPr>
                          <m:ctrlPr>
                            <a:rPr lang="en-US" sz="1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𝑤𝑖𝑛𝑑</m:t>
                          </m:r>
                        </m:sup>
                      </m:sSubSup>
                      <m:r>
                        <a:rPr lang="en-US" sz="18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80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80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1800" i="1">
                              <a:latin typeface="Cambria Math" panose="02040503050406030204" pitchFamily="18" charset="0"/>
                            </a:rPr>
                            <m:t>p</m:t>
                          </m:r>
                        </m:sup>
                      </m:sSup>
                      <m:sSubSup>
                        <m:sSubSupPr>
                          <m:ctrlP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bSup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60DA084-9C4E-E4F0-C7F6-3BE578821B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8479" y="2585851"/>
                <a:ext cx="5209085" cy="429605"/>
              </a:xfrm>
              <a:prstGeom prst="rect">
                <a:avLst/>
              </a:prstGeom>
              <a:blipFill>
                <a:blip r:embed="rId7"/>
                <a:stretch>
                  <a:fillRect b="-42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89251B5-7E09-2462-18BD-74FE3E056B7E}"/>
                  </a:ext>
                </a:extLst>
              </p:cNvPr>
              <p:cNvSpPr txBox="1"/>
              <p:nvPr/>
            </p:nvSpPr>
            <p:spPr>
              <a:xfrm>
                <a:off x="4538479" y="3042503"/>
                <a:ext cx="2790718" cy="6644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800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𝑎𝑐𝑡</m:t>
                          </m:r>
                        </m:sup>
                      </m:sSubSup>
                      <m:r>
                        <a:rPr lang="en-US" sz="1800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sz="1800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800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𝑑𝑒</m:t>
                          </m:r>
                        </m:sup>
                      </m:sSubSup>
                      <m:r>
                        <a:rPr lang="en-US" sz="1800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800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US" sz="1800" b="0" dirty="0">
                  <a:solidFill>
                    <a:schemeClr val="accent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𝑎𝑐𝑡</m:t>
                          </m:r>
                        </m:sup>
                      </m:sSubSup>
                      <m:r>
                        <a:rPr lang="en-US" sz="1800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800" i="1" dirty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𝑑𝑒</m:t>
                          </m:r>
                        </m:sup>
                      </m:sSubSup>
                      <m:r>
                        <a:rPr lang="en-US" sz="1800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89251B5-7E09-2462-18BD-74FE3E056B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8479" y="3042503"/>
                <a:ext cx="2790718" cy="664413"/>
              </a:xfrm>
              <a:prstGeom prst="rect">
                <a:avLst/>
              </a:prstGeom>
              <a:blipFill>
                <a:blip r:embed="rId8"/>
                <a:stretch>
                  <a:fillRect b="-4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Left Brace 17">
            <a:extLst>
              <a:ext uri="{FF2B5EF4-FFF2-40B4-BE49-F238E27FC236}">
                <a16:creationId xmlns:a16="http://schemas.microsoft.com/office/drawing/2014/main" id="{C57EDED2-2167-BA61-6A50-43C324B90BFF}"/>
              </a:ext>
            </a:extLst>
          </p:cNvPr>
          <p:cNvSpPr/>
          <p:nvPr/>
        </p:nvSpPr>
        <p:spPr bwMode="auto">
          <a:xfrm>
            <a:off x="4101595" y="1692080"/>
            <a:ext cx="463776" cy="2169300"/>
          </a:xfrm>
          <a:prstGeom prst="leftBrace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F4DD4831-DC27-C4E0-54B4-8E8E91559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8618" y="44624"/>
            <a:ext cx="7992888" cy="620032"/>
          </a:xfrm>
        </p:spPr>
        <p:txBody>
          <a:bodyPr wrap="square" anchor="b">
            <a:normAutofit/>
          </a:bodyPr>
          <a:lstStyle/>
          <a:p>
            <a:r>
              <a:rPr lang="en-GB" dirty="0"/>
              <a:t>The Lead Example’s Environment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258447-E073-A6D4-3379-C58D4B1666A3}"/>
              </a:ext>
            </a:extLst>
          </p:cNvPr>
          <p:cNvSpPr txBox="1"/>
          <p:nvPr/>
        </p:nvSpPr>
        <p:spPr>
          <a:xfrm>
            <a:off x="5341136" y="961688"/>
            <a:ext cx="13301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2"/>
                </a:solidFill>
              </a:rPr>
              <a:t>Decision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4A996C-AAE5-A8FD-7A6E-1307FEEC64A8}"/>
              </a:ext>
            </a:extLst>
          </p:cNvPr>
          <p:cNvSpPr txBox="1"/>
          <p:nvPr/>
        </p:nvSpPr>
        <p:spPr>
          <a:xfrm>
            <a:off x="10415686" y="838577"/>
            <a:ext cx="16561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kern="0" dirty="0">
                <a:solidFill>
                  <a:srgbClr val="00B050"/>
                </a:solidFill>
              </a:rPr>
              <a:t>Cost</a:t>
            </a:r>
            <a:br>
              <a:rPr lang="en-US" kern="0" dirty="0">
                <a:solidFill>
                  <a:srgbClr val="00B050"/>
                </a:solidFill>
              </a:rPr>
            </a:br>
            <a:r>
              <a:rPr lang="en-US" kern="0" dirty="0">
                <a:solidFill>
                  <a:srgbClr val="00B050"/>
                </a:solidFill>
              </a:rPr>
              <a:t>Next state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9619A0-3E47-AAB5-81F5-4EEB267AFEB5}"/>
              </a:ext>
            </a:extLst>
          </p:cNvPr>
          <p:cNvSpPr/>
          <p:nvPr/>
        </p:nvSpPr>
        <p:spPr bwMode="auto">
          <a:xfrm>
            <a:off x="7247334" y="975911"/>
            <a:ext cx="2448272" cy="338554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Environment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8264B57E-6B2F-C7F8-49D0-112FA2BC55D9}"/>
              </a:ext>
            </a:extLst>
          </p:cNvPr>
          <p:cNvSpPr/>
          <p:nvPr/>
        </p:nvSpPr>
        <p:spPr bwMode="auto">
          <a:xfrm>
            <a:off x="6428268" y="1088532"/>
            <a:ext cx="648072" cy="91697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B14D7B5D-0FC4-A901-BA6A-7D2929ADDA2C}"/>
              </a:ext>
            </a:extLst>
          </p:cNvPr>
          <p:cNvSpPr/>
          <p:nvPr/>
        </p:nvSpPr>
        <p:spPr bwMode="auto">
          <a:xfrm>
            <a:off x="9767614" y="961688"/>
            <a:ext cx="648072" cy="91697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BFD0E32E-00EA-5062-4808-5DCF16566C95}"/>
              </a:ext>
            </a:extLst>
          </p:cNvPr>
          <p:cNvSpPr/>
          <p:nvPr/>
        </p:nvSpPr>
        <p:spPr bwMode="auto">
          <a:xfrm>
            <a:off x="9762317" y="1222768"/>
            <a:ext cx="648072" cy="91697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251AB4-2675-041A-60DB-02CF72B0AEA2}"/>
              </a:ext>
            </a:extLst>
          </p:cNvPr>
          <p:cNvSpPr txBox="1"/>
          <p:nvPr/>
        </p:nvSpPr>
        <p:spPr>
          <a:xfrm>
            <a:off x="7559141" y="1442327"/>
            <a:ext cx="18246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600" b="0" u="sng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Check Feasibility</a:t>
            </a:r>
            <a:endParaRPr lang="en-US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A9B60A-EE58-4EA2-5E6A-016B32B6F1B9}"/>
              </a:ext>
            </a:extLst>
          </p:cNvPr>
          <p:cNvSpPr txBox="1"/>
          <p:nvPr/>
        </p:nvSpPr>
        <p:spPr>
          <a:xfrm>
            <a:off x="7341023" y="3596422"/>
            <a:ext cx="24212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600" b="0" u="sng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Map to Feasible Actions</a:t>
            </a:r>
            <a:endParaRPr lang="en-US" u="sng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AF1699-883F-2C23-8383-2E187DB99590}"/>
              </a:ext>
            </a:extLst>
          </p:cNvPr>
          <p:cNvSpPr txBox="1"/>
          <p:nvPr/>
        </p:nvSpPr>
        <p:spPr>
          <a:xfrm>
            <a:off x="6954005" y="3905508"/>
            <a:ext cx="33123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600" b="0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If infeasible, apply dummy actions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54893E-FAEA-FCCE-5408-AA9D677F3FCF}"/>
              </a:ext>
            </a:extLst>
          </p:cNvPr>
          <p:cNvSpPr txBox="1"/>
          <p:nvPr/>
        </p:nvSpPr>
        <p:spPr>
          <a:xfrm>
            <a:off x="7686314" y="4307212"/>
            <a:ext cx="16561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600" b="0" u="sng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Apply Transition</a:t>
            </a:r>
            <a:endParaRPr lang="en-US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866CA86-ECD5-89F9-F033-89DACFC3BE21}"/>
                  </a:ext>
                </a:extLst>
              </p:cNvPr>
              <p:cNvSpPr txBox="1"/>
              <p:nvPr/>
            </p:nvSpPr>
            <p:spPr>
              <a:xfrm>
                <a:off x="5735166" y="4616734"/>
                <a:ext cx="6112328" cy="18612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𝑤𝑖𝑛𝑑</m:t>
                          </m:r>
                        </m:sup>
                      </m:sSubSup>
                      <m:r>
                        <a:rPr lang="en-US" sz="16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16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⋅|</m:t>
                          </m:r>
                          <m:sSubSup>
                            <m:sSubSupPr>
                              <m:ctrlPr>
                                <a:rPr lang="en-US" sz="16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6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𝑤𝑖𝑛𝑑</m:t>
                              </m:r>
                            </m:sup>
                          </m:sSubSup>
                          <m:r>
                            <a:rPr lang="en-US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16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6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𝑝𝑟𝑒𝑣</m:t>
                              </m:r>
                            </m:sup>
                          </m:sSubSup>
                        </m:e>
                      </m:d>
                    </m:oMath>
                    <m:oMath xmlns:m="http://schemas.openxmlformats.org/officeDocument/2006/math">
                      <m:sSubSup>
                        <m:sSubSupPr>
                          <m:ctrlPr>
                            <a:rPr lang="en-US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𝑝𝑟𝑒𝑣</m:t>
                          </m:r>
                        </m:sup>
                      </m:sSubSup>
                      <m:r>
                        <a:rPr lang="en-US" sz="16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𝑤𝑖𝑛𝑑</m:t>
                          </m:r>
                        </m:sup>
                      </m:sSubSup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US" sz="1600" dirty="0"/>
                        <m:t> </m:t>
                      </m:r>
                      <m:sSubSup>
                        <m:sSubSupPr>
                          <m:ctrlPr>
                            <a:rPr lang="en-US" sz="16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6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6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</m:sSubSup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60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60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sz="16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</m:sSup>
                      <m:r>
                        <a:rPr lang="en-US" sz="1600" i="1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sz="16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6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6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bSup>
                    </m:oMath>
                    <m:oMath xmlns:m="http://schemas.openxmlformats.org/officeDocument/2006/math">
                      <m:sSubSup>
                        <m:sSubSupPr>
                          <m:ctrlPr>
                            <a:rPr lang="en-US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𝑔𝑟𝑖𝑑</m:t>
                          </m:r>
                        </m:sup>
                      </m:sSubSup>
                      <m:r>
                        <a:rPr lang="en-US" sz="16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16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⋅|</m:t>
                          </m:r>
                          <m:sSubSup>
                            <m:sSubSupPr>
                              <m:ctrlPr>
                                <a:rPr lang="en-US" sz="16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l-GR" sz="16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6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𝑔𝑟𝑖𝑑</m:t>
                              </m:r>
                            </m:sup>
                          </m:sSubSup>
                          <m:r>
                            <a:rPr lang="en-US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16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l-GR" sz="16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6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𝑝𝑟𝑒𝑣</m:t>
                              </m:r>
                            </m:sup>
                          </m:sSubSup>
                          <m:r>
                            <a:rPr lang="en-US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16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6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𝑤𝑖𝑛𝑑</m:t>
                              </m:r>
                            </m:sup>
                          </m:sSubSup>
                          <m:r>
                            <a:rPr lang="en-US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16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6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𝑝𝑟𝑒𝑣</m:t>
                              </m:r>
                            </m:sup>
                          </m:sSubSup>
                        </m:e>
                      </m:d>
                    </m:oMath>
                    <m:oMath xmlns:m="http://schemas.openxmlformats.org/officeDocument/2006/math">
                      <m:sSubSup>
                        <m:sSubSupPr>
                          <m:ctrlPr>
                            <a:rPr lang="en-US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𝑝𝑟𝑒𝑣</m:t>
                          </m:r>
                        </m:sup>
                      </m:sSubSup>
                      <m:r>
                        <a:rPr lang="en-US" sz="16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𝑔𝑟𝑖𝑑</m:t>
                          </m:r>
                        </m:sup>
                      </m:sSubSup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6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6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𝑎𝑐𝑡</m:t>
                          </m:r>
                        </m:sup>
                      </m:sSubSup>
                      <m:r>
                        <a:rPr lang="en-US" sz="1600" i="1" dirty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1600" dirty="0">
                          <a:solidFill>
                            <a:schemeClr val="accent2"/>
                          </a:solidFill>
                        </a:rPr>
                        <m:t> </m:t>
                      </m:r>
                      <m:sSubSup>
                        <m:sSubSupPr>
                          <m:ctrlPr>
                            <a:rPr lang="en-US" sz="16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6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𝑑𝑒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866CA86-ECD5-89F9-F033-89DACFC3BE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5166" y="4616734"/>
                <a:ext cx="6112328" cy="1861279"/>
              </a:xfrm>
              <a:prstGeom prst="rect">
                <a:avLst/>
              </a:prstGeom>
              <a:blipFill>
                <a:blip r:embed="rId9"/>
                <a:stretch>
                  <a:fillRect b="-3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Arrow: Right 21">
            <a:extLst>
              <a:ext uri="{FF2B5EF4-FFF2-40B4-BE49-F238E27FC236}">
                <a16:creationId xmlns:a16="http://schemas.microsoft.com/office/drawing/2014/main" id="{CEE1ED77-8838-1123-DF12-65D7C1EFA4DA}"/>
              </a:ext>
            </a:extLst>
          </p:cNvPr>
          <p:cNvSpPr/>
          <p:nvPr/>
        </p:nvSpPr>
        <p:spPr bwMode="auto">
          <a:xfrm rot="1301693">
            <a:off x="3778271" y="4704891"/>
            <a:ext cx="2790718" cy="405072"/>
          </a:xfrm>
          <a:prstGeom prst="rightArrow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812851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6062E-7 -2.59259E-6 L 0.26227 -0.00115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114" y="-69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13309E-6 3.7037E-7 L 0.26136 -0.0011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062" y="-69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6062E-7 3.7037E-6 L 0.26227 0.00069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114" y="23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7859E-6 -3.33333E-6 L 0.26267 -3.33333E-6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12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18" grpId="0" animBg="1"/>
      <p:bldP spid="5" grpId="0"/>
      <p:bldP spid="12" grpId="0"/>
      <p:bldP spid="17" grpId="0"/>
      <p:bldP spid="21" grpId="0"/>
      <p:bldP spid="22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8368A-5D6A-B3CE-D613-3AA7E8970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67E49F7-1A6B-6949-1BC2-7D113A272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4966" y="44624"/>
            <a:ext cx="6916540" cy="620032"/>
          </a:xfrm>
        </p:spPr>
        <p:txBody>
          <a:bodyPr wrap="square" anchor="b">
            <a:normAutofit/>
          </a:bodyPr>
          <a:lstStyle/>
          <a:p>
            <a:r>
              <a:rPr lang="en-GB" dirty="0"/>
              <a:t>Evaluating a policy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FE41F5-2E14-2D5F-D9ED-87C561D9AC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450" y="6541200"/>
            <a:ext cx="432600" cy="316800"/>
          </a:xfrm>
        </p:spPr>
        <p:txBody>
          <a:bodyPr anchor="ctr">
            <a:normAutofit/>
          </a:bodyPr>
          <a:lstStyle/>
          <a:p>
            <a:fld id="{103EA872-A674-449B-A120-B97244F8E91D}" type="slidenum">
              <a:rPr lang="en-GB" smtClean="0"/>
              <a:pPr/>
              <a:t>77</a:t>
            </a:fld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1BE042-608E-9C27-F8C6-BF5F24E07914}"/>
              </a:ext>
            </a:extLst>
          </p:cNvPr>
          <p:cNvSpPr txBox="1"/>
          <p:nvPr/>
        </p:nvSpPr>
        <p:spPr>
          <a:xfrm>
            <a:off x="4988346" y="1527479"/>
            <a:ext cx="316835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600" b="0" u="sng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Check Feasibility</a:t>
            </a:r>
            <a:endParaRPr lang="en-US" u="sng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7EA9C3-2810-3302-BEB2-5D42E4EEEF37}"/>
              </a:ext>
            </a:extLst>
          </p:cNvPr>
          <p:cNvSpPr txBox="1"/>
          <p:nvPr/>
        </p:nvSpPr>
        <p:spPr>
          <a:xfrm>
            <a:off x="4970056" y="3429000"/>
            <a:ext cx="24212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600" b="0" u="sng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Map to Feasible Actions</a:t>
            </a:r>
            <a:endParaRPr lang="en-US" u="sn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8D10E1-9663-2D4E-3256-F22DA64BB36E}"/>
              </a:ext>
            </a:extLst>
          </p:cNvPr>
          <p:cNvSpPr txBox="1"/>
          <p:nvPr/>
        </p:nvSpPr>
        <p:spPr>
          <a:xfrm>
            <a:off x="4583038" y="3738086"/>
            <a:ext cx="33123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600" b="0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If infeasible, apply dummy actions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4498B5-EC63-990A-F55D-E825A64272F8}"/>
              </a:ext>
            </a:extLst>
          </p:cNvPr>
          <p:cNvSpPr txBox="1"/>
          <p:nvPr/>
        </p:nvSpPr>
        <p:spPr>
          <a:xfrm>
            <a:off x="5315347" y="4139790"/>
            <a:ext cx="16561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600" b="0" u="sng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Apply Transition</a:t>
            </a:r>
            <a:endParaRPr lang="en-US" u="sng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BDF8DA-7EDB-3DD6-E6AC-294B9040857F}"/>
              </a:ext>
            </a:extLst>
          </p:cNvPr>
          <p:cNvSpPr txBox="1"/>
          <p:nvPr/>
        </p:nvSpPr>
        <p:spPr>
          <a:xfrm>
            <a:off x="3063858" y="1050219"/>
            <a:ext cx="13301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2"/>
                </a:solidFill>
              </a:rPr>
              <a:t>Decision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1B3A2ED-1524-8D3A-9EA5-361EC950DAAE}"/>
              </a:ext>
            </a:extLst>
          </p:cNvPr>
          <p:cNvSpPr txBox="1"/>
          <p:nvPr/>
        </p:nvSpPr>
        <p:spPr>
          <a:xfrm>
            <a:off x="8138408" y="927108"/>
            <a:ext cx="39878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kern="0" dirty="0">
                <a:solidFill>
                  <a:srgbClr val="00B050"/>
                </a:solidFill>
              </a:rPr>
              <a:t>Cost</a:t>
            </a:r>
            <a:br>
              <a:rPr lang="en-US" kern="0" dirty="0">
                <a:solidFill>
                  <a:srgbClr val="00B050"/>
                </a:solidFill>
              </a:rPr>
            </a:br>
            <a:r>
              <a:rPr lang="en-US" kern="0" dirty="0">
                <a:solidFill>
                  <a:srgbClr val="00B050"/>
                </a:solidFill>
              </a:rPr>
              <a:t>Next state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8B382F-DBBF-5176-2F17-E7D318D9BB16}"/>
              </a:ext>
            </a:extLst>
          </p:cNvPr>
          <p:cNvSpPr/>
          <p:nvPr/>
        </p:nvSpPr>
        <p:spPr bwMode="auto">
          <a:xfrm>
            <a:off x="4970056" y="1064442"/>
            <a:ext cx="2448272" cy="338554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Environment</a:t>
            </a: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5E55C4D3-C34B-BD3B-D21C-B36A98586A5C}"/>
              </a:ext>
            </a:extLst>
          </p:cNvPr>
          <p:cNvSpPr/>
          <p:nvPr/>
        </p:nvSpPr>
        <p:spPr bwMode="auto">
          <a:xfrm>
            <a:off x="4150990" y="1177063"/>
            <a:ext cx="648072" cy="91697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BA7262AE-0FA0-B1C8-9BB6-F28950775A71}"/>
              </a:ext>
            </a:extLst>
          </p:cNvPr>
          <p:cNvSpPr/>
          <p:nvPr/>
        </p:nvSpPr>
        <p:spPr bwMode="auto">
          <a:xfrm>
            <a:off x="7490336" y="1050219"/>
            <a:ext cx="648072" cy="91697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0AB6595E-987F-3825-FDA5-05C9A7D9B025}"/>
              </a:ext>
            </a:extLst>
          </p:cNvPr>
          <p:cNvSpPr/>
          <p:nvPr/>
        </p:nvSpPr>
        <p:spPr bwMode="auto">
          <a:xfrm>
            <a:off x="7485039" y="1311299"/>
            <a:ext cx="648072" cy="91697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43379103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25E5F-5EEB-49AB-70E7-DA2989F9D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85F79AB-33BC-6617-7C80-CC2865E4F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4966" y="44624"/>
            <a:ext cx="6916540" cy="620032"/>
          </a:xfrm>
        </p:spPr>
        <p:txBody>
          <a:bodyPr wrap="square" anchor="b">
            <a:normAutofit/>
          </a:bodyPr>
          <a:lstStyle/>
          <a:p>
            <a:r>
              <a:rPr lang="en-GB" dirty="0"/>
              <a:t>Evaluating a policy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8ECDB7-B88C-547F-9C74-7B41A5FF19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450" y="6541200"/>
            <a:ext cx="432600" cy="316800"/>
          </a:xfrm>
        </p:spPr>
        <p:txBody>
          <a:bodyPr anchor="ctr">
            <a:normAutofit/>
          </a:bodyPr>
          <a:lstStyle/>
          <a:p>
            <a:fld id="{103EA872-A674-449B-A120-B97244F8E91D}" type="slidenum">
              <a:rPr lang="en-GB" smtClean="0"/>
              <a:pPr/>
              <a:t>78</a:t>
            </a:fld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D7038F-3227-A4C0-C89E-715EDD8F9C23}"/>
              </a:ext>
            </a:extLst>
          </p:cNvPr>
          <p:cNvSpPr txBox="1"/>
          <p:nvPr/>
        </p:nvSpPr>
        <p:spPr>
          <a:xfrm>
            <a:off x="4988346" y="1527479"/>
            <a:ext cx="316835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600" b="0" i="1" u="sng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CheckFeasibility.py </a:t>
            </a:r>
            <a:r>
              <a:rPr kumimoji="0" lang="en-US" sz="1600" b="0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(                 )</a:t>
            </a:r>
            <a:endParaRPr lang="en-US" u="sng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14E3D5-D316-BC41-A0AB-440518D424AE}"/>
              </a:ext>
            </a:extLst>
          </p:cNvPr>
          <p:cNvSpPr txBox="1"/>
          <p:nvPr/>
        </p:nvSpPr>
        <p:spPr>
          <a:xfrm>
            <a:off x="4970056" y="3429000"/>
            <a:ext cx="24212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600" b="0" u="sng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Map to Feasible Actions</a:t>
            </a:r>
            <a:endParaRPr lang="en-US" u="sn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A13F36-6216-5969-1BD4-7683C94F7673}"/>
              </a:ext>
            </a:extLst>
          </p:cNvPr>
          <p:cNvSpPr txBox="1"/>
          <p:nvPr/>
        </p:nvSpPr>
        <p:spPr>
          <a:xfrm>
            <a:off x="4583038" y="3738086"/>
            <a:ext cx="33123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600" b="0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If infeasible, apply dummy actions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FD9676-EF6A-A7E5-47F5-A09FD98BDC12}"/>
              </a:ext>
            </a:extLst>
          </p:cNvPr>
          <p:cNvSpPr txBox="1"/>
          <p:nvPr/>
        </p:nvSpPr>
        <p:spPr>
          <a:xfrm>
            <a:off x="5315347" y="4139790"/>
            <a:ext cx="16561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600" b="0" u="sng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Apply Transition</a:t>
            </a:r>
            <a:endParaRPr lang="en-US" u="sng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F2F7DC-FB06-D415-D818-9F7E96417244}"/>
              </a:ext>
            </a:extLst>
          </p:cNvPr>
          <p:cNvSpPr txBox="1"/>
          <p:nvPr/>
        </p:nvSpPr>
        <p:spPr>
          <a:xfrm>
            <a:off x="3063858" y="1050219"/>
            <a:ext cx="13301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2"/>
                </a:solidFill>
              </a:rPr>
              <a:t>Decision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FCA315-5D1C-2EB6-9131-FBC087A27878}"/>
              </a:ext>
            </a:extLst>
          </p:cNvPr>
          <p:cNvSpPr txBox="1"/>
          <p:nvPr/>
        </p:nvSpPr>
        <p:spPr>
          <a:xfrm>
            <a:off x="8138408" y="927108"/>
            <a:ext cx="39878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kern="0" dirty="0">
                <a:solidFill>
                  <a:srgbClr val="00B050"/>
                </a:solidFill>
              </a:rPr>
              <a:t>Cost</a:t>
            </a:r>
            <a:br>
              <a:rPr lang="en-US" kern="0" dirty="0">
                <a:solidFill>
                  <a:srgbClr val="00B050"/>
                </a:solidFill>
              </a:rPr>
            </a:br>
            <a:r>
              <a:rPr lang="en-US" kern="0" dirty="0">
                <a:solidFill>
                  <a:srgbClr val="00B050"/>
                </a:solidFill>
              </a:rPr>
              <a:t>Next state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400746-5DB3-F855-1AC8-C404356D01D5}"/>
              </a:ext>
            </a:extLst>
          </p:cNvPr>
          <p:cNvSpPr/>
          <p:nvPr/>
        </p:nvSpPr>
        <p:spPr bwMode="auto">
          <a:xfrm>
            <a:off x="4970056" y="1064442"/>
            <a:ext cx="2448272" cy="338554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Environment</a:t>
            </a: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F460D3B9-23DC-C1AD-1D7D-952706C6F165}"/>
              </a:ext>
            </a:extLst>
          </p:cNvPr>
          <p:cNvSpPr/>
          <p:nvPr/>
        </p:nvSpPr>
        <p:spPr bwMode="auto">
          <a:xfrm>
            <a:off x="4150990" y="1177063"/>
            <a:ext cx="648072" cy="91697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20A66E6A-BE02-8217-420A-F76C1EE30E5B}"/>
              </a:ext>
            </a:extLst>
          </p:cNvPr>
          <p:cNvSpPr/>
          <p:nvPr/>
        </p:nvSpPr>
        <p:spPr bwMode="auto">
          <a:xfrm>
            <a:off x="7490336" y="1050219"/>
            <a:ext cx="648072" cy="91697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4E8216CE-453B-C18D-76F8-0FAE5439CD95}"/>
              </a:ext>
            </a:extLst>
          </p:cNvPr>
          <p:cNvSpPr/>
          <p:nvPr/>
        </p:nvSpPr>
        <p:spPr bwMode="auto">
          <a:xfrm>
            <a:off x="7485039" y="1311299"/>
            <a:ext cx="648072" cy="91697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605519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7.94374E-7 2.22222E-6 L 0.31814 0.0717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901" y="358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8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6635C-C51C-40DF-FC24-BE60FB8FD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6C7A234-C127-B66B-7E2D-E9AC0291E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4966" y="44624"/>
            <a:ext cx="6916540" cy="620032"/>
          </a:xfrm>
        </p:spPr>
        <p:txBody>
          <a:bodyPr wrap="square" anchor="b">
            <a:normAutofit/>
          </a:bodyPr>
          <a:lstStyle/>
          <a:p>
            <a:r>
              <a:rPr lang="en-GB" dirty="0"/>
              <a:t>Evaluating a policy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FCF04D-BCF8-6C86-7816-01AACCD7CA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450" y="6541200"/>
            <a:ext cx="432600" cy="316800"/>
          </a:xfrm>
        </p:spPr>
        <p:txBody>
          <a:bodyPr anchor="ctr">
            <a:normAutofit/>
          </a:bodyPr>
          <a:lstStyle/>
          <a:p>
            <a:fld id="{103EA872-A674-449B-A120-B97244F8E91D}" type="slidenum">
              <a:rPr lang="en-GB" smtClean="0"/>
              <a:pPr/>
              <a:t>79</a:t>
            </a:fld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A39275-E986-7243-5F35-9AD71CC7555D}"/>
              </a:ext>
            </a:extLst>
          </p:cNvPr>
          <p:cNvSpPr txBox="1"/>
          <p:nvPr/>
        </p:nvSpPr>
        <p:spPr>
          <a:xfrm>
            <a:off x="4988346" y="1527479"/>
            <a:ext cx="316835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600" b="0" i="1" u="sng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CheckFeasibility.py </a:t>
            </a:r>
            <a:r>
              <a:rPr kumimoji="0" lang="en-US" sz="1600" b="0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(                 )</a:t>
            </a:r>
            <a:endParaRPr lang="en-US" u="sng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9D232E-B30E-82BB-71DF-9F48CF9BD61E}"/>
              </a:ext>
            </a:extLst>
          </p:cNvPr>
          <p:cNvSpPr txBox="1"/>
          <p:nvPr/>
        </p:nvSpPr>
        <p:spPr>
          <a:xfrm>
            <a:off x="4970056" y="3429000"/>
            <a:ext cx="24212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600" b="0" u="sng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Map to Feasible Actions</a:t>
            </a:r>
            <a:endParaRPr lang="en-US" u="sn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1CB6D1-13A7-4D56-8673-C85A6B098F65}"/>
              </a:ext>
            </a:extLst>
          </p:cNvPr>
          <p:cNvSpPr txBox="1"/>
          <p:nvPr/>
        </p:nvSpPr>
        <p:spPr>
          <a:xfrm>
            <a:off x="4583038" y="3738086"/>
            <a:ext cx="33123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600" b="0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If infeasible, apply dummy actions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78DE28-FD41-06B5-2A24-9FF181BCA61B}"/>
              </a:ext>
            </a:extLst>
          </p:cNvPr>
          <p:cNvSpPr txBox="1"/>
          <p:nvPr/>
        </p:nvSpPr>
        <p:spPr>
          <a:xfrm>
            <a:off x="5315347" y="4139790"/>
            <a:ext cx="16561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600" b="0" u="sng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Apply Transition</a:t>
            </a:r>
            <a:endParaRPr lang="en-US" u="sng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D26A18-CD36-8F62-2A66-520A9BD6DC18}"/>
              </a:ext>
            </a:extLst>
          </p:cNvPr>
          <p:cNvSpPr txBox="1"/>
          <p:nvPr/>
        </p:nvSpPr>
        <p:spPr>
          <a:xfrm>
            <a:off x="6887294" y="1527479"/>
            <a:ext cx="13301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2"/>
                </a:solidFill>
              </a:rPr>
              <a:t>Decision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73CA46-BD72-EC11-3D08-AA667119FD8C}"/>
              </a:ext>
            </a:extLst>
          </p:cNvPr>
          <p:cNvSpPr txBox="1"/>
          <p:nvPr/>
        </p:nvSpPr>
        <p:spPr>
          <a:xfrm>
            <a:off x="8138408" y="927108"/>
            <a:ext cx="39878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kern="0" dirty="0">
                <a:solidFill>
                  <a:srgbClr val="00B050"/>
                </a:solidFill>
              </a:rPr>
              <a:t>Cost</a:t>
            </a:r>
            <a:br>
              <a:rPr lang="en-US" kern="0" dirty="0">
                <a:solidFill>
                  <a:srgbClr val="00B050"/>
                </a:solidFill>
              </a:rPr>
            </a:br>
            <a:r>
              <a:rPr lang="en-US" kern="0" dirty="0">
                <a:solidFill>
                  <a:srgbClr val="00B050"/>
                </a:solidFill>
              </a:rPr>
              <a:t>Next state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7F2406A-8FCF-7083-A112-D11DB4B95EB4}"/>
              </a:ext>
            </a:extLst>
          </p:cNvPr>
          <p:cNvSpPr/>
          <p:nvPr/>
        </p:nvSpPr>
        <p:spPr bwMode="auto">
          <a:xfrm>
            <a:off x="4970056" y="1064442"/>
            <a:ext cx="2448272" cy="338554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Environment</a:t>
            </a:r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F5BEFC80-43FE-D3E5-B570-EBA82696BB60}"/>
              </a:ext>
            </a:extLst>
          </p:cNvPr>
          <p:cNvSpPr/>
          <p:nvPr/>
        </p:nvSpPr>
        <p:spPr bwMode="auto">
          <a:xfrm>
            <a:off x="7490336" y="1050219"/>
            <a:ext cx="648072" cy="91697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AB8F0434-367D-2D6E-201A-BFB3B5F06B6B}"/>
              </a:ext>
            </a:extLst>
          </p:cNvPr>
          <p:cNvSpPr/>
          <p:nvPr/>
        </p:nvSpPr>
        <p:spPr bwMode="auto">
          <a:xfrm>
            <a:off x="7485039" y="1311299"/>
            <a:ext cx="648072" cy="91697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9E8AC6-6219-F8BB-6B63-D77FEF7DA37F}"/>
              </a:ext>
            </a:extLst>
          </p:cNvPr>
          <p:cNvSpPr txBox="1"/>
          <p:nvPr/>
        </p:nvSpPr>
        <p:spPr>
          <a:xfrm>
            <a:off x="3839294" y="1527479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600" b="1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Infeasible</a:t>
            </a:r>
            <a:r>
              <a:rPr kumimoji="0" lang="en-US" sz="1600" b="0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 =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8A2E25-F131-FA2A-932E-2D67B27D9BBA}"/>
              </a:ext>
            </a:extLst>
          </p:cNvPr>
          <p:cNvSpPr txBox="1"/>
          <p:nvPr/>
        </p:nvSpPr>
        <p:spPr>
          <a:xfrm>
            <a:off x="3844663" y="1866033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badi ExtraLight" panose="020F0502020204030204" pitchFamily="34" charset="0"/>
              </a:rPr>
              <a:t>if </a:t>
            </a:r>
            <a:r>
              <a:rPr kumimoji="0" lang="en-US" sz="1600" b="1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Infeasible</a:t>
            </a:r>
            <a:r>
              <a:rPr kumimoji="0" lang="en-US" sz="1600" b="0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 = 1: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22BA3C-D580-BC44-F425-0F1859CAFD97}"/>
              </a:ext>
            </a:extLst>
          </p:cNvPr>
          <p:cNvSpPr txBox="1"/>
          <p:nvPr/>
        </p:nvSpPr>
        <p:spPr>
          <a:xfrm>
            <a:off x="4487255" y="2220183"/>
            <a:ext cx="33123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badi ExtraLight" panose="020F0502020204030204" pitchFamily="34" charset="0"/>
              </a:rPr>
              <a:t>Decisions = dummy_policy.py(state)</a:t>
            </a:r>
            <a:endParaRPr lang="en-US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459594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61128E-6 4.07407E-6 L 4.61128E-6 -0.2270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136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6" grpId="1"/>
      <p:bldP spid="3" grpId="0"/>
      <p:bldP spid="8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948487F-3D28-EA36-53E4-380462CCE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79375E-567E-346C-037A-8FC16BC9B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4966" y="44624"/>
            <a:ext cx="6916540" cy="620032"/>
          </a:xfrm>
        </p:spPr>
        <p:txBody>
          <a:bodyPr wrap="square" anchor="b">
            <a:normAutofit/>
          </a:bodyPr>
          <a:lstStyle/>
          <a:p>
            <a:r>
              <a:rPr lang="en-GB" dirty="0"/>
              <a:t>Evaluating a policy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E43442-D036-4CC1-E0DA-A8D4D47D0A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450" y="6541200"/>
            <a:ext cx="432600" cy="316800"/>
          </a:xfrm>
        </p:spPr>
        <p:txBody>
          <a:bodyPr anchor="ctr">
            <a:normAutofit/>
          </a:bodyPr>
          <a:lstStyle/>
          <a:p>
            <a:fld id="{103EA872-A674-449B-A120-B97244F8E91D}" type="slidenum">
              <a:rPr lang="en-GB" smtClean="0"/>
              <a:pPr/>
              <a:t>80</a:t>
            </a:fld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9B5A0D-2E3B-C3ED-65C6-36FF0E52499E}"/>
              </a:ext>
            </a:extLst>
          </p:cNvPr>
          <p:cNvSpPr txBox="1"/>
          <p:nvPr/>
        </p:nvSpPr>
        <p:spPr>
          <a:xfrm>
            <a:off x="4988346" y="1527479"/>
            <a:ext cx="316835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600" b="0" i="1" u="sng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CheckFeasibility.py </a:t>
            </a:r>
            <a:r>
              <a:rPr kumimoji="0" lang="en-US" sz="1600" b="0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(                 )</a:t>
            </a:r>
            <a:endParaRPr lang="en-US" u="sn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71AC1A-BFE4-5E16-854B-52787ACC1703}"/>
              </a:ext>
            </a:extLst>
          </p:cNvPr>
          <p:cNvSpPr txBox="1"/>
          <p:nvPr/>
        </p:nvSpPr>
        <p:spPr>
          <a:xfrm>
            <a:off x="4487255" y="2220183"/>
            <a:ext cx="33123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badi ExtraLight" panose="020F0502020204030204" pitchFamily="34" charset="0"/>
              </a:rPr>
              <a:t>Actions = dummy_policy.py(state)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686451-4BCD-9ACE-657C-8BC41DB1D29B}"/>
              </a:ext>
            </a:extLst>
          </p:cNvPr>
          <p:cNvSpPr txBox="1"/>
          <p:nvPr/>
        </p:nvSpPr>
        <p:spPr>
          <a:xfrm>
            <a:off x="6887294" y="1527479"/>
            <a:ext cx="13301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2"/>
                </a:solidFill>
              </a:rPr>
              <a:t>Decision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0C020F-BCA0-8074-5D99-76A6F4BA8328}"/>
              </a:ext>
            </a:extLst>
          </p:cNvPr>
          <p:cNvSpPr txBox="1"/>
          <p:nvPr/>
        </p:nvSpPr>
        <p:spPr>
          <a:xfrm>
            <a:off x="8138408" y="927108"/>
            <a:ext cx="39878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kern="0" dirty="0">
                <a:solidFill>
                  <a:srgbClr val="00B050"/>
                </a:solidFill>
              </a:rPr>
              <a:t>Cost</a:t>
            </a:r>
            <a:br>
              <a:rPr lang="en-US" kern="0" dirty="0">
                <a:solidFill>
                  <a:srgbClr val="00B050"/>
                </a:solidFill>
              </a:rPr>
            </a:br>
            <a:r>
              <a:rPr lang="en-US" kern="0" dirty="0">
                <a:solidFill>
                  <a:srgbClr val="00B050"/>
                </a:solidFill>
              </a:rPr>
              <a:t>Next state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AE2575-AA0C-C780-60BE-5BA45D68E67A}"/>
              </a:ext>
            </a:extLst>
          </p:cNvPr>
          <p:cNvSpPr/>
          <p:nvPr/>
        </p:nvSpPr>
        <p:spPr bwMode="auto">
          <a:xfrm>
            <a:off x="4970056" y="1064442"/>
            <a:ext cx="2448272" cy="338554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Environment</a:t>
            </a:r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CF1DA5E8-75FF-E74A-7659-E6B39C8A9F08}"/>
              </a:ext>
            </a:extLst>
          </p:cNvPr>
          <p:cNvSpPr/>
          <p:nvPr/>
        </p:nvSpPr>
        <p:spPr bwMode="auto">
          <a:xfrm>
            <a:off x="7490336" y="1050219"/>
            <a:ext cx="648072" cy="91697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953EFE3C-72EE-A613-04E8-3B19EB4D6412}"/>
              </a:ext>
            </a:extLst>
          </p:cNvPr>
          <p:cNvSpPr/>
          <p:nvPr/>
        </p:nvSpPr>
        <p:spPr bwMode="auto">
          <a:xfrm>
            <a:off x="7485039" y="1311299"/>
            <a:ext cx="648072" cy="91697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44EC8C-14CD-40FF-C1BE-D953AF993F5D}"/>
              </a:ext>
            </a:extLst>
          </p:cNvPr>
          <p:cNvSpPr txBox="1"/>
          <p:nvPr/>
        </p:nvSpPr>
        <p:spPr>
          <a:xfrm>
            <a:off x="3839294" y="1527479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600" b="1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Infeasible</a:t>
            </a:r>
            <a:r>
              <a:rPr kumimoji="0" lang="en-US" sz="1600" b="0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 =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340916-1EE0-645A-E26C-9BDD43644C24}"/>
              </a:ext>
            </a:extLst>
          </p:cNvPr>
          <p:cNvSpPr txBox="1"/>
          <p:nvPr/>
        </p:nvSpPr>
        <p:spPr>
          <a:xfrm>
            <a:off x="3844663" y="1866033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badi ExtraLight" panose="020F0502020204030204" pitchFamily="34" charset="0"/>
              </a:rPr>
              <a:t>if </a:t>
            </a:r>
            <a:r>
              <a:rPr kumimoji="0" lang="en-US" sz="1600" b="1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Infeasible</a:t>
            </a:r>
            <a:r>
              <a:rPr kumimoji="0" lang="en-US" sz="1600" b="0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 = 1:</a:t>
            </a:r>
            <a:endParaRPr lang="en-US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28320876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91F1C-6A16-88D3-32A2-8B2711AB5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0BDC7C3-3F11-BF46-4175-22D110F73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4966" y="44624"/>
            <a:ext cx="6916540" cy="620032"/>
          </a:xfrm>
        </p:spPr>
        <p:txBody>
          <a:bodyPr wrap="square" anchor="b">
            <a:normAutofit/>
          </a:bodyPr>
          <a:lstStyle/>
          <a:p>
            <a:r>
              <a:rPr lang="en-GB" dirty="0"/>
              <a:t>Evaluating a policy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D8524B-E74F-3678-56E9-812E2E5EAA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450" y="6541200"/>
            <a:ext cx="432600" cy="316800"/>
          </a:xfrm>
        </p:spPr>
        <p:txBody>
          <a:bodyPr anchor="ctr">
            <a:normAutofit/>
          </a:bodyPr>
          <a:lstStyle/>
          <a:p>
            <a:fld id="{103EA872-A674-449B-A120-B97244F8E91D}" type="slidenum">
              <a:rPr lang="en-GB" smtClean="0"/>
              <a:pPr/>
              <a:t>81</a:t>
            </a:fld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EFF61B-7DFB-3AAA-FF0A-62887E860197}"/>
              </a:ext>
            </a:extLst>
          </p:cNvPr>
          <p:cNvSpPr txBox="1"/>
          <p:nvPr/>
        </p:nvSpPr>
        <p:spPr>
          <a:xfrm>
            <a:off x="4988346" y="1527479"/>
            <a:ext cx="316835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600" b="0" i="1" u="sng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CheckFeasibility.py </a:t>
            </a:r>
            <a:r>
              <a:rPr kumimoji="0" lang="en-US" sz="1600" b="0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(                 )</a:t>
            </a:r>
            <a:endParaRPr lang="en-US" u="sn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2AC387-21F4-A98F-8E59-7366E7789C45}"/>
              </a:ext>
            </a:extLst>
          </p:cNvPr>
          <p:cNvSpPr txBox="1"/>
          <p:nvPr/>
        </p:nvSpPr>
        <p:spPr>
          <a:xfrm>
            <a:off x="4487255" y="2220183"/>
            <a:ext cx="33123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badi ExtraLight" panose="020F0502020204030204" pitchFamily="34" charset="0"/>
              </a:rPr>
              <a:t>Decisions = dummy_policy.py(state)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7A31B9-4573-480D-D52B-8597FBF6422C}"/>
              </a:ext>
            </a:extLst>
          </p:cNvPr>
          <p:cNvSpPr txBox="1"/>
          <p:nvPr/>
        </p:nvSpPr>
        <p:spPr>
          <a:xfrm>
            <a:off x="6887294" y="1527479"/>
            <a:ext cx="13301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2"/>
                </a:solidFill>
              </a:rPr>
              <a:t>Decision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CD2D2B-071E-8E6E-06CE-325F8B2B6392}"/>
              </a:ext>
            </a:extLst>
          </p:cNvPr>
          <p:cNvSpPr txBox="1"/>
          <p:nvPr/>
        </p:nvSpPr>
        <p:spPr>
          <a:xfrm>
            <a:off x="8138408" y="927108"/>
            <a:ext cx="39878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kern="0" dirty="0">
                <a:solidFill>
                  <a:srgbClr val="00B050"/>
                </a:solidFill>
              </a:rPr>
              <a:t>Cost</a:t>
            </a:r>
            <a:br>
              <a:rPr lang="en-US" kern="0" dirty="0">
                <a:solidFill>
                  <a:srgbClr val="00B050"/>
                </a:solidFill>
              </a:rPr>
            </a:br>
            <a:r>
              <a:rPr lang="en-US" kern="0" dirty="0">
                <a:solidFill>
                  <a:srgbClr val="00B050"/>
                </a:solidFill>
              </a:rPr>
              <a:t>Next state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F8B84E2-878F-A32A-D5FB-FE115F803B54}"/>
              </a:ext>
            </a:extLst>
          </p:cNvPr>
          <p:cNvSpPr/>
          <p:nvPr/>
        </p:nvSpPr>
        <p:spPr bwMode="auto">
          <a:xfrm>
            <a:off x="4970056" y="1064442"/>
            <a:ext cx="2448272" cy="338554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Environment</a:t>
            </a:r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B6F544CD-B448-6787-08E2-B0E0E43DBF6D}"/>
              </a:ext>
            </a:extLst>
          </p:cNvPr>
          <p:cNvSpPr/>
          <p:nvPr/>
        </p:nvSpPr>
        <p:spPr bwMode="auto">
          <a:xfrm>
            <a:off x="7490336" y="1050219"/>
            <a:ext cx="648072" cy="91697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E4D80734-8798-41DA-E999-1DED7B14A2D5}"/>
              </a:ext>
            </a:extLst>
          </p:cNvPr>
          <p:cNvSpPr/>
          <p:nvPr/>
        </p:nvSpPr>
        <p:spPr bwMode="auto">
          <a:xfrm>
            <a:off x="7485039" y="1311299"/>
            <a:ext cx="648072" cy="91697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0FA88C-E4CB-F75D-3816-5647C6D095D5}"/>
              </a:ext>
            </a:extLst>
          </p:cNvPr>
          <p:cNvSpPr txBox="1"/>
          <p:nvPr/>
        </p:nvSpPr>
        <p:spPr>
          <a:xfrm>
            <a:off x="3839294" y="1527479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600" b="1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Infeasible</a:t>
            </a:r>
            <a:r>
              <a:rPr kumimoji="0" lang="en-US" sz="1600" b="0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 =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28C55B-0162-7E7B-6653-209035493D7F}"/>
              </a:ext>
            </a:extLst>
          </p:cNvPr>
          <p:cNvSpPr txBox="1"/>
          <p:nvPr/>
        </p:nvSpPr>
        <p:spPr>
          <a:xfrm>
            <a:off x="3844663" y="1866033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badi ExtraLight" panose="020F0502020204030204" pitchFamily="34" charset="0"/>
              </a:rPr>
              <a:t>if </a:t>
            </a:r>
            <a:r>
              <a:rPr kumimoji="0" lang="en-US" sz="1600" b="1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Infeasible</a:t>
            </a:r>
            <a:r>
              <a:rPr kumimoji="0" lang="en-US" sz="1600" b="0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 = 1: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C2CBBA-89B0-9091-ED52-2E0E27B21901}"/>
              </a:ext>
            </a:extLst>
          </p:cNvPr>
          <p:cNvSpPr txBox="1"/>
          <p:nvPr/>
        </p:nvSpPr>
        <p:spPr>
          <a:xfrm>
            <a:off x="3790950" y="2990012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Abadi ExtraLight" panose="020F0502020204030204" pitchFamily="34" charset="0"/>
              </a:rPr>
              <a:t>n</a:t>
            </a:r>
            <a:r>
              <a:rPr kumimoji="0" lang="en-US" sz="1600" b="1" strike="noStrike" cap="none" normalizeH="0" baseline="0" dirty="0" err="1">
                <a:ln>
                  <a:noFill/>
                </a:ln>
                <a:effectLst/>
                <a:latin typeface="Abadi ExtraLight" panose="020F0502020204030204" pitchFamily="34" charset="0"/>
              </a:rPr>
              <a:t>ext_state</a:t>
            </a:r>
            <a:r>
              <a:rPr kumimoji="0" lang="en-US" sz="1600" b="1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 = </a:t>
            </a:r>
            <a:r>
              <a:rPr kumimoji="0" lang="en-US" sz="1600" b="1" strike="noStrike" cap="none" normalizeH="0" baseline="0" dirty="0" err="1">
                <a:ln>
                  <a:noFill/>
                </a:ln>
                <a:effectLst/>
                <a:latin typeface="Abadi ExtraLight" panose="020F0502020204030204" pitchFamily="34" charset="0"/>
              </a:rPr>
              <a:t>apply_dynamics</a:t>
            </a:r>
            <a:r>
              <a:rPr kumimoji="0" lang="en-US" sz="1600" b="1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(state, </a:t>
            </a:r>
            <a:r>
              <a:rPr lang="en-US" b="1" dirty="0">
                <a:latin typeface="Abadi ExtraLight" panose="020F0502020204030204" pitchFamily="34" charset="0"/>
              </a:rPr>
              <a:t>Decisions</a:t>
            </a:r>
            <a:r>
              <a:rPr kumimoji="0" lang="en-US" sz="1600" b="1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)</a:t>
            </a:r>
            <a:r>
              <a:rPr kumimoji="0" lang="en-US" sz="1600" b="0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 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7F0C7A-28D5-9561-EF39-E3E9CCEFEE3F}"/>
              </a:ext>
            </a:extLst>
          </p:cNvPr>
          <p:cNvSpPr txBox="1"/>
          <p:nvPr/>
        </p:nvSpPr>
        <p:spPr>
          <a:xfrm>
            <a:off x="3790950" y="2651458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badi ExtraLight" panose="020F0502020204030204" pitchFamily="34" charset="0"/>
              </a:rPr>
              <a:t>c</a:t>
            </a:r>
            <a:r>
              <a:rPr kumimoji="0" lang="en-US" sz="1600" b="1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ost = </a:t>
            </a:r>
            <a:r>
              <a:rPr kumimoji="0" lang="en-US" sz="1600" b="1" strike="noStrike" cap="none" normalizeH="0" baseline="0" dirty="0" err="1">
                <a:ln>
                  <a:noFill/>
                </a:ln>
                <a:effectLst/>
                <a:latin typeface="Abadi ExtraLight" panose="020F0502020204030204" pitchFamily="34" charset="0"/>
              </a:rPr>
              <a:t>current_price</a:t>
            </a:r>
            <a:r>
              <a:rPr lang="en-US" b="1" dirty="0">
                <a:latin typeface="Abadi ExtraLight" panose="020F0502020204030204" pitchFamily="34" charset="0"/>
              </a:rPr>
              <a:t> * Decisions[</a:t>
            </a:r>
            <a:r>
              <a:rPr lang="en-US" b="1" dirty="0" err="1">
                <a:latin typeface="Abadi ExtraLight" panose="020F0502020204030204" pitchFamily="34" charset="0"/>
              </a:rPr>
              <a:t>power_from_grid</a:t>
            </a:r>
            <a:r>
              <a:rPr lang="en-US" b="1" dirty="0">
                <a:latin typeface="Abadi ExtraLight" panose="020F0502020204030204" pitchFamily="34" charset="0"/>
              </a:rPr>
              <a:t>]</a:t>
            </a:r>
            <a:r>
              <a:rPr kumimoji="0" lang="en-US" sz="1600" b="1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 </a:t>
            </a:r>
            <a:r>
              <a:rPr kumimoji="0" lang="en-US" sz="1600" b="0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 </a:t>
            </a:r>
            <a:endParaRPr lang="en-US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402664186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0B5DE-5537-6823-D9A2-A8409BA3D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DB18CC8-1EE8-BEFA-B4E2-EC002DCD7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4966" y="44624"/>
            <a:ext cx="6916540" cy="620032"/>
          </a:xfrm>
        </p:spPr>
        <p:txBody>
          <a:bodyPr wrap="square" anchor="b">
            <a:normAutofit/>
          </a:bodyPr>
          <a:lstStyle/>
          <a:p>
            <a:r>
              <a:rPr lang="en-GB" dirty="0"/>
              <a:t>Evaluating a policy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4AC016-202D-B939-19C0-527EC9E142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450" y="6541200"/>
            <a:ext cx="432600" cy="316800"/>
          </a:xfrm>
        </p:spPr>
        <p:txBody>
          <a:bodyPr anchor="ctr">
            <a:normAutofit/>
          </a:bodyPr>
          <a:lstStyle/>
          <a:p>
            <a:fld id="{103EA872-A674-449B-A120-B97244F8E91D}" type="slidenum">
              <a:rPr lang="en-GB" smtClean="0"/>
              <a:pPr/>
              <a:t>82</a:t>
            </a:fld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B561CC-2F66-AE89-3E9C-61CC11670DD8}"/>
              </a:ext>
            </a:extLst>
          </p:cNvPr>
          <p:cNvSpPr txBox="1"/>
          <p:nvPr/>
        </p:nvSpPr>
        <p:spPr>
          <a:xfrm>
            <a:off x="4988346" y="1527479"/>
            <a:ext cx="316835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600" b="0" i="1" u="sng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CheckFeasibility.py </a:t>
            </a:r>
            <a:r>
              <a:rPr kumimoji="0" lang="en-US" sz="1600" b="0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(                 )</a:t>
            </a:r>
            <a:endParaRPr lang="en-US" u="sn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577759-09F0-BBAF-0C49-59FCCB40CEE7}"/>
              </a:ext>
            </a:extLst>
          </p:cNvPr>
          <p:cNvSpPr txBox="1"/>
          <p:nvPr/>
        </p:nvSpPr>
        <p:spPr>
          <a:xfrm>
            <a:off x="4487255" y="2220183"/>
            <a:ext cx="33123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badi ExtraLight" panose="020F0502020204030204" pitchFamily="34" charset="0"/>
              </a:rPr>
              <a:t>Decisions = dummy_policy.py(state)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8D3880-1408-5C34-CA53-2895843E7BDF}"/>
              </a:ext>
            </a:extLst>
          </p:cNvPr>
          <p:cNvSpPr txBox="1"/>
          <p:nvPr/>
        </p:nvSpPr>
        <p:spPr>
          <a:xfrm>
            <a:off x="6887294" y="1527479"/>
            <a:ext cx="13301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2"/>
                </a:solidFill>
              </a:rPr>
              <a:t>Decision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C5683E-3C1D-5F27-880E-F8057351F181}"/>
              </a:ext>
            </a:extLst>
          </p:cNvPr>
          <p:cNvSpPr txBox="1"/>
          <p:nvPr/>
        </p:nvSpPr>
        <p:spPr>
          <a:xfrm>
            <a:off x="3839294" y="1527479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600" b="1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Infeasible</a:t>
            </a:r>
            <a:r>
              <a:rPr kumimoji="0" lang="en-US" sz="1600" b="0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 =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932E89-14BD-F9BC-8854-F25F87F651E3}"/>
              </a:ext>
            </a:extLst>
          </p:cNvPr>
          <p:cNvSpPr txBox="1"/>
          <p:nvPr/>
        </p:nvSpPr>
        <p:spPr>
          <a:xfrm>
            <a:off x="3844663" y="1866033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badi ExtraLight" panose="020F0502020204030204" pitchFamily="34" charset="0"/>
              </a:rPr>
              <a:t>if </a:t>
            </a:r>
            <a:r>
              <a:rPr kumimoji="0" lang="en-US" sz="1600" b="1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Infeasible</a:t>
            </a:r>
            <a:r>
              <a:rPr kumimoji="0" lang="en-US" sz="1600" b="0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 = 1: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CB8ED4-47B5-9FB2-963D-79E04251616F}"/>
              </a:ext>
            </a:extLst>
          </p:cNvPr>
          <p:cNvSpPr txBox="1"/>
          <p:nvPr/>
        </p:nvSpPr>
        <p:spPr>
          <a:xfrm>
            <a:off x="3790950" y="2990012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Abadi ExtraLight" panose="020F0502020204030204" pitchFamily="34" charset="0"/>
              </a:rPr>
              <a:t>n</a:t>
            </a:r>
            <a:r>
              <a:rPr kumimoji="0" lang="en-US" sz="1600" b="1" strike="noStrike" cap="none" normalizeH="0" baseline="0" dirty="0" err="1">
                <a:ln>
                  <a:noFill/>
                </a:ln>
                <a:effectLst/>
                <a:latin typeface="Abadi ExtraLight" panose="020F0502020204030204" pitchFamily="34" charset="0"/>
              </a:rPr>
              <a:t>ext_state</a:t>
            </a:r>
            <a:r>
              <a:rPr kumimoji="0" lang="en-US" sz="1600" b="1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 = </a:t>
            </a:r>
            <a:r>
              <a:rPr kumimoji="0" lang="en-US" sz="1600" b="1" strike="noStrike" cap="none" normalizeH="0" baseline="0" dirty="0" err="1">
                <a:ln>
                  <a:noFill/>
                </a:ln>
                <a:effectLst/>
                <a:latin typeface="Abadi ExtraLight" panose="020F0502020204030204" pitchFamily="34" charset="0"/>
              </a:rPr>
              <a:t>apply_dynamics</a:t>
            </a:r>
            <a:r>
              <a:rPr kumimoji="0" lang="en-US" sz="1600" b="1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(state, </a:t>
            </a:r>
            <a:r>
              <a:rPr lang="en-US" b="1" dirty="0">
                <a:latin typeface="Abadi ExtraLight" panose="020F0502020204030204" pitchFamily="34" charset="0"/>
              </a:rPr>
              <a:t>Decisions</a:t>
            </a:r>
            <a:r>
              <a:rPr kumimoji="0" lang="en-US" sz="1600" b="1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)</a:t>
            </a:r>
            <a:r>
              <a:rPr kumimoji="0" lang="en-US" sz="1600" b="0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 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868B74-50CC-1B38-84DF-C93CB8C70E64}"/>
              </a:ext>
            </a:extLst>
          </p:cNvPr>
          <p:cNvSpPr txBox="1"/>
          <p:nvPr/>
        </p:nvSpPr>
        <p:spPr>
          <a:xfrm>
            <a:off x="3790950" y="2651458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badi ExtraLight" panose="020F0502020204030204" pitchFamily="34" charset="0"/>
              </a:rPr>
              <a:t>c</a:t>
            </a:r>
            <a:r>
              <a:rPr kumimoji="0" lang="en-US" sz="1600" b="1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ost = </a:t>
            </a:r>
            <a:r>
              <a:rPr kumimoji="0" lang="en-US" sz="1600" b="1" strike="noStrike" cap="none" normalizeH="0" baseline="0" dirty="0" err="1">
                <a:ln>
                  <a:noFill/>
                </a:ln>
                <a:effectLst/>
                <a:latin typeface="Abadi ExtraLight" panose="020F0502020204030204" pitchFamily="34" charset="0"/>
              </a:rPr>
              <a:t>current_price</a:t>
            </a:r>
            <a:r>
              <a:rPr lang="en-US" b="1" dirty="0">
                <a:latin typeface="Abadi ExtraLight" panose="020F0502020204030204" pitchFamily="34" charset="0"/>
              </a:rPr>
              <a:t> * Decisions[</a:t>
            </a:r>
            <a:r>
              <a:rPr lang="en-US" b="1" dirty="0" err="1">
                <a:latin typeface="Abadi ExtraLight" panose="020F0502020204030204" pitchFamily="34" charset="0"/>
              </a:rPr>
              <a:t>power_from_grid</a:t>
            </a:r>
            <a:r>
              <a:rPr lang="en-US" b="1" dirty="0">
                <a:latin typeface="Abadi ExtraLight" panose="020F0502020204030204" pitchFamily="34" charset="0"/>
              </a:rPr>
              <a:t>]</a:t>
            </a:r>
            <a:r>
              <a:rPr kumimoji="0" lang="en-US" sz="1600" b="1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 </a:t>
            </a:r>
            <a:r>
              <a:rPr kumimoji="0" lang="en-US" sz="1600" b="0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 </a:t>
            </a:r>
            <a:endParaRPr lang="en-US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10388498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FCE81-8B32-93D4-475A-E13D1DF61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CDB8CC6-803C-3614-CE66-3E891B91B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4966" y="44624"/>
            <a:ext cx="6916540" cy="620032"/>
          </a:xfrm>
        </p:spPr>
        <p:txBody>
          <a:bodyPr wrap="square" anchor="b">
            <a:normAutofit/>
          </a:bodyPr>
          <a:lstStyle/>
          <a:p>
            <a:r>
              <a:rPr lang="en-GB" dirty="0"/>
              <a:t>Evaluating a policy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E4C397-8979-FBB3-4667-BEABADDE45F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450" y="6541200"/>
            <a:ext cx="432600" cy="316800"/>
          </a:xfrm>
        </p:spPr>
        <p:txBody>
          <a:bodyPr anchor="ctr">
            <a:normAutofit/>
          </a:bodyPr>
          <a:lstStyle/>
          <a:p>
            <a:fld id="{103EA872-A674-449B-A120-B97244F8E91D}" type="slidenum">
              <a:rPr lang="en-GB" smtClean="0"/>
              <a:pPr/>
              <a:t>83</a:t>
            </a:fld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9D5F3E-6EC0-6AAF-3A5A-E38DB72ADA3C}"/>
              </a:ext>
            </a:extLst>
          </p:cNvPr>
          <p:cNvSpPr txBox="1"/>
          <p:nvPr/>
        </p:nvSpPr>
        <p:spPr>
          <a:xfrm>
            <a:off x="4988346" y="1527479"/>
            <a:ext cx="316835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600" b="0" i="1" u="sng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CheckFeasibility.py </a:t>
            </a:r>
            <a:r>
              <a:rPr kumimoji="0" lang="en-US" sz="1600" b="0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(                 )</a:t>
            </a:r>
            <a:endParaRPr lang="en-US" u="sn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8E07EA-FB94-0CD0-C64A-75CF23F3FA45}"/>
              </a:ext>
            </a:extLst>
          </p:cNvPr>
          <p:cNvSpPr txBox="1"/>
          <p:nvPr/>
        </p:nvSpPr>
        <p:spPr>
          <a:xfrm>
            <a:off x="4487255" y="2220183"/>
            <a:ext cx="33123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badi ExtraLight" panose="020F0502020204030204" pitchFamily="34" charset="0"/>
              </a:rPr>
              <a:t>Decisions = dummy_policy.py(state)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97A44D-16D2-30E8-185E-DFC3B88E4C51}"/>
              </a:ext>
            </a:extLst>
          </p:cNvPr>
          <p:cNvSpPr txBox="1"/>
          <p:nvPr/>
        </p:nvSpPr>
        <p:spPr>
          <a:xfrm>
            <a:off x="6887294" y="1527479"/>
            <a:ext cx="13301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2"/>
                </a:solidFill>
              </a:rPr>
              <a:t>Decision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A201FA-6819-5AB7-C182-E21B45E68C28}"/>
              </a:ext>
            </a:extLst>
          </p:cNvPr>
          <p:cNvSpPr txBox="1"/>
          <p:nvPr/>
        </p:nvSpPr>
        <p:spPr>
          <a:xfrm>
            <a:off x="3839294" y="1527479"/>
            <a:ext cx="11490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600" b="1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Infeasible</a:t>
            </a:r>
            <a:r>
              <a:rPr kumimoji="0" lang="en-US" sz="1600" b="0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 =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6C7F6D-4B3D-9617-C2FD-F2AA7318E767}"/>
              </a:ext>
            </a:extLst>
          </p:cNvPr>
          <p:cNvSpPr txBox="1"/>
          <p:nvPr/>
        </p:nvSpPr>
        <p:spPr>
          <a:xfrm>
            <a:off x="3844663" y="1866033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badi ExtraLight" panose="020F0502020204030204" pitchFamily="34" charset="0"/>
              </a:rPr>
              <a:t>if </a:t>
            </a:r>
            <a:r>
              <a:rPr kumimoji="0" lang="en-US" sz="1600" b="1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Infeasible</a:t>
            </a:r>
            <a:r>
              <a:rPr kumimoji="0" lang="en-US" sz="1600" b="0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 = 1: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20040F-7B4C-21EA-A8E4-F5FE4A028993}"/>
              </a:ext>
            </a:extLst>
          </p:cNvPr>
          <p:cNvSpPr txBox="1"/>
          <p:nvPr/>
        </p:nvSpPr>
        <p:spPr>
          <a:xfrm>
            <a:off x="3790950" y="2990012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Abadi ExtraLight" panose="020F0502020204030204" pitchFamily="34" charset="0"/>
              </a:rPr>
              <a:t>n</a:t>
            </a:r>
            <a:r>
              <a:rPr kumimoji="0" lang="en-US" sz="1600" b="1" strike="noStrike" cap="none" normalizeH="0" baseline="0" dirty="0" err="1">
                <a:ln>
                  <a:noFill/>
                </a:ln>
                <a:effectLst/>
                <a:latin typeface="Abadi ExtraLight" panose="020F0502020204030204" pitchFamily="34" charset="0"/>
              </a:rPr>
              <a:t>ext_state</a:t>
            </a:r>
            <a:r>
              <a:rPr kumimoji="0" lang="en-US" sz="1600" b="1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 = </a:t>
            </a:r>
            <a:r>
              <a:rPr kumimoji="0" lang="en-US" sz="1600" b="1" strike="noStrike" cap="none" normalizeH="0" baseline="0" dirty="0" err="1">
                <a:ln>
                  <a:noFill/>
                </a:ln>
                <a:effectLst/>
                <a:latin typeface="Abadi ExtraLight" panose="020F0502020204030204" pitchFamily="34" charset="0"/>
              </a:rPr>
              <a:t>apply_dynamics</a:t>
            </a:r>
            <a:r>
              <a:rPr kumimoji="0" lang="en-US" sz="1600" b="1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(state, </a:t>
            </a:r>
            <a:r>
              <a:rPr lang="en-US" b="1" dirty="0">
                <a:latin typeface="Abadi ExtraLight" panose="020F0502020204030204" pitchFamily="34" charset="0"/>
              </a:rPr>
              <a:t>Decisions</a:t>
            </a:r>
            <a:r>
              <a:rPr kumimoji="0" lang="en-US" sz="1600" b="1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)</a:t>
            </a:r>
            <a:r>
              <a:rPr kumimoji="0" lang="en-US" sz="1600" b="0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 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85CCED-0D07-64C8-3C1F-BFB7BBBD275B}"/>
              </a:ext>
            </a:extLst>
          </p:cNvPr>
          <p:cNvSpPr txBox="1"/>
          <p:nvPr/>
        </p:nvSpPr>
        <p:spPr>
          <a:xfrm>
            <a:off x="3790950" y="2651458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600" b="1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cost[t] = </a:t>
            </a:r>
            <a:r>
              <a:rPr kumimoji="0" lang="en-US" sz="1600" b="1" strike="noStrike" cap="none" normalizeH="0" baseline="0" dirty="0" err="1">
                <a:ln>
                  <a:noFill/>
                </a:ln>
                <a:effectLst/>
                <a:latin typeface="Abadi ExtraLight" panose="020F0502020204030204" pitchFamily="34" charset="0"/>
              </a:rPr>
              <a:t>current_price</a:t>
            </a:r>
            <a:r>
              <a:rPr lang="en-US" b="1" dirty="0">
                <a:latin typeface="Abadi ExtraLight" panose="020F0502020204030204" pitchFamily="34" charset="0"/>
              </a:rPr>
              <a:t> * Decisions[</a:t>
            </a:r>
            <a:r>
              <a:rPr lang="en-US" b="1" dirty="0" err="1">
                <a:latin typeface="Abadi ExtraLight" panose="020F0502020204030204" pitchFamily="34" charset="0"/>
              </a:rPr>
              <a:t>power_from_grid</a:t>
            </a:r>
            <a:r>
              <a:rPr lang="en-US" b="1" dirty="0">
                <a:latin typeface="Abadi ExtraLight" panose="020F0502020204030204" pitchFamily="34" charset="0"/>
              </a:rPr>
              <a:t>]</a:t>
            </a:r>
            <a:r>
              <a:rPr kumimoji="0" lang="en-US" sz="1600" b="1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 </a:t>
            </a:r>
            <a:r>
              <a:rPr kumimoji="0" lang="en-US" sz="1600" b="0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 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9203D5-81F6-6C1D-3923-DF9132649E29}"/>
              </a:ext>
            </a:extLst>
          </p:cNvPr>
          <p:cNvSpPr txBox="1"/>
          <p:nvPr/>
        </p:nvSpPr>
        <p:spPr>
          <a:xfrm>
            <a:off x="2998862" y="718814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600" b="1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For t in range(T):</a:t>
            </a:r>
            <a:endParaRPr lang="en-US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9434734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7BE3E-7624-89E3-3E71-9DCFF4453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68D2AA7-1B8C-1E0F-228E-4B0CA897C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4966" y="44624"/>
            <a:ext cx="6916540" cy="620032"/>
          </a:xfrm>
        </p:spPr>
        <p:txBody>
          <a:bodyPr wrap="square" anchor="b">
            <a:normAutofit/>
          </a:bodyPr>
          <a:lstStyle/>
          <a:p>
            <a:r>
              <a:rPr lang="en-GB" dirty="0"/>
              <a:t>Evaluating a policy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6A54DA-52A6-DE34-A3D4-602E2E60BF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450" y="6541200"/>
            <a:ext cx="432600" cy="316800"/>
          </a:xfrm>
        </p:spPr>
        <p:txBody>
          <a:bodyPr anchor="ctr">
            <a:normAutofit/>
          </a:bodyPr>
          <a:lstStyle/>
          <a:p>
            <a:fld id="{103EA872-A674-449B-A120-B97244F8E91D}" type="slidenum">
              <a:rPr lang="en-GB" smtClean="0"/>
              <a:pPr/>
              <a:t>84</a:t>
            </a:fld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03D517-07F6-2113-BD59-E65EC371FFAF}"/>
              </a:ext>
            </a:extLst>
          </p:cNvPr>
          <p:cNvSpPr txBox="1"/>
          <p:nvPr/>
        </p:nvSpPr>
        <p:spPr>
          <a:xfrm>
            <a:off x="4988346" y="1527479"/>
            <a:ext cx="316835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600" b="0" i="1" u="sng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CheckFeasibility.py </a:t>
            </a:r>
            <a:r>
              <a:rPr kumimoji="0" lang="en-US" sz="1600" b="0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(                 )</a:t>
            </a:r>
            <a:endParaRPr lang="en-US" u="sn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A0D5DE-9F48-EBBD-9434-B02B4EBC802D}"/>
              </a:ext>
            </a:extLst>
          </p:cNvPr>
          <p:cNvSpPr txBox="1"/>
          <p:nvPr/>
        </p:nvSpPr>
        <p:spPr>
          <a:xfrm>
            <a:off x="4487255" y="2220183"/>
            <a:ext cx="33123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badi ExtraLight" panose="020F0502020204030204" pitchFamily="34" charset="0"/>
              </a:rPr>
              <a:t>Decisions = dummy_policy.py(state)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58B99B-64B3-C69C-B18B-0D4FAC5182E1}"/>
              </a:ext>
            </a:extLst>
          </p:cNvPr>
          <p:cNvSpPr txBox="1"/>
          <p:nvPr/>
        </p:nvSpPr>
        <p:spPr>
          <a:xfrm>
            <a:off x="6887294" y="1527479"/>
            <a:ext cx="13301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2"/>
                </a:solidFill>
              </a:rPr>
              <a:t>Decision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26F3C2-7E3A-0265-072D-630CFC4D4507}"/>
              </a:ext>
            </a:extLst>
          </p:cNvPr>
          <p:cNvSpPr txBox="1"/>
          <p:nvPr/>
        </p:nvSpPr>
        <p:spPr>
          <a:xfrm>
            <a:off x="3839294" y="1527479"/>
            <a:ext cx="11490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600" b="1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Infeasible</a:t>
            </a:r>
            <a:r>
              <a:rPr kumimoji="0" lang="en-US" sz="1600" b="0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 =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6D759B-C0C2-FA02-2106-1145B2AA1A93}"/>
              </a:ext>
            </a:extLst>
          </p:cNvPr>
          <p:cNvSpPr txBox="1"/>
          <p:nvPr/>
        </p:nvSpPr>
        <p:spPr>
          <a:xfrm>
            <a:off x="3844663" y="1866033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badi ExtraLight" panose="020F0502020204030204" pitchFamily="34" charset="0"/>
              </a:rPr>
              <a:t>if </a:t>
            </a:r>
            <a:r>
              <a:rPr kumimoji="0" lang="en-US" sz="1600" b="1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Infeasible</a:t>
            </a:r>
            <a:r>
              <a:rPr kumimoji="0" lang="en-US" sz="1600" b="0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 = 1: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2EC411-CB44-2A9B-5E57-D55D40329501}"/>
              </a:ext>
            </a:extLst>
          </p:cNvPr>
          <p:cNvSpPr txBox="1"/>
          <p:nvPr/>
        </p:nvSpPr>
        <p:spPr>
          <a:xfrm>
            <a:off x="3790950" y="2990012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Abadi ExtraLight" panose="020F0502020204030204" pitchFamily="34" charset="0"/>
              </a:rPr>
              <a:t>n</a:t>
            </a:r>
            <a:r>
              <a:rPr kumimoji="0" lang="en-US" sz="1600" b="1" strike="noStrike" cap="none" normalizeH="0" baseline="0" dirty="0" err="1">
                <a:ln>
                  <a:noFill/>
                </a:ln>
                <a:effectLst/>
                <a:latin typeface="Abadi ExtraLight" panose="020F0502020204030204" pitchFamily="34" charset="0"/>
              </a:rPr>
              <a:t>ext_state</a:t>
            </a:r>
            <a:r>
              <a:rPr kumimoji="0" lang="en-US" sz="1600" b="1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 = </a:t>
            </a:r>
            <a:r>
              <a:rPr kumimoji="0" lang="en-US" sz="1600" b="1" strike="noStrike" cap="none" normalizeH="0" baseline="0" dirty="0" err="1">
                <a:ln>
                  <a:noFill/>
                </a:ln>
                <a:effectLst/>
                <a:latin typeface="Abadi ExtraLight" panose="020F0502020204030204" pitchFamily="34" charset="0"/>
              </a:rPr>
              <a:t>apply_dynamics</a:t>
            </a:r>
            <a:r>
              <a:rPr kumimoji="0" lang="en-US" sz="1600" b="1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(state, </a:t>
            </a:r>
            <a:r>
              <a:rPr lang="en-US" b="1" dirty="0">
                <a:latin typeface="Abadi ExtraLight" panose="020F0502020204030204" pitchFamily="34" charset="0"/>
              </a:rPr>
              <a:t>Decisions</a:t>
            </a:r>
            <a:r>
              <a:rPr kumimoji="0" lang="en-US" sz="1600" b="1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)</a:t>
            </a:r>
            <a:r>
              <a:rPr kumimoji="0" lang="en-US" sz="1600" b="0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 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A650D9-1349-857C-A9B5-AC9586F987EF}"/>
              </a:ext>
            </a:extLst>
          </p:cNvPr>
          <p:cNvSpPr txBox="1"/>
          <p:nvPr/>
        </p:nvSpPr>
        <p:spPr>
          <a:xfrm>
            <a:off x="3790950" y="2651458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600" b="1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cost[t] = </a:t>
            </a:r>
            <a:r>
              <a:rPr kumimoji="0" lang="en-US" sz="1600" b="1" strike="noStrike" cap="none" normalizeH="0" baseline="0" dirty="0" err="1">
                <a:ln>
                  <a:noFill/>
                </a:ln>
                <a:effectLst/>
                <a:latin typeface="Abadi ExtraLight" panose="020F0502020204030204" pitchFamily="34" charset="0"/>
              </a:rPr>
              <a:t>current_price</a:t>
            </a:r>
            <a:r>
              <a:rPr lang="en-US" b="1" dirty="0">
                <a:latin typeface="Abadi ExtraLight" panose="020F0502020204030204" pitchFamily="34" charset="0"/>
              </a:rPr>
              <a:t> * Decisions[</a:t>
            </a:r>
            <a:r>
              <a:rPr lang="en-US" b="1" dirty="0" err="1">
                <a:latin typeface="Abadi ExtraLight" panose="020F0502020204030204" pitchFamily="34" charset="0"/>
              </a:rPr>
              <a:t>power_from_grid</a:t>
            </a:r>
            <a:r>
              <a:rPr lang="en-US" b="1" dirty="0">
                <a:latin typeface="Abadi ExtraLight" panose="020F0502020204030204" pitchFamily="34" charset="0"/>
              </a:rPr>
              <a:t>]</a:t>
            </a:r>
            <a:r>
              <a:rPr kumimoji="0" lang="en-US" sz="1600" b="1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 </a:t>
            </a:r>
            <a:r>
              <a:rPr kumimoji="0" lang="en-US" sz="1600" b="0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 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0E6776-7A78-5ACE-1C73-69746E236B04}"/>
              </a:ext>
            </a:extLst>
          </p:cNvPr>
          <p:cNvSpPr txBox="1"/>
          <p:nvPr/>
        </p:nvSpPr>
        <p:spPr>
          <a:xfrm>
            <a:off x="2998862" y="718814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600" b="1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For t in range(T):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B8768D-8437-1668-4B74-1217BAFC8976}"/>
              </a:ext>
            </a:extLst>
          </p:cNvPr>
          <p:cNvSpPr txBox="1"/>
          <p:nvPr/>
        </p:nvSpPr>
        <p:spPr>
          <a:xfrm>
            <a:off x="3844663" y="995954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badi ExtraLight" panose="020F0502020204030204" pitchFamily="34" charset="0"/>
              </a:rPr>
              <a:t>s</a:t>
            </a:r>
            <a:r>
              <a:rPr kumimoji="0" lang="en-US" sz="1600" b="1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tate = </a:t>
            </a:r>
            <a:r>
              <a:rPr kumimoji="0" lang="en-US" sz="1600" b="1" strike="noStrike" cap="none" normalizeH="0" baseline="0" dirty="0" err="1">
                <a:ln>
                  <a:noFill/>
                </a:ln>
                <a:effectLst/>
                <a:latin typeface="Abadi ExtraLight" panose="020F0502020204030204" pitchFamily="34" charset="0"/>
              </a:rPr>
              <a:t>next_state</a:t>
            </a:r>
            <a:r>
              <a:rPr kumimoji="0" lang="en-US" sz="1600" b="1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 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B45EF3-6884-B193-E857-422B325C7FD4}"/>
              </a:ext>
            </a:extLst>
          </p:cNvPr>
          <p:cNvSpPr txBox="1"/>
          <p:nvPr/>
        </p:nvSpPr>
        <p:spPr>
          <a:xfrm>
            <a:off x="3835105" y="1257952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Decisions</a:t>
            </a:r>
            <a:r>
              <a:rPr kumimoji="0" lang="en-US" sz="1600" b="1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 = </a:t>
            </a:r>
            <a:r>
              <a:rPr kumimoji="0" lang="en-US" sz="1600" b="1" i="1" u="sng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policy.py</a:t>
            </a:r>
            <a:r>
              <a:rPr kumimoji="0" lang="en-US" sz="1600" b="1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(state) </a:t>
            </a:r>
            <a:endParaRPr lang="en-US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94702023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52497-C584-5EE1-EB42-65B0948B1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D3962A2-4B48-E7B5-907F-4EC6F02A26E8}"/>
              </a:ext>
            </a:extLst>
          </p:cNvPr>
          <p:cNvSpPr/>
          <p:nvPr/>
        </p:nvSpPr>
        <p:spPr bwMode="auto">
          <a:xfrm>
            <a:off x="2782838" y="718814"/>
            <a:ext cx="5616624" cy="2854202"/>
          </a:xfrm>
          <a:prstGeom prst="round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758C063-ECE6-7DB0-3C88-E0BB3D611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4966" y="44624"/>
            <a:ext cx="6916540" cy="620032"/>
          </a:xfrm>
        </p:spPr>
        <p:txBody>
          <a:bodyPr wrap="square" anchor="b">
            <a:normAutofit/>
          </a:bodyPr>
          <a:lstStyle/>
          <a:p>
            <a:r>
              <a:rPr lang="en-GB" dirty="0"/>
              <a:t>Evaluating a policy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FDF657-C4C2-8C87-1BD5-7A19131580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450" y="6541200"/>
            <a:ext cx="432600" cy="316800"/>
          </a:xfrm>
        </p:spPr>
        <p:txBody>
          <a:bodyPr anchor="ctr">
            <a:normAutofit/>
          </a:bodyPr>
          <a:lstStyle/>
          <a:p>
            <a:fld id="{103EA872-A674-449B-A120-B97244F8E91D}" type="slidenum">
              <a:rPr lang="en-GB" smtClean="0"/>
              <a:pPr/>
              <a:t>85</a:t>
            </a:fld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FAFAB2-06EC-E91B-5D34-3F6208DC36F4}"/>
              </a:ext>
            </a:extLst>
          </p:cNvPr>
          <p:cNvSpPr txBox="1"/>
          <p:nvPr/>
        </p:nvSpPr>
        <p:spPr>
          <a:xfrm>
            <a:off x="4988346" y="1527479"/>
            <a:ext cx="316835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600" b="0" i="1" u="sng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CheckFeasibility.py </a:t>
            </a:r>
            <a:r>
              <a:rPr kumimoji="0" lang="en-US" sz="1600" b="0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(                 )</a:t>
            </a:r>
            <a:endParaRPr lang="en-US" u="sn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C815EE-F069-22B1-FF43-3EC965BA6DCE}"/>
              </a:ext>
            </a:extLst>
          </p:cNvPr>
          <p:cNvSpPr txBox="1"/>
          <p:nvPr/>
        </p:nvSpPr>
        <p:spPr>
          <a:xfrm>
            <a:off x="4487255" y="2220183"/>
            <a:ext cx="33123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badi ExtraLight" panose="020F0502020204030204" pitchFamily="34" charset="0"/>
              </a:rPr>
              <a:t>Decisions = dummy_policy.py(state)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B40984-B4D4-CC2B-A534-23D09FBDF449}"/>
              </a:ext>
            </a:extLst>
          </p:cNvPr>
          <p:cNvSpPr txBox="1"/>
          <p:nvPr/>
        </p:nvSpPr>
        <p:spPr>
          <a:xfrm>
            <a:off x="6887294" y="1527479"/>
            <a:ext cx="13301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2"/>
                </a:solidFill>
              </a:rPr>
              <a:t>Decision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7F573A-2487-9381-EFCB-A89C4B5A732D}"/>
              </a:ext>
            </a:extLst>
          </p:cNvPr>
          <p:cNvSpPr txBox="1"/>
          <p:nvPr/>
        </p:nvSpPr>
        <p:spPr>
          <a:xfrm>
            <a:off x="3839294" y="1527479"/>
            <a:ext cx="11490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600" b="1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Infeasible</a:t>
            </a:r>
            <a:r>
              <a:rPr kumimoji="0" lang="en-US" sz="1600" b="0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 =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EFA8FF-7B4D-4B89-0524-3829930060DD}"/>
              </a:ext>
            </a:extLst>
          </p:cNvPr>
          <p:cNvSpPr txBox="1"/>
          <p:nvPr/>
        </p:nvSpPr>
        <p:spPr>
          <a:xfrm>
            <a:off x="3844663" y="1866033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badi ExtraLight" panose="020F0502020204030204" pitchFamily="34" charset="0"/>
              </a:rPr>
              <a:t>if </a:t>
            </a:r>
            <a:r>
              <a:rPr kumimoji="0" lang="en-US" sz="1600" b="1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Infeasible</a:t>
            </a:r>
            <a:r>
              <a:rPr kumimoji="0" lang="en-US" sz="1600" b="0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 = 1: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7792BB-ECF4-31E5-739C-65B370AECB99}"/>
              </a:ext>
            </a:extLst>
          </p:cNvPr>
          <p:cNvSpPr txBox="1"/>
          <p:nvPr/>
        </p:nvSpPr>
        <p:spPr>
          <a:xfrm>
            <a:off x="3790950" y="2990012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Abadi ExtraLight" panose="020F0502020204030204" pitchFamily="34" charset="0"/>
              </a:rPr>
              <a:t>n</a:t>
            </a:r>
            <a:r>
              <a:rPr kumimoji="0" lang="en-US" sz="1600" b="1" strike="noStrike" cap="none" normalizeH="0" baseline="0" dirty="0" err="1">
                <a:ln>
                  <a:noFill/>
                </a:ln>
                <a:effectLst/>
                <a:latin typeface="Abadi ExtraLight" panose="020F0502020204030204" pitchFamily="34" charset="0"/>
              </a:rPr>
              <a:t>ext_state</a:t>
            </a:r>
            <a:r>
              <a:rPr kumimoji="0" lang="en-US" sz="1600" b="1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 = </a:t>
            </a:r>
            <a:r>
              <a:rPr kumimoji="0" lang="en-US" sz="1600" b="1" strike="noStrike" cap="none" normalizeH="0" baseline="0" dirty="0" err="1">
                <a:ln>
                  <a:noFill/>
                </a:ln>
                <a:effectLst/>
                <a:latin typeface="Abadi ExtraLight" panose="020F0502020204030204" pitchFamily="34" charset="0"/>
              </a:rPr>
              <a:t>apply_dynamics</a:t>
            </a:r>
            <a:r>
              <a:rPr kumimoji="0" lang="en-US" sz="1600" b="1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(state, </a:t>
            </a:r>
            <a:r>
              <a:rPr lang="en-US" b="1" dirty="0">
                <a:latin typeface="Abadi ExtraLight" panose="020F0502020204030204" pitchFamily="34" charset="0"/>
              </a:rPr>
              <a:t>Decisions</a:t>
            </a:r>
            <a:r>
              <a:rPr kumimoji="0" lang="en-US" sz="1600" b="1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)</a:t>
            </a:r>
            <a:r>
              <a:rPr kumimoji="0" lang="en-US" sz="1600" b="0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 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CAA461-355F-2B1F-4A4E-73EDD70B3E51}"/>
              </a:ext>
            </a:extLst>
          </p:cNvPr>
          <p:cNvSpPr txBox="1"/>
          <p:nvPr/>
        </p:nvSpPr>
        <p:spPr>
          <a:xfrm>
            <a:off x="3790950" y="2651458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600" b="1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cost[t] = </a:t>
            </a:r>
            <a:r>
              <a:rPr kumimoji="0" lang="en-US" sz="1600" b="1" strike="noStrike" cap="none" normalizeH="0" baseline="0" dirty="0" err="1">
                <a:ln>
                  <a:noFill/>
                </a:ln>
                <a:effectLst/>
                <a:latin typeface="Abadi ExtraLight" panose="020F0502020204030204" pitchFamily="34" charset="0"/>
              </a:rPr>
              <a:t>current_price</a:t>
            </a:r>
            <a:r>
              <a:rPr lang="en-US" b="1" dirty="0">
                <a:latin typeface="Abadi ExtraLight" panose="020F0502020204030204" pitchFamily="34" charset="0"/>
              </a:rPr>
              <a:t> * Decisions[</a:t>
            </a:r>
            <a:r>
              <a:rPr lang="en-US" b="1" dirty="0" err="1">
                <a:latin typeface="Abadi ExtraLight" panose="020F0502020204030204" pitchFamily="34" charset="0"/>
              </a:rPr>
              <a:t>power_from_grid</a:t>
            </a:r>
            <a:r>
              <a:rPr lang="en-US" b="1" dirty="0">
                <a:latin typeface="Abadi ExtraLight" panose="020F0502020204030204" pitchFamily="34" charset="0"/>
              </a:rPr>
              <a:t>]</a:t>
            </a:r>
            <a:r>
              <a:rPr kumimoji="0" lang="en-US" sz="1600" b="1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 </a:t>
            </a:r>
            <a:r>
              <a:rPr kumimoji="0" lang="en-US" sz="1600" b="0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 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365F55-266A-A5A5-8316-737E745F664B}"/>
              </a:ext>
            </a:extLst>
          </p:cNvPr>
          <p:cNvSpPr txBox="1"/>
          <p:nvPr/>
        </p:nvSpPr>
        <p:spPr>
          <a:xfrm>
            <a:off x="2998862" y="718814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600" b="1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For t in range(T):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F61376-B295-1D53-A7E4-0A275090388F}"/>
              </a:ext>
            </a:extLst>
          </p:cNvPr>
          <p:cNvSpPr txBox="1"/>
          <p:nvPr/>
        </p:nvSpPr>
        <p:spPr>
          <a:xfrm>
            <a:off x="3844663" y="995954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badi ExtraLight" panose="020F0502020204030204" pitchFamily="34" charset="0"/>
              </a:rPr>
              <a:t>s</a:t>
            </a:r>
            <a:r>
              <a:rPr kumimoji="0" lang="en-US" sz="1600" b="1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tate = </a:t>
            </a:r>
            <a:r>
              <a:rPr kumimoji="0" lang="en-US" sz="1600" b="1" strike="noStrike" cap="none" normalizeH="0" baseline="0" dirty="0" err="1">
                <a:ln>
                  <a:noFill/>
                </a:ln>
                <a:effectLst/>
                <a:latin typeface="Abadi ExtraLight" panose="020F0502020204030204" pitchFamily="34" charset="0"/>
              </a:rPr>
              <a:t>next_state</a:t>
            </a:r>
            <a:r>
              <a:rPr kumimoji="0" lang="en-US" sz="1600" b="1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 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58A29D-DCA2-E231-8E4E-0EDA2B792E79}"/>
              </a:ext>
            </a:extLst>
          </p:cNvPr>
          <p:cNvSpPr txBox="1"/>
          <p:nvPr/>
        </p:nvSpPr>
        <p:spPr>
          <a:xfrm>
            <a:off x="3835105" y="1257952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Decisions</a:t>
            </a:r>
            <a:r>
              <a:rPr kumimoji="0" lang="en-US" sz="1600" b="1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 = </a:t>
            </a:r>
            <a:r>
              <a:rPr kumimoji="0" lang="en-US" sz="1600" b="1" i="1" u="sng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policy.py</a:t>
            </a:r>
            <a:r>
              <a:rPr kumimoji="0" lang="en-US" sz="1600" b="1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(state) 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7EC78B-0F14-FB96-302F-0FEB3DA00470}"/>
              </a:ext>
            </a:extLst>
          </p:cNvPr>
          <p:cNvSpPr txBox="1"/>
          <p:nvPr/>
        </p:nvSpPr>
        <p:spPr>
          <a:xfrm>
            <a:off x="8891050" y="2006656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000" b="0" i="1" u="sng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+mn-lt"/>
                <a:ea typeface="ＭＳ Ｐゴシック" pitchFamily="-80" charset="-128"/>
              </a:rPr>
              <a:t>EvaluateDailyCost.py(day)</a:t>
            </a:r>
            <a:endParaRPr lang="en-US" sz="2000" dirty="0">
              <a:solidFill>
                <a:srgbClr val="00B05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4650C3-0BEB-0062-0714-21E22CF00C61}"/>
              </a:ext>
            </a:extLst>
          </p:cNvPr>
          <p:cNvSpPr txBox="1"/>
          <p:nvPr/>
        </p:nvSpPr>
        <p:spPr>
          <a:xfrm>
            <a:off x="7036157" y="2972873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spcBef>
                <a:spcPts val="432"/>
              </a:spcBef>
            </a:pPr>
            <a:endParaRPr lang="en-US" dirty="0" err="1">
              <a:latin typeface="+mn-lt"/>
            </a:endParaRPr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A5A20832-24A9-3A66-A991-C6C26530ECF4}"/>
              </a:ext>
            </a:extLst>
          </p:cNvPr>
          <p:cNvSpPr/>
          <p:nvPr/>
        </p:nvSpPr>
        <p:spPr bwMode="auto">
          <a:xfrm>
            <a:off x="8448199" y="941796"/>
            <a:ext cx="471836" cy="2505054"/>
          </a:xfrm>
          <a:prstGeom prst="rightBrace">
            <a:avLst/>
          </a:prstGeom>
          <a:noFill/>
          <a:ln w="28575" cap="flat" cmpd="sng" algn="ctr">
            <a:solidFill>
              <a:srgbClr val="00B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6736297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10D6B-C474-AA1F-09C0-7F5FE0AA4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02AE5B2-281E-5507-9311-D60CD5D92F40}"/>
              </a:ext>
            </a:extLst>
          </p:cNvPr>
          <p:cNvSpPr/>
          <p:nvPr/>
        </p:nvSpPr>
        <p:spPr bwMode="auto">
          <a:xfrm>
            <a:off x="2782838" y="718814"/>
            <a:ext cx="5616624" cy="2854202"/>
          </a:xfrm>
          <a:prstGeom prst="round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9E18DA4-AFB2-8452-4C4F-0BC118991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530" y="110402"/>
            <a:ext cx="6916540" cy="620032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Exercise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63433F-3ACB-7E2D-1CCF-953F8AFD56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450" y="6541200"/>
            <a:ext cx="432600" cy="316800"/>
          </a:xfrm>
        </p:spPr>
        <p:txBody>
          <a:bodyPr anchor="ctr">
            <a:normAutofit/>
          </a:bodyPr>
          <a:lstStyle/>
          <a:p>
            <a:fld id="{103EA872-A674-449B-A120-B97244F8E91D}" type="slidenum">
              <a:rPr lang="en-GB" smtClean="0"/>
              <a:pPr/>
              <a:t>86</a:t>
            </a:fld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CD46D2-9E1F-931F-9B9E-C1E232912BF6}"/>
              </a:ext>
            </a:extLst>
          </p:cNvPr>
          <p:cNvSpPr txBox="1"/>
          <p:nvPr/>
        </p:nvSpPr>
        <p:spPr>
          <a:xfrm>
            <a:off x="4988346" y="1527479"/>
            <a:ext cx="316835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600" b="0" i="1" u="sng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CheckFeasibility.py </a:t>
            </a:r>
            <a:r>
              <a:rPr kumimoji="0" lang="en-US" sz="1600" b="0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(                 )</a:t>
            </a:r>
            <a:endParaRPr lang="en-US" u="sn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D838D4-218B-E77B-CE6B-5B473C3F8259}"/>
              </a:ext>
            </a:extLst>
          </p:cNvPr>
          <p:cNvSpPr txBox="1"/>
          <p:nvPr/>
        </p:nvSpPr>
        <p:spPr>
          <a:xfrm>
            <a:off x="4487255" y="2220183"/>
            <a:ext cx="33123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badi ExtraLight" panose="020F0502020204030204" pitchFamily="34" charset="0"/>
              </a:rPr>
              <a:t>Decisions = dummy_policy.py(state)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149465-3006-B87E-CBF3-5EFA7DF5A674}"/>
              </a:ext>
            </a:extLst>
          </p:cNvPr>
          <p:cNvSpPr txBox="1"/>
          <p:nvPr/>
        </p:nvSpPr>
        <p:spPr>
          <a:xfrm>
            <a:off x="6887294" y="1527479"/>
            <a:ext cx="13301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2"/>
                </a:solidFill>
              </a:rPr>
              <a:t>Decision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0AA2E3-E8C6-28FE-8E37-EE5FF7E081E1}"/>
              </a:ext>
            </a:extLst>
          </p:cNvPr>
          <p:cNvSpPr txBox="1"/>
          <p:nvPr/>
        </p:nvSpPr>
        <p:spPr>
          <a:xfrm>
            <a:off x="3839294" y="1527479"/>
            <a:ext cx="11490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600" b="1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Infeasible</a:t>
            </a:r>
            <a:r>
              <a:rPr kumimoji="0" lang="en-US" sz="1600" b="0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 =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52E59A-A76A-CC23-6ABC-A9AA6593B695}"/>
              </a:ext>
            </a:extLst>
          </p:cNvPr>
          <p:cNvSpPr txBox="1"/>
          <p:nvPr/>
        </p:nvSpPr>
        <p:spPr>
          <a:xfrm>
            <a:off x="3844663" y="1866033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badi ExtraLight" panose="020F0502020204030204" pitchFamily="34" charset="0"/>
              </a:rPr>
              <a:t>if </a:t>
            </a:r>
            <a:r>
              <a:rPr kumimoji="0" lang="en-US" sz="1600" b="1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Infeasible</a:t>
            </a:r>
            <a:r>
              <a:rPr kumimoji="0" lang="en-US" sz="1600" b="0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 = 1: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74FA37-2D93-F7D6-3D0D-CB10192B3449}"/>
              </a:ext>
            </a:extLst>
          </p:cNvPr>
          <p:cNvSpPr txBox="1"/>
          <p:nvPr/>
        </p:nvSpPr>
        <p:spPr>
          <a:xfrm>
            <a:off x="3790950" y="2990012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Abadi ExtraLight" panose="020F0502020204030204" pitchFamily="34" charset="0"/>
              </a:rPr>
              <a:t>n</a:t>
            </a:r>
            <a:r>
              <a:rPr kumimoji="0" lang="en-US" sz="1600" b="1" strike="noStrike" cap="none" normalizeH="0" baseline="0" dirty="0" err="1">
                <a:ln>
                  <a:noFill/>
                </a:ln>
                <a:effectLst/>
                <a:latin typeface="Abadi ExtraLight" panose="020F0502020204030204" pitchFamily="34" charset="0"/>
              </a:rPr>
              <a:t>ext_state</a:t>
            </a:r>
            <a:r>
              <a:rPr kumimoji="0" lang="en-US" sz="1600" b="1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 = </a:t>
            </a:r>
            <a:r>
              <a:rPr kumimoji="0" lang="en-US" sz="1600" b="1" strike="noStrike" cap="none" normalizeH="0" baseline="0" dirty="0" err="1">
                <a:ln>
                  <a:noFill/>
                </a:ln>
                <a:effectLst/>
                <a:latin typeface="Abadi ExtraLight" panose="020F0502020204030204" pitchFamily="34" charset="0"/>
              </a:rPr>
              <a:t>apply_dynamics</a:t>
            </a:r>
            <a:r>
              <a:rPr kumimoji="0" lang="en-US" sz="1600" b="1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(state, </a:t>
            </a:r>
            <a:r>
              <a:rPr lang="en-US" b="1" dirty="0">
                <a:latin typeface="Abadi ExtraLight" panose="020F0502020204030204" pitchFamily="34" charset="0"/>
              </a:rPr>
              <a:t>Decisions</a:t>
            </a:r>
            <a:r>
              <a:rPr kumimoji="0" lang="en-US" sz="1600" b="1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)</a:t>
            </a:r>
            <a:r>
              <a:rPr kumimoji="0" lang="en-US" sz="1600" b="0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 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D17B10-9209-BE4F-C3F4-CD7C45A03340}"/>
              </a:ext>
            </a:extLst>
          </p:cNvPr>
          <p:cNvSpPr txBox="1"/>
          <p:nvPr/>
        </p:nvSpPr>
        <p:spPr>
          <a:xfrm>
            <a:off x="3790950" y="2651458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600" b="1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cost[t] = </a:t>
            </a:r>
            <a:r>
              <a:rPr kumimoji="0" lang="en-US" sz="1600" b="1" strike="noStrike" cap="none" normalizeH="0" baseline="0" dirty="0" err="1">
                <a:ln>
                  <a:noFill/>
                </a:ln>
                <a:effectLst/>
                <a:latin typeface="Abadi ExtraLight" panose="020F0502020204030204" pitchFamily="34" charset="0"/>
              </a:rPr>
              <a:t>current_price</a:t>
            </a:r>
            <a:r>
              <a:rPr lang="en-US" b="1" dirty="0">
                <a:latin typeface="Abadi ExtraLight" panose="020F0502020204030204" pitchFamily="34" charset="0"/>
              </a:rPr>
              <a:t> * Decisions[</a:t>
            </a:r>
            <a:r>
              <a:rPr lang="en-US" b="1" dirty="0" err="1">
                <a:latin typeface="Abadi ExtraLight" panose="020F0502020204030204" pitchFamily="34" charset="0"/>
              </a:rPr>
              <a:t>power_from_grid</a:t>
            </a:r>
            <a:r>
              <a:rPr lang="en-US" b="1" dirty="0">
                <a:latin typeface="Abadi ExtraLight" panose="020F0502020204030204" pitchFamily="34" charset="0"/>
              </a:rPr>
              <a:t>]</a:t>
            </a:r>
            <a:r>
              <a:rPr kumimoji="0" lang="en-US" sz="1600" b="1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 </a:t>
            </a:r>
            <a:r>
              <a:rPr kumimoji="0" lang="en-US" sz="1600" b="0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 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8A58D5-92FB-FE22-B0EA-EC8C8D3FF803}"/>
              </a:ext>
            </a:extLst>
          </p:cNvPr>
          <p:cNvSpPr txBox="1"/>
          <p:nvPr/>
        </p:nvSpPr>
        <p:spPr>
          <a:xfrm>
            <a:off x="2998862" y="718814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600" b="1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For t in range(T):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E9BFD2-93EB-6718-C539-C1AC4AAD5F54}"/>
              </a:ext>
            </a:extLst>
          </p:cNvPr>
          <p:cNvSpPr txBox="1"/>
          <p:nvPr/>
        </p:nvSpPr>
        <p:spPr>
          <a:xfrm>
            <a:off x="3844663" y="995954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badi ExtraLight" panose="020F0502020204030204" pitchFamily="34" charset="0"/>
              </a:rPr>
              <a:t>s</a:t>
            </a:r>
            <a:r>
              <a:rPr kumimoji="0" lang="en-US" sz="1600" b="1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tate = </a:t>
            </a:r>
            <a:r>
              <a:rPr kumimoji="0" lang="en-US" sz="1600" b="1" strike="noStrike" cap="none" normalizeH="0" baseline="0" dirty="0" err="1">
                <a:ln>
                  <a:noFill/>
                </a:ln>
                <a:effectLst/>
                <a:latin typeface="Abadi ExtraLight" panose="020F0502020204030204" pitchFamily="34" charset="0"/>
              </a:rPr>
              <a:t>next_state</a:t>
            </a:r>
            <a:r>
              <a:rPr kumimoji="0" lang="en-US" sz="1600" b="1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 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4163A0-7230-C108-0EDC-2CA3DB9F90DA}"/>
              </a:ext>
            </a:extLst>
          </p:cNvPr>
          <p:cNvSpPr txBox="1"/>
          <p:nvPr/>
        </p:nvSpPr>
        <p:spPr>
          <a:xfrm>
            <a:off x="3835105" y="1257952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Decisions</a:t>
            </a:r>
            <a:r>
              <a:rPr kumimoji="0" lang="en-US" sz="1600" b="1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 = </a:t>
            </a:r>
            <a:r>
              <a:rPr kumimoji="0" lang="en-US" sz="1600" b="1" i="1" u="sng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policy.py</a:t>
            </a:r>
            <a:r>
              <a:rPr kumimoji="0" lang="en-US" sz="1600" b="1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(state) 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17360D-1AEB-71DD-D63F-1367BE4A227B}"/>
              </a:ext>
            </a:extLst>
          </p:cNvPr>
          <p:cNvSpPr txBox="1"/>
          <p:nvPr/>
        </p:nvSpPr>
        <p:spPr>
          <a:xfrm>
            <a:off x="8891050" y="2006656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000" b="0" i="1" u="sng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+mn-lt"/>
                <a:ea typeface="ＭＳ Ｐゴシック" pitchFamily="-80" charset="-128"/>
              </a:rPr>
              <a:t>EvaluateDailyCost.py(day)</a:t>
            </a:r>
            <a:endParaRPr lang="en-US" sz="2000" dirty="0">
              <a:solidFill>
                <a:srgbClr val="00B05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BA51C2-F6AB-55E7-D46F-12F6E469B9B3}"/>
              </a:ext>
            </a:extLst>
          </p:cNvPr>
          <p:cNvSpPr txBox="1"/>
          <p:nvPr/>
        </p:nvSpPr>
        <p:spPr>
          <a:xfrm>
            <a:off x="7036157" y="2972873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spcBef>
                <a:spcPts val="432"/>
              </a:spcBef>
            </a:pPr>
            <a:endParaRPr lang="en-US" dirty="0" err="1">
              <a:latin typeface="+mn-lt"/>
            </a:endParaRPr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F845723C-8E96-9934-9106-92FAA10C6710}"/>
              </a:ext>
            </a:extLst>
          </p:cNvPr>
          <p:cNvSpPr/>
          <p:nvPr/>
        </p:nvSpPr>
        <p:spPr bwMode="auto">
          <a:xfrm>
            <a:off x="8448199" y="941796"/>
            <a:ext cx="471836" cy="2505054"/>
          </a:xfrm>
          <a:prstGeom prst="rightBrace">
            <a:avLst/>
          </a:prstGeom>
          <a:noFill/>
          <a:ln w="28575" cap="flat" cmpd="sng" algn="ctr">
            <a:solidFill>
              <a:srgbClr val="00B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B44F31-05EB-272C-CB59-09C7B7F159CF}"/>
              </a:ext>
            </a:extLst>
          </p:cNvPr>
          <p:cNvSpPr txBox="1"/>
          <p:nvPr/>
        </p:nvSpPr>
        <p:spPr>
          <a:xfrm>
            <a:off x="8680591" y="1626860"/>
            <a:ext cx="74933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400" b="1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For day in range(Days): </a:t>
            </a:r>
            <a:endParaRPr lang="en-US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364DD8-B3AF-175C-9A4D-96B5A64EBA65}"/>
              </a:ext>
            </a:extLst>
          </p:cNvPr>
          <p:cNvSpPr txBox="1"/>
          <p:nvPr/>
        </p:nvSpPr>
        <p:spPr>
          <a:xfrm>
            <a:off x="2552813" y="4504236"/>
            <a:ext cx="64807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400" b="1" strike="noStrike" cap="none" normalizeH="0" baseline="0" dirty="0">
                <a:ln>
                  <a:noFill/>
                </a:ln>
                <a:effectLst/>
                <a:latin typeface="Abadi ExtraLight" panose="020F0502020204030204" pitchFamily="34" charset="0"/>
              </a:rPr>
              <a:t>Implement the Python function that evaluates the average cost of a policy for the Energy Hub problem</a:t>
            </a:r>
            <a:endParaRPr lang="en-US" sz="2400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93759398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09F75-2998-1028-9C0A-57A224F7C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AE020FC-2EE1-91E5-B17D-8B632BFBB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2406" y="76200"/>
            <a:ext cx="7772400" cy="685800"/>
          </a:xfrm>
        </p:spPr>
        <p:txBody>
          <a:bodyPr/>
          <a:lstStyle/>
          <a:p>
            <a:r>
              <a:rPr lang="en-GB" dirty="0"/>
              <a:t>Questions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789AF2-841C-86B6-D234-E7C86A3BBC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87</a:t>
            </a:fld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4EA2CF-F661-3AD3-175A-CEA6D60C20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7134" y="1484784"/>
            <a:ext cx="3882509" cy="394479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000CFB9-4E11-57B2-103A-A7594E94B20A}"/>
              </a:ext>
            </a:extLst>
          </p:cNvPr>
          <p:cNvSpPr txBox="1"/>
          <p:nvPr/>
        </p:nvSpPr>
        <p:spPr>
          <a:xfrm>
            <a:off x="1298557" y="249289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 err="1">
                <a:latin typeface="+mn-lt"/>
              </a:rPr>
              <a:t>v</a:t>
            </a:r>
            <a:r>
              <a:rPr kumimoji="0" lang="en-US" sz="3600" b="0" strike="noStrike" cap="none" normalizeH="0" baseline="0" dirty="0" err="1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evox.app</a:t>
            </a:r>
            <a:endParaRPr kumimoji="0" lang="en-US" sz="3600" b="0" strike="noStrike" cap="none" normalizeH="0" baseline="0" dirty="0">
              <a:ln>
                <a:noFill/>
              </a:ln>
              <a:effectLst/>
              <a:latin typeface="+mn-lt"/>
              <a:ea typeface="ＭＳ Ｐゴシック" pitchFamily="-80" charset="-128"/>
            </a:endParaRPr>
          </a:p>
          <a:p>
            <a:r>
              <a:rPr kumimoji="0" lang="en-US" sz="3600" b="0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161-834-334</a:t>
            </a:r>
            <a:endParaRPr lang="en-US" sz="3600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62111683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62D76-BDDB-CC2C-C37C-5065AA5C1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AD6F9CE-08A7-F556-525C-92EA4EFC6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2406" y="76200"/>
            <a:ext cx="7772400" cy="685800"/>
          </a:xfrm>
        </p:spPr>
        <p:txBody>
          <a:bodyPr/>
          <a:lstStyle/>
          <a:p>
            <a:r>
              <a:rPr lang="en-GB" dirty="0"/>
              <a:t>Quiz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596708-E96F-8A8B-28F3-A5EC4D9A4EA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88</a:t>
            </a:fld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573F82-3E00-55D0-675D-D07BB42574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673" y="1052736"/>
            <a:ext cx="4323133" cy="43924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E0C8E4E-3958-B4B3-103C-8628C4097BE3}"/>
              </a:ext>
            </a:extLst>
          </p:cNvPr>
          <p:cNvSpPr txBox="1"/>
          <p:nvPr/>
        </p:nvSpPr>
        <p:spPr>
          <a:xfrm>
            <a:off x="1918742" y="2204864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 err="1">
                <a:latin typeface="+mn-lt"/>
              </a:rPr>
              <a:t>v</a:t>
            </a:r>
            <a:r>
              <a:rPr kumimoji="0" lang="en-US" sz="3600" b="0" strike="noStrike" cap="none" normalizeH="0" baseline="0" dirty="0" err="1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evox.app</a:t>
            </a:r>
            <a:endParaRPr kumimoji="0" lang="en-US" sz="3600" b="0" strike="noStrike" cap="none" normalizeH="0" baseline="0" dirty="0">
              <a:ln>
                <a:noFill/>
              </a:ln>
              <a:effectLst/>
              <a:latin typeface="+mn-lt"/>
              <a:ea typeface="ＭＳ Ｐゴシック" pitchFamily="-80" charset="-128"/>
            </a:endParaRPr>
          </a:p>
          <a:p>
            <a:r>
              <a:rPr kumimoji="0" lang="en-US" sz="3600" b="0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123-410-417</a:t>
            </a:r>
            <a:endParaRPr lang="en-US" sz="3600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23768523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DNEW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heme/theme1.xml><?xml version="1.0" encoding="utf-8"?>
<a:theme xmlns:a="http://schemas.openxmlformats.org/drawingml/2006/main" name="Blank">
  <a:themeElements>
    <a:clrScheme name="DTU">
      <a:dk1>
        <a:srgbClr val="000000"/>
      </a:dk1>
      <a:lt1>
        <a:srgbClr val="FFFFFF"/>
      </a:lt1>
      <a:dk2>
        <a:srgbClr val="990000"/>
      </a:dk2>
      <a:lt2>
        <a:srgbClr val="79238E"/>
      </a:lt2>
      <a:accent1>
        <a:srgbClr val="990000"/>
      </a:accent1>
      <a:accent2>
        <a:srgbClr val="2F3EEA"/>
      </a:accent2>
      <a:accent3>
        <a:srgbClr val="1FD082"/>
      </a:accent3>
      <a:accent4>
        <a:srgbClr val="171748"/>
      </a:accent4>
      <a:accent5>
        <a:srgbClr val="F6D04D"/>
      </a:accent5>
      <a:accent6>
        <a:srgbClr val="FC7634"/>
      </a:accent6>
      <a:hlink>
        <a:srgbClr val="2F3EEA"/>
      </a:hlink>
      <a:folHlink>
        <a:srgbClr val="990000"/>
      </a:folHlink>
    </a:clrScheme>
    <a:fontScheme name="DT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accent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ts val="432"/>
          </a:spcBef>
          <a:spcAft>
            <a:spcPct val="0"/>
          </a:spcAft>
          <a:buClrTx/>
          <a:buSzTx/>
          <a:buFontTx/>
          <a:buNone/>
          <a:tabLst/>
          <a:defRPr kumimoji="0" sz="1600" b="0" i="0" u="none" strike="noStrike" cap="none" normalizeH="0" baseline="0" dirty="0" err="1" smtClean="0">
            <a:ln>
              <a:noFill/>
            </a:ln>
            <a:solidFill>
              <a:srgbClr val="FFFFFF"/>
            </a:solidFill>
            <a:effectLst/>
            <a:latin typeface="+mn-lt"/>
            <a:ea typeface="ＭＳ Ｐゴシック" pitchFamily="-80" charset="-128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 algn="l">
          <a:spcBef>
            <a:spcPts val="432"/>
          </a:spcBef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 DTU Template.potx" id="{DCBB0D47-5BC6-435C-9126-D3D343B0B928}" vid="{2DC669D5-2566-4482-AB47-A5699F5A4350}"/>
    </a:ext>
  </a:extLst>
</a:theme>
</file>

<file path=ppt/theme/theme2.xml><?xml version="1.0" encoding="utf-8"?>
<a:theme xmlns:a="http://schemas.openxmlformats.org/drawingml/2006/main" name="Theme4">
  <a:themeElements>
    <a:clrScheme name="Theme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4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4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Blank">
  <a:themeElements>
    <a:clrScheme name="DTU">
      <a:dk1>
        <a:srgbClr val="000000"/>
      </a:dk1>
      <a:lt1>
        <a:srgbClr val="FFFFFF"/>
      </a:lt1>
      <a:dk2>
        <a:srgbClr val="990000"/>
      </a:dk2>
      <a:lt2>
        <a:srgbClr val="79238E"/>
      </a:lt2>
      <a:accent1>
        <a:srgbClr val="990000"/>
      </a:accent1>
      <a:accent2>
        <a:srgbClr val="2F3EEA"/>
      </a:accent2>
      <a:accent3>
        <a:srgbClr val="1FD082"/>
      </a:accent3>
      <a:accent4>
        <a:srgbClr val="171748"/>
      </a:accent4>
      <a:accent5>
        <a:srgbClr val="F6D04D"/>
      </a:accent5>
      <a:accent6>
        <a:srgbClr val="FC7634"/>
      </a:accent6>
      <a:hlink>
        <a:srgbClr val="2F3EEA"/>
      </a:hlink>
      <a:folHlink>
        <a:srgbClr val="990000"/>
      </a:folHlink>
    </a:clrScheme>
    <a:fontScheme name="DT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accent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ts val="432"/>
          </a:spcBef>
          <a:spcAft>
            <a:spcPct val="0"/>
          </a:spcAft>
          <a:buClrTx/>
          <a:buSzTx/>
          <a:buFontTx/>
          <a:buNone/>
          <a:tabLst/>
          <a:defRPr kumimoji="0" sz="1600" b="0" i="0" u="none" strike="noStrike" cap="none" normalizeH="0" baseline="0" dirty="0" err="1" smtClean="0">
            <a:ln>
              <a:noFill/>
            </a:ln>
            <a:solidFill>
              <a:srgbClr val="FFFFFF"/>
            </a:solidFill>
            <a:effectLst/>
            <a:latin typeface="+mn-lt"/>
            <a:ea typeface="ＭＳ Ｐゴシック" pitchFamily="-80" charset="-128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 algn="l">
          <a:spcBef>
            <a:spcPts val="432"/>
          </a:spcBef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 DTU Template.potx" id="{DCBB0D47-5BC6-435C-9126-D3D343B0B928}" vid="{2DC669D5-2566-4482-AB47-A5699F5A4350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990000"/>
      </a:dk2>
      <a:lt2>
        <a:srgbClr val="79238E"/>
      </a:lt2>
      <a:accent1>
        <a:srgbClr val="990000"/>
      </a:accent1>
      <a:accent2>
        <a:srgbClr val="2F3EEA"/>
      </a:accent2>
      <a:accent3>
        <a:srgbClr val="1FD082"/>
      </a:accent3>
      <a:accent4>
        <a:srgbClr val="171748"/>
      </a:accent4>
      <a:accent5>
        <a:srgbClr val="F6D04D"/>
      </a:accent5>
      <a:accent6>
        <a:srgbClr val="FC7634"/>
      </a:accent6>
      <a:hlink>
        <a:srgbClr val="2F3EEA"/>
      </a:hlink>
      <a:folHlink>
        <a:srgbClr val="9900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04FC178-0A66-4B45-BA82-AB52263E0170}">
  <we:reference id="wa200004709" version="1.1.0.2" store="en-US" storeType="OMEX"/>
  <we:alternateReferences>
    <we:reference id="WA200004709" version="1.1.0.2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2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9.xml"/></Relationships>
</file>

<file path=customXml/_rels/item3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3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3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.xml"/></Relationships>
</file>

<file path=customXml/_rels/item3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3.xml"/></Relationships>
</file>

<file path=customXml/_rels/item3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4.xml"/></Relationships>
</file>

<file path=customXml/_rels/item3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5.xml"/></Relationships>
</file>

<file path=customXml/_rels/item3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6.xml"/></Relationships>
</file>

<file path=customXml/_rels/item3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7.xml"/></Relationships>
</file>

<file path=customXml/_rels/item3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8.xml"/></Relationships>
</file>

<file path=customXml/_rels/item3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9.xml"/></Relationships>
</file>

<file path=customXml/_rels/item4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0.xml"/></Relationships>
</file>

<file path=customXml/_rels/item4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1.xml"/></Relationships>
</file>

<file path=customXml/_rels/item4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2.xml"/></Relationships>
</file>

<file path=customXml/_rels/item4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3.xml"/></Relationships>
</file>

<file path=customXml/_rels/item4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4.xml"/></Relationships>
</file>

<file path=customXml/_rels/item4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5.xml"/></Relationships>
</file>

<file path=customXml/_rels/item4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6.xml"/></Relationships>
</file>

<file path=customXml/_rels/item4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7.xml"/></Relationships>
</file>

<file path=customXml/_rels/item4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8.xml"/></Relationships>
</file>

<file path=customXml/_rels/item4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9.xml"/></Relationships>
</file>

<file path=customXml/_rels/item5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0.xml"/></Relationships>
</file>

<file path=customXml/_rels/item5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1.xml"/></Relationships>
</file>

<file path=customXml/_rels/item5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2.xml"/></Relationships>
</file>

<file path=customXml/_rels/item5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3.xml"/></Relationships>
</file>

<file path=customXml/_rels/item5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4.xml"/></Relationships>
</file>

<file path=customXml/_rels/item5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5.xml"/></Relationships>
</file>

<file path=customXml/_rels/item5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6.xml"/></Relationships>
</file>

<file path=customXml/_rels/item5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7.xml"/></Relationships>
</file>

<file path=customXml/_rels/item5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8.xml"/></Relationships>
</file>

<file path=customXml/_rels/item5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9.xml"/></Relationships>
</file>

<file path=customXml/_rels/item6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0.xml"/></Relationships>
</file>

<file path=customXml/_rels/item6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1.xml"/></Relationships>
</file>

<file path=customXml/_rels/item6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2.xml"/></Relationships>
</file>

<file path=customXml/_rels/item6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3.xml"/></Relationships>
</file>

<file path=customXml/_rels/item6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4.xml"/></Relationships>
</file>

<file path=customXml/_rels/item6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5.xml"/></Relationships>
</file>

<file path=customXml/_rels/item6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6.xml"/></Relationships>
</file>

<file path=customXml/_rels/item6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7.xml"/></Relationships>
</file>

<file path=customXml/_rels/item6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8.xml"/></Relationships>
</file>

<file path=customXml/_rels/item6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9.xml"/></Relationships>
</file>

<file path=customXml/_rels/item7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0.xml"/></Relationships>
</file>

<file path=customXml/_rels/item7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1.xml"/></Relationships>
</file>

<file path=customXml/_rels/item7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2.xml"/></Relationships>
</file>

<file path=customXml/_rels/item7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3.xml"/></Relationships>
</file>

<file path=customXml/_rels/item7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4.xml"/></Relationships>
</file>

<file path=customXml/_rels/item7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5.xml"/></Relationships>
</file>

<file path=customXml/_rels/item7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6.xml"/></Relationships>
</file>

<file path=customXml/_rels/item7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7.xml"/></Relationships>
</file>

<file path=customXml/_rels/item7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8.xml"/></Relationships>
</file>

<file path=customXml/_rels/item7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9.xml"/></Relationships>
</file>

<file path=customXml/_rels/item8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0.xml"/></Relationships>
</file>

<file path=customXml/_rels/item8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1.xml"/></Relationships>
</file>

<file path=customXml/_rels/item8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2.xml"/></Relationships>
</file>

<file path=customXml/_rels/item8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3.xml"/></Relationships>
</file>

<file path=customXml/_rels/item8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4.xml"/></Relationships>
</file>

<file path=customXml/_rels/item8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5.xml"/></Relationships>
</file>

<file path=customXml/_rels/item8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6.xml"/></Relationships>
</file>

<file path=customXml/_rels/item8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7.xml"/></Relationships>
</file>

<file path=customXml/_rels/item8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8.xml"/></Relationships>
</file>

<file path=customXml/_rels/item8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9.xml"/></Relationships>
</file>

<file path=customXml/_rels/item9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0.xml"/></Relationships>
</file>

<file path=customXml/_rels/item9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1.xml"/></Relationships>
</file>

<file path=customXml/_rels/item9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2.xml"/></Relationships>
</file>

<file path=customXml/_rels/item9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3.xml"/></Relationships>
</file>

<file path=customXml/_rels/item9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4.xml"/></Relationships>
</file>

<file path=customXml/_rels/item9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5.xml"/></Relationships>
</file>

<file path=customXml/_rels/item9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6.xml"/></Relationships>
</file>

<file path=customXml/_rels/item9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7.xml"/></Relationships>
</file>

<file path=customXml/_rels/item9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8.xml"/></Relationships>
</file>

<file path=customXml/_rels/item9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9.xml"/></Relationships>
</file>

<file path=customXml/_rels/item10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0.xml"/></Relationships>
</file>

<file path=customXml/item1.xml><?xml version="1.0" encoding="utf-8"?>
<TemplafySlideTemplateConfiguration><![CDATA[{"documentContentValidatorConfiguration":{"enableDocumentContentValidator":false,"documentContentValidatorVersion":0},"elementsMetadata":[],"slideId":"636957680393408391","enableDocumentContentUpdater":true,"version":"1.2"}]]></TemplafySlideTemplateConfiguration>
</file>

<file path=customXml/item2.xml><?xml version="1.0" encoding="utf-8"?>
<TemplafySlideTemplateConfiguration><![CDATA[{"documentContentValidatorConfiguration":{"enableDocumentContentValidator":false,"documentContentValidatorVersion":0},"elementsMetadata":[],"slideId":"636957680393408391","enableDocumentContentUpdater":true,"version":"1.2"}]]></TemplafySlideTemplateConfiguration>
</file>

<file path=customXml/item3.xml><?xml version="1.0" encoding="utf-8"?>
<TemplafySlideFormConfiguration><![CDATA[{"formFields":[],"formDataEntries":[]}]]></TemplafySlideFormConfiguration>
</file>

<file path=customXml/item4.xml><?xml version="1.0" encoding="utf-8"?>
<TemplafySlideTemplateConfiguration><![CDATA[{"documentContentValidatorConfiguration":{"enableDocumentContentValidator":false,"documentContentValidatorVersion":0},"elementsMetadata":[],"slideId":"636957680393408391","enableDocumentContentUpdater":true,"version":"1.2"}]]></TemplafySlideTemplateConfiguration>
</file>

<file path=customXml/item5.xml><?xml version="1.0" encoding="utf-8"?>
<TemplafySlideFormConfiguration><![CDATA[{"formFields":[],"formDataEntries":[]}]]></TemplafySlideFormConfiguration>
</file>

<file path=customXml/item6.xml><?xml version="1.0" encoding="utf-8"?>
<TemplafySlideFormConfiguration><![CDATA[{"formFields":[],"formDataEntries":[]}]]></TemplafySlideFormConfiguration>
</file>

<file path=customXml/item7.xml><?xml version="1.0" encoding="utf-8"?>
<TemplafySlideFormConfiguration><![CDATA[{"formFields":[],"formDataEntries":[]}]]></TemplafySlideFormConfiguration>
</file>

<file path=customXml/item8.xml><?xml version="1.0" encoding="utf-8"?>
<TemplafySlideFormConfiguration><![CDATA[{"formFields":[],"formDataEntries":[]}]]></TemplafySlideFormConfiguration>
</file>

<file path=customXml/item9.xml><?xml version="1.0" encoding="utf-8"?>
<TemplafySlideTemplateConfiguration><![CDATA[{"documentContentValidatorConfiguration":{"enableDocumentContentValidator":false,"documentContentValidatorVersion":0},"elementsMetadata":[],"slideId":"636957680393408391","enableDocumentContentUpdater":true,"version":"1.2"}]]></TemplafySlideTemplateConfiguration>
</file>

<file path=customXml/item10.xml><?xml version="1.0" encoding="utf-8"?>
<TemplafySlideFormConfiguration><![CDATA[{"formFields":[],"formDataEntries":[]}]]></TemplafySlideFormConfiguration>
</file>

<file path=customXml/item11.xml><?xml version="1.0" encoding="utf-8"?>
<TemplafySlideTemplateConfiguration><![CDATA[{"documentContentValidatorConfiguration":{"enableDocumentContentValidator":false,"documentContentValidatorVersion":0},"elementsMetadata":[],"slideId":"636957680393408390","enableDocumentContentUpdater":true,"version":"1.2"}]]></TemplafySlideTemplateConfiguration>
</file>

<file path=customXml/item12.xml><?xml version="1.0" encoding="utf-8"?>
<TemplafySlideTemplateConfiguration><![CDATA[{"documentContentValidatorConfiguration":{"enableDocumentContentValidator":false,"documentContentValidatorVersion":0},"elementsMetadata":[],"slideId":"636957680393408391","enableDocumentContentUpdater":true,"version":"1.2"}]]></TemplafySlideTemplateConfiguration>
</file>

<file path=customXml/item13.xml><?xml version="1.0" encoding="utf-8"?>
<TemplafySlideTemplateConfiguration><![CDATA[{"documentContentValidatorConfiguration":{"enableDocumentContentValidator":false,"documentContentValidatorVersion":0},"elementsMetadata":[],"slideId":"636957680393408391","enableDocumentContentUpdater":true,"version":"1.2"}]]></TemplafySlideTemplateConfiguration>
</file>

<file path=customXml/item14.xml><?xml version="1.0" encoding="utf-8"?>
<TemplafySlideFormConfiguration><![CDATA[{"formFields":[],"formDataEntries":[]}]]></TemplafySlideFormConfiguration>
</file>

<file path=customXml/item15.xml><?xml version="1.0" encoding="utf-8"?>
<TemplafySlideFormConfiguration><![CDATA[{"formFields":[],"formDataEntries":[]}]]></TemplafySlideFormConfiguration>
</file>

<file path=customXml/item16.xml><?xml version="1.0" encoding="utf-8"?>
<TemplafyFormConfiguration><![CDATA[{"formFields":[{"required":false,"helpTexts":{"prefix":"","postfix":""},"spacing":{},"type":"datePicker","name":"Date","label":"Date","fullyQualifiedName":"Date"},{"required":false,"placeholder":"","lines":0,"helpTexts":{"prefix":"","postfix":""},"spacing":{},"type":"textBox","name":"PresentationTitle","label":"Presentation title","fullyQualifiedName":"PresentationTitle"}],"formDataEntries":[{"name":"Date","value":"dwXmf/szKNcK2paJNKBigA=="}]}]]></TemplafyFormConfiguration>
</file>

<file path=customXml/item17.xml><?xml version="1.0" encoding="utf-8"?>
<TemplafySlideTemplateConfiguration><![CDATA[{"documentContentValidatorConfiguration":{"enableDocumentContentValidator":false,"documentContentValidatorVersion":0},"elementsMetadata":[],"slideId":"636957680393408391","enableDocumentContentUpdater":true,"version":"1.2"}]]></TemplafySlideTemplateConfiguration>
</file>

<file path=customXml/item18.xml><?xml version="1.0" encoding="utf-8"?>
<TemplafySlideTemplateConfiguration><![CDATA[{"documentContentValidatorConfiguration":{"enableDocumentContentValidator":false,"documentContentValidatorVersion":0},"elementsMetadata":[],"slideId":"636957680393408391","enableDocumentContentUpdater":true,"version":"1.2"}]]></TemplafySlideTemplateConfiguration>
</file>

<file path=customXml/item19.xml><?xml version="1.0" encoding="utf-8"?>
<TemplafySlideFormConfiguration><![CDATA[{"formFields":[],"formDataEntries":[]}]]></TemplafySlideFormConfiguration>
</file>

<file path=customXml/item20.xml><?xml version="1.0" encoding="utf-8"?>
<TemplafySlideFormConfiguration><![CDATA[{"formFields":[],"formDataEntries":[]}]]></TemplafySlideFormConfiguration>
</file>

<file path=customXml/item21.xml><?xml version="1.0" encoding="utf-8"?>
<TemplafySlideFormConfiguration><![CDATA[{"formFields":[],"formDataEntries":[]}]]></TemplafySlideFormConfiguration>
</file>

<file path=customXml/item22.xml><?xml version="1.0" encoding="utf-8"?>
<TemplafySlideTemplateConfiguration><![CDATA[{"documentContentValidatorConfiguration":{"enableDocumentContentValidator":false,"documentContentValidatorVersion":0},"elementsMetadata":[],"slideId":"636957680393408391","enableDocumentContentUpdater":true,"version":"1.2"}]]></TemplafySlideTemplateConfiguration>
</file>

<file path=customXml/item23.xml><?xml version="1.0" encoding="utf-8"?>
<TemplafySlideTemplateConfiguration><![CDATA[{"documentContentValidatorConfiguration":{"enableDocumentContentValidator":false,"documentContentValidatorVersion":0},"elementsMetadata":[],"slideId":"636957680393408391","enableDocumentContentUpdater":true,"version":"1.2"}]]></TemplafySlideTemplateConfiguration>
</file>

<file path=customXml/item24.xml><?xml version="1.0" encoding="utf-8"?>
<TemplafySlideTemplateConfiguration><![CDATA[{"documentContentValidatorConfiguration":{"enableDocumentContentValidator":false,"documentContentValidatorVersion":0},"elementsMetadata":[],"slideId":"636957680393408391","enableDocumentContentUpdater":true,"version":"1.2"}]]></TemplafySlideTemplateConfiguration>
</file>

<file path=customXml/item25.xml><?xml version="1.0" encoding="utf-8"?>
<TemplafySlideFormConfiguration><![CDATA[{"formFields":[],"formDataEntries":[]}]]></TemplafySlideFormConfiguration>
</file>

<file path=customXml/item26.xml><?xml version="1.0" encoding="utf-8"?>
<TemplafySlideTemplateConfiguration><![CDATA[{"documentContentValidatorConfiguration":{"enableDocumentContentValidator":false,"documentContentValidatorVersion":0},"elementsMetadata":[],"slideId":"636957680393408391","enableDocumentContentUpdater":true,"version":"1.2"}]]></TemplafySlideTemplateConfiguration>
</file>

<file path=customXml/item27.xml><?xml version="1.0" encoding="utf-8"?>
<TemplafySlideFormConfiguration><![CDATA[{"formFields":[],"formDataEntries":[]}]]></TemplafySlideFormConfiguration>
</file>

<file path=customXml/item28.xml><?xml version="1.0" encoding="utf-8"?>
<TemplafySlideTemplateConfiguration><![CDATA[{"documentContentValidatorConfiguration":{"enableDocumentContentValidator":false,"documentContentValidatorVersion":0},"elementsMetadata":[],"slideId":"636957680393408391","enableDocumentContentUpdater":true,"version":"1.2"}]]></TemplafySlideTemplateConfiguration>
</file>

<file path=customXml/item29.xml><?xml version="1.0" encoding="utf-8"?>
<TemplafySlideFormConfiguration><![CDATA[{"formFields":[],"formDataEntries":[]}]]></TemplafySlideFormConfiguration>
</file>

<file path=customXml/item30.xml><?xml version="1.0" encoding="utf-8"?>
<TemplafySlideTemplateConfiguration><![CDATA[{"documentContentValidatorConfiguration":{"enableDocumentContentValidator":false,"documentContentValidatorVersion":0},"elementsMetadata":[],"slideId":"636957680393408391","enableDocumentContentUpdater":true,"version":"1.2"}]]></TemplafySlideTemplateConfiguration>
</file>

<file path=customXml/item31.xml><?xml version="1.0" encoding="utf-8"?>
<TemplafySlideTemplateConfiguration><![CDATA[{"documentContentValidatorConfiguration":{"enableDocumentContentValidator":false,"documentContentValidatorVersion":0},"elementsMetadata":[],"slideId":"636957680393408391","enableDocumentContentUpdater":true,"version":"1.2"}]]></TemplafySlideTemplateConfiguration>
</file>

<file path=customXml/item32.xml><?xml version="1.0" encoding="utf-8"?>
<TemplafySlideTemplateConfiguration><![CDATA[{"documentContentValidatorConfiguration":{"enableDocumentContentValidator":false,"documentContentValidatorVersion":0},"elementsMetadata":[],"slideId":"636957680393408391","enableDocumentContentUpdater":true,"version":"1.2"}]]></TemplafySlideTemplateConfiguration>
</file>

<file path=customXml/item33.xml><?xml version="1.0" encoding="utf-8"?>
<TemplafySlideTemplateConfiguration><![CDATA[{"documentContentValidatorConfiguration":{"enableDocumentContentValidator":false,"documentContentValidatorVersion":0},"elementsMetadata":[],"slideId":"636957680393408391","enableDocumentContentUpdater":true,"version":"1.2"}]]></TemplafySlideTemplateConfiguration>
</file>

<file path=customXml/item34.xml><?xml version="1.0" encoding="utf-8"?>
<TemplafySlideTemplateConfiguration><![CDATA[{"documentContentValidatorConfiguration":{"enableDocumentContentValidator":false,"documentContentValidatorVersion":0},"elementsMetadata":[],"slideId":"636957680393408391","enableDocumentContentUpdater":true,"version":"1.2"}]]></TemplafySlideTemplateConfiguration>
</file>

<file path=customXml/item35.xml><?xml version="1.0" encoding="utf-8"?>
<TemplafySlideFormConfiguration><![CDATA[{"formFields":[],"formDataEntries":[]}]]></TemplafySlideFormConfiguration>
</file>

<file path=customXml/item36.xml><?xml version="1.0" encoding="utf-8"?>
<TemplafySlideFormConfiguration><![CDATA[{"formFields":[],"formDataEntries":[]}]]></TemplafySlideFormConfiguration>
</file>

<file path=customXml/item37.xml><?xml version="1.0" encoding="utf-8"?>
<TemplafySlideFormConfiguration><![CDATA[{"formFields":[],"formDataEntries":[]}]]></TemplafySlideFormConfiguration>
</file>

<file path=customXml/item38.xml><?xml version="1.0" encoding="utf-8"?>
<TemplafySlideFormConfiguration><![CDATA[{"formFields":[],"formDataEntries":[]}]]></TemplafySlideFormConfiguration>
</file>

<file path=customXml/item39.xml><?xml version="1.0" encoding="utf-8"?>
<TemplafySlideTemplateConfiguration><![CDATA[{"documentContentValidatorConfiguration":{"enableDocumentContentValidator":false,"documentContentValidatorVersion":0},"elementsMetadata":[],"slideId":"636957680393408391","enableDocumentContentUpdater":true,"version":"1.2"}]]></TemplafySlideTemplateConfiguration>
</file>

<file path=customXml/item40.xml><?xml version="1.0" encoding="utf-8"?>
<TemplafySlideFormConfiguration><![CDATA[{"formFields":[],"formDataEntries":[]}]]></TemplafySlideFormConfiguration>
</file>

<file path=customXml/item41.xml><?xml version="1.0" encoding="utf-8"?>
<TemplafySlideTemplateConfiguration><![CDATA[{"documentContentValidatorConfiguration":{"enableDocumentContentValidator":false,"documentContentValidatorVersion":0},"elementsMetadata":[],"slideId":"636957680393408391","enableDocumentContentUpdater":true,"version":"1.2"}]]></TemplafySlideTemplateConfiguration>
</file>

<file path=customXml/item42.xml><?xml version="1.0" encoding="utf-8"?>
<TemplafySlideFormConfiguration><![CDATA[{"formFields":[],"formDataEntries":[]}]]></TemplafySlideFormConfiguration>
</file>

<file path=customXml/item43.xml><?xml version="1.0" encoding="utf-8"?>
<TemplafySlideFormConfiguration><![CDATA[{"formFields":[],"formDataEntries":[]}]]></TemplafySlideFormConfiguration>
</file>

<file path=customXml/item44.xml><?xml version="1.0" encoding="utf-8"?>
<TemplafySlideTemplateConfiguration><![CDATA[{"documentContentValidatorConfiguration":{"enableDocumentContentValidator":false,"documentContentValidatorVersion":0},"elementsMetadata":[],"slideId":"636957680393408391","enableDocumentContentUpdater":true,"version":"1.2"}]]></TemplafySlideTemplateConfiguration>
</file>

<file path=customXml/item45.xml><?xml version="1.0" encoding="utf-8"?>
<TemplafySlideTemplateConfiguration><![CDATA[{"documentContentValidatorConfiguration":{"enableDocumentContentValidator":false,"documentContentValidatorVersion":0},"elementsMetadata":[],"slideId":"636957680393408391","enableDocumentContentUpdater":true,"version":"1.2"}]]></TemplafySlideTemplateConfiguration>
</file>

<file path=customXml/item46.xml><?xml version="1.0" encoding="utf-8"?>
<TemplafySlideFormConfiguration><![CDATA[{"formFields":[],"formDataEntries":[]}]]></TemplafySlideFormConfiguration>
</file>

<file path=customXml/item47.xml><?xml version="1.0" encoding="utf-8"?>
<TemplafySlideTemplateConfiguration><![CDATA[{"documentContentValidatorConfiguration":{"enableDocumentContentValidator":false,"documentContentValidatorVersion":0},"elementsMetadata":[],"slideId":"636957680393408391","enableDocumentContentUpdater":true,"version":"1.2"}]]></TemplafySlideTemplateConfiguration>
</file>

<file path=customXml/item48.xml><?xml version="1.0" encoding="utf-8"?>
<TemplafySlideTemplateConfiguration><![CDATA[{"documentContentValidatorConfiguration":{"enableDocumentContentValidator":false,"documentContentValidatorVersion":0},"elementsMetadata":[],"slideId":"636957680393408391","enableDocumentContentUpdater":true,"version":"1.2"}]]></TemplafySlideTemplateConfiguration>
</file>

<file path=customXml/item49.xml><?xml version="1.0" encoding="utf-8"?>
<TemplafySlideFormConfiguration><![CDATA[{"formFields":[],"formDataEntries":[]}]]></TemplafySlideFormConfiguration>
</file>

<file path=customXml/item50.xml><?xml version="1.0" encoding="utf-8"?>
<TemplafySlideFormConfiguration><![CDATA[{"formFields":[],"formDataEntries":[]}]]></TemplafySlideFormConfiguration>
</file>

<file path=customXml/item51.xml><?xml version="1.0" encoding="utf-8"?>
<TemplafySlideTemplateConfiguration><![CDATA[{"documentContentValidatorConfiguration":{"enableDocumentContentValidator":false,"documentContentValidatorVersion":0},"elementsMetadata":[],"slideId":"636957680393408391","enableDocumentContentUpdater":true,"version":"1.2"}]]></TemplafySlideTemplateConfiguration>
</file>

<file path=customXml/item52.xml><?xml version="1.0" encoding="utf-8"?>
<TemplafySlideTemplateConfiguration><![CDATA[{"documentContentValidatorConfiguration":{"enableDocumentContentValidator":false,"documentContentValidatorVersion":0},"elementsMetadata":[],"slideId":"636957680393408391","enableDocumentContentUpdater":true,"version":"1.2"}]]></TemplafySlideTemplateConfiguration>
</file>

<file path=customXml/item53.xml><?xml version="1.0" encoding="utf-8"?>
<TemplafySlideTemplateConfiguration><![CDATA[{"documentContentValidatorConfiguration":{"enableDocumentContentValidator":false,"documentContentValidatorVersion":0},"elementsMetadata":[],"slideId":"636957680393408391","enableDocumentContentUpdater":true,"version":"1.2"}]]></TemplafySlideTemplateConfiguration>
</file>

<file path=customXml/item54.xml><?xml version="1.0" encoding="utf-8"?>
<TemplafySlideFormConfiguration><![CDATA[{"formFields":[],"formDataEntries":[]}]]></TemplafySlideFormConfiguration>
</file>

<file path=customXml/item55.xml><?xml version="1.0" encoding="utf-8"?>
<TemplafySlideTemplateConfiguration><![CDATA[{"documentContentValidatorConfiguration":{"enableDocumentContentValidator":false,"documentContentValidatorVersion":0},"elementsMetadata":[],"slideId":"636957680393408391","enableDocumentContentUpdater":true,"version":"1.2"}]]></TemplafySlideTemplateConfiguration>
</file>

<file path=customXml/item56.xml><?xml version="1.0" encoding="utf-8"?>
<TemplafySlideFormConfiguration><![CDATA[{"formFields":[],"formDataEntries":[]}]]></TemplafySlideFormConfiguration>
</file>

<file path=customXml/item57.xml><?xml version="1.0" encoding="utf-8"?>
<TemplafySlideTemplateConfiguration><![CDATA[{"documentContentValidatorConfiguration":{"enableDocumentContentValidator":false,"documentContentValidatorVersion":0},"elementsMetadata":[],"slideId":"636957680393408391","enableDocumentContentUpdater":true,"version":"1.2"}]]></TemplafySlideTemplateConfiguration>
</file>

<file path=customXml/item58.xml><?xml version="1.0" encoding="utf-8"?>
<TemplafyTemplateConfiguration><![CDATA[{"elementsMetadata":[{"type":"shape","id":"3a063327-8622-4279-957b-cd6a3239a1a5","elementConfiguration":{"binding":"UserProfile.Offices.Workarea_{{DocumentLanguage}}","disableUpdates":false,"type":"text"}},{"type":"shape","id":"dbf306c5-072f-40be-88b5-a7a678b7f2e9","elementConfiguration":{"format":"{{DateFormats.GeneralDate}}","binding":"Form.Date","disableUpdates":false,"type":"date"}},{"type":"shape","id":"49ebe68f-ea7b-450b-9698-7f38e354f87c","elementConfiguration":{"binding":"Form.PresentationTitle","disableUpdates":false,"type":"text"}}],"transformationConfigurations":[{"language":"{{DocumentLanguage}}","disableUpdates":false,"type":"proofingLanguage"}],"templateName":"","templateDescription":"","enableDocumentContentUpdater":true,"version":"1.2"}]]></TemplafyTemplateConfiguration>
</file>

<file path=customXml/item59.xml><?xml version="1.0" encoding="utf-8"?>
<TemplafySlideFormConfiguration><![CDATA[{"formFields":[],"formDataEntries":[]}]]></TemplafySlideFormConfiguration>
</file>

<file path=customXml/item60.xml><?xml version="1.0" encoding="utf-8"?>
<TemplafySlideTemplateConfiguration><![CDATA[{"documentContentValidatorConfiguration":{"enableDocumentContentValidator":false,"documentContentValidatorVersion":0},"elementsMetadata":[],"slideId":"636957680393408391","enableDocumentContentUpdater":true,"version":"1.2"}]]></TemplafySlideTemplateConfiguration>
</file>

<file path=customXml/item61.xml><?xml version="1.0" encoding="utf-8"?>
<TemplafySlideFormConfiguration><![CDATA[{"formFields":[],"formDataEntries":[]}]]></TemplafySlideFormConfiguration>
</file>

<file path=customXml/item62.xml><?xml version="1.0" encoding="utf-8"?>
<TemplafySlideTemplateConfiguration><![CDATA[{"documentContentValidatorConfiguration":{"enableDocumentContentValidator":false,"documentContentValidatorVersion":0},"elementsMetadata":[],"slideId":"636957680393408391","enableDocumentContentUpdater":true,"version":"1.2"}]]></TemplafySlideTemplateConfiguration>
</file>

<file path=customXml/item63.xml><?xml version="1.0" encoding="utf-8"?>
<TemplafySlideTemplateConfiguration><![CDATA[{"documentContentValidatorConfiguration":{"enableDocumentContentValidator":false,"documentContentValidatorVersion":0},"elementsMetadata":[],"slideId":"636957680393408391","enableDocumentContentUpdater":true,"version":"1.2"}]]></TemplafySlideTemplateConfiguration>
</file>

<file path=customXml/item64.xml><?xml version="1.0" encoding="utf-8"?>
<TemplafySlideFormConfiguration><![CDATA[{"formFields":[],"formDataEntries":[]}]]></TemplafySlideFormConfiguration>
</file>

<file path=customXml/item65.xml><?xml version="1.0" encoding="utf-8"?>
<TemplafySlideFormConfiguration><![CDATA[{"formFields":[],"formDataEntries":[]}]]></TemplafySlideFormConfiguration>
</file>

<file path=customXml/item66.xml><?xml version="1.0" encoding="utf-8"?>
<TemplafySlideFormConfiguration><![CDATA[{"formFields":[],"formDataEntries":[]}]]></TemplafySlideFormConfiguration>
</file>

<file path=customXml/item67.xml><?xml version="1.0" encoding="utf-8"?>
<TemplafySlideFormConfiguration><![CDATA[{"formFields":[],"formDataEntries":[]}]]></TemplafySlideFormConfiguration>
</file>

<file path=customXml/item68.xml><?xml version="1.0" encoding="utf-8"?>
<TemplafySlideTemplateConfiguration><![CDATA[{"documentContentValidatorConfiguration":{"enableDocumentContentValidator":false,"documentContentValidatorVersion":0},"elementsMetadata":[],"slideId":"636957680393408391","enableDocumentContentUpdater":true,"version":"1.2"}]]></TemplafySlideTemplateConfiguration>
</file>

<file path=customXml/item69.xml><?xml version="1.0" encoding="utf-8"?>
<TemplafySlideFormConfiguration><![CDATA[{"formFields":[],"formDataEntries":[]}]]></TemplafySlideFormConfiguration>
</file>

<file path=customXml/item70.xml><?xml version="1.0" encoding="utf-8"?>
<TemplafySlideFormConfiguration><![CDATA[{"formFields":[],"formDataEntries":[]}]]></TemplafySlideFormConfiguration>
</file>

<file path=customXml/item71.xml><?xml version="1.0" encoding="utf-8"?>
<TemplafySlideTemplateConfiguration><![CDATA[{"documentContentValidatorConfiguration":{"enableDocumentContentValidator":false,"documentContentValidatorVersion":0},"elementsMetadata":[],"slideId":"636957680393408391","enableDocumentContentUpdater":true,"version":"1.2"}]]></TemplafySlideTemplateConfiguration>
</file>

<file path=customXml/item72.xml><?xml version="1.0" encoding="utf-8"?>
<TemplafySlideFormConfiguration><![CDATA[{"formFields":[],"formDataEntries":[]}]]></TemplafySlideFormConfiguration>
</file>

<file path=customXml/item73.xml><?xml version="1.0" encoding="utf-8"?>
<TemplafySlideTemplateConfiguration><![CDATA[{"documentContentValidatorConfiguration":{"enableDocumentContentValidator":false,"documentContentValidatorVersion":0},"elementsMetadata":[],"slideId":"636957680393408391","enableDocumentContentUpdater":true,"version":"1.2"}]]></TemplafySlideTemplateConfiguration>
</file>

<file path=customXml/item74.xml><?xml version="1.0" encoding="utf-8"?>
<TemplafySlideFormConfiguration><![CDATA[{"formFields":[],"formDataEntries":[]}]]></TemplafySlideFormConfiguration>
</file>

<file path=customXml/item75.xml><?xml version="1.0" encoding="utf-8"?>
<TemplafySlideFormConfiguration><![CDATA[{"formFields":[],"formDataEntries":[]}]]></TemplafySlideFormConfiguration>
</file>

<file path=customXml/item76.xml><?xml version="1.0" encoding="utf-8"?>
<TemplafySlideFormConfiguration><![CDATA[{"formFields":[],"formDataEntries":[]}]]></TemplafySlideFormConfiguration>
</file>

<file path=customXml/item77.xml><?xml version="1.0" encoding="utf-8"?>
<TemplafySlideTemplateConfiguration><![CDATA[{"documentContentValidatorConfiguration":{"enableDocumentContentValidator":false,"documentContentValidatorVersion":0},"elementsMetadata":[],"slideId":"636957680393408391","enableDocumentContentUpdater":true,"version":"1.2"}]]></TemplafySlideTemplateConfiguration>
</file>

<file path=customXml/item78.xml><?xml version="1.0" encoding="utf-8"?>
<TemplafySlideTemplateConfiguration><![CDATA[{"documentContentValidatorConfiguration":{"enableDocumentContentValidator":false,"documentContentValidatorVersion":0},"elementsMetadata":[],"slideId":"636957680393408391","enableDocumentContentUpdater":true,"version":"1.2"}]]></TemplafySlideTemplateConfiguration>
</file>

<file path=customXml/item79.xml><?xml version="1.0" encoding="utf-8"?>
<TemplafySlideTemplateConfiguration><![CDATA[{"documentContentValidatorConfiguration":{"enableDocumentContentValidator":false,"documentContentValidatorVersion":0},"elementsMetadata":[],"slideId":"636957680393408391","enableDocumentContentUpdater":true,"version":"1.2"}]]></TemplafySlideTemplateConfiguration>
</file>

<file path=customXml/item80.xml><?xml version="1.0" encoding="utf-8"?>
<TemplafySlideTemplateConfiguration><![CDATA[{"documentContentValidatorConfiguration":{"enableDocumentContentValidator":false,"documentContentValidatorVersion":0},"elementsMetadata":[],"slideId":"636957680393408391","enableDocumentContentUpdater":true,"version":"1.2"}]]></TemplafySlideTemplateConfiguration>
</file>

<file path=customXml/item81.xml><?xml version="1.0" encoding="utf-8"?>
<TemplafySlideFormConfiguration><![CDATA[{"formFields":[],"formDataEntries":[]}]]></TemplafySlideFormConfiguration>
</file>

<file path=customXml/item82.xml><?xml version="1.0" encoding="utf-8"?>
<TemplafySlideFormConfiguration><![CDATA[{"formFields":[],"formDataEntries":[]}]]></TemplafySlideFormConfiguration>
</file>

<file path=customXml/item83.xml><?xml version="1.0" encoding="utf-8"?>
<TemplafySlideTemplateConfiguration><![CDATA[{"documentContentValidatorConfiguration":{"enableDocumentContentValidator":false,"documentContentValidatorVersion":0},"elementsMetadata":[],"slideId":"636957680393408391","enableDocumentContentUpdater":true,"version":"1.2"}]]></TemplafySlideTemplateConfiguration>
</file>

<file path=customXml/item84.xml><?xml version="1.0" encoding="utf-8"?>
<TemplafySlideFormConfiguration><![CDATA[{"formFields":[],"formDataEntries":[]}]]></TemplafySlideFormConfiguration>
</file>

<file path=customXml/item85.xml><?xml version="1.0" encoding="utf-8"?>
<TemplafySlideFormConfiguration><![CDATA[{"formFields":[],"formDataEntries":[]}]]></TemplafySlideFormConfiguration>
</file>

<file path=customXml/item86.xml><?xml version="1.0" encoding="utf-8"?>
<TemplafySlideTemplateConfiguration><![CDATA[{"documentContentValidatorConfiguration":{"enableDocumentContentValidator":false,"documentContentValidatorVersion":0},"elementsMetadata":[],"slideId":"636957680393408391","enableDocumentContentUpdater":true,"version":"1.2"}]]></TemplafySlideTemplateConfiguration>
</file>

<file path=customXml/item87.xml><?xml version="1.0" encoding="utf-8"?>
<TemplafySlideFormConfiguration><![CDATA[{"formFields":[],"formDataEntries":[]}]]></TemplafySlideFormConfiguration>
</file>

<file path=customXml/item88.xml><?xml version="1.0" encoding="utf-8"?>
<TemplafySlideTemplateConfiguration><![CDATA[{"documentContentValidatorConfiguration":{"enableDocumentContentValidator":false,"documentContentValidatorVersion":0},"elementsMetadata":[],"slideId":"636957680393408391","enableDocumentContentUpdater":true,"version":"1.2"}]]></TemplafySlideTemplateConfiguration>
</file>

<file path=customXml/item89.xml><?xml version="1.0" encoding="utf-8"?>
<TemplafySlideTemplateConfiguration><![CDATA[{"documentContentValidatorConfiguration":{"enableDocumentContentValidator":false,"documentContentValidatorVersion":0},"elementsMetadata":[],"slideId":"636957680393408391","enableDocumentContentUpdater":true,"version":"1.2"}]]></TemplafySlideTemplateConfiguration>
</file>

<file path=customXml/item90.xml><?xml version="1.0" encoding="utf-8"?>
<TemplafySlideFormConfiguration><![CDATA[{"formFields":[],"formDataEntries":[]}]]></TemplafySlideFormConfiguration>
</file>

<file path=customXml/item91.xml><?xml version="1.0" encoding="utf-8"?>
<TemplafySlideTemplateConfiguration><![CDATA[{"documentContentValidatorConfiguration":{"enableDocumentContentValidator":false,"documentContentValidatorVersion":0},"elementsMetadata":[],"slideId":"636957680393408391","enableDocumentContentUpdater":true,"version":"1.2"}]]></TemplafySlideTemplateConfiguration>
</file>

<file path=customXml/item92.xml><?xml version="1.0" encoding="utf-8"?>
<TemplafySlideFormConfiguration><![CDATA[{"formFields":[],"formDataEntries":[]}]]></TemplafySlideFormConfiguration>
</file>

<file path=customXml/item93.xml><?xml version="1.0" encoding="utf-8"?>
<TemplafySlideTemplateConfiguration><![CDATA[{"documentContentValidatorConfiguration":{"enableDocumentContentValidator":false,"documentContentValidatorVersion":0},"elementsMetadata":[],"slideId":"636957680393408391","enableDocumentContentUpdater":true,"version":"1.2"}]]></TemplafySlideTemplateConfiguration>
</file>

<file path=customXml/item94.xml><?xml version="1.0" encoding="utf-8"?>
<TemplafySlideFormConfiguration><![CDATA[{"formFields":[],"formDataEntries":[]}]]></TemplafySlideFormConfiguration>
</file>

<file path=customXml/item95.xml><?xml version="1.0" encoding="utf-8"?>
<TemplafySlideFormConfiguration><![CDATA[{"formFields":[],"formDataEntries":[]}]]></TemplafySlideFormConfiguration>
</file>

<file path=customXml/item96.xml><?xml version="1.0" encoding="utf-8"?>
<TemplafySlideTemplateConfiguration><![CDATA[{"documentContentValidatorConfiguration":{"enableDocumentContentValidator":false,"documentContentValidatorVersion":0},"elementsMetadata":[],"slideId":"636957680393408391","enableDocumentContentUpdater":true,"version":"1.2"}]]></TemplafySlideTemplateConfiguration>
</file>

<file path=customXml/item97.xml><?xml version="1.0" encoding="utf-8"?>
<TemplafySlideFormConfiguration><![CDATA[{"formFields":[],"formDataEntries":[]}]]></TemplafySlideFormConfiguration>
</file>

<file path=customXml/item98.xml><?xml version="1.0" encoding="utf-8"?>
<TemplafySlideTemplateConfiguration><![CDATA[{"documentContentValidatorConfiguration":{"enableDocumentContentValidator":false,"documentContentValidatorVersion":0},"elementsMetadata":[],"slideId":"636957680393408391","enableDocumentContentUpdater":true,"version":"1.2"}]]></TemplafySlideTemplateConfiguration>
</file>

<file path=customXml/item99.xml><?xml version="1.0" encoding="utf-8"?>
<TemplafySlideFormConfiguration><![CDATA[{"formFields":[],"formDataEntries":[]}]]></TemplafySlideFormConfiguration>
</file>

<file path=customXml/item100.xml><?xml version="1.0" encoding="utf-8"?>
<TemplafySlideTemplateConfiguration><![CDATA[{"documentContentValidatorConfiguration":{"enableDocumentContentValidator":false,"documentContentValidatorVersion":0},"elementsMetadata":[],"slideId":"636957680393408391","enableDocumentContentUpdater":true,"version":"1.2"}]]></TemplafySlideTemplateConfiguration>
</file>

<file path=customXml/itemProps1.xml><?xml version="1.0" encoding="utf-8"?>
<ds:datastoreItem xmlns:ds="http://schemas.openxmlformats.org/officeDocument/2006/customXml" ds:itemID="{2E4FD581-AB05-4C55-8C65-53BC789F77F0}">
  <ds:schemaRefs/>
</ds:datastoreItem>
</file>

<file path=customXml/itemProps2.xml><?xml version="1.0" encoding="utf-8"?>
<ds:datastoreItem xmlns:ds="http://schemas.openxmlformats.org/officeDocument/2006/customXml" ds:itemID="{503C66DD-78B5-4638-9880-AB48ABE8A910}">
  <ds:schemaRefs/>
</ds:datastoreItem>
</file>

<file path=customXml/itemProps3.xml><?xml version="1.0" encoding="utf-8"?>
<ds:datastoreItem xmlns:ds="http://schemas.openxmlformats.org/officeDocument/2006/customXml" ds:itemID="{7B2E3872-1CA9-40EE-ADAF-C35920D18BD8}">
  <ds:schemaRefs/>
</ds:datastoreItem>
</file>

<file path=customXml/itemProps4.xml><?xml version="1.0" encoding="utf-8"?>
<ds:datastoreItem xmlns:ds="http://schemas.openxmlformats.org/officeDocument/2006/customXml" ds:itemID="{863F8059-D292-4EC2-90C7-C0F67722934B}">
  <ds:schemaRefs/>
</ds:datastoreItem>
</file>

<file path=customXml/itemProps5.xml><?xml version="1.0" encoding="utf-8"?>
<ds:datastoreItem xmlns:ds="http://schemas.openxmlformats.org/officeDocument/2006/customXml" ds:itemID="{E95EAAE2-3DAD-4962-B0E3-F42F6010098B}">
  <ds:schemaRefs/>
</ds:datastoreItem>
</file>

<file path=customXml/itemProps6.xml><?xml version="1.0" encoding="utf-8"?>
<ds:datastoreItem xmlns:ds="http://schemas.openxmlformats.org/officeDocument/2006/customXml" ds:itemID="{6A49D533-5253-4158-81A0-53644C1BC8F0}">
  <ds:schemaRefs/>
</ds:datastoreItem>
</file>

<file path=customXml/itemProps7.xml><?xml version="1.0" encoding="utf-8"?>
<ds:datastoreItem xmlns:ds="http://schemas.openxmlformats.org/officeDocument/2006/customXml" ds:itemID="{A205C03E-B03F-4305-A59D-EB6A7510D962}">
  <ds:schemaRefs/>
</ds:datastoreItem>
</file>

<file path=customXml/itemProps8.xml><?xml version="1.0" encoding="utf-8"?>
<ds:datastoreItem xmlns:ds="http://schemas.openxmlformats.org/officeDocument/2006/customXml" ds:itemID="{6F88C2D1-8AF9-4B7D-8015-2940B63757C6}">
  <ds:schemaRefs/>
</ds:datastoreItem>
</file>

<file path=customXml/itemProps9.xml><?xml version="1.0" encoding="utf-8"?>
<ds:datastoreItem xmlns:ds="http://schemas.openxmlformats.org/officeDocument/2006/customXml" ds:itemID="{096DDFA2-7F69-4E1E-B2A8-8A95E014D8FE}">
  <ds:schemaRefs/>
</ds:datastoreItem>
</file>

<file path=customXml/itemProps10.xml><?xml version="1.0" encoding="utf-8"?>
<ds:datastoreItem xmlns:ds="http://schemas.openxmlformats.org/officeDocument/2006/customXml" ds:itemID="{4DDB7DC0-AC4B-47AF-9B63-E9A30D25A71D}">
  <ds:schemaRefs/>
</ds:datastoreItem>
</file>

<file path=customXml/itemProps11.xml><?xml version="1.0" encoding="utf-8"?>
<ds:datastoreItem xmlns:ds="http://schemas.openxmlformats.org/officeDocument/2006/customXml" ds:itemID="{AB689B42-9093-4DF4-A55D-A02A985A2916}">
  <ds:schemaRefs/>
</ds:datastoreItem>
</file>

<file path=customXml/itemProps12.xml><?xml version="1.0" encoding="utf-8"?>
<ds:datastoreItem xmlns:ds="http://schemas.openxmlformats.org/officeDocument/2006/customXml" ds:itemID="{41746FEE-55A1-4C2F-B41C-2B30866370B2}">
  <ds:schemaRefs/>
</ds:datastoreItem>
</file>

<file path=customXml/itemProps13.xml><?xml version="1.0" encoding="utf-8"?>
<ds:datastoreItem xmlns:ds="http://schemas.openxmlformats.org/officeDocument/2006/customXml" ds:itemID="{0A76E812-A6F1-4EC1-9FCD-C481E474742A}">
  <ds:schemaRefs/>
</ds:datastoreItem>
</file>

<file path=customXml/itemProps14.xml><?xml version="1.0" encoding="utf-8"?>
<ds:datastoreItem xmlns:ds="http://schemas.openxmlformats.org/officeDocument/2006/customXml" ds:itemID="{EAD272F9-813D-49F7-9071-3087A8B0AA50}">
  <ds:schemaRefs/>
</ds:datastoreItem>
</file>

<file path=customXml/itemProps15.xml><?xml version="1.0" encoding="utf-8"?>
<ds:datastoreItem xmlns:ds="http://schemas.openxmlformats.org/officeDocument/2006/customXml" ds:itemID="{373CD2F8-69B1-4637-ABA4-D26C4986701A}">
  <ds:schemaRefs/>
</ds:datastoreItem>
</file>

<file path=customXml/itemProps16.xml><?xml version="1.0" encoding="utf-8"?>
<ds:datastoreItem xmlns:ds="http://schemas.openxmlformats.org/officeDocument/2006/customXml" ds:itemID="{43763224-B85A-4B53-A86A-261D26A71C30}">
  <ds:schemaRefs/>
</ds:datastoreItem>
</file>

<file path=customXml/itemProps17.xml><?xml version="1.0" encoding="utf-8"?>
<ds:datastoreItem xmlns:ds="http://schemas.openxmlformats.org/officeDocument/2006/customXml" ds:itemID="{353162EE-61CA-4198-A8A2-2D1376711842}">
  <ds:schemaRefs/>
</ds:datastoreItem>
</file>

<file path=customXml/itemProps18.xml><?xml version="1.0" encoding="utf-8"?>
<ds:datastoreItem xmlns:ds="http://schemas.openxmlformats.org/officeDocument/2006/customXml" ds:itemID="{596D4AA8-4AE5-413A-856A-332529D84ADA}">
  <ds:schemaRefs/>
</ds:datastoreItem>
</file>

<file path=customXml/itemProps19.xml><?xml version="1.0" encoding="utf-8"?>
<ds:datastoreItem xmlns:ds="http://schemas.openxmlformats.org/officeDocument/2006/customXml" ds:itemID="{F2113EBB-3981-432C-AC28-1AAAF5D372BC}">
  <ds:schemaRefs/>
</ds:datastoreItem>
</file>

<file path=customXml/itemProps20.xml><?xml version="1.0" encoding="utf-8"?>
<ds:datastoreItem xmlns:ds="http://schemas.openxmlformats.org/officeDocument/2006/customXml" ds:itemID="{C2997E73-5BAC-40DB-9D4E-3CE14F4FFCB6}">
  <ds:schemaRefs/>
</ds:datastoreItem>
</file>

<file path=customXml/itemProps21.xml><?xml version="1.0" encoding="utf-8"?>
<ds:datastoreItem xmlns:ds="http://schemas.openxmlformats.org/officeDocument/2006/customXml" ds:itemID="{D365F513-1D3B-4053-A587-773FB53B7B6D}">
  <ds:schemaRefs/>
</ds:datastoreItem>
</file>

<file path=customXml/itemProps22.xml><?xml version="1.0" encoding="utf-8"?>
<ds:datastoreItem xmlns:ds="http://schemas.openxmlformats.org/officeDocument/2006/customXml" ds:itemID="{DDB1F765-60F4-4509-B139-F6EDBA3B5879}">
  <ds:schemaRefs/>
</ds:datastoreItem>
</file>

<file path=customXml/itemProps23.xml><?xml version="1.0" encoding="utf-8"?>
<ds:datastoreItem xmlns:ds="http://schemas.openxmlformats.org/officeDocument/2006/customXml" ds:itemID="{C44C5CD2-3EAC-46F2-9D15-69C62334B770}">
  <ds:schemaRefs/>
</ds:datastoreItem>
</file>

<file path=customXml/itemProps24.xml><?xml version="1.0" encoding="utf-8"?>
<ds:datastoreItem xmlns:ds="http://schemas.openxmlformats.org/officeDocument/2006/customXml" ds:itemID="{9CDAB3FA-2881-451B-AA45-BEF971462BC8}">
  <ds:schemaRefs/>
</ds:datastoreItem>
</file>

<file path=customXml/itemProps25.xml><?xml version="1.0" encoding="utf-8"?>
<ds:datastoreItem xmlns:ds="http://schemas.openxmlformats.org/officeDocument/2006/customXml" ds:itemID="{1F0BE76E-63F9-47E5-A641-3D925B04EC16}">
  <ds:schemaRefs/>
</ds:datastoreItem>
</file>

<file path=customXml/itemProps26.xml><?xml version="1.0" encoding="utf-8"?>
<ds:datastoreItem xmlns:ds="http://schemas.openxmlformats.org/officeDocument/2006/customXml" ds:itemID="{20E5C9AE-CD7C-4901-8529-A6B99856916D}">
  <ds:schemaRefs/>
</ds:datastoreItem>
</file>

<file path=customXml/itemProps27.xml><?xml version="1.0" encoding="utf-8"?>
<ds:datastoreItem xmlns:ds="http://schemas.openxmlformats.org/officeDocument/2006/customXml" ds:itemID="{CE786CAD-B0D1-4B8C-A065-B676E138FFC0}">
  <ds:schemaRefs/>
</ds:datastoreItem>
</file>

<file path=customXml/itemProps28.xml><?xml version="1.0" encoding="utf-8"?>
<ds:datastoreItem xmlns:ds="http://schemas.openxmlformats.org/officeDocument/2006/customXml" ds:itemID="{F25798CA-BFFA-4F2F-BBC2-562401B9CE1A}">
  <ds:schemaRefs/>
</ds:datastoreItem>
</file>

<file path=customXml/itemProps29.xml><?xml version="1.0" encoding="utf-8"?>
<ds:datastoreItem xmlns:ds="http://schemas.openxmlformats.org/officeDocument/2006/customXml" ds:itemID="{4E594637-B79C-470A-A557-0328D92A3863}">
  <ds:schemaRefs/>
</ds:datastoreItem>
</file>

<file path=customXml/itemProps30.xml><?xml version="1.0" encoding="utf-8"?>
<ds:datastoreItem xmlns:ds="http://schemas.openxmlformats.org/officeDocument/2006/customXml" ds:itemID="{7E4E3D24-5DFE-43E6-87CD-B4DFAFFE1DCC}">
  <ds:schemaRefs/>
</ds:datastoreItem>
</file>

<file path=customXml/itemProps31.xml><?xml version="1.0" encoding="utf-8"?>
<ds:datastoreItem xmlns:ds="http://schemas.openxmlformats.org/officeDocument/2006/customXml" ds:itemID="{781276AD-068E-4EDD-867D-01C619C4F659}">
  <ds:schemaRefs/>
</ds:datastoreItem>
</file>

<file path=customXml/itemProps32.xml><?xml version="1.0" encoding="utf-8"?>
<ds:datastoreItem xmlns:ds="http://schemas.openxmlformats.org/officeDocument/2006/customXml" ds:itemID="{FF04E7D4-244D-4982-BA5E-E7249B129B6B}">
  <ds:schemaRefs/>
</ds:datastoreItem>
</file>

<file path=customXml/itemProps33.xml><?xml version="1.0" encoding="utf-8"?>
<ds:datastoreItem xmlns:ds="http://schemas.openxmlformats.org/officeDocument/2006/customXml" ds:itemID="{E26CB2F6-3AAA-4B5F-819C-F4EC58D1D29F}">
  <ds:schemaRefs/>
</ds:datastoreItem>
</file>

<file path=customXml/itemProps34.xml><?xml version="1.0" encoding="utf-8"?>
<ds:datastoreItem xmlns:ds="http://schemas.openxmlformats.org/officeDocument/2006/customXml" ds:itemID="{3F1693F9-6808-44C8-BA27-0D32F8DD619B}">
  <ds:schemaRefs/>
</ds:datastoreItem>
</file>

<file path=customXml/itemProps35.xml><?xml version="1.0" encoding="utf-8"?>
<ds:datastoreItem xmlns:ds="http://schemas.openxmlformats.org/officeDocument/2006/customXml" ds:itemID="{28E306A8-61E7-4CCB-B733-28ACB7731553}">
  <ds:schemaRefs/>
</ds:datastoreItem>
</file>

<file path=customXml/itemProps36.xml><?xml version="1.0" encoding="utf-8"?>
<ds:datastoreItem xmlns:ds="http://schemas.openxmlformats.org/officeDocument/2006/customXml" ds:itemID="{90507FB9-0EB6-40B3-A557-C1F23F176885}">
  <ds:schemaRefs/>
</ds:datastoreItem>
</file>

<file path=customXml/itemProps37.xml><?xml version="1.0" encoding="utf-8"?>
<ds:datastoreItem xmlns:ds="http://schemas.openxmlformats.org/officeDocument/2006/customXml" ds:itemID="{B576E3E5-EBEC-49BE-BB19-B9A899121293}">
  <ds:schemaRefs/>
</ds:datastoreItem>
</file>

<file path=customXml/itemProps38.xml><?xml version="1.0" encoding="utf-8"?>
<ds:datastoreItem xmlns:ds="http://schemas.openxmlformats.org/officeDocument/2006/customXml" ds:itemID="{F4EAF575-1ED2-414F-9810-364025D29B6A}">
  <ds:schemaRefs/>
</ds:datastoreItem>
</file>

<file path=customXml/itemProps39.xml><?xml version="1.0" encoding="utf-8"?>
<ds:datastoreItem xmlns:ds="http://schemas.openxmlformats.org/officeDocument/2006/customXml" ds:itemID="{BD28BE3A-CAD5-4624-955A-6E83CEA7BA2C}">
  <ds:schemaRefs/>
</ds:datastoreItem>
</file>

<file path=customXml/itemProps40.xml><?xml version="1.0" encoding="utf-8"?>
<ds:datastoreItem xmlns:ds="http://schemas.openxmlformats.org/officeDocument/2006/customXml" ds:itemID="{D3900AD1-6674-4E23-BFA2-2B00CC3DE642}">
  <ds:schemaRefs/>
</ds:datastoreItem>
</file>

<file path=customXml/itemProps41.xml><?xml version="1.0" encoding="utf-8"?>
<ds:datastoreItem xmlns:ds="http://schemas.openxmlformats.org/officeDocument/2006/customXml" ds:itemID="{AB93AE4A-608A-4342-B749-9DE5166EAA97}">
  <ds:schemaRefs/>
</ds:datastoreItem>
</file>

<file path=customXml/itemProps42.xml><?xml version="1.0" encoding="utf-8"?>
<ds:datastoreItem xmlns:ds="http://schemas.openxmlformats.org/officeDocument/2006/customXml" ds:itemID="{E098C28E-E5F2-4C5E-9F86-9A5451708D49}">
  <ds:schemaRefs/>
</ds:datastoreItem>
</file>

<file path=customXml/itemProps43.xml><?xml version="1.0" encoding="utf-8"?>
<ds:datastoreItem xmlns:ds="http://schemas.openxmlformats.org/officeDocument/2006/customXml" ds:itemID="{5781D276-2944-47CF-B80A-D3AB25E94EDE}">
  <ds:schemaRefs/>
</ds:datastoreItem>
</file>

<file path=customXml/itemProps44.xml><?xml version="1.0" encoding="utf-8"?>
<ds:datastoreItem xmlns:ds="http://schemas.openxmlformats.org/officeDocument/2006/customXml" ds:itemID="{7160FFD8-13E8-497D-BC62-D110187CCF3D}">
  <ds:schemaRefs/>
</ds:datastoreItem>
</file>

<file path=customXml/itemProps45.xml><?xml version="1.0" encoding="utf-8"?>
<ds:datastoreItem xmlns:ds="http://schemas.openxmlformats.org/officeDocument/2006/customXml" ds:itemID="{29D3D79F-182B-41DF-9C96-43B8B4FF2E1F}">
  <ds:schemaRefs/>
</ds:datastoreItem>
</file>

<file path=customXml/itemProps46.xml><?xml version="1.0" encoding="utf-8"?>
<ds:datastoreItem xmlns:ds="http://schemas.openxmlformats.org/officeDocument/2006/customXml" ds:itemID="{5ED2C089-CC03-4200-BFBA-C2B0D2E992DB}">
  <ds:schemaRefs/>
</ds:datastoreItem>
</file>

<file path=customXml/itemProps47.xml><?xml version="1.0" encoding="utf-8"?>
<ds:datastoreItem xmlns:ds="http://schemas.openxmlformats.org/officeDocument/2006/customXml" ds:itemID="{9911FB39-D30F-4224-9B78-B6BD85ADEC8B}">
  <ds:schemaRefs/>
</ds:datastoreItem>
</file>

<file path=customXml/itemProps48.xml><?xml version="1.0" encoding="utf-8"?>
<ds:datastoreItem xmlns:ds="http://schemas.openxmlformats.org/officeDocument/2006/customXml" ds:itemID="{8422A3D3-CC13-4225-8A04-27D2ABECE541}">
  <ds:schemaRefs/>
</ds:datastoreItem>
</file>

<file path=customXml/itemProps49.xml><?xml version="1.0" encoding="utf-8"?>
<ds:datastoreItem xmlns:ds="http://schemas.openxmlformats.org/officeDocument/2006/customXml" ds:itemID="{8B3B5F63-D657-4411-8F0F-41C9B1E6F4CC}">
  <ds:schemaRefs/>
</ds:datastoreItem>
</file>

<file path=customXml/itemProps50.xml><?xml version="1.0" encoding="utf-8"?>
<ds:datastoreItem xmlns:ds="http://schemas.openxmlformats.org/officeDocument/2006/customXml" ds:itemID="{24D9DCE1-054E-4135-8777-5103379837BD}">
  <ds:schemaRefs/>
</ds:datastoreItem>
</file>

<file path=customXml/itemProps51.xml><?xml version="1.0" encoding="utf-8"?>
<ds:datastoreItem xmlns:ds="http://schemas.openxmlformats.org/officeDocument/2006/customXml" ds:itemID="{B23F3548-78EC-4994-A2C2-093E3E0C8F45}">
  <ds:schemaRefs/>
</ds:datastoreItem>
</file>

<file path=customXml/itemProps52.xml><?xml version="1.0" encoding="utf-8"?>
<ds:datastoreItem xmlns:ds="http://schemas.openxmlformats.org/officeDocument/2006/customXml" ds:itemID="{D2ACCB79-22D0-47E1-9F02-E93DEC41DD5C}">
  <ds:schemaRefs/>
</ds:datastoreItem>
</file>

<file path=customXml/itemProps53.xml><?xml version="1.0" encoding="utf-8"?>
<ds:datastoreItem xmlns:ds="http://schemas.openxmlformats.org/officeDocument/2006/customXml" ds:itemID="{6858D69F-8E77-4971-BC38-545F2B5264D8}">
  <ds:schemaRefs/>
</ds:datastoreItem>
</file>

<file path=customXml/itemProps54.xml><?xml version="1.0" encoding="utf-8"?>
<ds:datastoreItem xmlns:ds="http://schemas.openxmlformats.org/officeDocument/2006/customXml" ds:itemID="{25B39840-638E-4700-A0D3-17ECD5974C2D}">
  <ds:schemaRefs/>
</ds:datastoreItem>
</file>

<file path=customXml/itemProps55.xml><?xml version="1.0" encoding="utf-8"?>
<ds:datastoreItem xmlns:ds="http://schemas.openxmlformats.org/officeDocument/2006/customXml" ds:itemID="{D417A85F-CBB0-4843-A2C5-61F56349DFCB}">
  <ds:schemaRefs/>
</ds:datastoreItem>
</file>

<file path=customXml/itemProps56.xml><?xml version="1.0" encoding="utf-8"?>
<ds:datastoreItem xmlns:ds="http://schemas.openxmlformats.org/officeDocument/2006/customXml" ds:itemID="{18FB5BE7-3A92-4D81-9C41-7FC3C4CB003B}">
  <ds:schemaRefs/>
</ds:datastoreItem>
</file>

<file path=customXml/itemProps57.xml><?xml version="1.0" encoding="utf-8"?>
<ds:datastoreItem xmlns:ds="http://schemas.openxmlformats.org/officeDocument/2006/customXml" ds:itemID="{AC9AEB4C-391A-48B9-87B5-0F4F3DB7AD5A}">
  <ds:schemaRefs/>
</ds:datastoreItem>
</file>

<file path=customXml/itemProps58.xml><?xml version="1.0" encoding="utf-8"?>
<ds:datastoreItem xmlns:ds="http://schemas.openxmlformats.org/officeDocument/2006/customXml" ds:itemID="{1334258C-C3E7-4029-A615-C886A240FB15}">
  <ds:schemaRefs/>
</ds:datastoreItem>
</file>

<file path=customXml/itemProps59.xml><?xml version="1.0" encoding="utf-8"?>
<ds:datastoreItem xmlns:ds="http://schemas.openxmlformats.org/officeDocument/2006/customXml" ds:itemID="{3C532F5C-6E4F-460C-9D5D-B5806ECEB8A8}">
  <ds:schemaRefs/>
</ds:datastoreItem>
</file>

<file path=customXml/itemProps60.xml><?xml version="1.0" encoding="utf-8"?>
<ds:datastoreItem xmlns:ds="http://schemas.openxmlformats.org/officeDocument/2006/customXml" ds:itemID="{E71751DA-C5A8-4929-B4AA-5DFC6235AD1D}">
  <ds:schemaRefs/>
</ds:datastoreItem>
</file>

<file path=customXml/itemProps61.xml><?xml version="1.0" encoding="utf-8"?>
<ds:datastoreItem xmlns:ds="http://schemas.openxmlformats.org/officeDocument/2006/customXml" ds:itemID="{14A2A2C8-0FCC-48E8-8B33-229C12C3D1D2}">
  <ds:schemaRefs/>
</ds:datastoreItem>
</file>

<file path=customXml/itemProps62.xml><?xml version="1.0" encoding="utf-8"?>
<ds:datastoreItem xmlns:ds="http://schemas.openxmlformats.org/officeDocument/2006/customXml" ds:itemID="{A4E0F2A6-56B9-4B0B-938F-25121CABC77F}">
  <ds:schemaRefs/>
</ds:datastoreItem>
</file>

<file path=customXml/itemProps63.xml><?xml version="1.0" encoding="utf-8"?>
<ds:datastoreItem xmlns:ds="http://schemas.openxmlformats.org/officeDocument/2006/customXml" ds:itemID="{A83A7965-867A-4748-B18F-EAE0767A19C3}">
  <ds:schemaRefs/>
</ds:datastoreItem>
</file>

<file path=customXml/itemProps64.xml><?xml version="1.0" encoding="utf-8"?>
<ds:datastoreItem xmlns:ds="http://schemas.openxmlformats.org/officeDocument/2006/customXml" ds:itemID="{5313E464-68DA-4785-A27A-2B242BFEC6AA}">
  <ds:schemaRefs/>
</ds:datastoreItem>
</file>

<file path=customXml/itemProps65.xml><?xml version="1.0" encoding="utf-8"?>
<ds:datastoreItem xmlns:ds="http://schemas.openxmlformats.org/officeDocument/2006/customXml" ds:itemID="{03E42753-9E86-422D-8D09-DA2DB0FB712F}">
  <ds:schemaRefs/>
</ds:datastoreItem>
</file>

<file path=customXml/itemProps66.xml><?xml version="1.0" encoding="utf-8"?>
<ds:datastoreItem xmlns:ds="http://schemas.openxmlformats.org/officeDocument/2006/customXml" ds:itemID="{6CE8D7A9-20A4-4536-96CC-2EDDE693217E}">
  <ds:schemaRefs/>
</ds:datastoreItem>
</file>

<file path=customXml/itemProps67.xml><?xml version="1.0" encoding="utf-8"?>
<ds:datastoreItem xmlns:ds="http://schemas.openxmlformats.org/officeDocument/2006/customXml" ds:itemID="{CCAFE939-90B2-431A-B406-3D9089EE5105}">
  <ds:schemaRefs/>
</ds:datastoreItem>
</file>

<file path=customXml/itemProps68.xml><?xml version="1.0" encoding="utf-8"?>
<ds:datastoreItem xmlns:ds="http://schemas.openxmlformats.org/officeDocument/2006/customXml" ds:itemID="{59AB3194-6D01-49E8-91CB-97BF74E263AC}">
  <ds:schemaRefs/>
</ds:datastoreItem>
</file>

<file path=customXml/itemProps69.xml><?xml version="1.0" encoding="utf-8"?>
<ds:datastoreItem xmlns:ds="http://schemas.openxmlformats.org/officeDocument/2006/customXml" ds:itemID="{F9EC3048-BEF3-4883-A93E-9950B3CA86E8}">
  <ds:schemaRefs/>
</ds:datastoreItem>
</file>

<file path=customXml/itemProps70.xml><?xml version="1.0" encoding="utf-8"?>
<ds:datastoreItem xmlns:ds="http://schemas.openxmlformats.org/officeDocument/2006/customXml" ds:itemID="{DB6DE69E-45B5-47DA-812E-B38FA54022E9}">
  <ds:schemaRefs/>
</ds:datastoreItem>
</file>

<file path=customXml/itemProps71.xml><?xml version="1.0" encoding="utf-8"?>
<ds:datastoreItem xmlns:ds="http://schemas.openxmlformats.org/officeDocument/2006/customXml" ds:itemID="{2269D3B2-73CA-4B6F-A19C-A9EB324A2AA4}">
  <ds:schemaRefs/>
</ds:datastoreItem>
</file>

<file path=customXml/itemProps72.xml><?xml version="1.0" encoding="utf-8"?>
<ds:datastoreItem xmlns:ds="http://schemas.openxmlformats.org/officeDocument/2006/customXml" ds:itemID="{152E86BD-BA0B-48D3-AF3A-E341664FE1A0}">
  <ds:schemaRefs/>
</ds:datastoreItem>
</file>

<file path=customXml/itemProps73.xml><?xml version="1.0" encoding="utf-8"?>
<ds:datastoreItem xmlns:ds="http://schemas.openxmlformats.org/officeDocument/2006/customXml" ds:itemID="{D3F1465C-0381-499D-A7CE-8C6A33DA8C50}">
  <ds:schemaRefs/>
</ds:datastoreItem>
</file>

<file path=customXml/itemProps74.xml><?xml version="1.0" encoding="utf-8"?>
<ds:datastoreItem xmlns:ds="http://schemas.openxmlformats.org/officeDocument/2006/customXml" ds:itemID="{45195A5C-3D11-4979-9A7A-C3731AEE10DA}">
  <ds:schemaRefs/>
</ds:datastoreItem>
</file>

<file path=customXml/itemProps75.xml><?xml version="1.0" encoding="utf-8"?>
<ds:datastoreItem xmlns:ds="http://schemas.openxmlformats.org/officeDocument/2006/customXml" ds:itemID="{D75EF232-B1D2-45E0-8FC5-45AF6984F30D}">
  <ds:schemaRefs/>
</ds:datastoreItem>
</file>

<file path=customXml/itemProps76.xml><?xml version="1.0" encoding="utf-8"?>
<ds:datastoreItem xmlns:ds="http://schemas.openxmlformats.org/officeDocument/2006/customXml" ds:itemID="{09CBA9AE-E410-44F7-905D-6BDCF323D8AC}">
  <ds:schemaRefs/>
</ds:datastoreItem>
</file>

<file path=customXml/itemProps77.xml><?xml version="1.0" encoding="utf-8"?>
<ds:datastoreItem xmlns:ds="http://schemas.openxmlformats.org/officeDocument/2006/customXml" ds:itemID="{B738CBDA-35BB-4325-8070-D22F6EAF7F64}">
  <ds:schemaRefs/>
</ds:datastoreItem>
</file>

<file path=customXml/itemProps78.xml><?xml version="1.0" encoding="utf-8"?>
<ds:datastoreItem xmlns:ds="http://schemas.openxmlformats.org/officeDocument/2006/customXml" ds:itemID="{80888F45-4A9C-41FB-9029-F5C3EA6B47EA}">
  <ds:schemaRefs/>
</ds:datastoreItem>
</file>

<file path=customXml/itemProps79.xml><?xml version="1.0" encoding="utf-8"?>
<ds:datastoreItem xmlns:ds="http://schemas.openxmlformats.org/officeDocument/2006/customXml" ds:itemID="{7405F4A6-97B9-46E6-87DB-9D081757CF26}">
  <ds:schemaRefs/>
</ds:datastoreItem>
</file>

<file path=customXml/itemProps80.xml><?xml version="1.0" encoding="utf-8"?>
<ds:datastoreItem xmlns:ds="http://schemas.openxmlformats.org/officeDocument/2006/customXml" ds:itemID="{FD209EFE-C4A7-42A1-9720-1732814E7DF2}">
  <ds:schemaRefs/>
</ds:datastoreItem>
</file>

<file path=customXml/itemProps81.xml><?xml version="1.0" encoding="utf-8"?>
<ds:datastoreItem xmlns:ds="http://schemas.openxmlformats.org/officeDocument/2006/customXml" ds:itemID="{D4E246C6-72FB-4B0B-9F5C-15A84E096840}">
  <ds:schemaRefs/>
</ds:datastoreItem>
</file>

<file path=customXml/itemProps82.xml><?xml version="1.0" encoding="utf-8"?>
<ds:datastoreItem xmlns:ds="http://schemas.openxmlformats.org/officeDocument/2006/customXml" ds:itemID="{D59ED0CF-8027-4D0F-8A88-C51FA34522E4}">
  <ds:schemaRefs/>
</ds:datastoreItem>
</file>

<file path=customXml/itemProps83.xml><?xml version="1.0" encoding="utf-8"?>
<ds:datastoreItem xmlns:ds="http://schemas.openxmlformats.org/officeDocument/2006/customXml" ds:itemID="{91EFEA17-EECA-4FBC-B5E2-A4546CF90D87}">
  <ds:schemaRefs/>
</ds:datastoreItem>
</file>

<file path=customXml/itemProps84.xml><?xml version="1.0" encoding="utf-8"?>
<ds:datastoreItem xmlns:ds="http://schemas.openxmlformats.org/officeDocument/2006/customXml" ds:itemID="{716D48B7-FE9A-46A2-8799-D0CE278F5E44}">
  <ds:schemaRefs/>
</ds:datastoreItem>
</file>

<file path=customXml/itemProps85.xml><?xml version="1.0" encoding="utf-8"?>
<ds:datastoreItem xmlns:ds="http://schemas.openxmlformats.org/officeDocument/2006/customXml" ds:itemID="{3D5C2B8B-C649-47F0-A10F-00CC4F26D44A}">
  <ds:schemaRefs/>
</ds:datastoreItem>
</file>

<file path=customXml/itemProps86.xml><?xml version="1.0" encoding="utf-8"?>
<ds:datastoreItem xmlns:ds="http://schemas.openxmlformats.org/officeDocument/2006/customXml" ds:itemID="{09929837-FC52-4846-B155-B4712CB3EFE1}">
  <ds:schemaRefs/>
</ds:datastoreItem>
</file>

<file path=customXml/itemProps87.xml><?xml version="1.0" encoding="utf-8"?>
<ds:datastoreItem xmlns:ds="http://schemas.openxmlformats.org/officeDocument/2006/customXml" ds:itemID="{76CD66E8-8EFA-4425-829F-0376BE6B13E4}">
  <ds:schemaRefs/>
</ds:datastoreItem>
</file>

<file path=customXml/itemProps88.xml><?xml version="1.0" encoding="utf-8"?>
<ds:datastoreItem xmlns:ds="http://schemas.openxmlformats.org/officeDocument/2006/customXml" ds:itemID="{631EC891-3681-4832-B2FC-A17696911424}">
  <ds:schemaRefs/>
</ds:datastoreItem>
</file>

<file path=customXml/itemProps89.xml><?xml version="1.0" encoding="utf-8"?>
<ds:datastoreItem xmlns:ds="http://schemas.openxmlformats.org/officeDocument/2006/customXml" ds:itemID="{947A21B7-EA9B-425B-A27C-F86959A30F87}">
  <ds:schemaRefs/>
</ds:datastoreItem>
</file>

<file path=customXml/itemProps90.xml><?xml version="1.0" encoding="utf-8"?>
<ds:datastoreItem xmlns:ds="http://schemas.openxmlformats.org/officeDocument/2006/customXml" ds:itemID="{F910DB52-B6A7-4DE5-842B-DBF2E46AD771}">
  <ds:schemaRefs/>
</ds:datastoreItem>
</file>

<file path=customXml/itemProps91.xml><?xml version="1.0" encoding="utf-8"?>
<ds:datastoreItem xmlns:ds="http://schemas.openxmlformats.org/officeDocument/2006/customXml" ds:itemID="{9F74E239-4096-449A-AF73-E360E7860D06}">
  <ds:schemaRefs/>
</ds:datastoreItem>
</file>

<file path=customXml/itemProps92.xml><?xml version="1.0" encoding="utf-8"?>
<ds:datastoreItem xmlns:ds="http://schemas.openxmlformats.org/officeDocument/2006/customXml" ds:itemID="{B1A6FC87-ACCB-439F-99B4-7A3735C39F87}">
  <ds:schemaRefs/>
</ds:datastoreItem>
</file>

<file path=customXml/itemProps93.xml><?xml version="1.0" encoding="utf-8"?>
<ds:datastoreItem xmlns:ds="http://schemas.openxmlformats.org/officeDocument/2006/customXml" ds:itemID="{7B7250E9-E23A-4CA8-843F-6AE04A359A42}">
  <ds:schemaRefs/>
</ds:datastoreItem>
</file>

<file path=customXml/itemProps94.xml><?xml version="1.0" encoding="utf-8"?>
<ds:datastoreItem xmlns:ds="http://schemas.openxmlformats.org/officeDocument/2006/customXml" ds:itemID="{20772DF2-AFF0-40C5-9501-990E98B19802}">
  <ds:schemaRefs/>
</ds:datastoreItem>
</file>

<file path=customXml/itemProps95.xml><?xml version="1.0" encoding="utf-8"?>
<ds:datastoreItem xmlns:ds="http://schemas.openxmlformats.org/officeDocument/2006/customXml" ds:itemID="{AC69A6EC-F778-46C4-9DB1-09EB7C68D1BF}">
  <ds:schemaRefs/>
</ds:datastoreItem>
</file>

<file path=customXml/itemProps96.xml><?xml version="1.0" encoding="utf-8"?>
<ds:datastoreItem xmlns:ds="http://schemas.openxmlformats.org/officeDocument/2006/customXml" ds:itemID="{1B858D59-86C4-40D0-9057-545D116E713E}">
  <ds:schemaRefs/>
</ds:datastoreItem>
</file>

<file path=customXml/itemProps97.xml><?xml version="1.0" encoding="utf-8"?>
<ds:datastoreItem xmlns:ds="http://schemas.openxmlformats.org/officeDocument/2006/customXml" ds:itemID="{8B67DE8D-D323-451D-84F3-78318BFB294C}">
  <ds:schemaRefs/>
</ds:datastoreItem>
</file>

<file path=customXml/itemProps98.xml><?xml version="1.0" encoding="utf-8"?>
<ds:datastoreItem xmlns:ds="http://schemas.openxmlformats.org/officeDocument/2006/customXml" ds:itemID="{B537DB99-593C-45AC-894A-14CBB0C6DFC3}">
  <ds:schemaRefs/>
</ds:datastoreItem>
</file>

<file path=customXml/itemProps99.xml><?xml version="1.0" encoding="utf-8"?>
<ds:datastoreItem xmlns:ds="http://schemas.openxmlformats.org/officeDocument/2006/customXml" ds:itemID="{488CD64B-1E87-45D1-BF52-640190AB9F8E}">
  <ds:schemaRefs/>
</ds:datastoreItem>
</file>

<file path=customXml/itemProps100.xml><?xml version="1.0" encoding="utf-8"?>
<ds:datastoreItem xmlns:ds="http://schemas.openxmlformats.org/officeDocument/2006/customXml" ds:itemID="{7C8EE4CF-AB7C-445D-976D-F08EE232BEBA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1 DTU Template</Template>
  <TotalTime>15180</TotalTime>
  <Words>8740</Words>
  <Application>Microsoft Office PowerPoint</Application>
  <PresentationFormat>Custom</PresentationFormat>
  <Paragraphs>1303</Paragraphs>
  <Slides>88</Slides>
  <Notes>13</Notes>
  <HiddenSlides>2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88</vt:i4>
      </vt:variant>
    </vt:vector>
  </HeadingPairs>
  <TitlesOfParts>
    <vt:vector size="102" baseType="lpstr">
      <vt:lpstr>Abadi ExtraLight</vt:lpstr>
      <vt:lpstr>Arial</vt:lpstr>
      <vt:lpstr>Bradley Hand ITC</vt:lpstr>
      <vt:lpstr>Cambria Math</vt:lpstr>
      <vt:lpstr>StarSymbol</vt:lpstr>
      <vt:lpstr>Symbol</vt:lpstr>
      <vt:lpstr>Times New Roman</vt:lpstr>
      <vt:lpstr>Verdana</vt:lpstr>
      <vt:lpstr>Wingdings</vt:lpstr>
      <vt:lpstr>Blank</vt:lpstr>
      <vt:lpstr>Theme4</vt:lpstr>
      <vt:lpstr>Blank</vt:lpstr>
      <vt:lpstr>Office Theme</vt:lpstr>
      <vt:lpstr>1_Office Theme</vt:lpstr>
      <vt:lpstr>PowerPoint Presentation</vt:lpstr>
      <vt:lpstr>PowerPoint Presentation</vt:lpstr>
      <vt:lpstr>PowerPoint Presentation</vt:lpstr>
      <vt:lpstr>Agenda for today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Markov Decision Process (MDP)</vt:lpstr>
      <vt:lpstr>Markov Decision Process (MDP)</vt:lpstr>
      <vt:lpstr>Markov Decision Process (MDP)</vt:lpstr>
      <vt:lpstr>Markov Decision Process (MDP)</vt:lpstr>
      <vt:lpstr>Markov Decision Process (MDP)</vt:lpstr>
      <vt:lpstr>Markov Decision Process (MDP)</vt:lpstr>
      <vt:lpstr>Markov Decision Process (MDP)</vt:lpstr>
      <vt:lpstr>Markov Decision Process (MDP)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Lead Example</vt:lpstr>
      <vt:lpstr>The Lead Example: Deterministic Optimization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Agent vs Environment</vt:lpstr>
      <vt:lpstr>Agent vs Environment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Lead Example</vt:lpstr>
      <vt:lpstr>The Lead Example: Deterministic Optimization</vt:lpstr>
      <vt:lpstr>The Lead Example</vt:lpstr>
      <vt:lpstr>The Lead Example</vt:lpstr>
      <vt:lpstr>The Lead Example</vt:lpstr>
      <vt:lpstr>The Lead Example</vt:lpstr>
      <vt:lpstr>The Lead Example</vt:lpstr>
      <vt:lpstr>The Lead Example</vt:lpstr>
      <vt:lpstr>The Lead Example as an MDP</vt:lpstr>
      <vt:lpstr>The Lead Example as an MDP</vt:lpstr>
      <vt:lpstr>The Lead Example as an MDP</vt:lpstr>
      <vt:lpstr>The Lead Example as an MDP</vt:lpstr>
      <vt:lpstr>The Lead Example as an MDP</vt:lpstr>
      <vt:lpstr>The Lead Example as an MDP</vt:lpstr>
      <vt:lpstr>The Lead Example as an MDP</vt:lpstr>
      <vt:lpstr>The Lead Example’s Environment</vt:lpstr>
      <vt:lpstr>The Lead Example’s Environment</vt:lpstr>
      <vt:lpstr>Evaluating a policy</vt:lpstr>
      <vt:lpstr>Evaluating a policy</vt:lpstr>
      <vt:lpstr>Evaluating a policy</vt:lpstr>
      <vt:lpstr>Evaluating a policy</vt:lpstr>
      <vt:lpstr>Evaluating a policy</vt:lpstr>
      <vt:lpstr>Evaluating a policy</vt:lpstr>
      <vt:lpstr>Evaluating a policy</vt:lpstr>
      <vt:lpstr>Evaluating a policy</vt:lpstr>
      <vt:lpstr>Evaluating a policy</vt:lpstr>
      <vt:lpstr>Exercise</vt:lpstr>
      <vt:lpstr>Questions</vt:lpstr>
      <vt:lpstr>Quiz</vt:lpstr>
    </vt:vector>
  </TitlesOfParts>
  <Company>DTU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DTU</dc:creator>
  <cp:lastModifiedBy>Georgios Tsaousoglou</cp:lastModifiedBy>
  <cp:revision>268</cp:revision>
  <dcterms:created xsi:type="dcterms:W3CDTF">2017-07-31T08:31:56Z</dcterms:created>
  <dcterms:modified xsi:type="dcterms:W3CDTF">2026-02-10T10:29:13Z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dIsCodeFreeTemplate">
    <vt:lpwstr>True</vt:lpwstr>
  </property>
  <property fmtid="{D5CDD505-2E9C-101B-9397-08002B2CF9AE}" pid="3" name="TemplafyTenantId">
    <vt:lpwstr>dtu</vt:lpwstr>
  </property>
  <property fmtid="{D5CDD505-2E9C-101B-9397-08002B2CF9AE}" pid="4" name="TemplafyTemplateId">
    <vt:lpwstr>636784030496976655</vt:lpwstr>
  </property>
  <property fmtid="{D5CDD505-2E9C-101B-9397-08002B2CF9AE}" pid="5" name="TemplafyUserProfileId">
    <vt:lpwstr>638091978331681888</vt:lpwstr>
  </property>
  <property fmtid="{D5CDD505-2E9C-101B-9397-08002B2CF9AE}" pid="6" name="TemplafyLanguageCode">
    <vt:lpwstr>en-GB</vt:lpwstr>
  </property>
</Properties>
</file>